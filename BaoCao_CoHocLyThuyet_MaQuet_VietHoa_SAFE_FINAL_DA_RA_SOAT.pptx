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12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  <a:p>
            <a:r>
              <a:t>25 tuyến Sim2 và 10 tuyến có 3D thí điểm theo README.md; không cộng thành 35 bài học độc lập.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413 là staging.fileCount theo release/2026.10.05-candidate/release-summary.json. Không phải số payload trong manifest hoặc kết quả kiểm đếm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So sánh định tính, phụ thuộc cấu hình; không phải thử nghiệm đối sánh nền tảng.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  <a:p>
            <a:r>
              <a:t>Ảnh giao diện thật: assets/designs/bao-cao-safe-final-review/current-ui/; chụp ứng dụng hiện tại ngày 05/10/2026 qua localhost:8765.</a:t>
            </a:r>
          </a:p>
          <a:p>
            <a:r>
              <a:t>Ảnh có thể được cắt vùng để tăng khả năng đọc; không tái dựng hoặc sửa nội dung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nội dung: README.md và hồ sơ hiện trạng trong kho dự án.</a:t>
            </a:r>
          </a:p>
          <a:p>
            <a:r>
              <a:t>Phân biệt sản phẩm kỹ thuật với nghiệm thu học thuật; ảnh giao diện không chứng minh hiệu quả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960120"/>
            <a:ext cx="6035040" cy="43891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2200" b="1" dirty="0">
                <a:solidFill>
                  <a:srgbClr val="BF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GIÁO TRÌNH ĐIỆN TỬ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6035040" cy="7132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5623560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D8E8F8"/>
                </a:solidFill>
                <a:latin typeface="Arial"/>
                <a:ea typeface="Arial"/>
                <a:cs typeface="Arial"/>
              </a:rPr>
              <a:t>Học liệu số sử dụng ngoại tuyến, tích hợp mô phỏng tương tác và quy trình kiểm chứng chất lượng.</a:t>
            </a:r>
          </a:p>
        </p:txBody>
      </p:sp>
      <p:sp>
        <p:nvSpPr>
          <p:cNvPr id="7" name="Shape 5"/>
          <p:cNvSpPr/>
          <p:nvPr/>
        </p:nvSpPr>
        <p:spPr>
          <a:xfrm>
            <a:off x="713232" y="3310128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3383280"/>
            <a:ext cx="2322576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trình bày trước hội đồng</a:t>
            </a:r>
            <a:endParaRPr lang="en-US" sz="1050" dirty="0"/>
          </a:p>
        </p:txBody>
      </p:sp>
      <p:pic>
        <p:nvPicPr>
          <p:cNvPr id="11" name="Image 1" descr="/mnt/data/qr_existin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9680" y="484632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04120" y="4992624"/>
            <a:ext cx="1508760" cy="68580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400" b="1" lang="vi-VN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Bản trực tuyến</a:t>
            </a:r>
          </a:p>
          <a:p>
            <a:r>
              <a:rPr sz="1400" b="1" lang="vi-VN">
                <a:solidFill>
                  <a:srgbClr val="FFFFFF"/>
                </a:solidFill>
                <a:latin typeface="Arial"/>
                <a:ea typeface="Arial"/>
                <a:cs typeface="Arial"/>
              </a:rPr>
              <a:t>Cần Internet</a:t>
            </a:r>
          </a:p>
        </p:txBody>
      </p:sp>
      <p:sp>
        <p:nvSpPr>
          <p:cNvPr id="13" name="Text 9"/>
          <p:cNvSpPr/>
          <p:nvPr/>
        </p:nvSpPr>
        <p:spPr>
          <a:xfrm>
            <a:off x="713232" y="6236208"/>
            <a:ext cx="8229600" cy="3200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200" lang="vi-VN">
                <a:solidFill>
                  <a:srgbClr val="D4E1ED"/>
                </a:solidFill>
                <a:latin typeface="Arial"/>
                <a:ea typeface="Arial"/>
                <a:cs typeface="Arial"/>
              </a:rPr>
              <a:t>Bản báo cáo kỹ thuật • Chưa thay thế nghiệm thu học thuật độc lập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D4E1ED"/>
                </a:solidFill>
                <a:latin typeface="Arial"/>
                <a:ea typeface="Arial"/>
                <a:cs typeface="Arial"/>
              </a:rPr>
              <a:t>01 / 28</a:t>
            </a:r>
          </a:p>
        </p:txBody>
      </p:sp>
      <p:pic>
        <p:nvPicPr>
          <p:cNvPr id="15" name="Picture 14" descr="Giao diện trang chủ hiện tại, chụp trực tiếp ngày 05/10/20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559051"/>
            <a:ext cx="475488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giáo trình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Quét mã mở giáo trình trực tuyến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Truy cập bản trực tuyến để theo dõi phần minh họa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55448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qr_existin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280" y="1920240"/>
            <a:ext cx="3611880" cy="3611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5449824"/>
            <a:ext cx="438912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800" b="1" lang="vi-VN">
                <a:solidFill>
                  <a:srgbClr val="0B1F3A"/>
                </a:solidFill>
                <a:latin typeface="Arial"/>
                <a:ea typeface="Arial"/>
                <a:cs typeface="Arial"/>
              </a:rPr>
              <a:t>Quét mã để mở bản trực tuyến</a:t>
            </a:r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629400" y="2121408"/>
            <a:ext cx="4297680" cy="21945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Quét mã bằng điện thoại để mở bản trực tuyến.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Khi không có Internet, mở bản đã tải trên máy tính hoặc USB.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Bản ngoại tuyến không cần máy chủ.</a:t>
            </a:r>
          </a:p>
        </p:txBody>
      </p:sp>
      <p:sp>
        <p:nvSpPr>
          <p:cNvPr id="13" name="Text 10"/>
          <p:cNvSpPr/>
          <p:nvPr/>
        </p:nvSpPr>
        <p:spPr>
          <a:xfrm>
            <a:off x="6629400" y="4754880"/>
            <a:ext cx="4297680" cy="68580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600" lang="vi-VN">
                <a:solidFill>
                  <a:srgbClr val="5B677A"/>
                </a:solidFill>
                <a:latin typeface="Arial"/>
                <a:ea typeface="Arial"/>
                <a:cs typeface="Arial"/>
              </a:rPr>
              <a:t>Kiểm tra liên kết và mã QR trên màn chiếu trước buổi báo cáo.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Ba đặc điểm chính của sản phẩm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sản phẩm học liệu số có thể kiểm chứng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783079"/>
            <a:ext cx="315468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95528" y="2404872"/>
            <a:ext cx="3118104" cy="114300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không cần mạng và không cần máy chủ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783079"/>
            <a:ext cx="315468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44568" y="2404872"/>
            <a:ext cx="3118104" cy="114300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25 tuyến mô phỏng 2D;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10 tuyến 3D thí điểm</a:t>
            </a:r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75320" y="1783079"/>
            <a:ext cx="315468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93608" y="2404872"/>
            <a:ext cx="3118104" cy="114300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quy trình kiểm thử, truy vết và gói phát hành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4251960"/>
            <a:ext cx="10424160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Đã triển khai sản phẩm kỹ thuật.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Cần rà soát độc lập trước khi áp dụng chính thức.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giáo trình điện tử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tài liệu tĩnh sang học liệu có tương tác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965960"/>
            <a:ext cx="4389120" cy="25603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Tài liệu tĩnh khó thể hiện diễn biến cơ học.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Người học cần đọc lại và quan sát mô phỏng.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Nội dung cần được cập nhật có kiểm soát.</a:t>
            </a:r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965960"/>
            <a:ext cx="4389120" cy="25603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vi-VN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nguồn nội dung chuẩn từ tệp Word.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vi-VN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bản web chạy cục bộ.</a:t>
            </a:r>
            <a:endParaRPr lang="en-US" sz="2200" dirty="0"/>
          </a:p>
          <a:p>
            <a:pPr>
              <a:spcAft>
                <a:spcPts val="1000"/>
              </a:spcAft>
            </a:pPr>
            <a:r>
              <a:rPr lang="vi-VN" sz="2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thay đổi bằng dữ liệu và kiểm thử.</a:t>
            </a:r>
            <a:endParaRPr lang="en-US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của sản phẩm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Hỗ trợ sử dụng trong hoạt động dạy và học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600200"/>
            <a:ext cx="333756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95528" y="2221992"/>
            <a:ext cx="3300984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Dễ truy cập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Trình duyệt, máy tính hoặc USB</a:t>
            </a:r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34840" y="1600200"/>
            <a:ext cx="333756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53128" y="2221992"/>
            <a:ext cx="3300984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Hỗ trợ tự học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Hình, câu hỏi và ghi chú</a:t>
            </a:r>
          </a:p>
        </p:txBody>
      </p:sp>
      <p:sp>
        <p:nvSpPr>
          <p:cNvPr id="14" name="Shape 12"/>
          <p:cNvSpPr/>
          <p:nvPr/>
        </p:nvSpPr>
        <p:spPr>
          <a:xfrm>
            <a:off x="8001000" y="1508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92440" y="1600200"/>
            <a:ext cx="333756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10728" y="2221992"/>
            <a:ext cx="3300984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Có thể kiểm chứng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Bằng chứng và gói phát hành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05 / 28</a:t>
            </a:r>
          </a:p>
        </p:txBody>
      </p:sp>
      <p:pic>
        <p:nvPicPr>
          <p:cNvPr id="20" name="Picture 19" descr="Vùng tiến độ trên trang chủ hiện tạ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71140"/>
            <a:ext cx="5166360" cy="2185767"/>
          </a:xfrm>
          <a:prstGeom prst="rect">
            <a:avLst/>
          </a:prstGeom>
        </p:spPr>
      </p:pic>
      <p:pic>
        <p:nvPicPr>
          <p:cNvPr id="21" name="Picture 20" descr="Câu hỏi và phản hồi đáp án hiện tạ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815" y="3657600"/>
            <a:ext cx="4162569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triển khai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Phân biệt chức năng đã triển khai với điều kiện nghiệm thu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728216"/>
            <a:ext cx="18288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2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Đã có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4389120" cy="26517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9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Học liệu web hỗ trợ ngoại tuyến.</a:t>
            </a:r>
          </a:p>
          <a:p>
            <a:r>
              <a:rPr sz="19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Mô phỏng 2D; thí điểm 3D.</a:t>
            </a:r>
          </a:p>
          <a:p>
            <a:r>
              <a:rPr sz="19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Trình đọc bản PDF.</a:t>
            </a:r>
          </a:p>
          <a:p>
            <a:r>
              <a:rPr sz="19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Ảnh động có bản tĩnh dự phòng.</a:t>
            </a:r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1728216"/>
            <a:ext cx="420624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2200" b="1" lang="vi-VN">
                <a:solidFill>
                  <a:srgbClr val="B42318"/>
                </a:solidFill>
                <a:latin typeface="Arial"/>
                <a:ea typeface="Arial"/>
                <a:cs typeface="Arial"/>
              </a:rPr>
              <a:t>Cần xác nhận độc lập</a:t>
            </a:r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389120" cy="26517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9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Nghiệm thu học thuật và khả năng tiếp cận độc lập.</a:t>
            </a:r>
          </a:p>
          <a:p>
            <a:r>
              <a:rPr sz="19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Kiểm thử nhập gói vào hệ quản lý học tập.</a:t>
            </a:r>
          </a:p>
          <a:p>
            <a:r>
              <a:rPr sz="19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Rà soát gói ứng viên và kiểm tra lại tệp Word.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Phương pháp xây dựng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rõ nội dung, giao diện và kiểm chứng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993392"/>
            <a:ext cx="457200" cy="53035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6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011680" cy="6217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Nội dung gốc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2148840" cy="10515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8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Từ tệp Word chuẩn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1188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49040" y="1993392"/>
            <a:ext cx="457200" cy="53035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6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49040" y="2560320"/>
            <a:ext cx="2011680" cy="6217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Tạo bản học liệu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49040" y="3337560"/>
            <a:ext cx="2011680" cy="10515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8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Sinh trang, mục lục, tìm kiếm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0" y="1993392"/>
            <a:ext cx="457200" cy="53035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6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2011680" cy="6217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Bổ sung tương tác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3337560"/>
            <a:ext cx="2011680" cy="10515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8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Câu hỏi, mô phỏng, ảnh động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81160" y="178308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418320" y="1993392"/>
            <a:ext cx="457200" cy="53035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6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18320" y="2560320"/>
            <a:ext cx="2011680" cy="6217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800" b="1" lang="vi-VN">
                <a:solidFill>
                  <a:srgbClr val="0B1F3A"/>
                </a:solidFill>
                <a:latin typeface="Arial"/>
                <a:ea typeface="Arial"/>
                <a:cs typeface="Arial"/>
              </a:rPr>
              <a:t>Kiểm chứng</a:t>
            </a:r>
          </a:p>
        </p:txBody>
      </p:sp>
      <p:sp>
        <p:nvSpPr>
          <p:cNvPr id="23" name="Text 21"/>
          <p:cNvSpPr/>
          <p:nvPr/>
        </p:nvSpPr>
        <p:spPr>
          <a:xfrm>
            <a:off x="9418320" y="3337560"/>
            <a:ext cx="2148840" cy="10515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8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Tự động kiểm tra và lưu bằng chứng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Năm nhóm thành phần: nội dung, tải trang, tương tác, mô phỏng và kiểm chứng</a:t>
            </a:r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463039"/>
            <a:ext cx="22860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Nội dung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0" y="1463039"/>
            <a:ext cx="6949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Chương, hình, công thức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43000" y="2240279"/>
            <a:ext cx="22860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Bộ tải trang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2240279"/>
            <a:ext cx="6949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7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Nạp bài học và hiển thị công thức</a:t>
            </a:r>
          </a:p>
        </p:txBody>
      </p:sp>
      <p:sp>
        <p:nvSpPr>
          <p:cNvPr id="14" name="Shape 12"/>
          <p:cNvSpPr/>
          <p:nvPr/>
        </p:nvSpPr>
        <p:spPr>
          <a:xfrm>
            <a:off x="914400" y="297180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3017520"/>
            <a:ext cx="22860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Tương tác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3017520"/>
            <a:ext cx="6949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Câu hỏi, ghi chú, tiến độ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43000" y="3794760"/>
            <a:ext cx="22860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Mô phỏng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57600" y="3794760"/>
            <a:ext cx="6949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Hai chiều, ba chiều, dự phòng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400" y="452628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43000" y="4572000"/>
            <a:ext cx="22860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Kiểm chứng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0" y="4572000"/>
            <a:ext cx="6949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7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Kiểm thử, bằng chứng, gói phát hành</a:t>
            </a:r>
            <a:endParaRPr lang="en-US" sz="1700" dirty="0"/>
          </a:p>
        </p:txBody>
      </p:sp>
      <p:sp>
        <p:nvSpPr>
          <p:cNvPr id="23" name="TextBox 22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cập nhật nội dung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tài liệu gốc đến bản học liệu chạy được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3619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600" b="1" dirty="0">
                <a:solidFill>
                  <a:srgbClr val="0E5A8A"/>
                </a:solidFill>
                <a:latin typeface="Arial"/>
                <a:ea typeface="Arial"/>
                <a:cs typeface="Arial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5156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Tệp Word chuẩn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90672" y="2651760"/>
            <a:ext cx="320040" cy="53035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6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&gt;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9651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600" b="1" dirty="0">
                <a:solidFill>
                  <a:srgbClr val="0E5A8A"/>
                </a:solidFill>
                <a:latin typeface="Arial"/>
                <a:ea typeface="Arial"/>
                <a:cs typeface="Arial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1188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Tách chương và hình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50992" y="2651760"/>
            <a:ext cx="320040" cy="53035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6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&gt;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94360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5683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600" b="1" dirty="0">
                <a:solidFill>
                  <a:srgbClr val="0E5A8A"/>
                </a:solidFill>
                <a:latin typeface="Arial"/>
                <a:ea typeface="Arial"/>
                <a:cs typeface="Arial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Tạo dữ liệu tìm kiếm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11312" y="2651760"/>
            <a:ext cx="320040" cy="53035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6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&gt;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503920" y="19202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17152" y="2148840"/>
            <a:ext cx="685800" cy="5029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600" b="1" dirty="0">
                <a:solidFill>
                  <a:srgbClr val="0E5A8A"/>
                </a:solidFill>
                <a:latin typeface="Arial"/>
                <a:ea typeface="Arial"/>
                <a:cs typeface="Arial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732520" y="2907792"/>
            <a:ext cx="169164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17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Đóng gói học liệu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080760"/>
            <a:ext cx="1069848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850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liệu: mô tả quy trình trong tài liệu dự án.</a:t>
            </a:r>
            <a:endParaRPr lang="en-US" sz="850" dirty="0"/>
          </a:p>
        </p:txBody>
      </p:sp>
      <p:sp>
        <p:nvSpPr>
          <p:cNvPr id="24" name="TextBox 23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Trải nghiệm học tập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Trải nghiệm học tập trên trình duyệt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đọc, mà còn tương tác và theo dõi tiến độ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21040" y="1828800"/>
            <a:ext cx="3200400" cy="31089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Điều hướng theo chương.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Tìm kiếm nội dung.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Theo dõi tiến độ cục bộ.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10 / 28</a:t>
            </a:r>
          </a:p>
        </p:txBody>
      </p:sp>
      <p:pic>
        <p:nvPicPr>
          <p:cNvPr id="11" name="Picture 10" descr="Trang chủ với mục lục, tìm kiếm và tiến độ học tậ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81340"/>
            <a:ext cx="7360920" cy="4600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liệu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Đọc bài học và quan sát hình minh họa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đọc dễ, điều hướng nhanh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961120" y="1600200"/>
            <a:ext cx="2560320" cy="4480560"/>
          </a:xfrm>
          <a:prstGeom prst="roundRect">
            <a:avLst>
              <a:gd name="adj" fmla="val 2581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189720" y="1920240"/>
            <a:ext cx="2286000" cy="33832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Mục lục theo chương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Công thức cơ học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Hình minh họa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Điều chỉnh vùng đọc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11 / 28</a:t>
            </a:r>
          </a:p>
        </p:txBody>
      </p:sp>
      <p:pic>
        <p:nvPicPr>
          <p:cNvPr id="12" name="Picture 11" descr="Bài học mô men ở chế độ sáng, có mục lục, hình và công thứ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1600200"/>
            <a:ext cx="7168896" cy="44805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hai chiều và ba chiều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25 mô phỏng 2D chính thức trong runtime; 10 tuyến có thí điểm 3D</a:t>
            </a:r>
          </a:p>
        </p:txBody>
      </p:sp>
      <p:sp>
        <p:nvSpPr>
          <p:cNvPr id="10" name="Text 6"/>
          <p:cNvSpPr/>
          <p:nvPr/>
        </p:nvSpPr>
        <p:spPr>
          <a:xfrm>
            <a:off x="68580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700" b="1" lang="vi-VN">
                <a:solidFill>
                  <a:srgbClr val="0B1F3A"/>
                </a:solidFill>
                <a:latin typeface="Arial"/>
                <a:ea typeface="Arial"/>
                <a:cs typeface="Arial"/>
              </a:rPr>
              <a:t>2D: chế độ mặc định của bài học</a:t>
            </a:r>
          </a:p>
        </p:txBody>
      </p:sp>
      <p:sp>
        <p:nvSpPr>
          <p:cNvPr id="11" name="Text 7"/>
          <p:cNvSpPr/>
          <p:nvPr/>
        </p:nvSpPr>
        <p:spPr>
          <a:xfrm>
            <a:off x="626364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700" b="1" lang="vi-VN">
                <a:solidFill>
                  <a:srgbClr val="0B1F3A"/>
                </a:solidFill>
                <a:latin typeface="Arial"/>
                <a:ea typeface="Arial"/>
                <a:cs typeface="Arial"/>
              </a:rPr>
              <a:t>3D: minh họa thí điểm, có dự phòng 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12 / 28</a:t>
            </a:r>
          </a:p>
        </p:txBody>
      </p:sp>
      <p:pic>
        <p:nvPicPr>
          <p:cNvPr id="13" name="Picture 12" descr="Mô phỏng 2D mô men lực với sơ đồ, kết quả và điều khiển lự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11" y="1645920"/>
            <a:ext cx="5132777" cy="3931920"/>
          </a:xfrm>
          <a:prstGeom prst="rect">
            <a:avLst/>
          </a:prstGeom>
        </p:spPr>
      </p:pic>
      <p:pic>
        <p:nvPicPr>
          <p:cNvPr id="14" name="Picture 13" descr="Mô phỏng 3D thu gọn hệ lực phẳng đang bật chế độ 3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685" y="1645920"/>
            <a:ext cx="474170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động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động có phương án dự phòng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Cho phép bật/tắt chuyển động và trở về hình tĩnh khi cần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783079"/>
            <a:ext cx="27432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404872"/>
            <a:ext cx="2706624" cy="11887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cơ học có bản ảnh động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9160" y="1783079"/>
            <a:ext cx="27432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tĩnh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27448" y="2404872"/>
            <a:ext cx="2798064" cy="11887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có sẵn khi tải ảnh động thất bại</a:t>
            </a:r>
          </a:p>
        </p:txBody>
      </p:sp>
      <p:sp>
        <p:nvSpPr>
          <p:cNvPr id="14" name="Shape 12"/>
          <p:cNvSpPr/>
          <p:nvPr/>
        </p:nvSpPr>
        <p:spPr>
          <a:xfrm>
            <a:off x="8458200" y="1691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1783079"/>
            <a:ext cx="27432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67928" y="2404872"/>
            <a:ext cx="2706624" cy="11887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ưu tiên khi bật giảm chuyển động</a:t>
            </a:r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10149840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Người học có thể bật hoặc tắt ảnh động.</a:t>
            </a:r>
          </a:p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Mặc định dùng bản tĩnh khi hệ điều hành bật tùy chọn giảm chuyển động.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gốc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Đọc bản PDF ngay trong giáo trình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bản tài liệu đầy đủ mà không rời bài học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58200" y="1600200"/>
            <a:ext cx="3063240" cy="4526280"/>
          </a:xfrm>
          <a:prstGeom prst="roundRect">
            <a:avLst>
              <a:gd name="adj" fmla="val 2192"/>
            </a:avLst>
          </a:prstGeom>
          <a:solidFill>
            <a:srgbClr val="EEF6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686800" y="1874519"/>
            <a:ext cx="2606040" cy="3749039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Chuyển hoặc nhập số trang.</a:t>
            </a:r>
          </a:p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Phóng to, vừa chiều rộng.</a:t>
            </a:r>
          </a:p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Tải bản PDF.</a:t>
            </a:r>
          </a:p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Quay lại bài đang học.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14 / 28</a:t>
            </a:r>
          </a:p>
        </p:txBody>
      </p:sp>
      <p:pic>
        <p:nvPicPr>
          <p:cNvPr id="12" name="Picture 11" descr="Trình đọc PDF hiện tại đã hiển thị trang 13 với công thức và hình mô m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5" y="16002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cục bộ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Dữ liệu học tập lưu cục bộ trong trình duyệt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Không đồng bộ giữa các thiết bị; không cần máy chủ để lưu tiến độ cơ bản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15 / 28</a:t>
            </a:r>
          </a:p>
        </p:txBody>
      </p:sp>
      <p:pic>
        <p:nvPicPr>
          <p:cNvPr id="21" name="Picture 20" descr="Giao diện trắc nghiệm và phản hồi đáp án đúng trong phiên minh họ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600200"/>
            <a:ext cx="7315200" cy="457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66760" y="1828800"/>
            <a:ext cx="3063240" cy="4114800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l"/>
            <a:r>
              <a:rPr sz="2000" b="0" lang="vi-VN">
                <a:solidFill>
                  <a:srgbClr val="243B53"/>
                </a:solidFill>
                <a:latin typeface="Arial"/>
                <a:ea typeface="Arial"/>
                <a:cs typeface="Arial"/>
              </a:rPr>
              <a:t>Tùy chọn đọc</a:t>
            </a:r>
          </a:p>
          <a:p>
            <a:pPr algn="l"/>
            <a:r>
              <a:rPr sz="2000" b="0" lang="vi-VN">
                <a:solidFill>
                  <a:srgbClr val="243B53"/>
                </a:solidFill>
                <a:latin typeface="Arial"/>
                <a:ea typeface="Arial"/>
                <a:cs typeface="Arial"/>
              </a:rPr>
              <a:t>Cỡ chữ, độ rộng, sáng/tối</a:t>
            </a:r>
          </a:p>
          <a:p>
            <a:pPr algn="l"/>
          </a:p>
          <a:p>
            <a:pPr algn="l"/>
            <a:r>
              <a:rPr sz="2000" b="0" lang="vi-VN">
                <a:solidFill>
                  <a:srgbClr val="243B53"/>
                </a:solidFill>
                <a:latin typeface="Arial"/>
                <a:ea typeface="Arial"/>
                <a:cs typeface="Arial"/>
              </a:rPr>
              <a:t>Tiến độ và câu trả lời</a:t>
            </a:r>
          </a:p>
          <a:p>
            <a:pPr algn="l"/>
            <a:r>
              <a:rPr sz="2000" b="0" lang="vi-VN">
                <a:solidFill>
                  <a:srgbClr val="243B53"/>
                </a:solidFill>
                <a:latin typeface="Arial"/>
                <a:ea typeface="Arial"/>
                <a:cs typeface="Arial"/>
              </a:rPr>
              <a:t>Lưu trong trình duyệt</a:t>
            </a:r>
          </a:p>
          <a:p>
            <a:pPr algn="l"/>
          </a:p>
          <a:p>
            <a:pPr algn="l"/>
            <a:r>
              <a:rPr sz="2000" b="0" lang="vi-VN">
                <a:solidFill>
                  <a:srgbClr val="243B53"/>
                </a:solidFill>
                <a:latin typeface="Arial"/>
                <a:ea typeface="Arial"/>
                <a:cs typeface="Arial"/>
              </a:rPr>
              <a:t>Lựa chọn ảnh động</a:t>
            </a:r>
          </a:p>
          <a:p>
            <a:pPr algn="l"/>
            <a:r>
              <a:rPr sz="2000" b="0" lang="vi-VN">
                <a:solidFill>
                  <a:srgbClr val="243B53"/>
                </a:solidFill>
                <a:latin typeface="Arial"/>
                <a:ea typeface="Arial"/>
                <a:cs typeface="Arial"/>
              </a:rPr>
              <a:t>Có thể bật hoặc tắt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tiếp cận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cho nhiều cách sử dụng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Kiểm tra tự động không thay thế đánh giá thủ công độc lập</a:t>
            </a:r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773936"/>
            <a:ext cx="18288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2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Đã có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4114800" cy="228600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8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Vùng điều hướng có nhãn.</a:t>
            </a:r>
          </a:p>
          <a:p>
            <a:r>
              <a:rPr sz="18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Hỗ trợ thao tác bằng bàn phím.</a:t>
            </a:r>
          </a:p>
          <a:p>
            <a:r>
              <a:rPr sz="18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Tôn trọng tùy chọn giảm chuyển động.</a:t>
            </a:r>
          </a:p>
          <a:p>
            <a:r>
              <a:rPr sz="18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Có kiểm tra tương phản tự động.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720840" y="1773936"/>
            <a:ext cx="21945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200" b="1" dirty="0">
                <a:solidFill>
                  <a:srgbClr val="B42318"/>
                </a:solidFill>
                <a:latin typeface="Arial"/>
                <a:ea typeface="Arial"/>
                <a:cs typeface="Arial"/>
              </a:rPr>
              <a:t>Cần bổ sung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20840" y="2468880"/>
            <a:ext cx="4114800" cy="15544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Đánh giá thủ công độc lập theo từng tiêu chí.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Chưa có cơ sở kết luận tuân thủ WCAG.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chất lượng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Các nhóm kiểm tra chất lượng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Kết quả kiểm tra được gắn với dữ liệu và bằng chứng</a:t>
            </a:r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70432" y="163677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Nội dung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70432" y="264261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Học thuật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52044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70432" y="364845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Mô phỏng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5262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70432" y="465429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Tiếp cận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46520" y="150876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02552" y="163677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Ảnh và tư liệu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6520" y="251460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02552" y="264261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Gói học tập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46520" y="352044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02552" y="364845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Tài liệu gốc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46520" y="45262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02552" y="4654296"/>
            <a:ext cx="402336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8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Gói phát hành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5724144"/>
            <a:ext cx="101498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1700" dirty="0">
                <a:solidFill>
                  <a:srgbClr val="5B677A"/>
                </a:solidFill>
                <a:latin typeface="Arial"/>
                <a:ea typeface="Arial"/>
                <a:cs typeface="Arial"/>
              </a:rPr>
              <a:t>Mục tiêu: phát hiện lỗi trước khi đưa sản phẩm vào trình bày hoặc phát hành.</a:t>
            </a:r>
            <a:endParaRPr lang="en-US" sz="1700" dirty="0"/>
          </a:p>
        </p:txBody>
      </p:sp>
      <p:sp>
        <p:nvSpPr>
          <p:cNvPr id="25" name="TextBox 24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học thuật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học thuật cần độc lập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bạch giữa bản kỹ thuật và bản nghiệm thu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105613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887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0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Yêu cầu đào tạo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1883664"/>
            <a:ext cx="3200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2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&gt;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800" b="1" lang="vi-VN">
                <a:solidFill>
                  <a:srgbClr val="0B1F3A"/>
                </a:solidFill>
                <a:latin typeface="Arial"/>
                <a:ea typeface="Arial"/>
                <a:cs typeface="Arial"/>
              </a:rPr>
              <a:t>Chuẩn đầu ra dự kiến</a:t>
            </a:r>
          </a:p>
        </p:txBody>
      </p:sp>
      <p:sp>
        <p:nvSpPr>
          <p:cNvPr id="12" name="Text 10"/>
          <p:cNvSpPr/>
          <p:nvPr/>
        </p:nvSpPr>
        <p:spPr>
          <a:xfrm>
            <a:off x="6309360" y="1883664"/>
            <a:ext cx="3200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2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&gt;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00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Nội dung và bằng chứng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63240"/>
            <a:ext cx="9601200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Có dữ liệu truy vết yêu cầu, chuẩn đầu ra dự kiến và bằng chứng.</a:t>
            </a:r>
          </a:p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Chưa hoàn tất xác nhận nghiệm thu học thuật độc lập.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phát hành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phát hành có thể kiểm chứng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Danh mục tệp, mã kiểm tra toàn vẹn và tài liệu đi kèm</a:t>
            </a:r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691639"/>
            <a:ext cx="283464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2800" b="1" lang="vi-VN">
                <a:solidFill>
                  <a:srgbClr val="0E5A8A"/>
                </a:solidFill>
                <a:latin typeface="Arial"/>
                <a:ea typeface="Arial"/>
                <a:cs typeface="Arial"/>
              </a:rPr>
              <a:t>413</a:t>
            </a:r>
          </a:p>
        </p:txBody>
      </p:sp>
      <p:sp>
        <p:nvSpPr>
          <p:cNvPr id="10" name="Text 8"/>
          <p:cNvSpPr/>
          <p:nvPr/>
        </p:nvSpPr>
        <p:spPr>
          <a:xfrm>
            <a:off x="932688" y="2313432"/>
            <a:ext cx="2798064" cy="10972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tệp theo hồ sơ gói ứng viên 2026.10.05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63440" y="1691639"/>
            <a:ext cx="283464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kiểm tra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81728" y="2313432"/>
            <a:ext cx="2798064" cy="10972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toàn vẹn gói phát hành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12480" y="1691639"/>
            <a:ext cx="283464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2800" b="1" lang="vi-VN">
                <a:solidFill>
                  <a:srgbClr val="F2A900"/>
                </a:solidFill>
                <a:latin typeface="Arial"/>
                <a:ea typeface="Arial"/>
                <a:cs typeface="Arial"/>
              </a:rPr>
              <a:t>USB / máy tính</a:t>
            </a:r>
          </a:p>
        </p:txBody>
      </p:sp>
      <p:sp>
        <p:nvSpPr>
          <p:cNvPr id="16" name="Text 14"/>
          <p:cNvSpPr/>
          <p:nvPr/>
        </p:nvSpPr>
        <p:spPr>
          <a:xfrm>
            <a:off x="8430768" y="2313432"/>
            <a:ext cx="2798064" cy="10972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chạy cục bộ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10058400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Số liệu theo hồ sơ bản 2026.10.05-candidate.</a:t>
            </a:r>
          </a:p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Gói vẫn là bản ứng viên, chưa đồng nghĩa với nghiệm thu cuối cùng.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Bằng chứng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Nguồn kiểm chứng cho các tuyên bố chính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Đối chiếu số liệu và trạng thái với dữ liệu dự án</a:t>
            </a:r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7280" y="1481328"/>
            <a:ext cx="27432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Số mô phỏng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14800" y="1481328"/>
            <a:ext cx="621792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65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Danh mục tuyến bài học có mô phỏng</a:t>
            </a:r>
          </a:p>
        </p:txBody>
      </p:sp>
      <p:sp>
        <p:nvSpPr>
          <p:cNvPr id="11" name="Shape 9"/>
          <p:cNvSpPr/>
          <p:nvPr/>
        </p:nvSpPr>
        <p:spPr>
          <a:xfrm>
            <a:off x="822960" y="2176272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2240279"/>
            <a:ext cx="27432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Ảnh động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114800" y="2240279"/>
            <a:ext cx="621792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Tệp danh mục ảnh động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22960" y="2935224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2999232"/>
            <a:ext cx="27432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Gói phát hành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114800" y="2999232"/>
            <a:ext cx="621792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Danh mục gói và mã kiểm tra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22960" y="3694176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3758184"/>
            <a:ext cx="27432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Rà soát học thuật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114800" y="3758184"/>
            <a:ext cx="621792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65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Hồ sơ rà soát và trạng thái xác nhận</a:t>
            </a:r>
          </a:p>
        </p:txBody>
      </p:sp>
      <p:sp>
        <p:nvSpPr>
          <p:cNvPr id="20" name="Shape 18"/>
          <p:cNvSpPr/>
          <p:nvPr/>
        </p:nvSpPr>
        <p:spPr>
          <a:xfrm>
            <a:off x="822960" y="4453128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97280" y="4517136"/>
            <a:ext cx="27432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Khả năng tiếp cận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114800" y="4517136"/>
            <a:ext cx="621792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Kết quả kiểm tra tự động</a:t>
            </a:r>
            <a:endParaRPr lang="en-US" sz="1650" dirty="0"/>
          </a:p>
        </p:txBody>
      </p:sp>
      <p:sp>
        <p:nvSpPr>
          <p:cNvPr id="23" name="TextBox 22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Khác biệt về cách triển khai và sử dụng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So sánh định tính; tính năng của từng nền tảng phụ thuộc cấu hình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21 / 28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594360" y="16459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3017520"/>
                <a:gridCol w="283464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Tiêu chí</a:t>
                      </a:r>
                    </a:p>
                  </a:txBody>
                  <a:tcPr marL="137160" marR="109728" marT="64008" marB="64008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Giáo trình này</a:t>
                      </a:r>
                    </a:p>
                  </a:txBody>
                  <a:tcPr marL="137160" marR="109728" marT="64008" marB="64008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LMS / lớp trực tuyến</a:t>
                      </a:r>
                    </a:p>
                  </a:txBody>
                  <a:tcPr marL="137160" marR="109728" marT="64008" marB="64008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PDF / bản in</a:t>
                      </a:r>
                    </a:p>
                  </a:txBody>
                  <a:tcPr marL="137160" marR="109728" marT="64008" marB="64008" anchor="ctr">
                    <a:solidFill>
                      <a:srgbClr val="102A4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B53"/>
                          </a:solidFill>
                          <a:latin typeface="Arial"/>
                        </a:rPr>
                        <a:t>Sử dụng ngoại tuyến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Có, từ bản đã tải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Tùy nền tảng và cấu hình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Có, nếu đã tải / in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B53"/>
                          </a:solidFill>
                          <a:latin typeface="Arial"/>
                        </a:rPr>
                        <a:t>Mô phỏng tương tác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B53"/>
                          </a:solidFill>
                          <a:latin typeface="Arial"/>
                        </a:rPr>
                        <a:t>2D tích hợp;</a:t>
                      </a:r>
                    </a:p>
                    <a:p>
                      <a:r>
                        <a:rPr sz="1800">
                          <a:solidFill>
                            <a:srgbClr val="243B53"/>
                          </a:solidFill>
                          <a:latin typeface="Arial"/>
                        </a:rPr>
                        <a:t>3D thí điểm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Tùy nội dung tích hợp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Không tương tác trực tiếp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B53"/>
                          </a:solidFill>
                          <a:latin typeface="Arial"/>
                        </a:rPr>
                        <a:t>Dữ liệu học tập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Lưu cục bộ trên trình duyệt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Thường quản lý tập trung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Không có sẵn</a:t>
                      </a:r>
                    </a:p>
                  </a:txBody>
                  <a:tcPr marL="137160" marR="109728" marT="64008" marB="64008" anchor="ctr">
                    <a:solidFill>
                      <a:srgbClr val="EDF3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B53"/>
                          </a:solidFill>
                          <a:latin typeface="Arial"/>
                        </a:rPr>
                        <a:t>Hạ tầng vận hành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Không bắt buộc máy chủ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Thường cần dịch vụ / máy chủ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B53"/>
                          </a:solidFill>
                          <a:latin typeface="Arial"/>
                        </a:rPr>
                        <a:t>Không cần khi đọc cục bộ</a:t>
                      </a:r>
                    </a:p>
                  </a:txBody>
                  <a:tcPr marL="137160" marR="109728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658368" y="5705856"/>
            <a:ext cx="10789920" cy="39319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l"/>
            <a:r>
              <a:rPr sz="16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Không dùng bảng này để xếp hạng chất lượng hoặc kết luận về mọi nền tảng.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mạnh nổi bật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Tổ chức kỹ thuật, quản lý nội dung và hỗ trợ người học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645920"/>
            <a:ext cx="32004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267712"/>
            <a:ext cx="3163824" cy="14630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cục bộ, kiến trúc rõ, có mô phỏng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645920"/>
            <a:ext cx="32004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thuật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44568" y="2267712"/>
            <a:ext cx="3163824" cy="14630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Truy vết yêu cầu, chuẩn đầu ra dự kiến và bằng chứng</a:t>
            </a:r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83880" y="1645920"/>
            <a:ext cx="32004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02168" y="2267712"/>
            <a:ext cx="3163824" cy="14630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mở, dễ đọc, có phương án dự phòng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10241280" cy="100584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Tách bạch kết quả kỹ thuật và kết luận nghiệm thu.</a:t>
            </a:r>
          </a:p>
          <a:p>
            <a:r>
              <a:rPr sz="21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Mọi tuyên bố cần phù hợp với bằng chứng hiện có.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Giới hạn và điều kiện áp dụng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Những nội dung cần hoàn tất trước khi triển khai chính thức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10515600" cy="32461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Chưa hoàn tất nghiệm thu học thuật và đánh giá khả năng tiếp cận độc lập.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Chưa có bằng chứng nhập gói vào hệ quản lý học tập thực tế.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Mô phỏng 3D đang ở mức thí điểm.</a:t>
            </a:r>
          </a:p>
          <a:p>
            <a:r>
              <a:rPr sz="22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Còn rà soát gói ứng viên và kiểm tra lại tệp Word.</a:t>
            </a:r>
          </a:p>
        </p:txBody>
      </p:sp>
      <p:sp>
        <p:nvSpPr>
          <p:cNvPr id="9" name="Shape 7"/>
          <p:cNvSpPr/>
          <p:nvPr/>
        </p:nvSpPr>
        <p:spPr>
          <a:xfrm>
            <a:off x="868680" y="4983480"/>
            <a:ext cx="10469880" cy="502920"/>
          </a:xfrm>
          <a:prstGeom prst="rect">
            <a:avLst/>
          </a:prstGeom>
          <a:solidFill>
            <a:srgbClr val="FFF4E5"/>
          </a:solidFill>
          <a:ln w="12700">
            <a:solidFill>
              <a:srgbClr val="F2A9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5056632"/>
            <a:ext cx="10058400" cy="329184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700" b="1" lang="vi-VN">
                <a:solidFill>
                  <a:srgbClr val="0B1F3A"/>
                </a:solidFill>
                <a:latin typeface="Arial"/>
                <a:ea typeface="Arial"/>
                <a:cs typeface="Arial"/>
              </a:rPr>
              <a:t>Chưa có bằng chứng thực nghiệm về hiệu quả học tập.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và cách giảm thiểu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70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vào rủi ro có ảnh hưởng đến sử dụng thật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51560" y="1618488"/>
            <a:ext cx="32004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Tài liệu gốc thay đổi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34840" y="1618488"/>
            <a:ext cx="64922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65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Dùng quy trình sinh lại và kiểm tra nội dung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350008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2459736"/>
            <a:ext cx="32004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650" b="1" lang="vi-VN">
                <a:solidFill>
                  <a:srgbClr val="0B1F3A"/>
                </a:solidFill>
                <a:latin typeface="Arial"/>
                <a:ea typeface="Arial"/>
                <a:cs typeface="Arial"/>
              </a:rPr>
              <a:t>Hạn chế thiết bị / WebGL</a:t>
            </a:r>
          </a:p>
        </p:txBody>
      </p:sp>
      <p:sp>
        <p:nvSpPr>
          <p:cNvPr id="13" name="Text 11"/>
          <p:cNvSpPr/>
          <p:nvPr/>
        </p:nvSpPr>
        <p:spPr>
          <a:xfrm>
            <a:off x="4434840" y="2459736"/>
            <a:ext cx="64922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165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Dùng bản tĩnh hoặc mô phỏng hai chiều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77240" y="3191256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EEF6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3300984"/>
            <a:ext cx="32004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Nội dung lỗi thời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34840" y="3300984"/>
            <a:ext cx="64922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65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Rà soát chuyên môn và cập nhật bằng chứng</a:t>
            </a:r>
          </a:p>
        </p:txBody>
      </p:sp>
      <p:sp>
        <p:nvSpPr>
          <p:cNvPr id="17" name="Shape 15"/>
          <p:cNvSpPr/>
          <p:nvPr/>
        </p:nvSpPr>
        <p:spPr>
          <a:xfrm>
            <a:off x="777240" y="4032504"/>
            <a:ext cx="1078992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4142232"/>
            <a:ext cx="320040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650" b="1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Gói quá lớn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434840" y="4142232"/>
            <a:ext cx="64922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65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Đề xuất tối ưu dung lượng và tải theo nhu cầu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động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3200" b="1" lang="vi-VN">
                <a:solidFill>
                  <a:srgbClr val="102A43"/>
                </a:solidFill>
                <a:latin typeface="Arial"/>
                <a:ea typeface="Arial"/>
                <a:cs typeface="Arial"/>
              </a:rPr>
              <a:t>Giá trị sử dụng dự kiến</a:t>
            </a:r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Khả năng hỗ trợ dạy và học; chưa phải kết quả đo hiệu quả học tập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737360"/>
            <a:ext cx="32004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359152"/>
            <a:ext cx="3291840" cy="13258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lại bài, xem mô phỏng, tự kiểm tra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737360"/>
            <a:ext cx="32004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44568" y="2359152"/>
            <a:ext cx="3291840" cy="13258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2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nội dung theo quy trình có kiểm soát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2440" y="16459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83880" y="1737360"/>
            <a:ext cx="3200400" cy="47548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trường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02168" y="2359152"/>
            <a:ext cx="3163824" cy="13258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0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Cơ sở tham khảo cho học phần khác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25 / 28</a:t>
            </a:r>
          </a:p>
        </p:txBody>
      </p:sp>
      <p:pic>
        <p:nvPicPr>
          <p:cNvPr id="20" name="Picture 19" descr="Minh họa tự kiểm tra với phản hồi đáp án thực tế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061" y="4069080"/>
            <a:ext cx="3870157" cy="2057400"/>
          </a:xfrm>
          <a:prstGeom prst="rect">
            <a:avLst/>
          </a:prstGeom>
        </p:spPr>
      </p:pic>
      <p:pic>
        <p:nvPicPr>
          <p:cNvPr id="21" name="Picture 20" descr="Minh họa đọc bài học với hình và công thức thực tế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282" y="4069080"/>
            <a:ext cx="2703634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đề xuất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Các mốc tính từ thời điểm kế hoạch được phê duyệt</a:t>
            </a:r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88720" y="1700784"/>
            <a:ext cx="2377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0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0 đến 3 tháng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1609343"/>
            <a:ext cx="6858000" cy="56692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20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Rà soát học thuật và khả năng tiếp cận độc lập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EEF6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88720" y="2935224"/>
            <a:ext cx="2377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0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3 đến 6 tháng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843784"/>
            <a:ext cx="6858000" cy="56692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20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Mở rộng mô phỏng và thử nhập vào hệ quản lý học tập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397764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88720" y="4169664"/>
            <a:ext cx="2377440" cy="39319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2000" b="1" dirty="0">
                <a:solidFill>
                  <a:srgbClr val="F2A900"/>
                </a:solidFill>
                <a:latin typeface="Arial"/>
                <a:ea typeface="Arial"/>
                <a:cs typeface="Arial"/>
              </a:rPr>
              <a:t>6 đến 12 tháng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4078224"/>
            <a:ext cx="6858000" cy="56692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2000" dirty="0">
                <a:solidFill>
                  <a:srgbClr val="1A202C"/>
                </a:solidFill>
                <a:latin typeface="Arial"/>
                <a:ea typeface="Arial"/>
                <a:cs typeface="Arial"/>
              </a:rPr>
              <a:t>Tối ưu gói, bổ sung tìm kiếm trong tài liệu gốc và nhân rộng</a:t>
            </a:r>
            <a:endParaRPr lang="en-US" sz="1800" dirty="0"/>
          </a:p>
        </p:txBody>
      </p:sp>
      <p:sp>
        <p:nvSpPr>
          <p:cNvPr id="17" name="TextBox 16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68580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r">
              <a:buNone/>
            </a:pPr>
            <a:r>
              <a:rPr lang="vi-VN" sz="1050" dirty="0" b="0">
                <a:solidFill>
                  <a:srgbClr val="5265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học lý thuyết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1109960" cy="5943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>
              <a:buNone/>
            </a:pPr>
            <a:r>
              <a:rPr lang="vi-VN" sz="3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24128"/>
            <a:ext cx="11064240" cy="429768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170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Đã có sản phẩm kỹ thuật; cần hoàn thiện hồ sơ nghiệm thu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10058400" cy="310896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r>
              <a:rPr sz="24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Học liệu hỗ trợ ngoại tuyến, tích hợp mô phỏng và ảnh động có dự phòng.</a:t>
            </a:r>
          </a:p>
          <a:p>
            <a:r>
              <a:rPr sz="24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Kết quả kỹ thuật không thay thế nghiệm thu học thuật và đánh giá khả năng tiếp cận.</a:t>
            </a:r>
          </a:p>
          <a:p>
            <a:r>
              <a:rPr sz="2400" lang="vi-VN">
                <a:solidFill>
                  <a:srgbClr val="1A202C"/>
                </a:solidFill>
                <a:latin typeface="Arial"/>
                <a:ea typeface="Arial"/>
                <a:cs typeface="Arial"/>
              </a:rPr>
              <a:t>Hiệu quả học tập và khả năng nhân rộng cần được đánh giá riêng.</a:t>
            </a:r>
          </a:p>
        </p:txBody>
      </p:sp>
      <p:sp>
        <p:nvSpPr>
          <p:cNvPr id="9" name="Shape 7"/>
          <p:cNvSpPr/>
          <p:nvPr/>
        </p:nvSpPr>
        <p:spPr>
          <a:xfrm>
            <a:off x="914400" y="5303520"/>
            <a:ext cx="1024128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5376672"/>
            <a:ext cx="9875520" cy="347472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r>
              <a:rPr sz="1800" b="1" lang="vi-VN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Đề xuất: hoàn tất các điều kiện đánh giá trước khi áp dụng chính thức.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526579"/>
                </a:solidFill>
                <a:latin typeface="Arial"/>
                <a:ea typeface="Arial"/>
                <a:cs typeface="Arial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2057400"/>
            <a:ext cx="10332720" cy="50292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>
            <a:normAutofit/>
          </a:bodyPr>
          <a:lstStyle/>
          <a:p>
            <a:pPr marL="0" indent="0" algn="ctr">
              <a:buNone/>
            </a:pPr>
            <a:r>
              <a:rPr lang="vi-VN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HỘI ĐỒNG ĐÃ LẮNG NGHE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332720" cy="411480"/>
          </a:xfrm>
          <a:prstGeom prst="rect">
            <a:avLst/>
          </a:prstGeom>
          <a:noFill/>
          <a:ln/>
        </p:spPr>
        <p:txBody>
          <a:bodyPr wrap="square" lIns="22860" tIns="13716" rIns="22860" bIns="13716" rtlCol="0" anchor="ctr"/>
          <a:lstStyle/>
          <a:p>
            <a:pPr marL="0" indent="0" algn="ctr">
              <a:buNone/>
            </a:pPr>
            <a:r>
              <a:rPr lang="vi-VN" sz="2400" dirty="0">
                <a:solidFill>
                  <a:srgbClr val="BF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Trao đổi và góp 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66360" y="379476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/mnt/data/qr_existin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21808" y="3950208"/>
            <a:ext cx="1517904" cy="15179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28248" y="6446520"/>
            <a:ext cx="594360" cy="256032"/>
          </a:xfrm>
          <a:prstGeom prst="rect">
            <a:avLst/>
          </a:prstGeom>
          <a:noFill/>
        </p:spPr>
        <p:txBody>
          <a:bodyPr wrap="square" lIns="22860" rIns="22860" tIns="13716" bIns="13716">
            <a:spAutoFit/>
          </a:bodyPr>
          <a:lstStyle/>
          <a:p>
            <a:pPr algn="r"/>
            <a:r>
              <a:rPr sz="1050" b="0" lang="vi-VN">
                <a:solidFill>
                  <a:srgbClr val="D4E1ED"/>
                </a:solidFill>
                <a:latin typeface="Arial"/>
                <a:ea typeface="Arial"/>
                <a:cs typeface="Arial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1920</Words>
  <Application>Microsoft Office PowerPoint</Application>
  <PresentationFormat>Widescreen</PresentationFormat>
  <Paragraphs>340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Cơ học lý thuyết</dc:title>
  <dc:subject>Báo cáo giáo trình điện tử Cơ học lý thuyết</dc:subject>
  <dc:creator>ChatGPT</dc:creator>
  <cp:lastModifiedBy>Bùi Thanh Xuân</cp:lastModifiedBy>
  <cp:revision>2</cp:revision>
  <dcterms:created xsi:type="dcterms:W3CDTF">2026-10-05T06:23:30Z</dcterms:created>
  <dcterms:modified xsi:type="dcterms:W3CDTF">2026-10-05T06:26:47Z</dcterms:modified>
</cp:coreProperties>
</file>