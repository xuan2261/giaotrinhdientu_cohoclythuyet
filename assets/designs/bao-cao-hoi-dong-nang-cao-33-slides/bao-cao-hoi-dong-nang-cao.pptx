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1/34 — Trải nghiệm giáo trình trực tuyến
Phần: Truy cập trực tuyến
Quét mã truy cập bằng điện thoại để mở giáo trình.
Kính mời hội đồng quét mã truy cập để mở giáo trình trực tuyến tại https://xuan2261.github.io/GiaoTrinhDienTu_CoHocLyThuyet/
Có thể dùng máy ảnh điện thoại hoặc ứng dụng quét mã. Trang mã truy cập được đặt trước phần báo cáo để người nghe truy cập học liệu trong lúc theo dõi.
Thông điệp chính: Kết nối mạng để truy cập trực tuyến; giữ bản ngoại tuyến khi cần.
NGUỒN ĐẦY ĐỦ (đường dẫn tương đối từ gốc kho mã hoặc địa chỉ mạng nguyên vẹn):
- https://xuan2261.github.io/GiaoTrinhDienTu_CoHocLyThuyet/
- assets/designs/bao-cao-nghiem-thu-giao-trinh-dien-tu/assets/qr-code-online-textbook.png
Kho mã: https://github.com/xuan2261/GiaoTrinhDienTu_CoHocLyThuyet
LƯU Ý BIÊN TẬP:
- Bộ báo cáo gồm 1 trang mã truy cập mở đầu và 33 chủ đề theo tài liệu. Hai trang dự phòng nằm ở trang 33–34.
- Không sử dụng tỷ lệ minh họa 73%, điểm 8,2/10 hay tuyên bố tám nhóm kiểm tra đều đạt như kết quả đã đo.
- Kết quả kiểm tra chất lượng được trích từ sổ ngày 2026-09-25: 11 đạt, 9 chưa đạt, 4 chưa thể đánh giá; không phải lần kiểm tra sản phẩm mới.
- 10 bản mô phỏng không gian bổ sung cho 25 vị trí mô phỏng phẳng, không phải 35 bài độc lập. Nguồn mô phỏng hiện tại còn chờ thẩm định lại.
- Các mốc lộ trình, chỉ số đánh giá, lợi ích và xác suất rủi ro là đề xuất, không phải cam kết được phê duyệt hoặc kết quả nghiên cứu người học.
- Dùng phông Arial để tránh thay phông trên máy trình chiếu. Không dựng biểu trưng giả khi chưa có biểu trưng chính thức.
- Ảnh giao diện hiện tại chụp ngày 05/10/2026 chỉ minh họa giao diện đang chạy; không thay đổi kết quả kiểm tra lịch sử hoặc tình trạng nghiệm thu.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2/34 — GIÁO TRÌNH ĐIỆN TỬ CƠ HỌC LÝ THUYẾT
Phần: Mở đầu
Kiến trúc · Chất lượng · Tác động
Kính thưa hội đồng, báo cáo này đánh giá giáo trình điện tử Cơ học lý thuyết phục vụ đào tạo tại Học viện Hải quân. Nội dung tập trung vào kiến trúc triển khai, chất lượng có bằng chứng và giá trị giáo dục cần tiếp tục kiểm chứng.
Sản phẩm có hiện vật kỹ thuật và quy trình kiểm tra, nhưng chưa được đồng nhất với chấp nhận học thuật. Số liệu gắn với nguồn cụ thể; kế hoạch được phân biệt với kết quả đã đạt.
Thông điệp chính: Báo cáo hiện trạng, bằng chứng và lộ trình hoàn thiện — không thay quyết định nghiệm thu.
NGUỒN ĐẦY ĐỦ (đường dẫn tương đối từ gốc kho mã hoặc địa chỉ mạng nguyên vẹn):
- NghienCuuLamSlideMoi.txt
- data/acceptance-report.json
- chapters/tac-gia.html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3/34 — Tóm tắt điều hành
Phần: Mở đầu
Bốn con số phạm vi; ba kết luận để hội đồng ra quyết định.
Bốn con số gồm 372 tệp trong gói đề nghị phát hành, 25 vị trí mô phỏng phẳng, 10 bản không gian bổ sung và tám nhóm kiểm tra. Tám nhóm không phải tám điều kiện đã đạt: Sổ 2026-09-25: 11 đạt / 9 chưa đạt / 4 chưa thể đánh giá.
Có cơ sở kỹ thuật cho triển khai ngoại tuyến, chưa đủ chấp nhận học thuật chính thức và có khả năng tái sử dụng quy trình cho môn khác. Chuyển giao vẫn cần thí điểm; không suy ra hiệu quả học tập hoặc chi phí bằng không.
Thông điệp chính: Phạm vi không phải chất lượng; chạy được không đồng nghĩa đã được nghiệm thu.
NGUỒN ĐẦY ĐỦ (đường dẫn tương đối từ gốc kho mã hoặc địa chỉ mạng nguyên vẹn):
- release/2026.09.02-candidate/release-summary.json
- js/sim2/sim2-route-manifest.js
- js/sim3/sim3-route-manifest.js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4/34 — Lộ trình báo cáo — 25 phút
Phần: Mở đầu
1 trang mã truy cập · 30 trang nội dung · 1 trang hỏi–đáp · 2 trang dự phòng.
Báo cáo chính gồm sáu khối với tổng thời gian mục tiêu 25 phút. Mở đầu và kết luận được lồng vào các khối thay vì cộng thêm thời gian.
Trang mã truy cập mở đầu là trang 1. Sau trang 31 là trang hỏi–đáp. Trang 33 và 34 là dự phòng về vòng đời tải bài và danh mục đầy đủ mô phỏng.
Thông điệp chính: Dành thêm 5–10 phút cho hỏi–đáp; phụ lục chỉ mở khi cần đào sâu.
NGUỒN ĐẦY ĐỦ (đường dẫn tương đối từ gốc kho mã hoặc địa chỉ mạng nguyên vẹn):
- NghienCuuLamSlideMoi.txt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5/34 — Vì sao ngoại tuyến là quan trọng?
Phần: Mở đầu
Thiết kế cho điều kiện kết nối bị hạn chế, không dựa vào tỷ lệ khảo sát giả định.
Bài học không nên phụ thuộc dịch vụ từ xa ở mỗi phiên học. Tài nguyên cục bộ hướng tới điều kiện này; gói có thể phân phối qua thiết bị lưu trữ di động hoặc máy chủ chỉ cung cấp tệp. Trang đầu là index.html.
Tỷ lệ 73% trong tài liệu chỉ là minh họa, không phải bằng chứng về đơn vị. Chưa có căn cứ khẳng định 100% tính năng vượt qua thử nghiệm trên mọi thiết bị. Cần khảo sát và chạy thử độc lập trước khi mở rộng.
Thông điệp chính: Ưu tiên dùng không mạng là lựa chọn theo bối cảnh; phải thử trên thiết bị thực.
NGUỒN ĐẦY ĐỦ (đường dẫn tương đối từ gốc kho mã hoặc địa chỉ mạng nguyên vẹn):
- README.md
- docs/deployment-guide.md
- NghienCuuLamSlideMoi.txt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6/34 — Phương pháp đánh giá
Phần: Phương pháp luận
Bốn bước phân biệt thiết kế, thực thi, bằng chứng và chuẩn đối chiếu.
Đọc mã và tài liệu để xác định thiết kế, quan sát trong điều kiện thực tế, rồi kiểm đầu ra, dấu thời gian và dấu kiểm tra tệp để tránh dùng ảnh cũ chứng minh mã mới.
Chuẩn tiếp cận nội dung số, trao đổi câu hỏi và trao đổi gói học liệu là khung đối chiếu, không phải chứng nhận tự động. Báo cáo sử dụng hồ sơ đã lưu; việc xuất bộ trình chiếu không phải chạy lại toàn bộ kiểm tra chất lượng. Nguồn mô phỏng mới còn chờ kiểm lại.
Thông điệp chính: Chỉ kết luận trong phạm vi đã kiểm tra và đúng phiên bản nguồn.
NGUỒN ĐẦY ĐỦ (đường dẫn tương đối từ gốc kho mã hoặc địa chỉ mạng nguyên vẹn):
- README.md
- data/evidence-registry.json
- data/acceptance-report.json
- data/simulation-current-revalidation.json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7/34 — Sáu tiêu chí đánh giá
Phần: Phương pháp luận
Dùng bằng chứng và trạng thái thay cho điểm số chưa được thẩm định.
Sáu tiêu chí giữ nguyên ý định đánh giá: kiến trúc, tính năng, chất lượng, tiếp cận, phát hành và chuyển giao. Mỗi tiêu chí nối với hiện vật hoặc trạng thái kiểm tra, không thay bằng điểm số chưa có quy trình chấm.
Các điểm 8, 9, 10 và tổng 8,2 trong đề xuất chưa phải kết quả khảo sát hoặc đánh giá độc lập. Không chấm chất lượng tuyệt đối khi sổ còn chưa đạt và chưa thể đánh giá. Hội đồng có thể phê duyệt tiêu chí chấm và tổ chức đánh giá riêng.
Thông điệp chính: Không dùng 8,2/10 làm kết luận khi chưa có tiêu chí chấm và người đánh giá.
NGUỒN ĐẦY ĐỦ (đường dẫn tương đối từ gốc kho mã hoặc địa chỉ mạng nguyên vẹn):
- data/acceptance-report.json
- data/presentation-specification.json
- docs/system-architecture.md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8/34 — Nguồn dữ liệu và bằng chứng
Phần: Phương pháp luận
Tám tuyến tra cứu, mỗi tuyến có chức năng riêng.
Mã nguồn chỉ ra cơ chế; danh mục chỉ ra phạm vi; hồ sơ thực thi cho biết kết quả trên một phiên bản và môi trường cụ thể. Nguồn tra cứu gồm README.md, docs/, release/, data/evidence-registry.json, data/, tests/ và tools/.
Lịch sử mã nguồn không tự chứng minh chất lượng. Phải kiểm kết quả, dấu kiểm tra tệp và liên kết với gói được báo cáo. Ảnh ngày 05/10/2026 minh họa giao diện đang chạy, không chứng minh toàn bộ chất lượng hoặc thay kết quả lịch sử.
Thông điệp chính: Định nghĩa một phép kiểm tra không chứng minh phép kiểm tra đó đã đạt.
NGUỒN ĐẦY ĐỦ (đường dẫn tương đối từ gốc kho mã hoặc địa chỉ mạng nguyên vẹn):
- README.md
- data/evidence-registry.json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9/34 — Tổng quan dự án
Phần: Tổng quan
Một giáo trình tĩnh cho ba chương Cơ học lý thuyết.
Sản phẩm là giáo trình tĩnh với ba chương. Nguồn văn bản chuẩn là CoHocLyThuyet_Full_New.docx; bảng tra cứu và dữ liệu kiểm tra được quản lý riêng dưới data. Khi đọc gói phát hành, người học không cần công cụ cài đặt dành cho lập trình viên hay dịch vụ xử lý riêng trên máy chủ.
Ảnh trang đầu chụp giao diện đang chạy ngày 05/10/2026. Tài nguyên ngoại tuyến, tạo nội dung, mô phỏng và truy vết là các đặc điểm thiết kế. Thư viện hiển thị công thức, mô phỏng và tài liệu được đóng gói cục bộ; sửa tài liệu biên soạn vẫn cần kỹ thuật tái tạo và kiểm đầu ra.
Thông điệp chính: Đọc học liệu không cần dịch vụ xử lý máy chủ; bảo trì vẫn cần đầu mối kỹ thuật.
NGUỒN ĐẦY ĐỦ (đường dẫn tương đối từ gốc kho mã hoặc địa chỉ mạng nguyên vẹn):
- README.md
- CoHocLyThuyet_Full_New.docx
- data/presentation-specification.json
- assets/designs/bao-cao-hoi-dong-nang-cao-33-slides/assets/current-home.png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10/34 — Phạm vi: giáo trình, không phải hệ thống quản lý học tập
Phần: Tổng quan
Ranh giới rõ về tài khoản, sổ điểm và đồng bộ.
Giáo trình hỗ trợ tự học nhưng chưa có danh tính người học hoặc đồng bộ tập trung. Cần phân biệt với hệ thống quản lý học tập có tài khoản, sổ điểm và quản trị đào tạo.
Có bản dẫn xuất trao đổi câu hỏi phiên bản 3 và gói học liệu chung phiên bản 1.4 ở mức thí điểm. Chưa triển khai đầy đủ các chuẩn theo dõi hoạt động học, chưa chứng minh liên thông trên hệ thống quản lý học tập thật. Giữ giới hạn này trong bàn giao.
Thông điệp chính: Gói nén không phải hệ thống quản lý học tập; dữ liệu tự học không phải sổ điểm chính thức.
NGUỒN ĐẦY ĐỦ (đường dẫn tương đối từ gốc kho mã hoặc địa chỉ mạng nguyên vẹn):
- README.md
- data/presentation-specification.json
- data/lms-targets.json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11/34 — Kiến trúc năm lớp
Phần: Tổng quan
Phân tách giao diện, tải bài, tương tác, nội dung và dữ liệu.
Năm lớp là cách trình bày trách nhiệm: giao diện, tải bài, tương tác, học liệu và dữ liệu. Thành phần nguồn gồm index.html, css/, app.js, loader.js, pages.js, chapters/, images/ và data/.
Các lớp vẫn có quy ước liên kết. Thay bộ mô phỏng hoặc cấu trúc dữ liệu có thể ảnh hưởng bộ tải và nội dung. Phải kiểm khởi tạo, giải phóng tài nguyên, điều hướng và dữ liệu; không tuyên bố thay độc lập tuyệt đối.
Thông điệp chính: Phân lớp giúp xác định nơi sửa và kiểm; thay bộ mô phỏng vẫn có thể gây tác động.
NGUỒN ĐẦY ĐỦ (đường dẫn tương đối từ gốc kho mã hoặc địa chỉ mạng nguyên vẹn):
- docs/system-architecture.md
- js/loader.js
- README.md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12/34 — Ưu tiên dùng không mạng: cơ chế và bằng chứng
Phần: Kiến trúc và tính năng
Tài nguyên cục bộ; kết luận gắn với máy và gói đã thử.
Gói độc lập có nội dung và thư viện cục bộ; có thể mở tệp hoặc qua máy chủ cung cấp tệp. Ảnh tìm kiếm ngày 05/10/2026 minh họa giao diện trực tuyến đang chạy, không chứng minh ngoại tuyến đã đạt. Hồ sơ release/2026.09.02-candidate/technical-smoke.md có giới hạn theo thời điểm và gói.
Không cam kết mọi tính năng chạy trên mọi trình duyệt. Cần kiểm đường dẫn, bộ nhớ trình duyệt, trình đọc tài liệu, mô phỏng và phương án dự phòng trên máy trình chiếu. Điều kiện chạy thử độc lập vẫn chưa thể đánh giá trong hồ sơ.
Thông điệp chính: Ngoại tuyến là đặc tính thiết kế; 100% tính năng cần bộ bằng chứng đầy đủ.
NGUỒN ĐẦY ĐỦ (đường dẫn tương đối từ gốc kho mã hoặc địa chỉ mạng nguyên vẹn):
- README.md
- release/2026.09.02-candidate/technical-smoke.md
- data/acceptance-report.json
- assets/designs/bao-cao-hoi-dong-nang-cao-33-slides/assets/current-search.png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13/34 — Mô phỏng phẳng và không gian: chiến lược hai tầng
Phần: Kiến trúc và tính năng
10 bản không gian tăng cường trải nghiệm trên những vị trí phẳng đã có.
25 vị trí có lớp mô phỏng phẳng bằng hình véc tơ; mười vị trí có tùy chọn không gian cần hỗ trợ đồ họa của trình duyệt. Hai cách biểu diễn cùng chủ đề không phải 35 bài. Khi bản không gian lỗi, thiết kế giữ hoặc chuyển về bản phẳng. Ảnh không gian ngày 05/10/2026 minh họa giao diện đang chạy, không hoàn tất thẩm định độc lập.
Tài liệu hướng dẫn mô tả bước thời gian cố định 1/60 giây và chỉ vẽ lại khi cần. Đây là thiết kế, không phải kết quả đo 60 khung hình mỗi giây. Nguồn mô phỏng gần đây có thay đổi và còn chờ kiểm lại; ảnh và kết quả đạt lịch sử không xác nhận mã mới.
Thông điệp chính: Không cộng 25 + 10 thành 35 bài; bước thời gian 1/60 giây không phải tốc độ khung hình đã đo.
NGUỒN ĐẦY ĐỦ (đường dẫn tương đối từ gốc kho mã hoặc địa chỉ mạng nguyên vẹn):
- js/sim2/sim2-route-manifest.js
- js/sim3/sim3-route-manifest.js
- data/simulation-current-revalidation.json
- README.md
- assets/designs/bao-cao-hoi-dong-nang-cao-33-slides/assets/current-simulation-space.png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14/34 — Sáu tính năng học tập tương tác
Phần: Kiến trúc và tính năng
Hỗ trợ tự học; không đồng nhất với quản lý đào tạo có danh tính.
Sáu tính năng gồm tìm kiếm, câu hỏi tự kiểm tra, tiến độ, đánh dấu bài, ghi chú và tra thuật ngữ. Tìm kiếm dùng chỉ mục cục bộ; câu hỏi có chọn phạm vi, trộn câu và khôi phục lượt làm. Ảnh ngày 05/10/2026 cho thấy câu hỏi và phản hồi ngay sau khi chọn câu trả lời đúng; không chứng minh tất cả thao tác đã đạt kiểm tra.
Điểm câu hỏi và lượt đọc chưa chứng minh đạt chuẩn đầu ra. Bộ nhớ trình duyệt không tự đồng bộ giữa máy, có thể mất khi xóa dữ liệu hoặc đổi hồ sơ trình duyệt. Cần hướng dẫn lưu giữ và chuyển dữ liệu cá nhân.
Thông điệp chính: Dữ liệu thuộc trình duyệt; có thể mất hoặc không đi theo thiết bị lưu trữ di động.
NGUỒN ĐẦY ĐỦ (đường dẫn tương đối từ gốc kho mã hoặc địa chỉ mạng nguyên vẹn):
- README.md
- js/quiz-state.js
- js/progress.js
- js/notes.js
- js/glossary.js
- assets/designs/bao-cao-hoi-dong-nang-cao-33-slides/assets/current-quiz.png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15/34 — Tài liệu nội tuyến: giữ ngữ cảnh học
Phần: Kiến trúc và tính năng
Cửa sổ đọc chuyên dụng thay vì chuyển người học ra khỏi bài.
Trình đọc tài liệu mở nội tuyến, nạp tài nguyên khi cần. Thiết kế cho phép chuyển hoặc nhập trang, phóng to, tải xuống, đóng bằng phím thoát hoặc nút quay lại của trình duyệt trong khi giữ ngữ cảnh bài.
Ảnh chụp giao diện đang chạy ngày 05/10/2026, không phải lần kiểm thử đầy đủ. Điều kiện phát hành trình đọc tài liệu chưa đạt trong sổ ngày 2026-09-25. Không nâng thao tác thiết kế thành cam kết đã đạt; tìm kiếm, ảnh thu nhỏ và chú thích chưa nằm trong hiện vật.
Thông điệp chính: Mở tài liệu cần kiểm cả hiển thị lẫn trạng thái khi đóng cửa sổ.
NGUỒN ĐẦY ĐỦ (đường dẫn tương đối từ gốc kho mã hoặc địa chỉ mạng nguyên vẹn):
- README.md
- js/pdf-viewer.js
- data/acceptance-report.json
- assets/designs/bao-cao-hoi-dong-nang-cao-33-slides/assets/current-pdf.png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16/34 — Ảnh động với phương án dự phòng
Phần: Kiến trúc và tính năng
Dùng ảnh động khi phù hợp, giữ ảnh tĩnh khi cần.
Danh mục quản lý 20 ảnh động cho các hình cơ học. Nút ảnh động đổi giữa ảnh động và ảnh tĩnh; lựa chọn giảm chuyển động của hệ điều hành định hướng dùng ảnh tĩnh. Dự phòng nhằm tránh mất hình minh họa khi ảnh động lỗi.
Đây là thiết kế và số lượng trong gói. Điều kiện phát hành ảnh động chưa đạt trong sổ ngày 2026-09-25. Cần kiểm lại tài nguyên, tình huống lỗi và thao tác trên bản đích. Không nhầm ảnh động với phim hoặc học liệu âm thanh.
Thông điệp chính: Có phương án dự phòng không đồng nghĩa mọi ảnh đã qua kiểm tra phát hành.
NGUỒN ĐẦY ĐỦ (đường dẫn tương đối từ gốc kho mã hoặc địa chỉ mạng nguyên vẹn):
- js/gif-figures.js
- README.md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17/34 — Khả năng tiếp cận: nói đúng giới hạn
Phần: Kiến trúc và tính năng
Kiểm tự động là một phần; đánh giá thủ công độc lập là phần riêng.
Các cơ chế tiếp cận và phép kiểm tự động chỉ phát hiện một phần vấn đề. Chúng không đánh giá hết ngữ nghĩa công thức, thao tác mô phỏng hoặc trải nghiệm trình đọc màn hình. Ảnh giao diện trên điện thoại ngày 05/10/2026 chỉ minh họa cách trình bày.
Trong hồ sơ ngày 2026-09-25, điều kiện tiếp cận chưa đạt và đánh giá độc lập chưa thể thực hiện. Không tuyên bố chứng nhận tiêu chuẩn tiếp cận nội dung số phiên bản 2.2 mức hai. Cần đối chiếu từng tiêu chí, kiểm thủ công và lưu bằng chứng đúng bản nguồn.
Thông điệp chính: Ảnh trên điện thoại không thay đánh giá tiếp cận thủ công hoặc xác nhận đạt chuẩn.
NGUỒN ĐẦY ĐỦ (đường dẫn tương đối từ gốc kho mã hoặc địa chỉ mạng nguyên vẹn):
- data/accessibility-baseline.json
- data/acceptance-report.json
- data/presentation-specification.json
- assets/designs/bao-cao-hoi-dong-nang-cao-33-slides/assets/current-mobile.png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18/34 — Kiểm tra chất lượng: tám nhóm, 24 điều kiện
Phần: Chất lượng và bằng chứng
Khung nhóm để trình bày; không phải bảng tám nhóm đã đạt.
Tám nhóm giúp hội đồng hiểu các loại rủi ro. Sổ kiểm tra chất lượng có 24 điều kiện. Không thay trạng thái bằng cách gộp tám hàng hoặc sửa lời thuyết minh. Các lệnh thực hiện được lưu trong package.json và điều kiện trong data/qa-gates.json.
Sổ 2026-09-25: 11 đạt / 9 chưa đạt / 4 chưa thể đánh giá. Kiểm ổn định ba lượt liên tiếp và kiểm lại nguồn mới cần bằng chứng. Chấp nhận cuối phải qua học thuật, tiếp cận và chạy thử độc lập; xuất được gói nén không chứng minh đạt các điều kiện này.
Thông điệp chính: Sổ 2026-09-25: 11 đạt / 9 chưa đạt / 4 chưa thể đánh giá. Ba lần kiểm ổn định vẫn cần bằng chứng.
NGUỒN ĐẦY ĐỦ (đường dẫn tương đối từ gốc kho mã hoặc địa chỉ mạng nguyên vẹn):
- package.json
- data/qa-gates.json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19/34 — Thẩm định học thuật: chuỗi truy vết
Phần: Chất lượng và bằng chứng
Yêu cầu → mục tiêu học tập → học liệu → kiểm chứng → ký duyệt.
Chuỗi truy vết nối căn cứ đào tạo và mục tiêu với nội dung, câu hỏi, mô phỏng và bằng chứng. Sổ ghi nội dung cần thẩm định và tình trạng; kích thước tệp không phản ánh chất lượng học thuật.
Sổ data/academic_review_ledger.json có 836233 byte, data/academic_signoffs.json có 0 bản ghi. Điều kiện học thuật vẫn chưa thể đánh giá. Cần thẩm định độc lập, đúng thẩm quyền và phiên bản; dữ liệu mô tả mục tiêu không chứng minh người học đã đạt chuẩn đầu ra.
Thông điệp chính: Sổ thẩm định 836.233 byte; 0 bản ký — dữ liệu không thay phê duyệt.
NGUỒN ĐẦY ĐỦ (đường dẫn tương đối từ gốc kho mã hoặc địa chỉ mạng nguyên vẹn):
- data/academic_review_ledger.json
- data/academic_signoffs.json
- data/learning-outcomes.json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20/34 — Phát hành: tái tạo và xác minh
Phần: Chất lượng và bằng chứng
Gói đề nghị lịch sử khác với mã nguồn đang thay đổi.
Mã gói trong hồ sơ: 2026.09.02-candidate; gói nén 78739543 byte. Dấu kiểm tra đầy đủ: 3defec1306bab10288faed66e45f19d8aa2befc2b66ecb1b6f2066df186f005a. Dấu kiểm tra đã được tính trực tiếp khi chuẩn bị báo cáo và khớp hồ sơ gói đề nghị.
Đối chiếu dấu kiểm tra chỉ xác nhận tệp đúng hồ sơ. Tái tạo cùng nội dung tệp cần điều kiện tạo gói cố định; phiên này không thay bằng chứng tái tạo lịch sử. Gói đề nghị chưa phải chấp nhận cuối; mã hiện tại đã thay đổi và cần kiểm riêng.
Thông điệp chính: Dấu kiểm tra xác nhận đúng tệp, không xác nhận học thuật hoặc mã mới đã đạt.
NGUỒN ĐẦY ĐỦ (đường dẫn tương đối từ gốc kho mã hoặc địa chỉ mạng nguyên vẹn):
- data/release-candidate.json
- release/2026.09.02-candidate/release-summary.json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21/34 — Tuyên bố nào, bằng chứng đó
Phần: Chất lượng và bằng chứng
Không dùng đường dẫn giả hoặc số đếm suy diễn.
Bản đồ kiểm chứng các con số chính: số tệp lấy từ báo cáo đóng gói, không đếm thư mục có nhiều bản gói. Danh mục mô phỏng là js/sim2/sim2-route-manifest.js và js/sim3/sim3-route-manifest.js; không suy từ tên tệp không có thật.
Dấu kiểm tra gói là 3defec1306bab10288faed66e45f19d8aa2befc2b66ecb1b6f2066df186f005a. Kết quả chất lượng gắn với thời điểm 2026-09-25T13:56:04Z. Khi dữ liệu cập nhật, dựng lại báo cáo từ nguồn, không sửa riêng số trên trang. Không dùng dấu kiểm tra hoặc ảnh gói cũ để kết luận vấn đề của nguồn mới đã được khắc phục.
Thông điệp chính: Lưu đường dẫn và dấu kiểm tra trong ghi chú để hội đồng truy lại.
NGUỒN ĐẦY ĐỦ (đường dẫn tương đối từ gốc kho mã hoặc địa chỉ mạng nguyên vẹn):
- release/2026.09.02-candidate/release-summary.json
- data/release-candidate.json
- js/sim2/sim2-route-manifest.js
- js/sim3/sim3-route-manifest.js
- data/acceptance-report.json
- data/simulation-current-revalidation.json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22/34 — So sánh theo điều kiện triển khai
Phần: So sánh và đánh giá
Giải pháp phục vụ mục đích khác nhau; không có lựa chọn tốt nhất tuyệt đối.
Cột hệ thống quản lý học tập đối chiếu Moodle; cột lớp học trực tuyến đối chiếu Google Classroom. Moodle có thể triển khai tại chỗ hoặc mạng nội bộ, ứng dụng hỗ trợ ngoại tuyến có điều kiện. Google Classroom trên điện thoại cho đọc thông báo, bài và sửa tài liệu tải trước theo tài liệu chính thức.
Giáo trình không cần dịch vụ tập trung khi đọc gói, nhưng không thay tài khoản và sổ điểm của hệ thống quản lý học tập. Bản giấy và phần mềm đều có chi phí biên soạn, bảo trì và phân phối. Tài liệu Moodle tìm từ nguồn chính thức nhưng truy cập trực tiếp bị chặn, nên không mở rộng kết luận từng chức năng ngoại tuyến.
Thông điệp chính: Lợi thế là phân phối cục bộ; không tuyên bố giải pháp khác thiếu ngoại tuyến hay kiểm chất lượng.
NGUỒN ĐẦY ĐỦ (đường dẫn tương đối từ gốc kho mã hoặc địa chỉ mạng nguyên vẹn):
- README.md
- https://docs.moodle.org/en/Moodle_app_offline_features
- https://support.google.com/edu/classroom/answer/11015503?hl=en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23/34 — Mười điểm mạnh, ba nhóm
Phần: So sánh và đánh giá
Điểm mạnh thiết kế được phân biệt với kết quả thẩm định.
Bốn điểm kỹ thuật là tài nguyên cục bộ, phân lớp trách nhiệm, quy trình tạo nội dung và hai tầng mô phỏng. Ba điểm tổ chức chất lượng là khung kiểm tra, truy vết và sổ thẩm định. Ba điểm người dùng là tiếp cận, giữ ngữ cảnh tài liệu và ảnh tĩnh dự phòng.
Không gọi kiểm tra cấp công nghiệp như chứng nhận. Điểm mạnh là cơ chế quan sát được để quản lý rủi ro; vẫn phải kiểm thực thi và bằng chứng chấp nhận. Chuyển giao cần thử trên học phần khác.
Thông điệp chính: Cơ chế tạo nền tảng kiểm soát chất lượng, không thay kết quả kiểm tra.
NGUỒN ĐẦY ĐỦ (đường dẫn tương đối từ gốc kho mã hoặc địa chỉ mạng nguyên vẹn):
- README.md
- docs/system-architecture.md
- data/academic_review_ledger.json
- data/qa-gates.json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24/34 — Hạn chế theo mức ảnh hưởng
Phần: So sánh và đánh giá
Ưu tiên chấp nhận học thuật và tính đúng của bản nguồn trước mở rộng.
Hai hạn chế cao là thiếu chấp nhận học thuật và bằng chứng liên thông trên hệ thống quản lý học tập thật. Bốn điểm trung bình là phụ thuộc tài liệu biên soạn, kiểm chất lượng cần công cụ kỹ thuật, mô phỏng không gian thí điểm và trình đọc chưa tìm kiếm, ảnh thu nhỏ, chú thích.
Hai điểm còn lại là tập nội dung js/pages.js có 1411022 byte, tương đương 1.35 đơn vị nhị phân với mỗi đơn vị bằng 1.048.576 byte, và bài tập Chương 3 phần VII, mục 4 đến 6 đã loại khỏi phạm vi. Phân hạng là đề xuất, chưa được đơn vị phê duyệt. Nguồn mô phỏng mới cần kiểm lại, không dùng như bản đạt đầy đủ.
Thông điệp chính: Nguồn mô phỏng mới còn chờ kiểm lại; mức ảnh hưởng là đánh giá đề xuất.
NGUỒN ĐẦY ĐỦ (đường dẫn tương đối từ gốc kho mã hoặc địa chỉ mạng nguyên vẹn):
- data/acceptance-report.json
- data/lms-targets.json
- data/simulation-current-revalidation.json
- README.md
- js/pages.js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25/34 — Năm rủi ro và cách xử lý
Phần: So sánh và đánh giá
Ước lượng định tính để ưu tiên; chưa có dữ liệu xác suất.
Năm rủi ro là lệch nội dung sau sửa nguồn, thiếu đồ họa không gian, học thuật lỗi thời, thời gian tải tập nội dung và mất dữ liệu cục bộ. Dự phòng và quy trình tạo học liệu cần kiểm thực thi; sao lưu là đề xuất mới.
Chưa có thống kê xác suất. Tối ưu tập nội dung phải dựa vào thời gian mở và bộ nhớ trên máy đích. Không tuyên bố có xuất hoặc nhập dữ liệu tự học khi chưa có bằng chứng về giao diện và phạm vi dữ liệu.
Thông điệp chính: Biện pháp dự kiến không phải tính năng đã có; chưa xác nhận xuất và nhập dữ liệu tự học.
NGUỒN ĐẦY ĐỦ (đường dẫn tương đối từ gốc kho mã hoặc địa chỉ mạng nguyên vẹn):
- README.md
- data/academic_review_ledger.json
- data/simulation-current-revalidation.json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26/34 — Tác động giáo dục cần kiểm chứng
Phần: Tác động và khuyến nghị
Giá trị kỳ vọng đối với ba nhóm, không phải hiệu quả đã đo.
Học viên có thể tiếp cận học liệu khi hạn chế mạng và quan sát đại lượng khó thấy trong bản giấy. Nguồn biên soạn và truy vết hỗ trợ giảng viên cập nhật, nhưng tái tạo và kiểm chất lượng vẫn cần kỹ thuật.
Phân phối cục bộ và tái sử dụng quy trình đáng thí điểm. Chưa có số liệu trước–sau, nhóm đối chứng hoặc tổng chi phí để kết luận tăng chất lượng đào tạo hay tiết kiệm. Cần kế hoạch đo lường riêng và bảo đảm quyền riêng tư người học.
Thông điệp chính: Cần nghiên cứu người học để kết luận hiệu quả, chi phí và khả năng nhân rộng.
NGUỒN ĐẦY ĐỦ (đường dẫn tương đối từ gốc kho mã hoặc địa chỉ mạng nguyên vẹn):
- data/presentation-specification.json
- data/learning-outcomes.json
- README.md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27/34 — Sáu bài học có thể chuyển giao
Phần: Tác động và khuyến nghị
Nguyên tắc thực hành, không phải kết luận từ thử nghiệm giáo dục.
Sáu bài học là giữ chất lượng trong kiến trúc ngoại tuyến, tự động hóa tái tạo, tạo truy vết sớm, có điều kiện tiếp cận rõ, quản lý phiên bản và trung thực về trạng thái.
Đây là kinh nghiệm tổ chức dự án, không chứng minh mọi giáo trình phải dùng cùng công nghệ. Chuyển môn phải rà soát nguồn, cấu trúc, mô hình đặc thù và quyền dùng tài nguyên; quy trình tạo học liệu không bảo đảm chỉ thay nội dung là dùng được ngay.
Thông điệp chính: Nhân rộng quy trình kiểm chứng trước khi nhân rộng số lượng tính năng.
NGUỒN ĐẦY ĐỦ (đường dẫn tương đối từ gốc kho mã hoặc địa chỉ mạng nguyên vẹn):
- README.md
- docs/docx-sync-pipeline.md
- data/acceptance-report.json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28/34 — Lộ trình đề xuất: ba giai đoạn
Phần: Tác động và khuyến nghị
Mốc tương đối từ khi kế hoạch được đơn vị phê duyệt.
Ngắn hạn sửa vấn đề, kiểm nguồn mô phỏng hiện tại, thẩm định độc lập về học thuật và tiếp cận, chạy thử vận hành cơ bản và kiểm chu trình sửa rồi tái tạo tài liệu bằng Word. Thống nhất trách nhiệm và điều kiện kết thúc trước khi bắt đầu.
Trung hạn thí điểm liên thông Moodle và Canvas, chọn vị trí mở rộng mô phỏng không gian theo nhu cầu sư phạm. Dài hạn đo hiệu năng, nâng trình đọc tài liệu và thử chuyển giao. Các mốc là đề xuất, chưa được cấp nguồn lực hoặc phê duyệt.
Thông điệp chính: Ưu tiên hoàn tất điều kiện chấp nhận; không mở rộng không gian chỉ để tăng số lượng.
NGUỒN ĐẦY ĐỦ (đường dẫn tương đối từ gốc kho mã hoặc địa chỉ mạng nguyên vẹn):
- data/acceptance-report.json
- data/simulation-current-revalidation.json
- data/lms-targets.json
- NghienCuuLamSlideMoi.txt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29/34 — Chỉ số đánh giá: hiện trạng và mục tiêu đề xuất
Phần: Tác động và khuyến nghị
Mỗi mục tiêu cần cách đo, người xác nhận và bản nguồn.
Hiện trạng chất lượng lấy từ hồ sơ 2026-09-25T13:56:04Z, không phải chạy lại nguồn mới. Mục tiêu 24/24 chỉ có giá trị khi đủ bằng chứng và điều kiện thẩm định, không phải sửa trạng thái dữ liệu.
Không đặt 40+ bài vì bản không gian tăng cường bản phẳng; trước hết giữ tính đúng. Hai hệ thống học tập và ba học phần là mục tiêu đề xuất để thảo luận nguồn lực. Tác động học tập cần chỉ số nghiên cứu riêng, không thay bằng đếm tài nguyên.
Thông điệp chính: Mục tiêu không phải cam kết; 25 vị trí và 10 bản không gian không cộng thành 35 bài.
NGUỒN ĐẦY ĐỦ (đường dẫn tương đối từ gốc kho mã hoặc địa chỉ mạng nguyên vẹn):
- data/acceptance-report.json
- data/academic_signoffs.json
- data/lms-targets.json
- js/sim2/sim2-route-manifest.js
- js/sim3/sim3-route-manifest.js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30/34 — Năm khuyến nghị cho hội đồng
Phần: Tác động và khuyến nghị
Đề nghị thống nhất ưu tiên và điều kiện chuyển bước.
Hoàn thiện thẩm định độc lập về học thuật và tiếp cận; minh chứng trên hệ thống học tập đích thay vì chỉ có tệp trao đổi; chuyển giao qua thí điểm, không sao chép kỳ vọng giữa các môn.
Sửa hồ sơ hoặc dựng trình chiếu không hoàn tất điều kiện chưa đạt hoặc chưa thể đánh giá. Đề nghị hội đồng ghi nhận hiện vật và thống nhất lộ trình hoàn thiện; chấp nhận cuối thuộc quy trình riêng của đơn vị.
Thông điệp chính: Đề nghị tiếp tục hoàn thiện có điều kiện, chưa đề nghị nghiệm thu cuối cùng.
NGUỒN ĐẦY ĐỦ (đường dẫn tương đối từ gốc kho mã hoặc địa chỉ mạng nguyên vẹn):
- data/acceptance-report.json
- data/presentation-specification.json
- NghienCuuLamSlideMoi.txt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31/34 — Kết luận: ba luận điểm
Phần: Kết thúc
Có hiện vật kỹ thuật; cần thẩm định độc lập; có hướng chuyển giao.
Kiến trúc và gói phát hành cho thấy cơ sở kỹ thuật; hồ sơ chưa đủ chấp nhận học thuật; quy trình có thể là nền tảng chuyển giao sau thí điểm.
Không chứng nhận mọi tính năng ngoại tuyến đã đạt hoặc hiệu quả giáo dục đã chứng minh. Cần kiểm bản nguồn hiện tại, sửa vấn đề và thẩm định độc lập để tạo bằng chứng hội đồng có thể kiểm lại.
Thông điệp chính: Tiếp tục đầu tư vào bằng chứng và thẩm định trước khi mở rộng phạm vi.
NGUỒN ĐẦY ĐỦ (đường dẫn tương đối từ gốc kho mã hoặc địa chỉ mạng nguyên vẹn):
- data/acceptance-report.json
- data/simulation-current-revalidation.json
- data/release-candidate.json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32/34 — CẢM ƠN HỘI ĐỒNG HỎI–ĐÁP
Phần: Kết thúc
Trao đổi về bằng chứng, phạm vi sử dụng và ưu tiên hoàn thiện.
Cảm ơn hội đồng. Xin nhận câu hỏi về kỹ thuật, học thuật và ưu tiên đầu tư. Địa chỉ mã nguồn: https://github.com/xuan2261/GiaoTrinhDienTu_CoHocLyThuyet. Câu hỏi cần khảo sát hoặc kiểm chứng mới sẽ được ghi lại thay vì trả lời bằng ước lượng chưa có nguồn.
Hai trang dự phòng trình bày vòng đời tải bài và danh mục mô phỏng. Có thể mở khi cần làm rõ kiến trúc hoặc phạm vi; không coi là bằng chứng thành phần tương tác đã đạt trên nguồn mới.
Thông điệp chính: Sẵn sàng đối chiếu nguồn; không suy đoán thay bằng chứng còn thiếu.
NGUỒN ĐẦY ĐỦ (đường dẫn tương đối từ gốc kho mã hoặc địa chỉ mạng nguyên vẹn):
- README.md
- NghienCuuLamSlideMoi.txt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33/34 — Chi tiết kiến trúc và vòng đời bài
Phần: Dự phòng cho hỏi–đáp
Từ chọn bài, tải nội dung đến mở mô phỏng và chuyển bài.
Bộ tải điều phối nội dung và tương tác. Từ bài được chọn, bộ tải tìm phần nội dung hoặc tập nội dung cục bộ, cập nhật vùng đọc, hiển thị công thức rồi khởi tạo mô phỏng tương ứng. Các quy ước liên kết trong js/loader.js và js/pages.js cần được kiểm khi điều hướng.
Khi đổi bài cần dừng theo dõi sự kiện, theo dõi thay đổi và tác vụ vẽ lặp, rồi giải phóng phần tử thuộc mô phỏng. Cửa sổ tài liệu giữ bài là trạng thái riêng, tránh giải phóng nhầm. Ảnh ngày 05/10/2026 không thay kiểm lại vòng đời và dự phòng của nguồn mới.
Thông điệp chính: Chuyển bài phải tránh thao tác và tài nguyên còn sót; nguồn mới vẫn cần kiểm lại.
NGUỒN ĐẦY ĐỦ (đường dẫn tương đối từ gốc kho mã hoặc địa chỉ mạng nguyên vẹn):
- js/loader.js
- js/pages.js
- README.md
- data/simulation-current-revalidation.json
- assets/designs/bao-cao-hoi-dong-nang-cao-33-slides/assets/current-simulation.png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34/34 — Danh mục đầy đủ mô phỏng
Phần: Dự phòng cho hỏi–đáp
25 vị trí phẳng · đánh dấu 10 vị trí có bản không gian tăng cường.
Phụ lục liệt kê đủ 25 vị trí theo ba chương: 10 Tĩnh học, 7 Động học và 8 Động lực học. Ghi chú “có bản không gian” chỉ vị trí có tùy chọn thí điểm; tất cả vẫn thuộc tập bài mô phỏng phẳng. Tên diễn giải tiếng Việt chỉ dùng trong báo cáo, không sửa danh mục nguồn.
Mười vị trí có bản không gian: Thu gọn hệ lực phẳng: lực tổng hợp và mô men; Nón ma sát trên mặt nghiêng; Phương tiếp tuyến, pháp tuyến và bán kính cong; Quay quanh trục: vận tốc và gia tốc góc; Truyền động bánh răng, đai và puli; Hợp chuyển động và gia tốc Coriolis; Phân bố vận tốc trên vật rắn; Hệ quy chiếu quán tính và phi quán tính; Bảo toàn mô men động lượng; Va chạm và hệ số phục hồi. Phạm vi đọc trực tiếp từ danh mục; chất lượng mô hình, giả thiết và tính đúng phải xem đặc tả cùng bằng chứng đúng bản nguồn.
Thông điệp chính: Bản không gian thuộc tập 25 vị trí; danh mục không chứng minh chất lượng mô hình.
NGUỒN ĐẦY ĐỦ (đường dẫn tương đối từ gốc kho mã hoặc địa chỉ mạng nguyên vẹn):
- js/sim2/sim2-route-manifest.js
- js/sim3/sim3-route-manifest.js
- data/simulation-specifications.json
Kho mã: https://github.com/xuan2261/GiaoTrinhDienTu_CoHocLyThuyet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TRUY CẬP TRỰC TUYẾN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Trải nghiệm giáo trình trực tuyến</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Quét mã truy cập bằng điện thoại để mở giáo trình.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Kết nối mạng để truy cập trực tuyến; giữ bản ngoại tuyến khi cần.</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01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358579"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6743531" cy="3505200"/>
          </a:xfrm>
          <a:prstGeom prst="roundRect">
            <a:avLst>
              <a:gd name="adj" fmla="val 2717"/>
            </a:avLst>
          </a:prstGeom>
          <a:solidFill>
            <a:srgbClr val="FFFFFF"/>
          </a:solidFill>
          <a:ln w="7620">
            <a:solidFill>
              <a:srgbClr val="D8E1EB"/>
            </a:solidFill>
            <a:prstDash val="solid"/>
          </a:ln>
        </p:spPr>
      </p:sp>
      <p:sp>
        <p:nvSpPr>
          <p:cNvPr id="15" name="Text 13"/>
          <p:cNvSpPr txBox="1"/>
          <p:nvPr/>
        </p:nvSpPr>
        <p:spPr>
          <a:xfrm>
            <a:off x="819130" y="2457450"/>
            <a:ext cx="6286343" cy="457200"/>
          </a:xfrm>
          <a:prstGeom prst="rect">
            <a:avLst/>
          </a:prstGeom>
          <a:noFill/>
          <a:ln/>
        </p:spPr>
        <p:txBody>
          <a:bodyPr wrap="square" lIns="0" tIns="0" rIns="0" bIns="0" rtlCol="0" anchor="t"/>
          <a:lstStyle/>
          <a:p>
            <a:pPr algn="l" indent="0" marL="0">
              <a:lnSpc>
                <a:spcPct val="114000"/>
              </a:lnSpc>
              <a:buNone/>
            </a:pPr>
            <a:r>
              <a:rPr lang="en-US" sz="2600" b="1" dirty="0">
                <a:solidFill>
                  <a:srgbClr val="0B2545"/>
                </a:solidFill>
                <a:latin typeface="Arial" pitchFamily="34" charset="0"/>
                <a:ea typeface="Arial" pitchFamily="34" charset="-122"/>
                <a:cs typeface="Arial" pitchFamily="34" charset="-120"/>
              </a:rPr>
              <a:t>Quét mã để mở giáo trình</a:t>
            </a:r>
            <a:endParaRPr lang="en-US" sz="2600" dirty="0"/>
          </a:p>
        </p:txBody>
      </p:sp>
      <p:sp>
        <p:nvSpPr>
          <p:cNvPr id="16" name="Text 14"/>
          <p:cNvSpPr txBox="1"/>
          <p:nvPr/>
        </p:nvSpPr>
        <p:spPr>
          <a:xfrm>
            <a:off x="819130" y="3143250"/>
            <a:ext cx="6286343" cy="1314450"/>
          </a:xfrm>
          <a:prstGeom prst="rect">
            <a:avLst/>
          </a:prstGeom>
          <a:noFill/>
          <a:ln/>
        </p:spPr>
        <p:txBody>
          <a:bodyPr wrap="square" lIns="0" tIns="0" rIns="0" bIns="0" rtlCol="0" anchor="t"/>
          <a:lstStyle/>
          <a:p>
            <a:pPr algn="l" indent="0" marL="0">
              <a:lnSpc>
                <a:spcPct val="114000"/>
              </a:lnSpc>
              <a:buNone/>
            </a:pPr>
            <a:r>
              <a:rPr lang="en-US" sz="2000" dirty="0">
                <a:solidFill>
                  <a:srgbClr val="24364A"/>
                </a:solidFill>
                <a:latin typeface="Arial" pitchFamily="34" charset="0"/>
                <a:ea typeface="Arial" pitchFamily="34" charset="-122"/>
                <a:cs typeface="Arial" pitchFamily="34" charset="-120"/>
              </a:rPr>
              <a:t>1. Mở máy ảnh trên điện thoại.</a:t>
            </a:r>
            <a:endParaRPr lang="en-US" sz="2000" dirty="0"/>
          </a:p>
          <a:p>
            <a:pPr algn="l" indent="0" marL="0">
              <a:lnSpc>
                <a:spcPct val="114000"/>
              </a:lnSpc>
              <a:buNone/>
            </a:pPr>
            <a:r>
              <a:rPr lang="en-US" sz="2000" dirty="0">
                <a:solidFill>
                  <a:srgbClr val="24364A"/>
                </a:solidFill>
                <a:latin typeface="Arial" pitchFamily="34" charset="0"/>
                <a:ea typeface="Arial" pitchFamily="34" charset="-122"/>
                <a:cs typeface="Arial" pitchFamily="34" charset="-120"/>
              </a:rPr>
              <a:t>2. Quét mã bên phải.</a:t>
            </a:r>
            <a:endParaRPr lang="en-US" sz="2000" dirty="0"/>
          </a:p>
          <a:p>
            <a:pPr algn="l" indent="0" marL="0">
              <a:lnSpc>
                <a:spcPct val="114000"/>
              </a:lnSpc>
              <a:buNone/>
            </a:pPr>
            <a:r>
              <a:rPr lang="en-US" sz="2000" dirty="0">
                <a:solidFill>
                  <a:srgbClr val="24364A"/>
                </a:solidFill>
                <a:latin typeface="Arial" pitchFamily="34" charset="0"/>
                <a:ea typeface="Arial" pitchFamily="34" charset="-122"/>
                <a:cs typeface="Arial" pitchFamily="34" charset="-120"/>
              </a:rPr>
              <a:t>3. Mở liên kết để xem giáo trình.</a:t>
            </a:r>
            <a:endParaRPr lang="en-US" sz="2000" dirty="0"/>
          </a:p>
        </p:txBody>
      </p:sp>
      <p:sp>
        <p:nvSpPr>
          <p:cNvPr id="17" name="Text 15"/>
          <p:cNvSpPr txBox="1"/>
          <p:nvPr/>
        </p:nvSpPr>
        <p:spPr>
          <a:xfrm>
            <a:off x="819130" y="4810125"/>
            <a:ext cx="6191095" cy="714375"/>
          </a:xfrm>
          <a:prstGeom prst="rect">
            <a:avLst/>
          </a:prstGeom>
          <a:noFill/>
          <a:ln/>
        </p:spPr>
        <p:txBody>
          <a:bodyPr wrap="square" lIns="0" tIns="0" rIns="0" bIns="0" rtlCol="0" anchor="t"/>
          <a:lstStyle/>
          <a:p>
            <a:pPr algn="l" indent="0" marL="0">
              <a:lnSpc>
                <a:spcPct val="114000"/>
              </a:lnSpc>
              <a:buNone/>
            </a:pPr>
            <a:r>
              <a:rPr lang="en-US" sz="1500" dirty="0">
                <a:solidFill>
                  <a:srgbClr val="13315C"/>
                </a:solidFill>
                <a:latin typeface="Arial" pitchFamily="34" charset="0"/>
                <a:ea typeface="Arial" pitchFamily="34" charset="-122"/>
                <a:cs typeface="Arial" pitchFamily="34" charset="-120"/>
              </a:rPr>
              <a:t>https://xuan2261.github.io/GiaoTrinhDienTu_CoHocLyThuyet/</a:t>
            </a:r>
            <a:endParaRPr lang="en-US" sz="1500" dirty="0"/>
          </a:p>
        </p:txBody>
      </p:sp>
      <p:pic>
        <p:nvPicPr>
          <p:cNvPr id="18" name="Image 0" descr="Mã truy cập giáo trình trực tuyến: https://xuan2261.github.io/GiaoTrinhDienTu_CoHocLyThuyet/">    </p:cNvPr>
          <p:cNvPicPr>
            <a:picLocks noChangeAspect="1"/>
          </p:cNvPicPr>
          <p:nvPr/>
        </p:nvPicPr>
        <p:blipFill>
          <a:blip r:embed="rId1"/>
          <a:stretch>
            <a:fillRect/>
          </a:stretch>
        </p:blipFill>
        <p:spPr>
          <a:xfrm>
            <a:off x="8076998" y="2209800"/>
            <a:ext cx="3505112" cy="3505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BCCBDB"/>
                </a:solidFill>
                <a:latin typeface="Arial" pitchFamily="34" charset="0"/>
                <a:ea typeface="Arial" pitchFamily="34" charset="-122"/>
                <a:cs typeface="Arial" pitchFamily="34" charset="-120"/>
              </a:rPr>
              <a:t>MỞ ĐẦU</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FFFFFF"/>
                </a:solidFill>
                <a:latin typeface="Arial" pitchFamily="34" charset="0"/>
                <a:ea typeface="Arial" pitchFamily="34" charset="-122"/>
                <a:cs typeface="Arial" pitchFamily="34" charset="-120"/>
              </a:rPr>
              <a:t>HỌC VIỆN HẢI QUÂN</a:t>
            </a:r>
            <a:endParaRPr lang="en-US" sz="1050" dirty="0"/>
          </a:p>
        </p:txBody>
      </p:sp>
      <p:sp>
        <p:nvSpPr>
          <p:cNvPr id="5" name="Shape 3"/>
          <p:cNvSpPr/>
          <p:nvPr/>
        </p:nvSpPr>
        <p:spPr>
          <a:xfrm>
            <a:off x="609585" y="5886450"/>
            <a:ext cx="10972526" cy="533400"/>
          </a:xfrm>
          <a:prstGeom prst="rect">
            <a:avLst/>
          </a:prstGeom>
          <a:solidFill>
            <a:srgbClr val="13315C"/>
          </a:solidFill>
          <a:ln w="12700">
            <a:solidFill>
              <a:srgbClr val="13315C">
                <a:alpha val="0"/>
              </a:srgbClr>
            </a:solidFill>
            <a:prstDash val="solid"/>
          </a:ln>
        </p:spPr>
      </p:sp>
      <p:sp>
        <p:nvSpPr>
          <p:cNvPr id="6" name="Shape 4"/>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7" name="Text 5"/>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FFFFFF"/>
                </a:solidFill>
                <a:latin typeface="Arial" pitchFamily="34" charset="0"/>
                <a:ea typeface="Arial" pitchFamily="34" charset="-122"/>
                <a:cs typeface="Arial" pitchFamily="34" charset="-120"/>
              </a:rPr>
              <a:t>Báo cáo hiện trạng, bằng chứng và lộ trình hoàn thiện — không thay quyết định nghiệm thu.</a:t>
            </a:r>
            <a:endParaRPr lang="en-US" sz="1700" dirty="0"/>
          </a:p>
        </p:txBody>
      </p:sp>
      <p:sp>
        <p:nvSpPr>
          <p:cNvPr id="8" name="Shape 6"/>
          <p:cNvSpPr/>
          <p:nvPr/>
        </p:nvSpPr>
        <p:spPr>
          <a:xfrm>
            <a:off x="609585" y="6553200"/>
            <a:ext cx="10972526" cy="0"/>
          </a:xfrm>
          <a:prstGeom prst="line">
            <a:avLst/>
          </a:prstGeom>
          <a:noFill/>
          <a:ln w="7620">
            <a:solidFill>
              <a:srgbClr val="34516E"/>
            </a:solidFill>
            <a:prstDash val="solid"/>
          </a:ln>
        </p:spPr>
      </p:sp>
      <p:sp>
        <p:nvSpPr>
          <p:cNvPr id="9" name="Text 7"/>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BCCBDB"/>
                </a:solidFill>
                <a:latin typeface="Arial" pitchFamily="34" charset="0"/>
                <a:ea typeface="Arial" pitchFamily="34" charset="-122"/>
                <a:cs typeface="Arial" pitchFamily="34" charset="-120"/>
              </a:rPr>
              <a:t>02 / 34</a:t>
            </a:r>
            <a:endParaRPr lang="en-US" sz="900" dirty="0"/>
          </a:p>
        </p:txBody>
      </p:sp>
      <p:sp>
        <p:nvSpPr>
          <p:cNvPr id="10" name="Shape 8"/>
          <p:cNvSpPr/>
          <p:nvPr/>
        </p:nvSpPr>
        <p:spPr>
          <a:xfrm>
            <a:off x="0" y="6819900"/>
            <a:ext cx="12191695" cy="38100"/>
          </a:xfrm>
          <a:prstGeom prst="rect">
            <a:avLst/>
          </a:prstGeom>
          <a:solidFill>
            <a:srgbClr val="13315C"/>
          </a:solidFill>
          <a:ln w="12700">
            <a:solidFill>
              <a:srgbClr val="13315C">
                <a:alpha val="0"/>
              </a:srgbClr>
            </a:solidFill>
            <a:prstDash val="solid"/>
          </a:ln>
        </p:spPr>
      </p:sp>
      <p:sp>
        <p:nvSpPr>
          <p:cNvPr id="11" name="Shape 9"/>
          <p:cNvSpPr/>
          <p:nvPr/>
        </p:nvSpPr>
        <p:spPr>
          <a:xfrm>
            <a:off x="0" y="6819900"/>
            <a:ext cx="717159" cy="38100"/>
          </a:xfrm>
          <a:prstGeom prst="rect">
            <a:avLst/>
          </a:prstGeom>
          <a:solidFill>
            <a:srgbClr val="F77F00"/>
          </a:solidFill>
          <a:ln w="12700">
            <a:solidFill>
              <a:srgbClr val="F77F00">
                <a:alpha val="0"/>
              </a:srgbClr>
            </a:solidFill>
            <a:prstDash val="solid"/>
          </a:ln>
        </p:spPr>
      </p:sp>
      <p:sp>
        <p:nvSpPr>
          <p:cNvPr id="12" name="Shape 10"/>
          <p:cNvSpPr/>
          <p:nvPr/>
        </p:nvSpPr>
        <p:spPr>
          <a:xfrm>
            <a:off x="7981750" y="1381125"/>
            <a:ext cx="0" cy="4076700"/>
          </a:xfrm>
          <a:prstGeom prst="line">
            <a:avLst/>
          </a:prstGeom>
          <a:noFill/>
          <a:ln w="5715">
            <a:solidFill>
              <a:srgbClr val="13315C"/>
            </a:solidFill>
            <a:prstDash val="solid"/>
          </a:ln>
        </p:spPr>
      </p:sp>
      <p:sp>
        <p:nvSpPr>
          <p:cNvPr id="13" name="Shape 11"/>
          <p:cNvSpPr/>
          <p:nvPr/>
        </p:nvSpPr>
        <p:spPr>
          <a:xfrm>
            <a:off x="8277018" y="1381125"/>
            <a:ext cx="0" cy="4076700"/>
          </a:xfrm>
          <a:prstGeom prst="line">
            <a:avLst/>
          </a:prstGeom>
          <a:noFill/>
          <a:ln w="5715">
            <a:solidFill>
              <a:srgbClr val="13315C"/>
            </a:solidFill>
            <a:prstDash val="solid"/>
          </a:ln>
        </p:spPr>
      </p:sp>
      <p:sp>
        <p:nvSpPr>
          <p:cNvPr id="14" name="Shape 12"/>
          <p:cNvSpPr/>
          <p:nvPr/>
        </p:nvSpPr>
        <p:spPr>
          <a:xfrm>
            <a:off x="8572286" y="1381125"/>
            <a:ext cx="0" cy="4076700"/>
          </a:xfrm>
          <a:prstGeom prst="line">
            <a:avLst/>
          </a:prstGeom>
          <a:noFill/>
          <a:ln w="5715">
            <a:solidFill>
              <a:srgbClr val="13315C"/>
            </a:solidFill>
            <a:prstDash val="solid"/>
          </a:ln>
        </p:spPr>
      </p:sp>
      <p:sp>
        <p:nvSpPr>
          <p:cNvPr id="15" name="Shape 13"/>
          <p:cNvSpPr/>
          <p:nvPr/>
        </p:nvSpPr>
        <p:spPr>
          <a:xfrm>
            <a:off x="8867553" y="1381125"/>
            <a:ext cx="0" cy="4076700"/>
          </a:xfrm>
          <a:prstGeom prst="line">
            <a:avLst/>
          </a:prstGeom>
          <a:noFill/>
          <a:ln w="5715">
            <a:solidFill>
              <a:srgbClr val="13315C"/>
            </a:solidFill>
            <a:prstDash val="solid"/>
          </a:ln>
        </p:spPr>
      </p:sp>
      <p:sp>
        <p:nvSpPr>
          <p:cNvPr id="16" name="Shape 14"/>
          <p:cNvSpPr/>
          <p:nvPr/>
        </p:nvSpPr>
        <p:spPr>
          <a:xfrm>
            <a:off x="9162821" y="1381125"/>
            <a:ext cx="0" cy="4076700"/>
          </a:xfrm>
          <a:prstGeom prst="line">
            <a:avLst/>
          </a:prstGeom>
          <a:noFill/>
          <a:ln w="5715">
            <a:solidFill>
              <a:srgbClr val="13315C"/>
            </a:solidFill>
            <a:prstDash val="solid"/>
          </a:ln>
        </p:spPr>
      </p:sp>
      <p:sp>
        <p:nvSpPr>
          <p:cNvPr id="17" name="Shape 15"/>
          <p:cNvSpPr/>
          <p:nvPr/>
        </p:nvSpPr>
        <p:spPr>
          <a:xfrm>
            <a:off x="9458089" y="1381125"/>
            <a:ext cx="0" cy="4076700"/>
          </a:xfrm>
          <a:prstGeom prst="line">
            <a:avLst/>
          </a:prstGeom>
          <a:noFill/>
          <a:ln w="5715">
            <a:solidFill>
              <a:srgbClr val="13315C"/>
            </a:solidFill>
            <a:prstDash val="solid"/>
          </a:ln>
        </p:spPr>
      </p:sp>
      <p:sp>
        <p:nvSpPr>
          <p:cNvPr id="18" name="Shape 16"/>
          <p:cNvSpPr/>
          <p:nvPr/>
        </p:nvSpPr>
        <p:spPr>
          <a:xfrm>
            <a:off x="9753356" y="1381125"/>
            <a:ext cx="0" cy="4076700"/>
          </a:xfrm>
          <a:prstGeom prst="line">
            <a:avLst/>
          </a:prstGeom>
          <a:noFill/>
          <a:ln w="5715">
            <a:solidFill>
              <a:srgbClr val="13315C"/>
            </a:solidFill>
            <a:prstDash val="solid"/>
          </a:ln>
        </p:spPr>
      </p:sp>
      <p:sp>
        <p:nvSpPr>
          <p:cNvPr id="19" name="Shape 17"/>
          <p:cNvSpPr/>
          <p:nvPr/>
        </p:nvSpPr>
        <p:spPr>
          <a:xfrm>
            <a:off x="10048624" y="1381125"/>
            <a:ext cx="0" cy="4076700"/>
          </a:xfrm>
          <a:prstGeom prst="line">
            <a:avLst/>
          </a:prstGeom>
          <a:noFill/>
          <a:ln w="5715">
            <a:solidFill>
              <a:srgbClr val="13315C"/>
            </a:solidFill>
            <a:prstDash val="solid"/>
          </a:ln>
        </p:spPr>
      </p:sp>
      <p:sp>
        <p:nvSpPr>
          <p:cNvPr id="20" name="Shape 18"/>
          <p:cNvSpPr/>
          <p:nvPr/>
        </p:nvSpPr>
        <p:spPr>
          <a:xfrm>
            <a:off x="10343891" y="1381125"/>
            <a:ext cx="0" cy="4076700"/>
          </a:xfrm>
          <a:prstGeom prst="line">
            <a:avLst/>
          </a:prstGeom>
          <a:noFill/>
          <a:ln w="5715">
            <a:solidFill>
              <a:srgbClr val="13315C"/>
            </a:solidFill>
            <a:prstDash val="solid"/>
          </a:ln>
        </p:spPr>
      </p:sp>
      <p:sp>
        <p:nvSpPr>
          <p:cNvPr id="21" name="Shape 19"/>
          <p:cNvSpPr/>
          <p:nvPr/>
        </p:nvSpPr>
        <p:spPr>
          <a:xfrm>
            <a:off x="10639159" y="1381125"/>
            <a:ext cx="0" cy="4076700"/>
          </a:xfrm>
          <a:prstGeom prst="line">
            <a:avLst/>
          </a:prstGeom>
          <a:noFill/>
          <a:ln w="5715">
            <a:solidFill>
              <a:srgbClr val="13315C"/>
            </a:solidFill>
            <a:prstDash val="solid"/>
          </a:ln>
        </p:spPr>
      </p:sp>
      <p:sp>
        <p:nvSpPr>
          <p:cNvPr id="22" name="Shape 20"/>
          <p:cNvSpPr/>
          <p:nvPr/>
        </p:nvSpPr>
        <p:spPr>
          <a:xfrm>
            <a:off x="10934427" y="1381125"/>
            <a:ext cx="0" cy="4076700"/>
          </a:xfrm>
          <a:prstGeom prst="line">
            <a:avLst/>
          </a:prstGeom>
          <a:noFill/>
          <a:ln w="5715">
            <a:solidFill>
              <a:srgbClr val="13315C"/>
            </a:solidFill>
            <a:prstDash val="solid"/>
          </a:ln>
        </p:spPr>
      </p:sp>
      <p:sp>
        <p:nvSpPr>
          <p:cNvPr id="23" name="Shape 21"/>
          <p:cNvSpPr/>
          <p:nvPr/>
        </p:nvSpPr>
        <p:spPr>
          <a:xfrm>
            <a:off x="11229694" y="1381125"/>
            <a:ext cx="0" cy="4076700"/>
          </a:xfrm>
          <a:prstGeom prst="line">
            <a:avLst/>
          </a:prstGeom>
          <a:noFill/>
          <a:ln w="5715">
            <a:solidFill>
              <a:srgbClr val="13315C"/>
            </a:solidFill>
            <a:prstDash val="solid"/>
          </a:ln>
        </p:spPr>
      </p:sp>
      <p:sp>
        <p:nvSpPr>
          <p:cNvPr id="24" name="Shape 22"/>
          <p:cNvSpPr/>
          <p:nvPr/>
        </p:nvSpPr>
        <p:spPr>
          <a:xfrm>
            <a:off x="11524962" y="1381125"/>
            <a:ext cx="0" cy="4076700"/>
          </a:xfrm>
          <a:prstGeom prst="line">
            <a:avLst/>
          </a:prstGeom>
          <a:noFill/>
          <a:ln w="5715">
            <a:solidFill>
              <a:srgbClr val="13315C"/>
            </a:solidFill>
            <a:prstDash val="solid"/>
          </a:ln>
        </p:spPr>
      </p:sp>
      <p:sp>
        <p:nvSpPr>
          <p:cNvPr id="25" name="Shape 23"/>
          <p:cNvSpPr/>
          <p:nvPr/>
        </p:nvSpPr>
        <p:spPr>
          <a:xfrm>
            <a:off x="7981750" y="1381125"/>
            <a:ext cx="3543211" cy="0"/>
          </a:xfrm>
          <a:prstGeom prst="line">
            <a:avLst/>
          </a:prstGeom>
          <a:noFill/>
          <a:ln w="5715">
            <a:solidFill>
              <a:srgbClr val="13315C"/>
            </a:solidFill>
            <a:prstDash val="solid"/>
          </a:ln>
        </p:spPr>
      </p:sp>
      <p:sp>
        <p:nvSpPr>
          <p:cNvPr id="26" name="Shape 24"/>
          <p:cNvSpPr/>
          <p:nvPr/>
        </p:nvSpPr>
        <p:spPr>
          <a:xfrm>
            <a:off x="7981750" y="1676400"/>
            <a:ext cx="3543211" cy="0"/>
          </a:xfrm>
          <a:prstGeom prst="line">
            <a:avLst/>
          </a:prstGeom>
          <a:noFill/>
          <a:ln w="5715">
            <a:solidFill>
              <a:srgbClr val="13315C"/>
            </a:solidFill>
            <a:prstDash val="solid"/>
          </a:ln>
        </p:spPr>
      </p:sp>
      <p:sp>
        <p:nvSpPr>
          <p:cNvPr id="27" name="Shape 25"/>
          <p:cNvSpPr/>
          <p:nvPr/>
        </p:nvSpPr>
        <p:spPr>
          <a:xfrm>
            <a:off x="7981750" y="1971675"/>
            <a:ext cx="3543211" cy="0"/>
          </a:xfrm>
          <a:prstGeom prst="line">
            <a:avLst/>
          </a:prstGeom>
          <a:noFill/>
          <a:ln w="5715">
            <a:solidFill>
              <a:srgbClr val="13315C"/>
            </a:solidFill>
            <a:prstDash val="solid"/>
          </a:ln>
        </p:spPr>
      </p:sp>
      <p:sp>
        <p:nvSpPr>
          <p:cNvPr id="28" name="Shape 26"/>
          <p:cNvSpPr/>
          <p:nvPr/>
        </p:nvSpPr>
        <p:spPr>
          <a:xfrm>
            <a:off x="7981750" y="2266950"/>
            <a:ext cx="3543211" cy="0"/>
          </a:xfrm>
          <a:prstGeom prst="line">
            <a:avLst/>
          </a:prstGeom>
          <a:noFill/>
          <a:ln w="5715">
            <a:solidFill>
              <a:srgbClr val="13315C"/>
            </a:solidFill>
            <a:prstDash val="solid"/>
          </a:ln>
        </p:spPr>
      </p:sp>
      <p:sp>
        <p:nvSpPr>
          <p:cNvPr id="29" name="Shape 27"/>
          <p:cNvSpPr/>
          <p:nvPr/>
        </p:nvSpPr>
        <p:spPr>
          <a:xfrm>
            <a:off x="7981750" y="2562225"/>
            <a:ext cx="3543211" cy="0"/>
          </a:xfrm>
          <a:prstGeom prst="line">
            <a:avLst/>
          </a:prstGeom>
          <a:noFill/>
          <a:ln w="5715">
            <a:solidFill>
              <a:srgbClr val="13315C"/>
            </a:solidFill>
            <a:prstDash val="solid"/>
          </a:ln>
        </p:spPr>
      </p:sp>
      <p:sp>
        <p:nvSpPr>
          <p:cNvPr id="30" name="Shape 28"/>
          <p:cNvSpPr/>
          <p:nvPr/>
        </p:nvSpPr>
        <p:spPr>
          <a:xfrm>
            <a:off x="7981750" y="2857500"/>
            <a:ext cx="3543211" cy="0"/>
          </a:xfrm>
          <a:prstGeom prst="line">
            <a:avLst/>
          </a:prstGeom>
          <a:noFill/>
          <a:ln w="5715">
            <a:solidFill>
              <a:srgbClr val="13315C"/>
            </a:solidFill>
            <a:prstDash val="solid"/>
          </a:ln>
        </p:spPr>
      </p:sp>
      <p:sp>
        <p:nvSpPr>
          <p:cNvPr id="31" name="Shape 29"/>
          <p:cNvSpPr/>
          <p:nvPr/>
        </p:nvSpPr>
        <p:spPr>
          <a:xfrm>
            <a:off x="7981750" y="3152775"/>
            <a:ext cx="3543211" cy="0"/>
          </a:xfrm>
          <a:prstGeom prst="line">
            <a:avLst/>
          </a:prstGeom>
          <a:noFill/>
          <a:ln w="5715">
            <a:solidFill>
              <a:srgbClr val="13315C"/>
            </a:solidFill>
            <a:prstDash val="solid"/>
          </a:ln>
        </p:spPr>
      </p:sp>
      <p:sp>
        <p:nvSpPr>
          <p:cNvPr id="32" name="Shape 30"/>
          <p:cNvSpPr/>
          <p:nvPr/>
        </p:nvSpPr>
        <p:spPr>
          <a:xfrm>
            <a:off x="7981750" y="3448050"/>
            <a:ext cx="3543211" cy="0"/>
          </a:xfrm>
          <a:prstGeom prst="line">
            <a:avLst/>
          </a:prstGeom>
          <a:noFill/>
          <a:ln w="5715">
            <a:solidFill>
              <a:srgbClr val="13315C"/>
            </a:solidFill>
            <a:prstDash val="solid"/>
          </a:ln>
        </p:spPr>
      </p:sp>
      <p:sp>
        <p:nvSpPr>
          <p:cNvPr id="33" name="Shape 31"/>
          <p:cNvSpPr/>
          <p:nvPr/>
        </p:nvSpPr>
        <p:spPr>
          <a:xfrm>
            <a:off x="7981750" y="3743325"/>
            <a:ext cx="3543211" cy="0"/>
          </a:xfrm>
          <a:prstGeom prst="line">
            <a:avLst/>
          </a:prstGeom>
          <a:noFill/>
          <a:ln w="5715">
            <a:solidFill>
              <a:srgbClr val="13315C"/>
            </a:solidFill>
            <a:prstDash val="solid"/>
          </a:ln>
        </p:spPr>
      </p:sp>
      <p:sp>
        <p:nvSpPr>
          <p:cNvPr id="34" name="Shape 32"/>
          <p:cNvSpPr/>
          <p:nvPr/>
        </p:nvSpPr>
        <p:spPr>
          <a:xfrm>
            <a:off x="7981750" y="4038600"/>
            <a:ext cx="3543211" cy="0"/>
          </a:xfrm>
          <a:prstGeom prst="line">
            <a:avLst/>
          </a:prstGeom>
          <a:noFill/>
          <a:ln w="5715">
            <a:solidFill>
              <a:srgbClr val="13315C"/>
            </a:solidFill>
            <a:prstDash val="solid"/>
          </a:ln>
        </p:spPr>
      </p:sp>
      <p:sp>
        <p:nvSpPr>
          <p:cNvPr id="35" name="Shape 33"/>
          <p:cNvSpPr/>
          <p:nvPr/>
        </p:nvSpPr>
        <p:spPr>
          <a:xfrm>
            <a:off x="7981750" y="4333875"/>
            <a:ext cx="3543211" cy="0"/>
          </a:xfrm>
          <a:prstGeom prst="line">
            <a:avLst/>
          </a:prstGeom>
          <a:noFill/>
          <a:ln w="5715">
            <a:solidFill>
              <a:srgbClr val="13315C"/>
            </a:solidFill>
            <a:prstDash val="solid"/>
          </a:ln>
        </p:spPr>
      </p:sp>
      <p:sp>
        <p:nvSpPr>
          <p:cNvPr id="36" name="Shape 34"/>
          <p:cNvSpPr/>
          <p:nvPr/>
        </p:nvSpPr>
        <p:spPr>
          <a:xfrm>
            <a:off x="7981750" y="4629150"/>
            <a:ext cx="3543211" cy="0"/>
          </a:xfrm>
          <a:prstGeom prst="line">
            <a:avLst/>
          </a:prstGeom>
          <a:noFill/>
          <a:ln w="5715">
            <a:solidFill>
              <a:srgbClr val="13315C"/>
            </a:solidFill>
            <a:prstDash val="solid"/>
          </a:ln>
        </p:spPr>
      </p:sp>
      <p:sp>
        <p:nvSpPr>
          <p:cNvPr id="37" name="Shape 35"/>
          <p:cNvSpPr/>
          <p:nvPr/>
        </p:nvSpPr>
        <p:spPr>
          <a:xfrm>
            <a:off x="7981750" y="4924425"/>
            <a:ext cx="3543211" cy="0"/>
          </a:xfrm>
          <a:prstGeom prst="line">
            <a:avLst/>
          </a:prstGeom>
          <a:noFill/>
          <a:ln w="5715">
            <a:solidFill>
              <a:srgbClr val="13315C"/>
            </a:solidFill>
            <a:prstDash val="solid"/>
          </a:ln>
        </p:spPr>
      </p:sp>
      <p:sp>
        <p:nvSpPr>
          <p:cNvPr id="38" name="Shape 36"/>
          <p:cNvSpPr/>
          <p:nvPr/>
        </p:nvSpPr>
        <p:spPr>
          <a:xfrm>
            <a:off x="7981750" y="5219700"/>
            <a:ext cx="3543211" cy="0"/>
          </a:xfrm>
          <a:prstGeom prst="line">
            <a:avLst/>
          </a:prstGeom>
          <a:noFill/>
          <a:ln w="5715">
            <a:solidFill>
              <a:srgbClr val="13315C"/>
            </a:solidFill>
            <a:prstDash val="solid"/>
          </a:ln>
        </p:spPr>
      </p:sp>
      <p:sp>
        <p:nvSpPr>
          <p:cNvPr id="39" name="Shape 37"/>
          <p:cNvSpPr/>
          <p:nvPr/>
        </p:nvSpPr>
        <p:spPr>
          <a:xfrm>
            <a:off x="8600860" y="2743200"/>
            <a:ext cx="2190695" cy="2190750"/>
          </a:xfrm>
          <a:prstGeom prst="ellipse">
            <a:avLst/>
          </a:prstGeom>
          <a:solidFill>
            <a:srgbClr val="FFFFFF">
              <a:alpha val="0"/>
            </a:srgbClr>
          </a:solidFill>
          <a:ln w="7620">
            <a:solidFill>
              <a:srgbClr val="345B7B"/>
            </a:solidFill>
            <a:prstDash val="solid"/>
          </a:ln>
        </p:spPr>
      </p:sp>
      <p:sp>
        <p:nvSpPr>
          <p:cNvPr id="40" name="Shape 38"/>
          <p:cNvSpPr/>
          <p:nvPr/>
        </p:nvSpPr>
        <p:spPr>
          <a:xfrm>
            <a:off x="8981850" y="3124200"/>
            <a:ext cx="1428714" cy="1428750"/>
          </a:xfrm>
          <a:prstGeom prst="ellipse">
            <a:avLst/>
          </a:prstGeom>
          <a:solidFill>
            <a:srgbClr val="FFFFFF">
              <a:alpha val="0"/>
            </a:srgbClr>
          </a:solidFill>
          <a:ln w="7620">
            <a:solidFill>
              <a:srgbClr val="345B7B"/>
            </a:solidFill>
            <a:prstDash val="solid"/>
          </a:ln>
        </p:spPr>
      </p:sp>
      <p:sp>
        <p:nvSpPr>
          <p:cNvPr id="41" name="Shape 39"/>
          <p:cNvSpPr/>
          <p:nvPr/>
        </p:nvSpPr>
        <p:spPr>
          <a:xfrm>
            <a:off x="9696208" y="3838575"/>
            <a:ext cx="1543011" cy="0"/>
          </a:xfrm>
          <a:prstGeom prst="line">
            <a:avLst/>
          </a:prstGeom>
          <a:noFill/>
          <a:ln w="17145">
            <a:solidFill>
              <a:srgbClr val="87A8C6"/>
            </a:solidFill>
            <a:prstDash val="solid"/>
            <a:tailEnd type="triangle"/>
          </a:ln>
        </p:spPr>
      </p:sp>
      <p:sp>
        <p:nvSpPr>
          <p:cNvPr id="42" name="Shape 40"/>
          <p:cNvSpPr/>
          <p:nvPr/>
        </p:nvSpPr>
        <p:spPr>
          <a:xfrm>
            <a:off x="9696208" y="1971675"/>
            <a:ext cx="0" cy="1866900"/>
          </a:xfrm>
          <a:prstGeom prst="line">
            <a:avLst/>
          </a:prstGeom>
          <a:noFill/>
          <a:ln w="17145">
            <a:solidFill>
              <a:srgbClr val="87A8C6"/>
            </a:solidFill>
            <a:prstDash val="solid"/>
            <a:tailEnd type="triangle"/>
          </a:ln>
        </p:spPr>
      </p:sp>
      <p:sp>
        <p:nvSpPr>
          <p:cNvPr id="43" name="Shape 41"/>
          <p:cNvSpPr/>
          <p:nvPr/>
        </p:nvSpPr>
        <p:spPr>
          <a:xfrm flipV="1">
            <a:off x="8638959" y="3838575"/>
            <a:ext cx="1057249" cy="981075"/>
          </a:xfrm>
          <a:prstGeom prst="line">
            <a:avLst/>
          </a:prstGeom>
          <a:noFill/>
          <a:ln w="17145">
            <a:solidFill>
              <a:srgbClr val="87A8C6"/>
            </a:solidFill>
            <a:prstDash val="solid"/>
            <a:tailEnd type="triangle"/>
          </a:ln>
        </p:spPr>
      </p:sp>
      <p:sp>
        <p:nvSpPr>
          <p:cNvPr id="44" name="Shape 42"/>
          <p:cNvSpPr/>
          <p:nvPr/>
        </p:nvSpPr>
        <p:spPr>
          <a:xfrm flipV="1">
            <a:off x="9696208" y="2571750"/>
            <a:ext cx="1114397" cy="1266825"/>
          </a:xfrm>
          <a:prstGeom prst="line">
            <a:avLst/>
          </a:prstGeom>
          <a:noFill/>
          <a:ln w="47625">
            <a:solidFill>
              <a:srgbClr val="F77F00"/>
            </a:solidFill>
            <a:prstDash val="solid"/>
            <a:tailEnd type="triangle"/>
          </a:ln>
        </p:spPr>
      </p:sp>
      <p:sp>
        <p:nvSpPr>
          <p:cNvPr id="45" name="Shape 43"/>
          <p:cNvSpPr/>
          <p:nvPr/>
        </p:nvSpPr>
        <p:spPr>
          <a:xfrm>
            <a:off x="10810605" y="2571750"/>
            <a:ext cx="0" cy="1266825"/>
          </a:xfrm>
          <a:prstGeom prst="line">
            <a:avLst/>
          </a:prstGeom>
          <a:noFill/>
          <a:ln w="11430">
            <a:solidFill>
              <a:srgbClr val="526F8F"/>
            </a:solidFill>
            <a:prstDash val="solid"/>
          </a:ln>
        </p:spPr>
      </p:sp>
      <p:sp>
        <p:nvSpPr>
          <p:cNvPr id="46" name="Shape 44"/>
          <p:cNvSpPr/>
          <p:nvPr/>
        </p:nvSpPr>
        <p:spPr>
          <a:xfrm>
            <a:off x="9696208" y="2571750"/>
            <a:ext cx="1114397" cy="0"/>
          </a:xfrm>
          <a:prstGeom prst="line">
            <a:avLst/>
          </a:prstGeom>
          <a:noFill/>
          <a:ln w="11430">
            <a:solidFill>
              <a:srgbClr val="526F8F"/>
            </a:solidFill>
            <a:prstDash val="solid"/>
          </a:ln>
        </p:spPr>
      </p:sp>
      <p:sp>
        <p:nvSpPr>
          <p:cNvPr id="47" name="Shape 45"/>
          <p:cNvSpPr/>
          <p:nvPr/>
        </p:nvSpPr>
        <p:spPr>
          <a:xfrm>
            <a:off x="9648584" y="3790950"/>
            <a:ext cx="95248" cy="95250"/>
          </a:xfrm>
          <a:prstGeom prst="ellipse">
            <a:avLst/>
          </a:prstGeom>
          <a:solidFill>
            <a:srgbClr val="F77F00"/>
          </a:solidFill>
          <a:ln w="12700">
            <a:solidFill>
              <a:srgbClr val="F77F00">
                <a:alpha val="0"/>
              </a:srgbClr>
            </a:solidFill>
            <a:prstDash val="solid"/>
          </a:ln>
        </p:spPr>
      </p:sp>
      <p:sp>
        <p:nvSpPr>
          <p:cNvPr id="48" name="Text 46"/>
          <p:cNvSpPr txBox="1"/>
          <p:nvPr/>
        </p:nvSpPr>
        <p:spPr>
          <a:xfrm>
            <a:off x="11277318" y="3733800"/>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x</a:t>
            </a:r>
            <a:endParaRPr lang="en-US" sz="1600" dirty="0"/>
          </a:p>
        </p:txBody>
      </p:sp>
      <p:sp>
        <p:nvSpPr>
          <p:cNvPr id="49" name="Text 47"/>
          <p:cNvSpPr txBox="1"/>
          <p:nvPr/>
        </p:nvSpPr>
        <p:spPr>
          <a:xfrm>
            <a:off x="9600960" y="1685925"/>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y</a:t>
            </a:r>
            <a:endParaRPr lang="en-US" sz="1600" dirty="0"/>
          </a:p>
        </p:txBody>
      </p:sp>
      <p:sp>
        <p:nvSpPr>
          <p:cNvPr id="50" name="Text 48"/>
          <p:cNvSpPr txBox="1"/>
          <p:nvPr/>
        </p:nvSpPr>
        <p:spPr>
          <a:xfrm>
            <a:off x="8419889" y="4819650"/>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z</a:t>
            </a:r>
            <a:endParaRPr lang="en-US" sz="1600" dirty="0"/>
          </a:p>
        </p:txBody>
      </p:sp>
      <p:sp>
        <p:nvSpPr>
          <p:cNvPr id="51" name="Text 49"/>
          <p:cNvSpPr txBox="1"/>
          <p:nvPr/>
        </p:nvSpPr>
        <p:spPr>
          <a:xfrm>
            <a:off x="10915377" y="2381250"/>
            <a:ext cx="304792" cy="342900"/>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F</a:t>
            </a:r>
            <a:endParaRPr lang="en-US" sz="2000" dirty="0"/>
          </a:p>
        </p:txBody>
      </p:sp>
      <p:sp>
        <p:nvSpPr>
          <p:cNvPr id="52" name="Text 50"/>
          <p:cNvSpPr txBox="1"/>
          <p:nvPr/>
        </p:nvSpPr>
        <p:spPr>
          <a:xfrm>
            <a:off x="609585" y="1362075"/>
            <a:ext cx="7029274" cy="1695450"/>
          </a:xfrm>
          <a:prstGeom prst="rect">
            <a:avLst/>
          </a:prstGeom>
          <a:noFill/>
          <a:ln/>
        </p:spPr>
        <p:txBody>
          <a:bodyPr wrap="square" lIns="0" tIns="0" rIns="0" bIns="0" rtlCol="0" anchor="t"/>
          <a:lstStyle/>
          <a:p>
            <a:pPr algn="l" indent="0" marL="0">
              <a:lnSpc>
                <a:spcPct val="114000"/>
              </a:lnSpc>
              <a:buNone/>
            </a:pPr>
            <a:r>
              <a:rPr lang="en-US" sz="3600" b="1" dirty="0">
                <a:solidFill>
                  <a:srgbClr val="FFFFFF"/>
                </a:solidFill>
                <a:latin typeface="Arial" pitchFamily="34" charset="0"/>
                <a:ea typeface="Arial" pitchFamily="34" charset="-122"/>
                <a:cs typeface="Arial" pitchFamily="34" charset="-120"/>
              </a:rPr>
              <a:t>GIÁO TRÌNH ĐIỆN TỬ</a:t>
            </a:r>
            <a:endParaRPr lang="en-US" sz="3600" dirty="0"/>
          </a:p>
          <a:p>
            <a:pPr algn="l" indent="0" marL="0">
              <a:lnSpc>
                <a:spcPct val="114000"/>
              </a:lnSpc>
              <a:buNone/>
            </a:pPr>
            <a:r>
              <a:rPr lang="en-US" sz="3600" b="1" dirty="0">
                <a:solidFill>
                  <a:srgbClr val="FFFFFF"/>
                </a:solidFill>
                <a:latin typeface="Arial" pitchFamily="34" charset="0"/>
                <a:ea typeface="Arial" pitchFamily="34" charset="-122"/>
                <a:cs typeface="Arial" pitchFamily="34" charset="-120"/>
              </a:rPr>
              <a:t>CƠ HỌC LÝ THUYẾT</a:t>
            </a:r>
            <a:endParaRPr lang="en-US" sz="3600" dirty="0"/>
          </a:p>
        </p:txBody>
      </p:sp>
      <p:sp>
        <p:nvSpPr>
          <p:cNvPr id="53" name="Text 51"/>
          <p:cNvSpPr txBox="1"/>
          <p:nvPr/>
        </p:nvSpPr>
        <p:spPr>
          <a:xfrm>
            <a:off x="609585" y="3238500"/>
            <a:ext cx="6953076" cy="800100"/>
          </a:xfrm>
          <a:prstGeom prst="rect">
            <a:avLst/>
          </a:prstGeom>
          <a:noFill/>
          <a:ln/>
        </p:spPr>
        <p:txBody>
          <a:bodyPr wrap="square" lIns="0" tIns="0" rIns="0" bIns="0" rtlCol="0" anchor="t"/>
          <a:lstStyle/>
          <a:p>
            <a:pPr algn="l" indent="0" marL="0">
              <a:lnSpc>
                <a:spcPct val="114000"/>
              </a:lnSpc>
              <a:buNone/>
            </a:pPr>
            <a:r>
              <a:rPr lang="en-US" sz="2000" dirty="0">
                <a:solidFill>
                  <a:srgbClr val="CCD8E5"/>
                </a:solidFill>
                <a:latin typeface="Arial" pitchFamily="34" charset="0"/>
                <a:ea typeface="Arial" pitchFamily="34" charset="-122"/>
                <a:cs typeface="Arial" pitchFamily="34" charset="-120"/>
              </a:rPr>
              <a:t>Kiến trúc · Chất lượng · Tác động</a:t>
            </a:r>
            <a:endParaRPr lang="en-US" sz="2000" dirty="0"/>
          </a:p>
        </p:txBody>
      </p:sp>
      <p:sp>
        <p:nvSpPr>
          <p:cNvPr id="54" name="Text 52"/>
          <p:cNvSpPr txBox="1"/>
          <p:nvPr/>
        </p:nvSpPr>
        <p:spPr>
          <a:xfrm>
            <a:off x="609585" y="4324350"/>
            <a:ext cx="7029274" cy="942975"/>
          </a:xfrm>
          <a:prstGeom prst="rect">
            <a:avLst/>
          </a:prstGeom>
          <a:noFill/>
          <a:ln/>
        </p:spPr>
        <p:txBody>
          <a:bodyPr wrap="square" lIns="0" tIns="0" rIns="0" bIns="0" rtlCol="0" anchor="t"/>
          <a:lstStyle/>
          <a:p>
            <a:pPr algn="l" indent="0" marL="0">
              <a:lnSpc>
                <a:spcPct val="114000"/>
              </a:lnSpc>
              <a:buNone/>
            </a:pPr>
            <a:r>
              <a:rPr lang="en-US" sz="1800" b="1" dirty="0">
                <a:solidFill>
                  <a:srgbClr val="FFFFFF"/>
                </a:solidFill>
                <a:latin typeface="Arial" pitchFamily="34" charset="0"/>
                <a:ea typeface="Arial" pitchFamily="34" charset="-122"/>
                <a:cs typeface="Arial" pitchFamily="34" charset="-120"/>
              </a:rPr>
              <a:t>Tiến sĩ Nguyễn Lê Văn — Chủ biên</a:t>
            </a:r>
            <a:endParaRPr lang="en-US" sz="1800" dirty="0"/>
          </a:p>
          <a:p>
            <a:pPr algn="l" indent="0" marL="0">
              <a:lnSpc>
                <a:spcPct val="114000"/>
              </a:lnSpc>
              <a:buNone/>
            </a:pPr>
            <a:r>
              <a:rPr lang="en-US" sz="1800" b="1" dirty="0">
                <a:solidFill>
                  <a:srgbClr val="FFFFFF"/>
                </a:solidFill>
                <a:latin typeface="Arial" pitchFamily="34" charset="0"/>
                <a:ea typeface="Arial" pitchFamily="34" charset="-122"/>
                <a:cs typeface="Arial" pitchFamily="34" charset="-120"/>
              </a:rPr>
              <a:t>Thạc sĩ Đinh Văn Tứ — Biên soạn</a:t>
            </a:r>
            <a:endParaRPr lang="en-US" sz="1800" dirty="0"/>
          </a:p>
          <a:p>
            <a:pPr algn="l" indent="0" marL="0">
              <a:lnSpc>
                <a:spcPct val="114000"/>
              </a:lnSpc>
              <a:buNone/>
            </a:pPr>
            <a:r>
              <a:rPr lang="en-US" sz="1800" b="1" dirty="0">
                <a:solidFill>
                  <a:srgbClr val="FFFFFF"/>
                </a:solidFill>
                <a:latin typeface="Arial" pitchFamily="34" charset="0"/>
                <a:ea typeface="Arial" pitchFamily="34" charset="-122"/>
                <a:cs typeface="Arial" pitchFamily="34" charset="-120"/>
              </a:rPr>
              <a:t>Thạc sĩ Bùi Thanh Xuân — Biên soạn</a:t>
            </a:r>
            <a:endParaRPr lang="en-US" sz="1800" dirty="0"/>
          </a:p>
        </p:txBody>
      </p:sp>
      <p:sp>
        <p:nvSpPr>
          <p:cNvPr id="55" name="Text 53"/>
          <p:cNvSpPr txBox="1"/>
          <p:nvPr/>
        </p:nvSpPr>
        <p:spPr>
          <a:xfrm>
            <a:off x="609585" y="5305425"/>
            <a:ext cx="2857429" cy="285750"/>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05/10/2026</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MỞ ĐẦU</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Tóm tắt điều hành</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Bốn con số phạm vi; ba kết luận để hội đồng ra quyết định.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Phạm vi không phải chất lượng; chạy được không đồng nghĩa đã được nghiệm thu.</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03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075738"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2585973" cy="1981200"/>
          </a:xfrm>
          <a:prstGeom prst="roundRect">
            <a:avLst>
              <a:gd name="adj" fmla="val 4808"/>
            </a:avLst>
          </a:prstGeom>
          <a:solidFill>
            <a:srgbClr val="FFFFFF"/>
          </a:solidFill>
          <a:ln w="7620">
            <a:solidFill>
              <a:srgbClr val="D8E1EB"/>
            </a:solidFill>
            <a:prstDash val="solid"/>
          </a:ln>
        </p:spPr>
      </p:sp>
      <p:sp>
        <p:nvSpPr>
          <p:cNvPr id="15" name="Text 13"/>
          <p:cNvSpPr txBox="1"/>
          <p:nvPr/>
        </p:nvSpPr>
        <p:spPr>
          <a:xfrm>
            <a:off x="781030" y="2286000"/>
            <a:ext cx="2243081" cy="1009650"/>
          </a:xfrm>
          <a:prstGeom prst="rect">
            <a:avLst/>
          </a:prstGeom>
          <a:noFill/>
          <a:ln/>
        </p:spPr>
        <p:txBody>
          <a:bodyPr wrap="square" lIns="0" tIns="0" rIns="0" bIns="0" rtlCol="0" anchor="ctr"/>
          <a:lstStyle/>
          <a:p>
            <a:pPr algn="ctr" indent="0" marL="0">
              <a:lnSpc>
                <a:spcPct val="114000"/>
              </a:lnSpc>
              <a:buNone/>
            </a:pPr>
            <a:r>
              <a:rPr lang="en-US" sz="6000" b="1" dirty="0">
                <a:solidFill>
                  <a:srgbClr val="F77F00"/>
                </a:solidFill>
                <a:latin typeface="Arial" pitchFamily="34" charset="0"/>
                <a:ea typeface="Arial" pitchFamily="34" charset="-122"/>
                <a:cs typeface="Arial" pitchFamily="34" charset="-120"/>
              </a:rPr>
              <a:t>372</a:t>
            </a:r>
            <a:endParaRPr lang="en-US" sz="6000" dirty="0"/>
          </a:p>
        </p:txBody>
      </p:sp>
      <p:sp>
        <p:nvSpPr>
          <p:cNvPr id="16" name="Text 14"/>
          <p:cNvSpPr txBox="1"/>
          <p:nvPr/>
        </p:nvSpPr>
        <p:spPr>
          <a:xfrm>
            <a:off x="781030" y="3314700"/>
            <a:ext cx="2243081" cy="504825"/>
          </a:xfrm>
          <a:prstGeom prst="rect">
            <a:avLst/>
          </a:prstGeom>
          <a:noFill/>
          <a:ln/>
        </p:spPr>
        <p:txBody>
          <a:bodyPr wrap="square" lIns="0" tIns="0" rIns="0" bIns="0" rtlCol="0" anchor="t"/>
          <a:lstStyle/>
          <a:p>
            <a:pPr algn="ctr" indent="0" marL="0">
              <a:lnSpc>
                <a:spcPct val="114000"/>
              </a:lnSpc>
              <a:buNone/>
            </a:pPr>
            <a:r>
              <a:rPr lang="en-US" sz="1900" b="1" dirty="0">
                <a:solidFill>
                  <a:srgbClr val="0B2545"/>
                </a:solidFill>
                <a:latin typeface="Arial" pitchFamily="34" charset="0"/>
                <a:ea typeface="Arial" pitchFamily="34" charset="-122"/>
                <a:cs typeface="Arial" pitchFamily="34" charset="-120"/>
              </a:rPr>
              <a:t>tệp trong gói</a:t>
            </a:r>
            <a:endParaRPr lang="en-US" sz="1900" dirty="0"/>
          </a:p>
        </p:txBody>
      </p:sp>
      <p:sp>
        <p:nvSpPr>
          <p:cNvPr id="17" name="Text 15"/>
          <p:cNvSpPr txBox="1"/>
          <p:nvPr/>
        </p:nvSpPr>
        <p:spPr>
          <a:xfrm>
            <a:off x="800080" y="3848100"/>
            <a:ext cx="2204982" cy="276225"/>
          </a:xfrm>
          <a:prstGeom prst="rect">
            <a:avLst/>
          </a:prstGeom>
          <a:noFill/>
          <a:ln/>
        </p:spPr>
        <p:txBody>
          <a:bodyPr wrap="square" lIns="0" tIns="0" rIns="0" bIns="0" rtlCol="0" anchor="t"/>
          <a:lstStyle/>
          <a:p>
            <a:pPr algn="ctr" indent="0" marL="0">
              <a:lnSpc>
                <a:spcPct val="114000"/>
              </a:lnSpc>
              <a:buNone/>
            </a:pPr>
            <a:r>
              <a:rPr lang="en-US" sz="1600" dirty="0">
                <a:solidFill>
                  <a:srgbClr val="586B81"/>
                </a:solidFill>
                <a:latin typeface="Arial" pitchFamily="34" charset="0"/>
                <a:ea typeface="Arial" pitchFamily="34" charset="-122"/>
                <a:cs typeface="Arial" pitchFamily="34" charset="-120"/>
              </a:rPr>
              <a:t>Gói đề nghị 02/09/2026</a:t>
            </a:r>
            <a:endParaRPr lang="en-US" sz="1600" dirty="0"/>
          </a:p>
        </p:txBody>
      </p:sp>
      <p:sp>
        <p:nvSpPr>
          <p:cNvPr id="18" name="Shape 16"/>
          <p:cNvSpPr/>
          <p:nvPr/>
        </p:nvSpPr>
        <p:spPr>
          <a:xfrm>
            <a:off x="3405102" y="2209800"/>
            <a:ext cx="2585973" cy="1981200"/>
          </a:xfrm>
          <a:prstGeom prst="roundRect">
            <a:avLst>
              <a:gd name="adj" fmla="val 4808"/>
            </a:avLst>
          </a:prstGeom>
          <a:solidFill>
            <a:srgbClr val="FFFFFF"/>
          </a:solidFill>
          <a:ln w="7620">
            <a:solidFill>
              <a:srgbClr val="D8E1EB"/>
            </a:solidFill>
            <a:prstDash val="solid"/>
          </a:ln>
        </p:spPr>
      </p:sp>
      <p:sp>
        <p:nvSpPr>
          <p:cNvPr id="19" name="Text 17"/>
          <p:cNvSpPr txBox="1"/>
          <p:nvPr/>
        </p:nvSpPr>
        <p:spPr>
          <a:xfrm>
            <a:off x="3576548" y="2286000"/>
            <a:ext cx="2243081" cy="1009650"/>
          </a:xfrm>
          <a:prstGeom prst="rect">
            <a:avLst/>
          </a:prstGeom>
          <a:noFill/>
          <a:ln/>
        </p:spPr>
        <p:txBody>
          <a:bodyPr wrap="square" lIns="0" tIns="0" rIns="0" bIns="0" rtlCol="0" anchor="ctr"/>
          <a:lstStyle/>
          <a:p>
            <a:pPr algn="ctr" indent="0" marL="0">
              <a:lnSpc>
                <a:spcPct val="114000"/>
              </a:lnSpc>
              <a:buNone/>
            </a:pPr>
            <a:r>
              <a:rPr lang="en-US" sz="6000" b="1" dirty="0">
                <a:solidFill>
                  <a:srgbClr val="0B2545"/>
                </a:solidFill>
                <a:latin typeface="Arial" pitchFamily="34" charset="0"/>
                <a:ea typeface="Arial" pitchFamily="34" charset="-122"/>
                <a:cs typeface="Arial" pitchFamily="34" charset="-120"/>
              </a:rPr>
              <a:t>25</a:t>
            </a:r>
            <a:endParaRPr lang="en-US" sz="6000" dirty="0"/>
          </a:p>
        </p:txBody>
      </p:sp>
      <p:sp>
        <p:nvSpPr>
          <p:cNvPr id="20" name="Text 18"/>
          <p:cNvSpPr txBox="1"/>
          <p:nvPr/>
        </p:nvSpPr>
        <p:spPr>
          <a:xfrm>
            <a:off x="3576548" y="3314700"/>
            <a:ext cx="2243081" cy="504825"/>
          </a:xfrm>
          <a:prstGeom prst="rect">
            <a:avLst/>
          </a:prstGeom>
          <a:noFill/>
          <a:ln/>
        </p:spPr>
        <p:txBody>
          <a:bodyPr wrap="square" lIns="0" tIns="0" rIns="0" bIns="0" rtlCol="0" anchor="t"/>
          <a:lstStyle/>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vị trí mô phỏng</a:t>
            </a:r>
            <a:endParaRPr lang="en-US" sz="1700" dirty="0"/>
          </a:p>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phẳng</a:t>
            </a:r>
            <a:endParaRPr lang="en-US" sz="1700" dirty="0"/>
          </a:p>
        </p:txBody>
      </p:sp>
      <p:sp>
        <p:nvSpPr>
          <p:cNvPr id="21" name="Text 19"/>
          <p:cNvSpPr txBox="1"/>
          <p:nvPr/>
        </p:nvSpPr>
        <p:spPr>
          <a:xfrm>
            <a:off x="3595598" y="3848100"/>
            <a:ext cx="2204982" cy="276225"/>
          </a:xfrm>
          <a:prstGeom prst="rect">
            <a:avLst/>
          </a:prstGeom>
          <a:noFill/>
          <a:ln/>
        </p:spPr>
        <p:txBody>
          <a:bodyPr wrap="square" lIns="0" tIns="0" rIns="0" bIns="0" rtlCol="0" anchor="t"/>
          <a:lstStyle/>
          <a:p>
            <a:pPr algn="ctr" indent="0" marL="0">
              <a:lnSpc>
                <a:spcPct val="114000"/>
              </a:lnSpc>
              <a:buNone/>
            </a:pPr>
            <a:r>
              <a:rPr lang="en-US" sz="1600" dirty="0">
                <a:solidFill>
                  <a:srgbClr val="586B81"/>
                </a:solidFill>
                <a:latin typeface="Arial" pitchFamily="34" charset="0"/>
                <a:ea typeface="Arial" pitchFamily="34" charset="-122"/>
                <a:cs typeface="Arial" pitchFamily="34" charset="-120"/>
              </a:rPr>
              <a:t>Lớp biểu diễn cơ sở</a:t>
            </a:r>
            <a:endParaRPr lang="en-US" sz="1600" dirty="0"/>
          </a:p>
        </p:txBody>
      </p:sp>
      <p:sp>
        <p:nvSpPr>
          <p:cNvPr id="22" name="Shape 20"/>
          <p:cNvSpPr/>
          <p:nvPr/>
        </p:nvSpPr>
        <p:spPr>
          <a:xfrm>
            <a:off x="6200620" y="2209800"/>
            <a:ext cx="2585973" cy="1981200"/>
          </a:xfrm>
          <a:prstGeom prst="roundRect">
            <a:avLst>
              <a:gd name="adj" fmla="val 4808"/>
            </a:avLst>
          </a:prstGeom>
          <a:solidFill>
            <a:srgbClr val="FFFFFF"/>
          </a:solidFill>
          <a:ln w="7620">
            <a:solidFill>
              <a:srgbClr val="D8E1EB"/>
            </a:solidFill>
            <a:prstDash val="solid"/>
          </a:ln>
        </p:spPr>
      </p:sp>
      <p:sp>
        <p:nvSpPr>
          <p:cNvPr id="23" name="Text 21"/>
          <p:cNvSpPr txBox="1"/>
          <p:nvPr/>
        </p:nvSpPr>
        <p:spPr>
          <a:xfrm>
            <a:off x="6372066" y="2286000"/>
            <a:ext cx="2243081" cy="1009650"/>
          </a:xfrm>
          <a:prstGeom prst="rect">
            <a:avLst/>
          </a:prstGeom>
          <a:noFill/>
          <a:ln/>
        </p:spPr>
        <p:txBody>
          <a:bodyPr wrap="square" lIns="0" tIns="0" rIns="0" bIns="0" rtlCol="0" anchor="ctr"/>
          <a:lstStyle/>
          <a:p>
            <a:pPr algn="ctr" indent="0" marL="0">
              <a:lnSpc>
                <a:spcPct val="114000"/>
              </a:lnSpc>
              <a:buNone/>
            </a:pPr>
            <a:r>
              <a:rPr lang="en-US" sz="6000" b="1" dirty="0">
                <a:solidFill>
                  <a:srgbClr val="0B2545"/>
                </a:solidFill>
                <a:latin typeface="Arial" pitchFamily="34" charset="0"/>
                <a:ea typeface="Arial" pitchFamily="34" charset="-122"/>
                <a:cs typeface="Arial" pitchFamily="34" charset="-120"/>
              </a:rPr>
              <a:t>10</a:t>
            </a:r>
            <a:endParaRPr lang="en-US" sz="6000" dirty="0"/>
          </a:p>
        </p:txBody>
      </p:sp>
      <p:sp>
        <p:nvSpPr>
          <p:cNvPr id="24" name="Text 22"/>
          <p:cNvSpPr txBox="1"/>
          <p:nvPr/>
        </p:nvSpPr>
        <p:spPr>
          <a:xfrm>
            <a:off x="6372066" y="3314700"/>
            <a:ext cx="2243081" cy="504825"/>
          </a:xfrm>
          <a:prstGeom prst="rect">
            <a:avLst/>
          </a:prstGeom>
          <a:noFill/>
          <a:ln/>
        </p:spPr>
        <p:txBody>
          <a:bodyPr wrap="square" lIns="0" tIns="0" rIns="0" bIns="0" rtlCol="0" anchor="t"/>
          <a:lstStyle/>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bản mô phỏng không</a:t>
            </a:r>
            <a:endParaRPr lang="en-US" sz="1700" dirty="0"/>
          </a:p>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gian</a:t>
            </a:r>
            <a:endParaRPr lang="en-US" sz="1700" dirty="0"/>
          </a:p>
        </p:txBody>
      </p:sp>
      <p:sp>
        <p:nvSpPr>
          <p:cNvPr id="25" name="Text 23"/>
          <p:cNvSpPr txBox="1"/>
          <p:nvPr/>
        </p:nvSpPr>
        <p:spPr>
          <a:xfrm>
            <a:off x="6391115" y="3848100"/>
            <a:ext cx="2204982" cy="276225"/>
          </a:xfrm>
          <a:prstGeom prst="rect">
            <a:avLst/>
          </a:prstGeom>
          <a:noFill/>
          <a:ln/>
        </p:spPr>
        <p:txBody>
          <a:bodyPr wrap="square" lIns="0" tIns="0" rIns="0" bIns="0" rtlCol="0" anchor="t"/>
          <a:lstStyle/>
          <a:p>
            <a:pPr algn="ctr" indent="0" marL="0">
              <a:lnSpc>
                <a:spcPct val="114000"/>
              </a:lnSpc>
              <a:buNone/>
            </a:pPr>
            <a:r>
              <a:rPr lang="en-US" sz="1600" dirty="0">
                <a:solidFill>
                  <a:srgbClr val="586B81"/>
                </a:solidFill>
                <a:latin typeface="Arial" pitchFamily="34" charset="0"/>
                <a:ea typeface="Arial" pitchFamily="34" charset="-122"/>
                <a:cs typeface="Arial" pitchFamily="34" charset="-120"/>
              </a:rPr>
              <a:t>Bổ sung trên cùng bài</a:t>
            </a:r>
            <a:endParaRPr lang="en-US" sz="1600" dirty="0"/>
          </a:p>
        </p:txBody>
      </p:sp>
      <p:sp>
        <p:nvSpPr>
          <p:cNvPr id="26" name="Shape 24"/>
          <p:cNvSpPr/>
          <p:nvPr/>
        </p:nvSpPr>
        <p:spPr>
          <a:xfrm>
            <a:off x="8996138" y="2209800"/>
            <a:ext cx="2585973" cy="1981200"/>
          </a:xfrm>
          <a:prstGeom prst="roundRect">
            <a:avLst>
              <a:gd name="adj" fmla="val 4808"/>
            </a:avLst>
          </a:prstGeom>
          <a:solidFill>
            <a:srgbClr val="FFFFFF"/>
          </a:solidFill>
          <a:ln w="7620">
            <a:solidFill>
              <a:srgbClr val="D8E1EB"/>
            </a:solidFill>
            <a:prstDash val="solid"/>
          </a:ln>
        </p:spPr>
      </p:sp>
      <p:sp>
        <p:nvSpPr>
          <p:cNvPr id="27" name="Text 25"/>
          <p:cNvSpPr txBox="1"/>
          <p:nvPr/>
        </p:nvSpPr>
        <p:spPr>
          <a:xfrm>
            <a:off x="9167583" y="2286000"/>
            <a:ext cx="2243081" cy="1009650"/>
          </a:xfrm>
          <a:prstGeom prst="rect">
            <a:avLst/>
          </a:prstGeom>
          <a:noFill/>
          <a:ln/>
        </p:spPr>
        <p:txBody>
          <a:bodyPr wrap="square" lIns="0" tIns="0" rIns="0" bIns="0" rtlCol="0" anchor="ctr"/>
          <a:lstStyle/>
          <a:p>
            <a:pPr algn="ctr" indent="0" marL="0">
              <a:lnSpc>
                <a:spcPct val="114000"/>
              </a:lnSpc>
              <a:buNone/>
            </a:pPr>
            <a:r>
              <a:rPr lang="en-US" sz="6000" b="1" dirty="0">
                <a:solidFill>
                  <a:srgbClr val="0B2545"/>
                </a:solidFill>
                <a:latin typeface="Arial" pitchFamily="34" charset="0"/>
                <a:ea typeface="Arial" pitchFamily="34" charset="-122"/>
                <a:cs typeface="Arial" pitchFamily="34" charset="-120"/>
              </a:rPr>
              <a:t>8</a:t>
            </a:r>
            <a:endParaRPr lang="en-US" sz="6000" dirty="0"/>
          </a:p>
        </p:txBody>
      </p:sp>
      <p:sp>
        <p:nvSpPr>
          <p:cNvPr id="28" name="Text 26"/>
          <p:cNvSpPr txBox="1"/>
          <p:nvPr/>
        </p:nvSpPr>
        <p:spPr>
          <a:xfrm>
            <a:off x="9167583" y="3314700"/>
            <a:ext cx="2243081" cy="504825"/>
          </a:xfrm>
          <a:prstGeom prst="rect">
            <a:avLst/>
          </a:prstGeom>
          <a:noFill/>
          <a:ln/>
        </p:spPr>
        <p:txBody>
          <a:bodyPr wrap="square" lIns="0" tIns="0" rIns="0" bIns="0" rtlCol="0" anchor="t"/>
          <a:lstStyle/>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nhóm kiểm tra chất</a:t>
            </a:r>
            <a:endParaRPr lang="en-US" sz="1700" dirty="0"/>
          </a:p>
          <a:p>
            <a:pPr algn="ctr" indent="0" marL="0">
              <a:lnSpc>
                <a:spcPct val="114000"/>
              </a:lnSpc>
              <a:buNone/>
            </a:pPr>
            <a:r>
              <a:rPr lang="en-US" sz="1700" b="1" dirty="0">
                <a:solidFill>
                  <a:srgbClr val="0B2545"/>
                </a:solidFill>
                <a:latin typeface="Arial" pitchFamily="34" charset="0"/>
                <a:ea typeface="Arial" pitchFamily="34" charset="-122"/>
                <a:cs typeface="Arial" pitchFamily="34" charset="-120"/>
              </a:rPr>
              <a:t>lượng</a:t>
            </a:r>
            <a:endParaRPr lang="en-US" sz="1700" dirty="0"/>
          </a:p>
        </p:txBody>
      </p:sp>
      <p:sp>
        <p:nvSpPr>
          <p:cNvPr id="29" name="Text 27"/>
          <p:cNvSpPr txBox="1"/>
          <p:nvPr/>
        </p:nvSpPr>
        <p:spPr>
          <a:xfrm>
            <a:off x="9186633" y="3848100"/>
            <a:ext cx="2204982" cy="276225"/>
          </a:xfrm>
          <a:prstGeom prst="rect">
            <a:avLst/>
          </a:prstGeom>
          <a:noFill/>
          <a:ln/>
        </p:spPr>
        <p:txBody>
          <a:bodyPr wrap="square" lIns="0" tIns="0" rIns="0" bIns="0" rtlCol="0" anchor="t"/>
          <a:lstStyle/>
          <a:p>
            <a:pPr algn="ctr" indent="0" marL="0">
              <a:lnSpc>
                <a:spcPct val="114000"/>
              </a:lnSpc>
              <a:buNone/>
            </a:pPr>
            <a:r>
              <a:rPr lang="en-US" sz="1600" dirty="0">
                <a:solidFill>
                  <a:srgbClr val="586B81"/>
                </a:solidFill>
                <a:latin typeface="Arial" pitchFamily="34" charset="0"/>
                <a:ea typeface="Arial" pitchFamily="34" charset="-122"/>
                <a:cs typeface="Arial" pitchFamily="34" charset="-120"/>
              </a:rPr>
              <a:t>24 điều kiện thực tế</a:t>
            </a:r>
            <a:endParaRPr lang="en-US" sz="1600" dirty="0"/>
          </a:p>
        </p:txBody>
      </p:sp>
      <p:sp>
        <p:nvSpPr>
          <p:cNvPr id="30" name="Shape 28"/>
          <p:cNvSpPr/>
          <p:nvPr/>
        </p:nvSpPr>
        <p:spPr>
          <a:xfrm>
            <a:off x="609585" y="4391025"/>
            <a:ext cx="3517812" cy="1323975"/>
          </a:xfrm>
          <a:prstGeom prst="roundRect">
            <a:avLst>
              <a:gd name="adj" fmla="val 7194"/>
            </a:avLst>
          </a:prstGeom>
          <a:solidFill>
            <a:srgbClr val="FFFFFF"/>
          </a:solidFill>
          <a:ln w="7620">
            <a:solidFill>
              <a:srgbClr val="D8E1EB"/>
            </a:solidFill>
            <a:prstDash val="solid"/>
          </a:ln>
        </p:spPr>
      </p:sp>
      <p:sp>
        <p:nvSpPr>
          <p:cNvPr id="31" name="Shape 29"/>
          <p:cNvSpPr/>
          <p:nvPr/>
        </p:nvSpPr>
        <p:spPr>
          <a:xfrm>
            <a:off x="781030" y="4581525"/>
            <a:ext cx="304792" cy="38100"/>
          </a:xfrm>
          <a:prstGeom prst="rect">
            <a:avLst/>
          </a:prstGeom>
          <a:solidFill>
            <a:srgbClr val="F77F00"/>
          </a:solidFill>
          <a:ln w="12700">
            <a:solidFill>
              <a:srgbClr val="F77F00">
                <a:alpha val="0"/>
              </a:srgbClr>
            </a:solidFill>
            <a:prstDash val="solid"/>
          </a:ln>
        </p:spPr>
      </p:sp>
      <p:sp>
        <p:nvSpPr>
          <p:cNvPr id="32" name="Text 30"/>
          <p:cNvSpPr txBox="1"/>
          <p:nvPr/>
        </p:nvSpPr>
        <p:spPr>
          <a:xfrm>
            <a:off x="819130" y="4752975"/>
            <a:ext cx="3098723" cy="295275"/>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Kỹ thuật</a:t>
            </a:r>
            <a:endParaRPr lang="en-US" sz="1800" dirty="0"/>
          </a:p>
        </p:txBody>
      </p:sp>
      <p:sp>
        <p:nvSpPr>
          <p:cNvPr id="33" name="Text 31"/>
          <p:cNvSpPr txBox="1"/>
          <p:nvPr/>
        </p:nvSpPr>
        <p:spPr>
          <a:xfrm>
            <a:off x="819130" y="5153025"/>
            <a:ext cx="3098723" cy="381000"/>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Có hiện vật ngoại tuyến.</a:t>
            </a:r>
            <a:endParaRPr lang="en-US" sz="1600" dirty="0"/>
          </a:p>
        </p:txBody>
      </p:sp>
      <p:sp>
        <p:nvSpPr>
          <p:cNvPr id="34" name="Shape 32"/>
          <p:cNvSpPr/>
          <p:nvPr/>
        </p:nvSpPr>
        <p:spPr>
          <a:xfrm>
            <a:off x="4336942" y="4391025"/>
            <a:ext cx="3517812" cy="1323975"/>
          </a:xfrm>
          <a:prstGeom prst="roundRect">
            <a:avLst>
              <a:gd name="adj" fmla="val 7194"/>
            </a:avLst>
          </a:prstGeom>
          <a:solidFill>
            <a:srgbClr val="FFFFFF"/>
          </a:solidFill>
          <a:ln w="7620">
            <a:solidFill>
              <a:srgbClr val="D8E1EB"/>
            </a:solidFill>
            <a:prstDash val="solid"/>
          </a:ln>
        </p:spPr>
      </p:sp>
      <p:sp>
        <p:nvSpPr>
          <p:cNvPr id="35" name="Shape 33"/>
          <p:cNvSpPr/>
          <p:nvPr/>
        </p:nvSpPr>
        <p:spPr>
          <a:xfrm>
            <a:off x="4508387" y="4581525"/>
            <a:ext cx="304792" cy="38100"/>
          </a:xfrm>
          <a:prstGeom prst="rect">
            <a:avLst/>
          </a:prstGeom>
          <a:solidFill>
            <a:srgbClr val="C62828"/>
          </a:solidFill>
          <a:ln w="12700">
            <a:solidFill>
              <a:srgbClr val="C62828">
                <a:alpha val="0"/>
              </a:srgbClr>
            </a:solidFill>
            <a:prstDash val="solid"/>
          </a:ln>
        </p:spPr>
      </p:sp>
      <p:sp>
        <p:nvSpPr>
          <p:cNvPr id="36" name="Text 34"/>
          <p:cNvSpPr txBox="1"/>
          <p:nvPr/>
        </p:nvSpPr>
        <p:spPr>
          <a:xfrm>
            <a:off x="4546486" y="4752975"/>
            <a:ext cx="3098723" cy="295275"/>
          </a:xfrm>
          <a:prstGeom prst="rect">
            <a:avLst/>
          </a:prstGeom>
          <a:noFill/>
          <a:ln/>
        </p:spPr>
        <p:txBody>
          <a:bodyPr wrap="square" lIns="0" tIns="0" rIns="0" bIns="0" rtlCol="0" anchor="t"/>
          <a:lstStyle/>
          <a:p>
            <a:pPr algn="l" indent="0" marL="0">
              <a:lnSpc>
                <a:spcPct val="114000"/>
              </a:lnSpc>
              <a:buNone/>
            </a:pPr>
            <a:r>
              <a:rPr lang="en-US" sz="1800" b="1" dirty="0">
                <a:solidFill>
                  <a:srgbClr val="C62828"/>
                </a:solidFill>
                <a:latin typeface="Arial" pitchFamily="34" charset="0"/>
                <a:ea typeface="Arial" pitchFamily="34" charset="-122"/>
                <a:cs typeface="Arial" pitchFamily="34" charset="-120"/>
              </a:rPr>
              <a:t>Học thuật</a:t>
            </a:r>
            <a:endParaRPr lang="en-US" sz="1800" dirty="0"/>
          </a:p>
        </p:txBody>
      </p:sp>
      <p:sp>
        <p:nvSpPr>
          <p:cNvPr id="37" name="Text 35"/>
          <p:cNvSpPr txBox="1"/>
          <p:nvPr/>
        </p:nvSpPr>
        <p:spPr>
          <a:xfrm>
            <a:off x="4546486" y="5153025"/>
            <a:ext cx="3098723" cy="381000"/>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Chưa đủ ký duyệt.</a:t>
            </a:r>
            <a:endParaRPr lang="en-US" sz="1600" dirty="0"/>
          </a:p>
        </p:txBody>
      </p:sp>
      <p:sp>
        <p:nvSpPr>
          <p:cNvPr id="38" name="Shape 36"/>
          <p:cNvSpPr/>
          <p:nvPr/>
        </p:nvSpPr>
        <p:spPr>
          <a:xfrm>
            <a:off x="8064298" y="4391025"/>
            <a:ext cx="3517812" cy="1323975"/>
          </a:xfrm>
          <a:prstGeom prst="roundRect">
            <a:avLst>
              <a:gd name="adj" fmla="val 7194"/>
            </a:avLst>
          </a:prstGeom>
          <a:solidFill>
            <a:srgbClr val="FFFFFF"/>
          </a:solidFill>
          <a:ln w="7620">
            <a:solidFill>
              <a:srgbClr val="D8E1EB"/>
            </a:solidFill>
            <a:prstDash val="solid"/>
          </a:ln>
        </p:spPr>
      </p:sp>
      <p:sp>
        <p:nvSpPr>
          <p:cNvPr id="39" name="Shape 37"/>
          <p:cNvSpPr/>
          <p:nvPr/>
        </p:nvSpPr>
        <p:spPr>
          <a:xfrm>
            <a:off x="8235744" y="4581525"/>
            <a:ext cx="304792" cy="38100"/>
          </a:xfrm>
          <a:prstGeom prst="rect">
            <a:avLst/>
          </a:prstGeom>
          <a:solidFill>
            <a:srgbClr val="2E7D32"/>
          </a:solidFill>
          <a:ln w="12700">
            <a:solidFill>
              <a:srgbClr val="2E7D32">
                <a:alpha val="0"/>
              </a:srgbClr>
            </a:solidFill>
            <a:prstDash val="solid"/>
          </a:ln>
        </p:spPr>
      </p:sp>
      <p:sp>
        <p:nvSpPr>
          <p:cNvPr id="40" name="Text 38"/>
          <p:cNvSpPr txBox="1"/>
          <p:nvPr/>
        </p:nvSpPr>
        <p:spPr>
          <a:xfrm>
            <a:off x="8273843" y="4752975"/>
            <a:ext cx="3098723" cy="295275"/>
          </a:xfrm>
          <a:prstGeom prst="rect">
            <a:avLst/>
          </a:prstGeom>
          <a:noFill/>
          <a:ln/>
        </p:spPr>
        <p:txBody>
          <a:bodyPr wrap="square" lIns="0" tIns="0" rIns="0" bIns="0" rtlCol="0" anchor="t"/>
          <a:lstStyle/>
          <a:p>
            <a:pPr algn="l" indent="0" marL="0">
              <a:lnSpc>
                <a:spcPct val="114000"/>
              </a:lnSpc>
              <a:buNone/>
            </a:pPr>
            <a:r>
              <a:rPr lang="en-US" sz="1800" b="1" dirty="0">
                <a:solidFill>
                  <a:srgbClr val="2E7D32"/>
                </a:solidFill>
                <a:latin typeface="Arial" pitchFamily="34" charset="0"/>
                <a:ea typeface="Arial" pitchFamily="34" charset="-122"/>
                <a:cs typeface="Arial" pitchFamily="34" charset="-120"/>
              </a:rPr>
              <a:t>Chuyển giao</a:t>
            </a:r>
            <a:endParaRPr lang="en-US" sz="1800" dirty="0"/>
          </a:p>
        </p:txBody>
      </p:sp>
      <p:sp>
        <p:nvSpPr>
          <p:cNvPr id="41" name="Text 39"/>
          <p:cNvSpPr txBox="1"/>
          <p:nvPr/>
        </p:nvSpPr>
        <p:spPr>
          <a:xfrm>
            <a:off x="8273843" y="5153025"/>
            <a:ext cx="3098723" cy="381000"/>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Có hướng tái sử dụng.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MỞ ĐẦU</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Lộ trình báo cáo — 25 phút</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1 trang mã truy cập · 30 trang nội dung · 1 trang hỏi–đáp · 2 trang dự phòng.</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Dành thêm 5–10 phút cho hỏi–đáp; phụ lục chỉ mở khi cần đào sâu.</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04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434317" cy="38100"/>
          </a:xfrm>
          <a:prstGeom prst="rect">
            <a:avLst/>
          </a:prstGeom>
          <a:solidFill>
            <a:srgbClr val="F77F00"/>
          </a:solidFill>
          <a:ln w="12700">
            <a:solidFill>
              <a:srgbClr val="F77F00">
                <a:alpha val="0"/>
              </a:srgbClr>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2438339"/>
                <a:gridCol w="6095848"/>
                <a:gridCol w="2438339"/>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Phần</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Trọng tâm</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Thời lượng</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Phương pháp luận đánh giá</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3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Tổng quan dự án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3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Kiến trúc và tính năng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8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4</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Chất lượng và bằng chứng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5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5</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So sánh và đánh giá</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4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6</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Tác động và khuyến nghị</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2 phút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MỞ ĐẦU</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Vì sao ngoại tuyến là quan trọng?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Thiết kế cho điều kiện kết nối bị hạn chế, không dựa vào tỷ lệ khảo sát giả định.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Ưu tiên dùng không mạng là lựa chọn theo bối cảnh; phải thử trên thiết bị thực.</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05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792896"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Điều kiện triển khai</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Không mặc định mạng luôn</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sẵn sàng.</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Hướng giải quyết</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Phân phối tài nguyên cục bộ;</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mở trang đầu.</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C62828"/>
          </a:solidFill>
          <a:ln w="12700">
            <a:solidFill>
              <a:srgbClr val="C62828">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C62828"/>
                </a:solidFill>
                <a:latin typeface="Arial" pitchFamily="34" charset="0"/>
                <a:ea typeface="Arial" pitchFamily="34" charset="-122"/>
                <a:cs typeface="Arial" pitchFamily="34" charset="-120"/>
              </a:rPr>
              <a:t>Giới hạn dữ liệu</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Chưa có khảo sát thiết bị</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của đơn vị.</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PHƯƠNG PHÁP LUẬN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Phương pháp đánh giá</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Bốn bước phân biệt thiết kế, thực thi, bằng chứng và chuẩn đối chiếu.</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Chỉ kết luận trong phạm vi đã kiểm tra và đúng phiên bản nguồn.</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06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2151476"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2571686" cy="3505200"/>
          </a:xfrm>
          <a:prstGeom prst="roundRect">
            <a:avLst>
              <a:gd name="adj" fmla="val 3704"/>
            </a:avLst>
          </a:prstGeom>
          <a:solidFill>
            <a:srgbClr val="FFFFFF"/>
          </a:solidFill>
          <a:ln w="7620">
            <a:solidFill>
              <a:srgbClr val="D8E1EB"/>
            </a:solidFill>
            <a:prstDash val="solid"/>
          </a:ln>
        </p:spPr>
      </p:sp>
      <p:sp>
        <p:nvSpPr>
          <p:cNvPr id="15" name="Shape 13"/>
          <p:cNvSpPr/>
          <p:nvPr/>
        </p:nvSpPr>
        <p:spPr>
          <a:xfrm>
            <a:off x="819130" y="2419350"/>
            <a:ext cx="419090" cy="419100"/>
          </a:xfrm>
          <a:prstGeom prst="ellipse">
            <a:avLst/>
          </a:prstGeom>
          <a:solidFill>
            <a:srgbClr val="0B2545"/>
          </a:solidFill>
          <a:ln w="12700">
            <a:solidFill>
              <a:srgbClr val="0B2545">
                <a:alpha val="0"/>
              </a:srgbClr>
            </a:solidFill>
            <a:prstDash val="solid"/>
          </a:ln>
        </p:spPr>
      </p:sp>
      <p:sp>
        <p:nvSpPr>
          <p:cNvPr id="16" name="Text 14"/>
          <p:cNvSpPr txBox="1"/>
          <p:nvPr/>
        </p:nvSpPr>
        <p:spPr>
          <a:xfrm>
            <a:off x="82865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7" name="Text 15"/>
          <p:cNvSpPr txBox="1"/>
          <p:nvPr/>
        </p:nvSpPr>
        <p:spPr>
          <a:xfrm>
            <a:off x="81913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Phân tích tĩnh</a:t>
            </a:r>
            <a:endParaRPr lang="en-US" sz="2000" dirty="0"/>
          </a:p>
        </p:txBody>
      </p:sp>
      <p:sp>
        <p:nvSpPr>
          <p:cNvPr id="18" name="Text 16"/>
          <p:cNvSpPr txBox="1"/>
          <p:nvPr/>
        </p:nvSpPr>
        <p:spPr>
          <a:xfrm>
            <a:off x="81913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Đọc mã nguồn và</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tài liệu hướng dẫn.</a:t>
            </a:r>
            <a:endParaRPr lang="en-US" sz="1800" dirty="0"/>
          </a:p>
        </p:txBody>
      </p:sp>
      <p:sp>
        <p:nvSpPr>
          <p:cNvPr id="19" name="Shape 17"/>
          <p:cNvSpPr/>
          <p:nvPr/>
        </p:nvSpPr>
        <p:spPr>
          <a:xfrm>
            <a:off x="3209845" y="2647950"/>
            <a:ext cx="171446" cy="0"/>
          </a:xfrm>
          <a:prstGeom prst="line">
            <a:avLst/>
          </a:prstGeom>
          <a:noFill/>
          <a:ln w="19050">
            <a:solidFill>
              <a:srgbClr val="F77F00"/>
            </a:solidFill>
            <a:prstDash val="solid"/>
            <a:tailEnd type="triangle"/>
          </a:ln>
        </p:spPr>
      </p:sp>
      <p:sp>
        <p:nvSpPr>
          <p:cNvPr id="20" name="Shape 18"/>
          <p:cNvSpPr/>
          <p:nvPr/>
        </p:nvSpPr>
        <p:spPr>
          <a:xfrm>
            <a:off x="3409865" y="2209800"/>
            <a:ext cx="2571686" cy="3505200"/>
          </a:xfrm>
          <a:prstGeom prst="roundRect">
            <a:avLst>
              <a:gd name="adj" fmla="val 3704"/>
            </a:avLst>
          </a:prstGeom>
          <a:solidFill>
            <a:srgbClr val="FFFFFF"/>
          </a:solidFill>
          <a:ln w="7620">
            <a:solidFill>
              <a:srgbClr val="D8E1EB"/>
            </a:solidFill>
            <a:prstDash val="solid"/>
          </a:ln>
        </p:spPr>
      </p:sp>
      <p:sp>
        <p:nvSpPr>
          <p:cNvPr id="21" name="Shape 19"/>
          <p:cNvSpPr/>
          <p:nvPr/>
        </p:nvSpPr>
        <p:spPr>
          <a:xfrm>
            <a:off x="3619410" y="2419350"/>
            <a:ext cx="419090" cy="419100"/>
          </a:xfrm>
          <a:prstGeom prst="ellipse">
            <a:avLst/>
          </a:prstGeom>
          <a:solidFill>
            <a:srgbClr val="0B2545"/>
          </a:solidFill>
          <a:ln w="12700">
            <a:solidFill>
              <a:srgbClr val="0B2545">
                <a:alpha val="0"/>
              </a:srgbClr>
            </a:solidFill>
            <a:prstDash val="solid"/>
          </a:ln>
        </p:spPr>
      </p:sp>
      <p:sp>
        <p:nvSpPr>
          <p:cNvPr id="22" name="Text 20"/>
          <p:cNvSpPr txBox="1"/>
          <p:nvPr/>
        </p:nvSpPr>
        <p:spPr>
          <a:xfrm>
            <a:off x="362893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23" name="Text 21"/>
          <p:cNvSpPr txBox="1"/>
          <p:nvPr/>
        </p:nvSpPr>
        <p:spPr>
          <a:xfrm>
            <a:off x="361941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Thử vận hành</a:t>
            </a:r>
            <a:endParaRPr lang="en-US" sz="2000" dirty="0"/>
          </a:p>
        </p:txBody>
      </p:sp>
      <p:sp>
        <p:nvSpPr>
          <p:cNvPr id="24" name="Text 22"/>
          <p:cNvSpPr txBox="1"/>
          <p:nvPr/>
        </p:nvSpPr>
        <p:spPr>
          <a:xfrm>
            <a:off x="361941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Thử mở tệp, qua</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mạng và trên máy</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đích.</a:t>
            </a:r>
            <a:endParaRPr lang="en-US" sz="1800" dirty="0"/>
          </a:p>
        </p:txBody>
      </p:sp>
      <p:sp>
        <p:nvSpPr>
          <p:cNvPr id="25" name="Shape 23"/>
          <p:cNvSpPr/>
          <p:nvPr/>
        </p:nvSpPr>
        <p:spPr>
          <a:xfrm>
            <a:off x="6010125" y="2647950"/>
            <a:ext cx="171446" cy="0"/>
          </a:xfrm>
          <a:prstGeom prst="line">
            <a:avLst/>
          </a:prstGeom>
          <a:noFill/>
          <a:ln w="19050">
            <a:solidFill>
              <a:srgbClr val="F77F00"/>
            </a:solidFill>
            <a:prstDash val="solid"/>
            <a:tailEnd type="triangle"/>
          </a:ln>
        </p:spPr>
      </p:sp>
      <p:sp>
        <p:nvSpPr>
          <p:cNvPr id="26" name="Shape 24"/>
          <p:cNvSpPr/>
          <p:nvPr/>
        </p:nvSpPr>
        <p:spPr>
          <a:xfrm>
            <a:off x="6210145" y="2209800"/>
            <a:ext cx="2571686" cy="3505200"/>
          </a:xfrm>
          <a:prstGeom prst="roundRect">
            <a:avLst>
              <a:gd name="adj" fmla="val 3704"/>
            </a:avLst>
          </a:prstGeom>
          <a:solidFill>
            <a:srgbClr val="FFFFFF"/>
          </a:solidFill>
          <a:ln w="7620">
            <a:solidFill>
              <a:srgbClr val="D8E1EB"/>
            </a:solidFill>
            <a:prstDash val="solid"/>
          </a:ln>
        </p:spPr>
      </p:sp>
      <p:sp>
        <p:nvSpPr>
          <p:cNvPr id="27" name="Shape 25"/>
          <p:cNvSpPr/>
          <p:nvPr/>
        </p:nvSpPr>
        <p:spPr>
          <a:xfrm>
            <a:off x="6419690" y="2419350"/>
            <a:ext cx="419090" cy="419100"/>
          </a:xfrm>
          <a:prstGeom prst="ellipse">
            <a:avLst/>
          </a:prstGeom>
          <a:solidFill>
            <a:srgbClr val="0B2545"/>
          </a:solidFill>
          <a:ln w="12700">
            <a:solidFill>
              <a:srgbClr val="0B2545">
                <a:alpha val="0"/>
              </a:srgbClr>
            </a:solidFill>
            <a:prstDash val="solid"/>
          </a:ln>
        </p:spPr>
      </p:sp>
      <p:sp>
        <p:nvSpPr>
          <p:cNvPr id="28" name="Text 26"/>
          <p:cNvSpPr txBox="1"/>
          <p:nvPr/>
        </p:nvSpPr>
        <p:spPr>
          <a:xfrm>
            <a:off x="642921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29" name="Text 27"/>
          <p:cNvSpPr txBox="1"/>
          <p:nvPr/>
        </p:nvSpPr>
        <p:spPr>
          <a:xfrm>
            <a:off x="641969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Đối chiếu bằng</a:t>
            </a:r>
            <a:endParaRPr lang="en-US" sz="2000" dirty="0"/>
          </a:p>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chứng</a:t>
            </a:r>
            <a:endParaRPr lang="en-US" sz="2000" dirty="0"/>
          </a:p>
        </p:txBody>
      </p:sp>
      <p:sp>
        <p:nvSpPr>
          <p:cNvPr id="30" name="Text 28"/>
          <p:cNvSpPr txBox="1"/>
          <p:nvPr/>
        </p:nvSpPr>
        <p:spPr>
          <a:xfrm>
            <a:off x="641969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Gắn ảnh chụp, dấu</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kiểm tra tệp và</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phiên bản.</a:t>
            </a:r>
            <a:endParaRPr lang="en-US" sz="1800" dirty="0"/>
          </a:p>
        </p:txBody>
      </p:sp>
      <p:sp>
        <p:nvSpPr>
          <p:cNvPr id="31" name="Shape 29"/>
          <p:cNvSpPr/>
          <p:nvPr/>
        </p:nvSpPr>
        <p:spPr>
          <a:xfrm>
            <a:off x="8810405" y="2647950"/>
            <a:ext cx="171446" cy="0"/>
          </a:xfrm>
          <a:prstGeom prst="line">
            <a:avLst/>
          </a:prstGeom>
          <a:noFill/>
          <a:ln w="19050">
            <a:solidFill>
              <a:srgbClr val="F77F00"/>
            </a:solidFill>
            <a:prstDash val="solid"/>
            <a:tailEnd type="triangle"/>
          </a:ln>
        </p:spPr>
      </p:sp>
      <p:sp>
        <p:nvSpPr>
          <p:cNvPr id="32" name="Shape 30"/>
          <p:cNvSpPr/>
          <p:nvPr/>
        </p:nvSpPr>
        <p:spPr>
          <a:xfrm>
            <a:off x="9010425" y="2209800"/>
            <a:ext cx="2571686" cy="3505200"/>
          </a:xfrm>
          <a:prstGeom prst="roundRect">
            <a:avLst>
              <a:gd name="adj" fmla="val 3704"/>
            </a:avLst>
          </a:prstGeom>
          <a:solidFill>
            <a:srgbClr val="FFFFFF"/>
          </a:solidFill>
          <a:ln w="7620">
            <a:solidFill>
              <a:srgbClr val="D8E1EB"/>
            </a:solidFill>
            <a:prstDash val="solid"/>
          </a:ln>
        </p:spPr>
      </p:sp>
      <p:sp>
        <p:nvSpPr>
          <p:cNvPr id="33" name="Shape 31"/>
          <p:cNvSpPr/>
          <p:nvPr/>
        </p:nvSpPr>
        <p:spPr>
          <a:xfrm>
            <a:off x="9219969" y="2419350"/>
            <a:ext cx="419090" cy="419100"/>
          </a:xfrm>
          <a:prstGeom prst="ellipse">
            <a:avLst/>
          </a:prstGeom>
          <a:solidFill>
            <a:srgbClr val="0B2545"/>
          </a:solidFill>
          <a:ln w="12700">
            <a:solidFill>
              <a:srgbClr val="0B2545">
                <a:alpha val="0"/>
              </a:srgbClr>
            </a:solidFill>
            <a:prstDash val="solid"/>
          </a:ln>
        </p:spPr>
      </p:sp>
      <p:sp>
        <p:nvSpPr>
          <p:cNvPr id="34" name="Text 32"/>
          <p:cNvSpPr txBox="1"/>
          <p:nvPr/>
        </p:nvSpPr>
        <p:spPr>
          <a:xfrm>
            <a:off x="922949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35" name="Text 33"/>
          <p:cNvSpPr txBox="1"/>
          <p:nvPr/>
        </p:nvSpPr>
        <p:spPr>
          <a:xfrm>
            <a:off x="9219969"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So sánh chuẩn</a:t>
            </a:r>
            <a:endParaRPr lang="en-US" sz="2000" dirty="0"/>
          </a:p>
        </p:txBody>
      </p:sp>
      <p:sp>
        <p:nvSpPr>
          <p:cNvPr id="36" name="Text 34"/>
          <p:cNvSpPr txBox="1"/>
          <p:nvPr/>
        </p:nvSpPr>
        <p:spPr>
          <a:xfrm>
            <a:off x="9219969"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Đối chiếu tiếp cận</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và trao đổi học</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liệu.</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PHƯƠNG PHÁP LUẬN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Sáu tiêu chí đánh giá</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Dùng bằng chứng và trạng thái thay cho điểm số chưa được thẩm định.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Không dùng 8,2/10 làm kết luận khi chưa có tiêu chí chấm và người đánh giá.</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07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2510055" cy="38100"/>
          </a:xfrm>
          <a:prstGeom prst="rect">
            <a:avLst/>
          </a:prstGeom>
          <a:solidFill>
            <a:srgbClr val="F77F00"/>
          </a:solidFill>
          <a:ln w="12700">
            <a:solidFill>
              <a:srgbClr val="F77F00">
                <a:alpha val="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3291758"/>
                <a:gridCol w="7680768"/>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Tiêu chí</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Bằng chứng hoặc trạng thái</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Kiến trúc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Có phân lớp và tài nguyên cục bộ</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Tính năng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Có tìm kiếm, câu hỏi và mô phỏng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Chất lượng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11 đạt; 9 chưa đạt; 4 chưa thể đánh giá</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Khả năng tiếp cận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Có kiểm tự động; chưa thể đánh giá độc lập</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Sẵn sàng phát hành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Gói đề nghị; chưa chấp nhận cuối cùng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Chuyển giao</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Đề xuất thí điểm môn khác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PHƯƠNG PHÁP LUẬN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Nguồn dữ liệu và bằng chứng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Tám tuyến tra cứu, mỗi tuyến có chức năng riêng.</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Định nghĩa một phép kiểm tra không chứng minh phép kiểm tra đó đã đạt.</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08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2868634" cy="38100"/>
          </a:xfrm>
          <a:prstGeom prst="rect">
            <a:avLst/>
          </a:prstGeom>
          <a:solidFill>
            <a:srgbClr val="F77F00"/>
          </a:solidFill>
          <a:ln w="12700">
            <a:solidFill>
              <a:srgbClr val="F77F00">
                <a:alpha val="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3918759"/>
                <a:gridCol w="7053767"/>
              </a:tblGrid>
              <a:tr h="428625">
                <a:tc>
                  <a:txBody>
                    <a:bodyPr/>
                    <a:lstStyle/>
                    <a:p>
                      <a:pPr indent="0" marL="0">
                        <a:buNone/>
                      </a:pPr>
                      <a:r>
                        <a:rPr lang="en-US" sz="1600" b="1" dirty="0">
                          <a:solidFill>
                            <a:srgbClr val="FFFFFF"/>
                          </a:solidFill>
                          <a:latin typeface="Arial" pitchFamily="34" charset="0"/>
                          <a:ea typeface="Arial" pitchFamily="34" charset="-122"/>
                          <a:cs typeface="Arial" pitchFamily="34" charset="-120"/>
                        </a:rPr>
                        <a:t>Nguồn</a:t>
                      </a:r>
                      <a:endParaRPr lang="en-US" sz="16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Vai trò</a:t>
                      </a:r>
                      <a:endParaRPr lang="en-US" sz="16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Tài liệu hướng dẫn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Phạm vi và cách vận hành</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Hồ sơ kỹ thuật</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Kiến trúc, triển khai và giới hạn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Hồ sơ phát hành</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Gói đề nghị và dấu kiểm tra tệp</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Danh mục bằng chứng</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Các hiện vật kiểm chứng</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Dữ liệu quản lý</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Danh mục, sổ thẩm định và trạng thái</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Định nghĩa phép kiểm</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Hành vi cần kiểm tra</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Công cụ tạo học liệu</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Quy trình tạo và kiểm đầu ra</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Lịch sử mã nguồn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Phiên bản và thay đổi</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TỔNG QUAN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Tổng quan dự án</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Một giáo trình tĩnh cho ba chương Cơ học lý thuyết.</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Đọc học liệu không cần dịch vụ xử lý máy chủ; bảo trì vẫn cần đầu mối kỹ thuật.</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09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3227213"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2208602" y="2324100"/>
            <a:ext cx="4059835" cy="2819400"/>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Nội dung</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Tĩnh học · Động học · Động lực</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học.</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Cách triển khai</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Trang đọc và thư viện được</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đóng gói cục bộ.</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2E7D32"/>
          </a:solidFill>
          <a:ln w="12700">
            <a:solidFill>
              <a:srgbClr val="2E7D32">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2E7D32"/>
                </a:solidFill>
                <a:latin typeface="Arial" pitchFamily="34" charset="0"/>
                <a:ea typeface="Arial" pitchFamily="34" charset="-122"/>
                <a:cs typeface="Arial" pitchFamily="34" charset="-120"/>
              </a:rPr>
              <a:t>Nguồn chuẩn</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Tài liệu biên soạn và dữ liệu đã</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chọn lọc.</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TỔNG QUAN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150" b="1" dirty="0">
                <a:solidFill>
                  <a:srgbClr val="0B2545"/>
                </a:solidFill>
                <a:latin typeface="Arial" pitchFamily="34" charset="0"/>
                <a:ea typeface="Arial" pitchFamily="34" charset="-122"/>
                <a:cs typeface="Arial" pitchFamily="34" charset="-120"/>
              </a:rPr>
              <a:t>Phạm vi: giáo trình, không phải hệ thống quản lý học tập</a:t>
            </a:r>
            <a:endParaRPr lang="en-US" sz="315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Ranh giới rõ về tài khoản, sổ điểm và đồng bộ.</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Gói nén không phải hệ thống quản lý học tập; dữ liệu tự học không phải sổ điểm chính thức.</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10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3585793" cy="38100"/>
          </a:xfrm>
          <a:prstGeom prst="rect">
            <a:avLst/>
          </a:prstGeom>
          <a:solidFill>
            <a:srgbClr val="F77F00"/>
          </a:solidFill>
          <a:ln w="12700">
            <a:solidFill>
              <a:srgbClr val="F77F00">
                <a:alpha val="0"/>
              </a:srgbClr>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5041431"/>
                <a:gridCol w="5931095"/>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Trong phạm vi hiện vật</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Ngoài phạm vi hiện tại</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Đọc học liệu và tìm kiếm cục bộ</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Tài khoản và đồng bộ qua máy chủ</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Câu hỏi, tiến độ, ghi chú cá nhân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Sổ điểm có danh tính trên máy chủ</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25 vị trí phẳng; 10 bản không gian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Mô phỏng không gian cho mọi vị trí</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Trình đọc tài liệu nội tuyến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Tìm kiếm và chú thích trong tài liệu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Quy trình kiểm và sổ thẩm định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Nghiệm thu học thuật mặc định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9016">
                <a:tc>
                  <a:txBody>
                    <a:bodyPr/>
                    <a:lstStyle/>
                    <a:p>
                      <a:pPr indent="0" marL="0">
                        <a:buNone/>
                      </a:pPr>
                      <a:r>
                        <a:rPr lang="en-US" sz="1800" dirty="0">
                          <a:solidFill>
                            <a:srgbClr val="24364A"/>
                          </a:solidFill>
                          <a:latin typeface="Arial" pitchFamily="34" charset="0"/>
                          <a:ea typeface="Arial" pitchFamily="34" charset="-122"/>
                          <a:cs typeface="Arial" pitchFamily="34" charset="-120"/>
                        </a:rPr>
                        <a:t>Gói trao đổi học liệu thử nghiệm</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Theo dõi hoạt động học theo chuẩn đầy đủ</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TỔNG QUAN</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Kiến trúc năm lớp</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Phân tách giao diện, tải bài, tương tác, nội dung và dữ liệu.</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Phân lớp giúp xác định nơi sửa và kiểm; thay bộ mô phỏng vẫn có thể gây tác động.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11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3944372" cy="38100"/>
          </a:xfrm>
          <a:prstGeom prst="rect">
            <a:avLst/>
          </a:prstGeom>
          <a:solidFill>
            <a:srgbClr val="F77F00"/>
          </a:solidFill>
          <a:ln w="12700">
            <a:solidFill>
              <a:srgbClr val="F77F00">
                <a:alpha val="0"/>
              </a:srgbClr>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1338113"/>
                <a:gridCol w="4951018"/>
                <a:gridCol w="4683395"/>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Lớp</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Thành phần</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Trách nhiệm</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Giao diện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Trang đầu, kiểu trình bày, điều hướng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Hiển thị và lựa chọn cách đọc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Tải bài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Bộ tải và tập nội dung cục bộ</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Tìm bài, nạp nội dung, mở tương tác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Tương tác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Mô phỏng, tài liệu, câu hỏi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Thao tác và giải phóng tài nguyên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Học liệu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Chương, hình và ảnh động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Nội dung học và minh họa</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Dữ liệu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Danh mục và hồ sơ bằng chứng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Cấu trúc, truy vết và thẩm định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Ưu tiên dùng không mạng: cơ chế và bằng chứng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Tài nguyên cục bộ; kết luận gắn với máy và gói đã thử.</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Ngoại tuyến là đặc tính thiết kế; 100% tính năng cần bộ bằng chứng đầy đủ.</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12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4302951"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2208602" y="2324100"/>
            <a:ext cx="4059835" cy="2819400"/>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Không cần xử lý máy chủ</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Đọc và tìm học liệu trong gói</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cục bộ.</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Thư viện cục bộ</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Không bắt buộc tải thư viện từ</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mạng.</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C62828"/>
          </a:solidFill>
          <a:ln w="12700">
            <a:solidFill>
              <a:srgbClr val="C62828">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C62828"/>
                </a:solidFill>
                <a:latin typeface="Arial" pitchFamily="34" charset="0"/>
                <a:ea typeface="Arial" pitchFamily="34" charset="-122"/>
                <a:cs typeface="Arial" pitchFamily="34" charset="-120"/>
              </a:rPr>
              <a:t>Cần kiểm máy đích</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Mở tệp, thiết bị lưu trữ, mạng</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và dự phòng.</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Mô phỏng phẳng và không gian: chiến lược hai tầng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10 bản không gian tăng cường trải nghiệm trên những vị trí phẳng đã có.</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Không cộng 25 + 10 thành 35 bài; bước thời gian 1/60 giây không phải tốc độ khung hình đã đo.</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13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4661531"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1494372" y="2324100"/>
            <a:ext cx="5488295" cy="2819400"/>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25 vị trí phẳng</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Lớp cơ sở; không cần đồ họa</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không gian.</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10 bản không gian</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Tùy chọn thí điểm trên cùng</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bài, không phải 35 bài.</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C62828"/>
          </a:solidFill>
          <a:ln w="12700">
            <a:solidFill>
              <a:srgbClr val="C62828">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C62828"/>
                </a:solidFill>
                <a:latin typeface="Arial" pitchFamily="34" charset="0"/>
                <a:ea typeface="Arial" pitchFamily="34" charset="-122"/>
                <a:cs typeface="Arial" pitchFamily="34" charset="-120"/>
              </a:rPr>
              <a:t>Dự phòng và giới hạn</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Thiếu hỗ trợ thì về bản phẳng;</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nguồn mới cần kiểm lại.</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Sáu tính năng học tập tương tác</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Hỗ trợ tự học; không đồng nhất với quản lý đào tạo có danh tính.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Dữ liệu thuộc trình duyệt; có thể mất hoặc không đi theo thiết bị lưu trữ di động.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14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5020110"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723882" y="2528523"/>
            <a:ext cx="7029274" cy="2410553"/>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Tìm kiếm · Thuật ngữ</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Tìm có dấu/không dấu; tra nghĩa</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ngay trong bài.</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Câu hỏi · Tiến độ</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Chọn chương, trộn câu, lưu lượt</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làm; theo dõi đọc.</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2E7D32"/>
          </a:solidFill>
          <a:ln w="12700">
            <a:solidFill>
              <a:srgbClr val="2E7D32">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2E7D32"/>
                </a:solidFill>
                <a:latin typeface="Arial" pitchFamily="34" charset="0"/>
                <a:ea typeface="Arial" pitchFamily="34" charset="-122"/>
                <a:cs typeface="Arial" pitchFamily="34" charset="-120"/>
              </a:rPr>
              <a:t>Đánh dấu · Ghi chú</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Lưu bài cần xem lại và ghi chú</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trên trình duyệt.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Tài liệu nội tuyến: giữ ngữ cảnh học</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Cửa sổ đọc chuyên dụng thay vì chuyển người học ra khỏi bài.</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Mở tài liệu cần kiểm cả hiển thị lẫn trạng thái khi đóng cửa sổ.</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15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5378689"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2208602" y="2324100"/>
            <a:ext cx="4059835" cy="2819400"/>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Ngữ cảnh</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Thiết kế giữ bài và vị trí điều</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hướng.</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Thao tác</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Chuyển trang, phóng to, tải và</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đóng.</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C62828"/>
          </a:solidFill>
          <a:ln w="12700">
            <a:solidFill>
              <a:srgbClr val="C62828">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C62828"/>
                </a:solidFill>
                <a:latin typeface="Arial" pitchFamily="34" charset="0"/>
                <a:ea typeface="Arial" pitchFamily="34" charset="-122"/>
                <a:cs typeface="Arial" pitchFamily="34" charset="-120"/>
              </a:rPr>
              <a:t>Giới hạn</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Chưa tìm kiếm, ảnh thu nhỏ hay</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chú thích.</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Ảnh động với phương án dự phòng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Dùng ảnh động khi phù hợp, giữ ảnh tĩnh khi cần.</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Có phương án dự phòng không đồng nghĩa mọi ảnh đã qua kiểm tra phát hành.</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16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5737268"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2571686" cy="3505200"/>
          </a:xfrm>
          <a:prstGeom prst="roundRect">
            <a:avLst>
              <a:gd name="adj" fmla="val 3704"/>
            </a:avLst>
          </a:prstGeom>
          <a:solidFill>
            <a:srgbClr val="FFFFFF"/>
          </a:solidFill>
          <a:ln w="7620">
            <a:solidFill>
              <a:srgbClr val="D8E1EB"/>
            </a:solidFill>
            <a:prstDash val="solid"/>
          </a:ln>
        </p:spPr>
      </p:sp>
      <p:sp>
        <p:nvSpPr>
          <p:cNvPr id="15" name="Shape 13"/>
          <p:cNvSpPr/>
          <p:nvPr/>
        </p:nvSpPr>
        <p:spPr>
          <a:xfrm>
            <a:off x="819130" y="2419350"/>
            <a:ext cx="419090" cy="419100"/>
          </a:xfrm>
          <a:prstGeom prst="ellipse">
            <a:avLst/>
          </a:prstGeom>
          <a:solidFill>
            <a:srgbClr val="0B2545"/>
          </a:solidFill>
          <a:ln w="12700">
            <a:solidFill>
              <a:srgbClr val="0B2545">
                <a:alpha val="0"/>
              </a:srgbClr>
            </a:solidFill>
            <a:prstDash val="solid"/>
          </a:ln>
        </p:spPr>
      </p:sp>
      <p:sp>
        <p:nvSpPr>
          <p:cNvPr id="16" name="Text 14"/>
          <p:cNvSpPr txBox="1"/>
          <p:nvPr/>
        </p:nvSpPr>
        <p:spPr>
          <a:xfrm>
            <a:off x="82865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7" name="Text 15"/>
          <p:cNvSpPr txBox="1"/>
          <p:nvPr/>
        </p:nvSpPr>
        <p:spPr>
          <a:xfrm>
            <a:off x="81913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20 ảnh động</a:t>
            </a:r>
            <a:endParaRPr lang="en-US" sz="2000" dirty="0"/>
          </a:p>
        </p:txBody>
      </p:sp>
      <p:sp>
        <p:nvSpPr>
          <p:cNvPr id="18" name="Text 16"/>
          <p:cNvSpPr txBox="1"/>
          <p:nvPr/>
        </p:nvSpPr>
        <p:spPr>
          <a:xfrm>
            <a:off x="81913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Danh mục kiểm</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soát tài nguyên.</a:t>
            </a:r>
            <a:endParaRPr lang="en-US" sz="1800" dirty="0"/>
          </a:p>
        </p:txBody>
      </p:sp>
      <p:sp>
        <p:nvSpPr>
          <p:cNvPr id="19" name="Shape 17"/>
          <p:cNvSpPr/>
          <p:nvPr/>
        </p:nvSpPr>
        <p:spPr>
          <a:xfrm>
            <a:off x="3209845" y="2647950"/>
            <a:ext cx="171446" cy="0"/>
          </a:xfrm>
          <a:prstGeom prst="line">
            <a:avLst/>
          </a:prstGeom>
          <a:noFill/>
          <a:ln w="19050">
            <a:solidFill>
              <a:srgbClr val="F77F00"/>
            </a:solidFill>
            <a:prstDash val="solid"/>
            <a:tailEnd type="triangle"/>
          </a:ln>
        </p:spPr>
      </p:sp>
      <p:sp>
        <p:nvSpPr>
          <p:cNvPr id="20" name="Shape 18"/>
          <p:cNvSpPr/>
          <p:nvPr/>
        </p:nvSpPr>
        <p:spPr>
          <a:xfrm>
            <a:off x="3409865" y="2209800"/>
            <a:ext cx="2571686" cy="3505200"/>
          </a:xfrm>
          <a:prstGeom prst="roundRect">
            <a:avLst>
              <a:gd name="adj" fmla="val 3704"/>
            </a:avLst>
          </a:prstGeom>
          <a:solidFill>
            <a:srgbClr val="FFFFFF"/>
          </a:solidFill>
          <a:ln w="7620">
            <a:solidFill>
              <a:srgbClr val="D8E1EB"/>
            </a:solidFill>
            <a:prstDash val="solid"/>
          </a:ln>
        </p:spPr>
      </p:sp>
      <p:sp>
        <p:nvSpPr>
          <p:cNvPr id="21" name="Shape 19"/>
          <p:cNvSpPr/>
          <p:nvPr/>
        </p:nvSpPr>
        <p:spPr>
          <a:xfrm>
            <a:off x="3619410" y="2419350"/>
            <a:ext cx="419090" cy="419100"/>
          </a:xfrm>
          <a:prstGeom prst="ellipse">
            <a:avLst/>
          </a:prstGeom>
          <a:solidFill>
            <a:srgbClr val="0B2545"/>
          </a:solidFill>
          <a:ln w="12700">
            <a:solidFill>
              <a:srgbClr val="0B2545">
                <a:alpha val="0"/>
              </a:srgbClr>
            </a:solidFill>
            <a:prstDash val="solid"/>
          </a:ln>
        </p:spPr>
      </p:sp>
      <p:sp>
        <p:nvSpPr>
          <p:cNvPr id="22" name="Text 20"/>
          <p:cNvSpPr txBox="1"/>
          <p:nvPr/>
        </p:nvSpPr>
        <p:spPr>
          <a:xfrm>
            <a:off x="362893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23" name="Text 21"/>
          <p:cNvSpPr txBox="1"/>
          <p:nvPr/>
        </p:nvSpPr>
        <p:spPr>
          <a:xfrm>
            <a:off x="361941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Ảnh tĩnh cơ sở</a:t>
            </a:r>
            <a:endParaRPr lang="en-US" sz="2000" dirty="0"/>
          </a:p>
        </p:txBody>
      </p:sp>
      <p:sp>
        <p:nvSpPr>
          <p:cNvPr id="24" name="Text 22"/>
          <p:cNvSpPr txBox="1"/>
          <p:nvPr/>
        </p:nvSpPr>
        <p:spPr>
          <a:xfrm>
            <a:off x="361941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Giữ hình để đọc và</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đối chiếu.</a:t>
            </a:r>
            <a:endParaRPr lang="en-US" sz="1800" dirty="0"/>
          </a:p>
        </p:txBody>
      </p:sp>
      <p:sp>
        <p:nvSpPr>
          <p:cNvPr id="25" name="Shape 23"/>
          <p:cNvSpPr/>
          <p:nvPr/>
        </p:nvSpPr>
        <p:spPr>
          <a:xfrm>
            <a:off x="6010125" y="2647950"/>
            <a:ext cx="171446" cy="0"/>
          </a:xfrm>
          <a:prstGeom prst="line">
            <a:avLst/>
          </a:prstGeom>
          <a:noFill/>
          <a:ln w="19050">
            <a:solidFill>
              <a:srgbClr val="F77F00"/>
            </a:solidFill>
            <a:prstDash val="solid"/>
            <a:tailEnd type="triangle"/>
          </a:ln>
        </p:spPr>
      </p:sp>
      <p:sp>
        <p:nvSpPr>
          <p:cNvPr id="26" name="Shape 24"/>
          <p:cNvSpPr/>
          <p:nvPr/>
        </p:nvSpPr>
        <p:spPr>
          <a:xfrm>
            <a:off x="6210145" y="2209800"/>
            <a:ext cx="2571686" cy="3505200"/>
          </a:xfrm>
          <a:prstGeom prst="roundRect">
            <a:avLst>
              <a:gd name="adj" fmla="val 3704"/>
            </a:avLst>
          </a:prstGeom>
          <a:solidFill>
            <a:srgbClr val="FFFFFF"/>
          </a:solidFill>
          <a:ln w="7620">
            <a:solidFill>
              <a:srgbClr val="D8E1EB"/>
            </a:solidFill>
            <a:prstDash val="solid"/>
          </a:ln>
        </p:spPr>
      </p:sp>
      <p:sp>
        <p:nvSpPr>
          <p:cNvPr id="27" name="Shape 25"/>
          <p:cNvSpPr/>
          <p:nvPr/>
        </p:nvSpPr>
        <p:spPr>
          <a:xfrm>
            <a:off x="6419690" y="2419350"/>
            <a:ext cx="419090" cy="419100"/>
          </a:xfrm>
          <a:prstGeom prst="ellipse">
            <a:avLst/>
          </a:prstGeom>
          <a:solidFill>
            <a:srgbClr val="0B2545"/>
          </a:solidFill>
          <a:ln w="12700">
            <a:solidFill>
              <a:srgbClr val="0B2545">
                <a:alpha val="0"/>
              </a:srgbClr>
            </a:solidFill>
            <a:prstDash val="solid"/>
          </a:ln>
        </p:spPr>
      </p:sp>
      <p:sp>
        <p:nvSpPr>
          <p:cNvPr id="28" name="Text 26"/>
          <p:cNvSpPr txBox="1"/>
          <p:nvPr/>
        </p:nvSpPr>
        <p:spPr>
          <a:xfrm>
            <a:off x="642921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29" name="Text 27"/>
          <p:cNvSpPr txBox="1"/>
          <p:nvPr/>
        </p:nvSpPr>
        <p:spPr>
          <a:xfrm>
            <a:off x="641969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Giảm chuyển</a:t>
            </a:r>
            <a:endParaRPr lang="en-US" sz="2000" dirty="0"/>
          </a:p>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động</a:t>
            </a:r>
            <a:endParaRPr lang="en-US" sz="2000" dirty="0"/>
          </a:p>
        </p:txBody>
      </p:sp>
      <p:sp>
        <p:nvSpPr>
          <p:cNvPr id="30" name="Text 28"/>
          <p:cNvSpPr txBox="1"/>
          <p:nvPr/>
        </p:nvSpPr>
        <p:spPr>
          <a:xfrm>
            <a:off x="641969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Ưu tiên ảnh tĩnh</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theo lựa chọn hệ</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điều hành.</a:t>
            </a:r>
            <a:endParaRPr lang="en-US" sz="1800" dirty="0"/>
          </a:p>
        </p:txBody>
      </p:sp>
      <p:sp>
        <p:nvSpPr>
          <p:cNvPr id="31" name="Shape 29"/>
          <p:cNvSpPr/>
          <p:nvPr/>
        </p:nvSpPr>
        <p:spPr>
          <a:xfrm>
            <a:off x="8810405" y="2647950"/>
            <a:ext cx="171446" cy="0"/>
          </a:xfrm>
          <a:prstGeom prst="line">
            <a:avLst/>
          </a:prstGeom>
          <a:noFill/>
          <a:ln w="19050">
            <a:solidFill>
              <a:srgbClr val="F77F00"/>
            </a:solidFill>
            <a:prstDash val="solid"/>
            <a:tailEnd type="triangle"/>
          </a:ln>
        </p:spPr>
      </p:sp>
      <p:sp>
        <p:nvSpPr>
          <p:cNvPr id="32" name="Shape 30"/>
          <p:cNvSpPr/>
          <p:nvPr/>
        </p:nvSpPr>
        <p:spPr>
          <a:xfrm>
            <a:off x="9010425" y="2209800"/>
            <a:ext cx="2571686" cy="3505200"/>
          </a:xfrm>
          <a:prstGeom prst="roundRect">
            <a:avLst>
              <a:gd name="adj" fmla="val 3704"/>
            </a:avLst>
          </a:prstGeom>
          <a:solidFill>
            <a:srgbClr val="FFFFFF"/>
          </a:solidFill>
          <a:ln w="7620">
            <a:solidFill>
              <a:srgbClr val="D8E1EB"/>
            </a:solidFill>
            <a:prstDash val="solid"/>
          </a:ln>
        </p:spPr>
      </p:sp>
      <p:sp>
        <p:nvSpPr>
          <p:cNvPr id="33" name="Shape 31"/>
          <p:cNvSpPr/>
          <p:nvPr/>
        </p:nvSpPr>
        <p:spPr>
          <a:xfrm>
            <a:off x="9219969" y="2419350"/>
            <a:ext cx="419090" cy="419100"/>
          </a:xfrm>
          <a:prstGeom prst="ellipse">
            <a:avLst/>
          </a:prstGeom>
          <a:solidFill>
            <a:srgbClr val="0B2545"/>
          </a:solidFill>
          <a:ln w="12700">
            <a:solidFill>
              <a:srgbClr val="0B2545">
                <a:alpha val="0"/>
              </a:srgbClr>
            </a:solidFill>
            <a:prstDash val="solid"/>
          </a:ln>
        </p:spPr>
      </p:sp>
      <p:sp>
        <p:nvSpPr>
          <p:cNvPr id="34" name="Text 32"/>
          <p:cNvSpPr txBox="1"/>
          <p:nvPr/>
        </p:nvSpPr>
        <p:spPr>
          <a:xfrm>
            <a:off x="922949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35" name="Text 33"/>
          <p:cNvSpPr txBox="1"/>
          <p:nvPr/>
        </p:nvSpPr>
        <p:spPr>
          <a:xfrm>
            <a:off x="9219969"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Khi ảnh động lỗi</a:t>
            </a:r>
            <a:endParaRPr lang="en-US" sz="2000" dirty="0"/>
          </a:p>
        </p:txBody>
      </p:sp>
      <p:sp>
        <p:nvSpPr>
          <p:cNvPr id="36" name="Text 34"/>
          <p:cNvSpPr txBox="1"/>
          <p:nvPr/>
        </p:nvSpPr>
        <p:spPr>
          <a:xfrm>
            <a:off x="9219969"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Có cơ chế chuyển</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về ảnh tĩnh.</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KIẾN TRÚC VÀ TÍNH NĂNG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Khả năng tiếp cận: nói đúng giới hạn</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Kiểm tự động là một phần; đánh giá thủ công độc lập là phần riêng.</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Ảnh trên điện thoại không thay đánh giá tiếp cận thủ công hoặc xác nhận đạt chuẩn.</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17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6095848"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3586466" y="2324100"/>
            <a:ext cx="1304107" cy="2819400"/>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Cơ chế hỗ trợ</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Vùng đọc rõ, bàn phím, điểm</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chọn và giảm chuyển động.</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Kiểm tự động</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Có kiểm tương phản và sắp xếp</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lại nội dung.</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C62828"/>
          </a:solidFill>
          <a:ln w="12700">
            <a:solidFill>
              <a:srgbClr val="C62828">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C62828"/>
                </a:solidFill>
                <a:latin typeface="Arial" pitchFamily="34" charset="0"/>
                <a:ea typeface="Arial" pitchFamily="34" charset="-122"/>
                <a:cs typeface="Arial" pitchFamily="34" charset="-120"/>
              </a:rPr>
              <a:t>Giới hạn kết luận</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Chưa thể đánh giá thủ công độc</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lập; chưa chứng nhận.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CHẤT LƯỢNG VÀ BẰNG CHỨNG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Kiểm tra chất lượng: tám nhóm, 24 điều kiện</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Khung nhóm để trình bày; không phải bảng tám nhóm đã đạt.</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Sổ 2026-09-25: 11 đạt / 9 chưa đạt / 4 chưa thể đánh giá. Ba lần kiểm ổn định vẫn cần bằng chứng.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18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6454427" cy="38100"/>
          </a:xfrm>
          <a:prstGeom prst="rect">
            <a:avLst/>
          </a:prstGeom>
          <a:solidFill>
            <a:srgbClr val="F77F00"/>
          </a:solidFill>
          <a:ln w="12700">
            <a:solidFill>
              <a:srgbClr val="F77F00">
                <a:alpha val="0"/>
              </a:srgbClr>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4206135"/>
                <a:gridCol w="6766391"/>
              </a:tblGrid>
              <a:tr h="428625">
                <a:tc>
                  <a:txBody>
                    <a:bodyPr/>
                    <a:lstStyle/>
                    <a:p>
                      <a:pPr indent="0" marL="0">
                        <a:buNone/>
                      </a:pPr>
                      <a:r>
                        <a:rPr lang="en-US" sz="1600" b="1" dirty="0">
                          <a:solidFill>
                            <a:srgbClr val="FFFFFF"/>
                          </a:solidFill>
                          <a:latin typeface="Arial" pitchFamily="34" charset="0"/>
                          <a:ea typeface="Arial" pitchFamily="34" charset="-122"/>
                          <a:cs typeface="Arial" pitchFamily="34" charset="-120"/>
                        </a:rPr>
                        <a:t>Nhóm</a:t>
                      </a:r>
                      <a:endParaRPr lang="en-US" sz="16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Nội dung cần kiểm</a:t>
                      </a:r>
                      <a:endParaRPr lang="en-US" sz="16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Nội dung</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Danh mục học liệu và đầu ra</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Học thuật</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Thẩm định và ký duyệt</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Mô phỏng</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Tính đúng và vận hành bản phát hành</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Tiếp cận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Thao tác và khả năng đọc</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Học liệu đa phương tiện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Phạm vi thí điểm và tài nguyên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Liên thông học tập</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Trao đổi với hệ thống quản lý học tập</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Tài liệu</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Trình đọc trên bản phát hành</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384572">
                <a:tc>
                  <a:txBody>
                    <a:bodyPr/>
                    <a:lstStyle/>
                    <a:p>
                      <a:pPr indent="0" marL="0">
                        <a:buNone/>
                      </a:pPr>
                      <a:r>
                        <a:rPr lang="en-US" sz="1600" dirty="0">
                          <a:solidFill>
                            <a:srgbClr val="24364A"/>
                          </a:solidFill>
                          <a:latin typeface="Arial" pitchFamily="34" charset="0"/>
                          <a:ea typeface="Arial" pitchFamily="34" charset="-122"/>
                          <a:cs typeface="Arial" pitchFamily="34" charset="-120"/>
                        </a:rPr>
                        <a:t>Phát hành</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600" dirty="0">
                          <a:solidFill>
                            <a:srgbClr val="24364A"/>
                          </a:solidFill>
                          <a:latin typeface="Arial" pitchFamily="34" charset="0"/>
                          <a:ea typeface="Arial" pitchFamily="34" charset="-122"/>
                          <a:cs typeface="Arial" pitchFamily="34" charset="-120"/>
                        </a:rPr>
                        <a:t>Gói bàn giao và điều kiện chấp nhận</a:t>
                      </a:r>
                      <a:endParaRPr lang="en-US" sz="16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CHẤT LƯỢNG VÀ BẰNG CHỨNG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Thẩm định học thuật: chuỗi truy vết</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Yêu cầu → mục tiêu học tập → học liệu → kiểm chứng → ký duyệt.</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Sổ thẩm định 836.233 byte; 0 bản ký — dữ liệu không thay phê duyệt.</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19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6813006"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2571686" cy="3505200"/>
          </a:xfrm>
          <a:prstGeom prst="roundRect">
            <a:avLst>
              <a:gd name="adj" fmla="val 3704"/>
            </a:avLst>
          </a:prstGeom>
          <a:solidFill>
            <a:srgbClr val="FFFFFF"/>
          </a:solidFill>
          <a:ln w="7620">
            <a:solidFill>
              <a:srgbClr val="D8E1EB"/>
            </a:solidFill>
            <a:prstDash val="solid"/>
          </a:ln>
        </p:spPr>
      </p:sp>
      <p:sp>
        <p:nvSpPr>
          <p:cNvPr id="15" name="Shape 13"/>
          <p:cNvSpPr/>
          <p:nvPr/>
        </p:nvSpPr>
        <p:spPr>
          <a:xfrm>
            <a:off x="819130" y="2419350"/>
            <a:ext cx="419090" cy="419100"/>
          </a:xfrm>
          <a:prstGeom prst="ellipse">
            <a:avLst/>
          </a:prstGeom>
          <a:solidFill>
            <a:srgbClr val="0B2545"/>
          </a:solidFill>
          <a:ln w="12700">
            <a:solidFill>
              <a:srgbClr val="0B2545">
                <a:alpha val="0"/>
              </a:srgbClr>
            </a:solidFill>
            <a:prstDash val="solid"/>
          </a:ln>
        </p:spPr>
      </p:sp>
      <p:sp>
        <p:nvSpPr>
          <p:cNvPr id="16" name="Text 14"/>
          <p:cNvSpPr txBox="1"/>
          <p:nvPr/>
        </p:nvSpPr>
        <p:spPr>
          <a:xfrm>
            <a:off x="82865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7" name="Text 15"/>
          <p:cNvSpPr txBox="1"/>
          <p:nvPr/>
        </p:nvSpPr>
        <p:spPr>
          <a:xfrm>
            <a:off x="81913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Yêu cầu</a:t>
            </a:r>
            <a:endParaRPr lang="en-US" sz="2000" dirty="0"/>
          </a:p>
        </p:txBody>
      </p:sp>
      <p:sp>
        <p:nvSpPr>
          <p:cNvPr id="18" name="Text 16"/>
          <p:cNvSpPr txBox="1"/>
          <p:nvPr/>
        </p:nvSpPr>
        <p:spPr>
          <a:xfrm>
            <a:off x="81913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Nguồn quy cách và</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căn cứ đào tạo.</a:t>
            </a:r>
            <a:endParaRPr lang="en-US" sz="1800" dirty="0"/>
          </a:p>
        </p:txBody>
      </p:sp>
      <p:sp>
        <p:nvSpPr>
          <p:cNvPr id="19" name="Shape 17"/>
          <p:cNvSpPr/>
          <p:nvPr/>
        </p:nvSpPr>
        <p:spPr>
          <a:xfrm>
            <a:off x="3209845" y="2647950"/>
            <a:ext cx="171446" cy="0"/>
          </a:xfrm>
          <a:prstGeom prst="line">
            <a:avLst/>
          </a:prstGeom>
          <a:noFill/>
          <a:ln w="19050">
            <a:solidFill>
              <a:srgbClr val="F77F00"/>
            </a:solidFill>
            <a:prstDash val="solid"/>
            <a:tailEnd type="triangle"/>
          </a:ln>
        </p:spPr>
      </p:sp>
      <p:sp>
        <p:nvSpPr>
          <p:cNvPr id="20" name="Shape 18"/>
          <p:cNvSpPr/>
          <p:nvPr/>
        </p:nvSpPr>
        <p:spPr>
          <a:xfrm>
            <a:off x="3409865" y="2209800"/>
            <a:ext cx="2571686" cy="3505200"/>
          </a:xfrm>
          <a:prstGeom prst="roundRect">
            <a:avLst>
              <a:gd name="adj" fmla="val 3704"/>
            </a:avLst>
          </a:prstGeom>
          <a:solidFill>
            <a:srgbClr val="FFFFFF"/>
          </a:solidFill>
          <a:ln w="7620">
            <a:solidFill>
              <a:srgbClr val="D8E1EB"/>
            </a:solidFill>
            <a:prstDash val="solid"/>
          </a:ln>
        </p:spPr>
      </p:sp>
      <p:sp>
        <p:nvSpPr>
          <p:cNvPr id="21" name="Shape 19"/>
          <p:cNvSpPr/>
          <p:nvPr/>
        </p:nvSpPr>
        <p:spPr>
          <a:xfrm>
            <a:off x="3619410" y="2419350"/>
            <a:ext cx="419090" cy="419100"/>
          </a:xfrm>
          <a:prstGeom prst="ellipse">
            <a:avLst/>
          </a:prstGeom>
          <a:solidFill>
            <a:srgbClr val="0B2545"/>
          </a:solidFill>
          <a:ln w="12700">
            <a:solidFill>
              <a:srgbClr val="0B2545">
                <a:alpha val="0"/>
              </a:srgbClr>
            </a:solidFill>
            <a:prstDash val="solid"/>
          </a:ln>
        </p:spPr>
      </p:sp>
      <p:sp>
        <p:nvSpPr>
          <p:cNvPr id="22" name="Text 20"/>
          <p:cNvSpPr txBox="1"/>
          <p:nvPr/>
        </p:nvSpPr>
        <p:spPr>
          <a:xfrm>
            <a:off x="362893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23" name="Text 21"/>
          <p:cNvSpPr txBox="1"/>
          <p:nvPr/>
        </p:nvSpPr>
        <p:spPr>
          <a:xfrm>
            <a:off x="361941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Mục tiêu học tập</a:t>
            </a:r>
            <a:endParaRPr lang="en-US" sz="2000" dirty="0"/>
          </a:p>
        </p:txBody>
      </p:sp>
      <p:sp>
        <p:nvSpPr>
          <p:cNvPr id="24" name="Text 22"/>
          <p:cNvSpPr txBox="1"/>
          <p:nvPr/>
        </p:nvSpPr>
        <p:spPr>
          <a:xfrm>
            <a:off x="361941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Có trạng thái thẩm</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định.</a:t>
            </a:r>
            <a:endParaRPr lang="en-US" sz="1800" dirty="0"/>
          </a:p>
        </p:txBody>
      </p:sp>
      <p:sp>
        <p:nvSpPr>
          <p:cNvPr id="25" name="Shape 23"/>
          <p:cNvSpPr/>
          <p:nvPr/>
        </p:nvSpPr>
        <p:spPr>
          <a:xfrm>
            <a:off x="6010125" y="2647950"/>
            <a:ext cx="171446" cy="0"/>
          </a:xfrm>
          <a:prstGeom prst="line">
            <a:avLst/>
          </a:prstGeom>
          <a:noFill/>
          <a:ln w="19050">
            <a:solidFill>
              <a:srgbClr val="F77F00"/>
            </a:solidFill>
            <a:prstDash val="solid"/>
            <a:tailEnd type="triangle"/>
          </a:ln>
        </p:spPr>
      </p:sp>
      <p:sp>
        <p:nvSpPr>
          <p:cNvPr id="26" name="Shape 24"/>
          <p:cNvSpPr/>
          <p:nvPr/>
        </p:nvSpPr>
        <p:spPr>
          <a:xfrm>
            <a:off x="6210145" y="2209800"/>
            <a:ext cx="2571686" cy="3505200"/>
          </a:xfrm>
          <a:prstGeom prst="roundRect">
            <a:avLst>
              <a:gd name="adj" fmla="val 3704"/>
            </a:avLst>
          </a:prstGeom>
          <a:solidFill>
            <a:srgbClr val="FFFFFF"/>
          </a:solidFill>
          <a:ln w="7620">
            <a:solidFill>
              <a:srgbClr val="D8E1EB"/>
            </a:solidFill>
            <a:prstDash val="solid"/>
          </a:ln>
        </p:spPr>
      </p:sp>
      <p:sp>
        <p:nvSpPr>
          <p:cNvPr id="27" name="Shape 25"/>
          <p:cNvSpPr/>
          <p:nvPr/>
        </p:nvSpPr>
        <p:spPr>
          <a:xfrm>
            <a:off x="6419690" y="2419350"/>
            <a:ext cx="419090" cy="419100"/>
          </a:xfrm>
          <a:prstGeom prst="ellipse">
            <a:avLst/>
          </a:prstGeom>
          <a:solidFill>
            <a:srgbClr val="0B2545"/>
          </a:solidFill>
          <a:ln w="12700">
            <a:solidFill>
              <a:srgbClr val="0B2545">
                <a:alpha val="0"/>
              </a:srgbClr>
            </a:solidFill>
            <a:prstDash val="solid"/>
          </a:ln>
        </p:spPr>
      </p:sp>
      <p:sp>
        <p:nvSpPr>
          <p:cNvPr id="28" name="Text 26"/>
          <p:cNvSpPr txBox="1"/>
          <p:nvPr/>
        </p:nvSpPr>
        <p:spPr>
          <a:xfrm>
            <a:off x="642921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29" name="Text 27"/>
          <p:cNvSpPr txBox="1"/>
          <p:nvPr/>
        </p:nvSpPr>
        <p:spPr>
          <a:xfrm>
            <a:off x="6419690"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Hiện vật</a:t>
            </a:r>
            <a:endParaRPr lang="en-US" sz="2000" dirty="0"/>
          </a:p>
        </p:txBody>
      </p:sp>
      <p:sp>
        <p:nvSpPr>
          <p:cNvPr id="30" name="Text 28"/>
          <p:cNvSpPr txBox="1"/>
          <p:nvPr/>
        </p:nvSpPr>
        <p:spPr>
          <a:xfrm>
            <a:off x="6419690"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Nội dung, câu hỏi và</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mô phỏng.</a:t>
            </a:r>
            <a:endParaRPr lang="en-US" sz="1800" dirty="0"/>
          </a:p>
        </p:txBody>
      </p:sp>
      <p:sp>
        <p:nvSpPr>
          <p:cNvPr id="31" name="Shape 29"/>
          <p:cNvSpPr/>
          <p:nvPr/>
        </p:nvSpPr>
        <p:spPr>
          <a:xfrm>
            <a:off x="8810405" y="2647950"/>
            <a:ext cx="171446" cy="0"/>
          </a:xfrm>
          <a:prstGeom prst="line">
            <a:avLst/>
          </a:prstGeom>
          <a:noFill/>
          <a:ln w="19050">
            <a:solidFill>
              <a:srgbClr val="F77F00"/>
            </a:solidFill>
            <a:prstDash val="solid"/>
            <a:tailEnd type="triangle"/>
          </a:ln>
        </p:spPr>
      </p:sp>
      <p:sp>
        <p:nvSpPr>
          <p:cNvPr id="32" name="Shape 30"/>
          <p:cNvSpPr/>
          <p:nvPr/>
        </p:nvSpPr>
        <p:spPr>
          <a:xfrm>
            <a:off x="9010425" y="2209800"/>
            <a:ext cx="2571686" cy="3505200"/>
          </a:xfrm>
          <a:prstGeom prst="roundRect">
            <a:avLst>
              <a:gd name="adj" fmla="val 3704"/>
            </a:avLst>
          </a:prstGeom>
          <a:solidFill>
            <a:srgbClr val="FFFFFF"/>
          </a:solidFill>
          <a:ln w="7620">
            <a:solidFill>
              <a:srgbClr val="D8E1EB"/>
            </a:solidFill>
            <a:prstDash val="solid"/>
          </a:ln>
        </p:spPr>
      </p:sp>
      <p:sp>
        <p:nvSpPr>
          <p:cNvPr id="33" name="Shape 31"/>
          <p:cNvSpPr/>
          <p:nvPr/>
        </p:nvSpPr>
        <p:spPr>
          <a:xfrm>
            <a:off x="9219969" y="2419350"/>
            <a:ext cx="419090" cy="419100"/>
          </a:xfrm>
          <a:prstGeom prst="ellipse">
            <a:avLst/>
          </a:prstGeom>
          <a:solidFill>
            <a:srgbClr val="0B2545"/>
          </a:solidFill>
          <a:ln w="12700">
            <a:solidFill>
              <a:srgbClr val="0B2545">
                <a:alpha val="0"/>
              </a:srgbClr>
            </a:solidFill>
            <a:prstDash val="solid"/>
          </a:ln>
        </p:spPr>
      </p:sp>
      <p:sp>
        <p:nvSpPr>
          <p:cNvPr id="34" name="Text 32"/>
          <p:cNvSpPr txBox="1"/>
          <p:nvPr/>
        </p:nvSpPr>
        <p:spPr>
          <a:xfrm>
            <a:off x="9229494" y="2495550"/>
            <a:ext cx="400040" cy="257175"/>
          </a:xfrm>
          <a:prstGeom prst="rect">
            <a:avLst/>
          </a:prstGeom>
          <a:noFill/>
          <a:ln/>
        </p:spPr>
        <p:txBody>
          <a:bodyPr wrap="square" lIns="0" tIns="0" rIns="0" bIns="0" rtlCol="0" anchor="t"/>
          <a:lstStyle/>
          <a:p>
            <a:pPr algn="ctr" indent="0" marL="0">
              <a:lnSpc>
                <a:spcPct val="114000"/>
              </a:lnSpc>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35" name="Text 33"/>
          <p:cNvSpPr txBox="1"/>
          <p:nvPr/>
        </p:nvSpPr>
        <p:spPr>
          <a:xfrm>
            <a:off x="9219969" y="3076575"/>
            <a:ext cx="2152596" cy="714375"/>
          </a:xfrm>
          <a:prstGeom prst="rect">
            <a:avLst/>
          </a:prstGeom>
          <a:noFill/>
          <a:ln/>
        </p:spPr>
        <p:txBody>
          <a:bodyPr wrap="square" lIns="0" tIns="0" rIns="0" bIns="0" rtlCol="0" anchor="t"/>
          <a:lstStyle/>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Thẩm định và ký</a:t>
            </a:r>
            <a:endParaRPr lang="en-US" sz="2000" dirty="0"/>
          </a:p>
          <a:p>
            <a:pPr algn="l" indent="0" marL="0">
              <a:lnSpc>
                <a:spcPct val="114000"/>
              </a:lnSpc>
              <a:buNone/>
            </a:pPr>
            <a:r>
              <a:rPr lang="en-US" sz="2000" b="1" dirty="0">
                <a:solidFill>
                  <a:srgbClr val="0B2545"/>
                </a:solidFill>
                <a:latin typeface="Arial" pitchFamily="34" charset="0"/>
                <a:ea typeface="Arial" pitchFamily="34" charset="-122"/>
                <a:cs typeface="Arial" pitchFamily="34" charset="-120"/>
              </a:rPr>
              <a:t>duyệt</a:t>
            </a:r>
            <a:endParaRPr lang="en-US" sz="2000" dirty="0"/>
          </a:p>
        </p:txBody>
      </p:sp>
      <p:sp>
        <p:nvSpPr>
          <p:cNvPr id="36" name="Text 34"/>
          <p:cNvSpPr txBox="1"/>
          <p:nvPr/>
        </p:nvSpPr>
        <p:spPr>
          <a:xfrm>
            <a:off x="9219969" y="3914775"/>
            <a:ext cx="2152596" cy="158115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Người có thẩm</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quyền xác nhận.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CHẤT LƯỢNG VÀ BẰNG CHỨNG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Phát hành: tái tạo và xác minh</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Gói đề nghị lịch sử khác với mã nguồn đang thay đổi.</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Dấu kiểm tra xác nhận đúng tệp, không xác nhận học thuật hoặc mã mới đã đạt.</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20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7171585"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Gói ngày 02/09/2026</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372 tệp; gói nén 78,74 triệu</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byte.</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2E7D32"/>
          </a:solidFill>
          <a:ln w="12700">
            <a:solidFill>
              <a:srgbClr val="2E7D32">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Dấu kiểm tra tệp</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Đã đối chiếu gói nén với hồ</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sơ.</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C62828"/>
          </a:solidFill>
          <a:ln w="12700">
            <a:solidFill>
              <a:srgbClr val="C62828">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C62828"/>
                </a:solidFill>
                <a:latin typeface="Arial" pitchFamily="34" charset="0"/>
                <a:ea typeface="Arial" pitchFamily="34" charset="-122"/>
                <a:cs typeface="Arial" pitchFamily="34" charset="-120"/>
              </a:rPr>
              <a:t>Chưa chấp nhận cuối</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Còn chưa đạt và chưa thể</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thẩm định.</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CHẤT LƯỢNG VÀ BẰNG CHỨNG</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Tuyên bố nào, bằng chứng đó</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Không dùng đường dẫn giả hoặc số đếm suy diễn.</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Lưu đường dẫn và dấu kiểm tra trong ghi chú để hội đồng truy lại.</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21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7530165" cy="38100"/>
          </a:xfrm>
          <a:prstGeom prst="rect">
            <a:avLst/>
          </a:prstGeom>
          <a:solidFill>
            <a:srgbClr val="F77F00"/>
          </a:solidFill>
          <a:ln w="12700">
            <a:solidFill>
              <a:srgbClr val="F77F00">
                <a:alpha val="0"/>
              </a:srgbClr>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6684412"/>
                <a:gridCol w="4288113"/>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Tuyên bố</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Nguồn kiểm chứng</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372 tệp gói đề nghị</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Số tệp trong báo cáo đóng gói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Dấu kiểm tra gói nén khớp</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Đối chiếu tệp với hồ sơ phát hành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25 vị trí mô phỏng phẳng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Danh mục mô phỏng phẳng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10 bản không gian bổ sung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Danh mục mô phỏng không gian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24 điều kiện: 11 đạt, 9 chưa đạt, 4 chưa thể đánh giá</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Sổ kết quả kiểm tra lịch sử</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Nguồn mới chưa xác minh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Hồ sơ chờ kiểm lại mô phỏng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36299">
                <a:tc>
                  <a:txBody>
                    <a:bodyPr/>
                    <a:lstStyle/>
                    <a:p>
                      <a:pPr indent="0" marL="0">
                        <a:buNone/>
                      </a:pPr>
                      <a:r>
                        <a:rPr lang="en-US" sz="1800" dirty="0">
                          <a:solidFill>
                            <a:srgbClr val="24364A"/>
                          </a:solidFill>
                          <a:latin typeface="Arial" pitchFamily="34" charset="0"/>
                          <a:ea typeface="Arial" pitchFamily="34" charset="-122"/>
                          <a:cs typeface="Arial" pitchFamily="34" charset="-120"/>
                        </a:rPr>
                        <a:t>Ký duyệt học thuật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Sổ ký duyệt và điều kiện thẩm định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SO SÁNH VÀ ĐÁNH GIÁ</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So sánh theo điều kiện triển khai</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Giải pháp phục vụ mục đích khác nhau; không có lựa chọn tốt nhất tuyệt đối.</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Lợi thế là phân phối cục bộ; không tuyên bố giải pháp khác thiếu ngoại tuyến hay kiểm chất lượng.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22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7888744" cy="38100"/>
          </a:xfrm>
          <a:prstGeom prst="rect">
            <a:avLst/>
          </a:prstGeom>
          <a:solidFill>
            <a:srgbClr val="F77F00"/>
          </a:solidFill>
          <a:ln w="12700">
            <a:solidFill>
              <a:srgbClr val="F77F00">
                <a:alpha val="0"/>
              </a:srgbClr>
            </a:solidFill>
            <a:prstDash val="solid"/>
          </a:ln>
        </p:spPr>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1732504"/>
                <a:gridCol w="2194505"/>
                <a:gridCol w="2772006"/>
                <a:gridCol w="2541006"/>
                <a:gridCol w="1732504"/>
              </a:tblGrid>
              <a:tr h="697230">
                <a:tc>
                  <a:txBody>
                    <a:bodyPr/>
                    <a:lstStyle/>
                    <a:p>
                      <a:pPr indent="0" marL="0">
                        <a:buNone/>
                      </a:pPr>
                      <a:r>
                        <a:rPr lang="en-US" sz="1750" b="1" dirty="0">
                          <a:solidFill>
                            <a:srgbClr val="FFFFFF"/>
                          </a:solidFill>
                          <a:latin typeface="Arial" pitchFamily="34" charset="0"/>
                          <a:ea typeface="Arial" pitchFamily="34" charset="-122"/>
                          <a:cs typeface="Arial" pitchFamily="34" charset="-120"/>
                        </a:rPr>
                        <a:t>Tiêu chí</a:t>
                      </a:r>
                      <a:endParaRPr lang="en-US" sz="175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750" b="1" dirty="0">
                          <a:solidFill>
                            <a:srgbClr val="FFFFFF"/>
                          </a:solidFill>
                          <a:latin typeface="Arial" pitchFamily="34" charset="0"/>
                          <a:ea typeface="Arial" pitchFamily="34" charset="-122"/>
                          <a:cs typeface="Arial" pitchFamily="34" charset="-120"/>
                        </a:rPr>
                        <a:t>Giáo trình này</a:t>
                      </a:r>
                      <a:endParaRPr lang="en-US" sz="175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750" b="1" dirty="0">
                          <a:solidFill>
                            <a:srgbClr val="FFFFFF"/>
                          </a:solidFill>
                          <a:latin typeface="Arial" pitchFamily="34" charset="0"/>
                          <a:ea typeface="Arial" pitchFamily="34" charset="-122"/>
                          <a:cs typeface="Arial" pitchFamily="34" charset="-120"/>
                        </a:rPr>
                        <a:t>Hệ thống quản lý học</a:t>
                      </a:r>
                      <a:endParaRPr lang="en-US" sz="1750" dirty="0">
                        <a:latin typeface="Arial" charset="0"/>
                        <a:ea typeface="Arial" charset="0"/>
                        <a:cs typeface="Arial" charset="0"/>
                      </a:endParaRPr>
                    </a:p>
                    <a:p>
                      <a:pPr indent="0" marL="0">
                        <a:buNone/>
                      </a:pPr>
                      <a:r>
                        <a:rPr lang="en-US" sz="1750" b="1" dirty="0">
                          <a:solidFill>
                            <a:srgbClr val="FFFFFF"/>
                          </a:solidFill>
                          <a:latin typeface="Arial" pitchFamily="34" charset="0"/>
                          <a:ea typeface="Arial" pitchFamily="34" charset="-122"/>
                          <a:cs typeface="Arial" pitchFamily="34" charset="-120"/>
                        </a:rPr>
                        <a:t>tập</a:t>
                      </a:r>
                      <a:endParaRPr lang="en-US" sz="175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750" b="1" dirty="0">
                          <a:solidFill>
                            <a:srgbClr val="FFFFFF"/>
                          </a:solidFill>
                          <a:latin typeface="Arial" pitchFamily="34" charset="0"/>
                          <a:ea typeface="Arial" pitchFamily="34" charset="-122"/>
                          <a:cs typeface="Arial" pitchFamily="34" charset="-120"/>
                        </a:rPr>
                        <a:t>Lớp học trực tuyến</a:t>
                      </a:r>
                      <a:endParaRPr lang="en-US" sz="175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750" b="1" dirty="0">
                          <a:solidFill>
                            <a:srgbClr val="FFFFFF"/>
                          </a:solidFill>
                          <a:latin typeface="Arial" pitchFamily="34" charset="0"/>
                          <a:ea typeface="Arial" pitchFamily="34" charset="-122"/>
                          <a:cs typeface="Arial" pitchFamily="34" charset="-120"/>
                        </a:rPr>
                        <a:t>Bản giấy</a:t>
                      </a:r>
                      <a:endParaRPr lang="en-US" sz="175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460248">
                <a:tc>
                  <a:txBody>
                    <a:bodyPr/>
                    <a:lstStyle/>
                    <a:p>
                      <a:pPr indent="0" marL="0">
                        <a:buNone/>
                      </a:pPr>
                      <a:r>
                        <a:rPr lang="en-US" sz="1750" dirty="0">
                          <a:solidFill>
                            <a:srgbClr val="24364A"/>
                          </a:solidFill>
                          <a:latin typeface="Arial" pitchFamily="34" charset="0"/>
                          <a:ea typeface="Arial" pitchFamily="34" charset="-122"/>
                          <a:cs typeface="Arial" pitchFamily="34" charset="-120"/>
                        </a:rPr>
                        <a:t>Ngoại tuyến</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Gói cục bộ</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Ứng dụng có điều kiện</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Tệp tải trước</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Có</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60248">
                <a:tc>
                  <a:txBody>
                    <a:bodyPr/>
                    <a:lstStyle/>
                    <a:p>
                      <a:pPr indent="0" marL="0">
                        <a:buNone/>
                      </a:pPr>
                      <a:r>
                        <a:rPr lang="en-US" sz="1750" dirty="0">
                          <a:solidFill>
                            <a:srgbClr val="24364A"/>
                          </a:solidFill>
                          <a:latin typeface="Arial" pitchFamily="34" charset="0"/>
                          <a:ea typeface="Arial" pitchFamily="34" charset="-122"/>
                          <a:cs typeface="Arial" pitchFamily="34" charset="-120"/>
                        </a:rPr>
                        <a:t>Hạ tầng</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Máy đọc</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Trang mạng và máy chủ</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Dịch vụ trực tuyến</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In, lưu trữ</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713613">
                <a:tc>
                  <a:txBody>
                    <a:bodyPr/>
                    <a:lstStyle/>
                    <a:p>
                      <a:pPr indent="0" marL="0">
                        <a:buNone/>
                      </a:pPr>
                      <a:r>
                        <a:rPr lang="en-US" sz="1750" dirty="0">
                          <a:solidFill>
                            <a:srgbClr val="24364A"/>
                          </a:solidFill>
                          <a:latin typeface="Arial" pitchFamily="34" charset="0"/>
                          <a:ea typeface="Arial" pitchFamily="34" charset="-122"/>
                          <a:cs typeface="Arial" pitchFamily="34" charset="-120"/>
                        </a:rPr>
                        <a:t>Danh tính,</a:t>
                      </a:r>
                      <a:endParaRPr lang="en-US" sz="1750" dirty="0">
                        <a:latin typeface="Arial" charset="0"/>
                        <a:ea typeface="Arial" charset="0"/>
                        <a:cs typeface="Arial" charset="0"/>
                      </a:endParaRPr>
                    </a:p>
                    <a:p>
                      <a:pPr indent="0" marL="0">
                        <a:buNone/>
                      </a:pPr>
                      <a:r>
                        <a:rPr lang="en-US" sz="1750" dirty="0">
                          <a:solidFill>
                            <a:srgbClr val="24364A"/>
                          </a:solidFill>
                          <a:latin typeface="Arial" pitchFamily="34" charset="0"/>
                          <a:ea typeface="Arial" pitchFamily="34" charset="-122"/>
                          <a:cs typeface="Arial" pitchFamily="34" charset="-120"/>
                        </a:rPr>
                        <a:t>điểm</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Không máy chủ</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Có quản lý tập trung</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Có nền tảng</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Quản lý riêng</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713613">
                <a:tc>
                  <a:txBody>
                    <a:bodyPr/>
                    <a:lstStyle/>
                    <a:p>
                      <a:pPr indent="0" marL="0">
                        <a:buNone/>
                      </a:pPr>
                      <a:r>
                        <a:rPr lang="en-US" sz="1750" dirty="0">
                          <a:solidFill>
                            <a:srgbClr val="24364A"/>
                          </a:solidFill>
                          <a:latin typeface="Arial" pitchFamily="34" charset="0"/>
                          <a:ea typeface="Arial" pitchFamily="34" charset="-122"/>
                          <a:cs typeface="Arial" pitchFamily="34" charset="-120"/>
                        </a:rPr>
                        <a:t>Mô phỏng</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Phẳng và không</a:t>
                      </a:r>
                      <a:endParaRPr lang="en-US" sz="1750" dirty="0">
                        <a:latin typeface="Arial" charset="0"/>
                        <a:ea typeface="Arial" charset="0"/>
                        <a:cs typeface="Arial" charset="0"/>
                      </a:endParaRPr>
                    </a:p>
                    <a:p>
                      <a:pPr indent="0" marL="0">
                        <a:buNone/>
                      </a:pPr>
                      <a:r>
                        <a:rPr lang="en-US" sz="1750" dirty="0">
                          <a:solidFill>
                            <a:srgbClr val="24364A"/>
                          </a:solidFill>
                          <a:latin typeface="Arial" pitchFamily="34" charset="0"/>
                          <a:ea typeface="Arial" pitchFamily="34" charset="-122"/>
                          <a:cs typeface="Arial" pitchFamily="34" charset="-120"/>
                        </a:rPr>
                        <a:t>gian</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Tích hợp học liệu</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Tích hợp hoặc liên kết</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Không trực</a:t>
                      </a:r>
                      <a:endParaRPr lang="en-US" sz="1750" dirty="0">
                        <a:latin typeface="Arial" charset="0"/>
                        <a:ea typeface="Arial" charset="0"/>
                        <a:cs typeface="Arial" charset="0"/>
                      </a:endParaRPr>
                    </a:p>
                    <a:p>
                      <a:pPr indent="0" marL="0">
                        <a:buNone/>
                      </a:pPr>
                      <a:r>
                        <a:rPr lang="en-US" sz="1750" dirty="0">
                          <a:solidFill>
                            <a:srgbClr val="24364A"/>
                          </a:solidFill>
                          <a:latin typeface="Arial" pitchFamily="34" charset="0"/>
                          <a:ea typeface="Arial" pitchFamily="34" charset="-122"/>
                          <a:cs typeface="Arial" pitchFamily="34" charset="-120"/>
                        </a:rPr>
                        <a:t>tiếp</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60248">
                <a:tc>
                  <a:txBody>
                    <a:bodyPr/>
                    <a:lstStyle/>
                    <a:p>
                      <a:pPr indent="0" marL="0">
                        <a:buNone/>
                      </a:pPr>
                      <a:r>
                        <a:rPr lang="en-US" sz="1750" dirty="0">
                          <a:solidFill>
                            <a:srgbClr val="24364A"/>
                          </a:solidFill>
                          <a:latin typeface="Arial" pitchFamily="34" charset="0"/>
                          <a:ea typeface="Arial" pitchFamily="34" charset="-122"/>
                          <a:cs typeface="Arial" pitchFamily="34" charset="-120"/>
                        </a:rPr>
                        <a:t>Chi phí</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Cần bảo trì</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Cần vận hành</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Tùy dịch vụ</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750" dirty="0">
                          <a:solidFill>
                            <a:srgbClr val="24364A"/>
                          </a:solidFill>
                          <a:latin typeface="Arial" pitchFamily="34" charset="0"/>
                          <a:ea typeface="Arial" pitchFamily="34" charset="-122"/>
                          <a:cs typeface="Arial" pitchFamily="34" charset="-120"/>
                        </a:rPr>
                        <a:t>Cần in ấn</a:t>
                      </a:r>
                      <a:endParaRPr lang="en-US" sz="175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SO SÁNH VÀ ĐÁNH GIÁ</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Mười điểm mạnh, ba nhóm</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Điểm mạnh thiết kế được phân biệt với kết quả thẩm định.</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Cơ chế tạo nền tảng kiểm soát chất lượng, không thay kết quả kiểm tra.</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23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8247323"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Kỹ thuật — 4</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Ngoại tuyến; phân lớp; tạo</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học liệu; hai tầng mô phỏng.</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Học thuật — 3</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Khung kiểm chất lượng; truy</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vết; sổ thẩm định.</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Người dùng — 3</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Tiếp cận; tài liệu giữ ngữ</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cảnh; ảnh tĩnh dự phòng.</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SO SÁNH VÀ ĐÁNH GIÁ</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Hạn chế theo mức ảnh hưởng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Ưu tiên chấp nhận học thuật và tính đúng của bản nguồn trước mở rộng.</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Nguồn mô phỏng mới còn chờ kiểm lại; mức ảnh hưởng là đánh giá đề xuất.</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24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8605902"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C62828"/>
          </a:solidFill>
          <a:ln w="12700">
            <a:solidFill>
              <a:srgbClr val="C62828">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C62828"/>
                </a:solidFill>
                <a:latin typeface="Arial" pitchFamily="34" charset="0"/>
                <a:ea typeface="Arial" pitchFamily="34" charset="-122"/>
                <a:cs typeface="Arial" pitchFamily="34" charset="-120"/>
              </a:rPr>
              <a:t>Cao — 2</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Chưa ký duyệt học thuật;</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chưa chạy hệ thống học tập</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đích.</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Trung bình — 4</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Nguồn biên soạn; công cụ</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kiểm; không gian thí điểm;</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tài liệu.</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Thấp — 2</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Nội dung 1.411.022 byte;</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một số mục Chương 3 đã</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loại.</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SO SÁNH VÀ ĐÁNH GIÁ</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Năm rủi ro và cách xử lý</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Ước lượng định tính để ưu tiên; chưa có dữ liệu xác suất.</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Biện pháp dự kiến không phải tính năng đã có; chưa xác nhận xuất và nhập dữ liệu tự học.</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25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8964482" cy="38100"/>
          </a:xfrm>
          <a:prstGeom prst="rect">
            <a:avLst/>
          </a:prstGeom>
          <a:solidFill>
            <a:srgbClr val="F77F00"/>
          </a:solidFill>
          <a:ln w="12700">
            <a:solidFill>
              <a:srgbClr val="F77F00">
                <a:alpha val="0"/>
              </a:srgbClr>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3358936"/>
                <a:gridCol w="3358936"/>
                <a:gridCol w="4254653"/>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Rủi ro</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Ảnh hưởng</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Biện pháp</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506578">
                <a:tc>
                  <a:txBody>
                    <a:bodyPr/>
                    <a:lstStyle/>
                    <a:p>
                      <a:pPr indent="0" marL="0">
                        <a:buNone/>
                      </a:pPr>
                      <a:r>
                        <a:rPr lang="en-US" sz="1800" dirty="0">
                          <a:solidFill>
                            <a:srgbClr val="24364A"/>
                          </a:solidFill>
                          <a:latin typeface="Arial" pitchFamily="34" charset="0"/>
                          <a:ea typeface="Arial" pitchFamily="34" charset="-122"/>
                          <a:cs typeface="Arial" pitchFamily="34" charset="-120"/>
                        </a:rPr>
                        <a:t>Tài liệu biên soạn thay đổi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Lệch nguồn và đầu ra</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Tái tạo và kiểm nội dung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767182">
                <a:tc>
                  <a:txBody>
                    <a:bodyPr/>
                    <a:lstStyle/>
                    <a:p>
                      <a:pPr indent="0" marL="0">
                        <a:buNone/>
                      </a:pPr>
                      <a:r>
                        <a:rPr lang="en-US" sz="1800" dirty="0">
                          <a:solidFill>
                            <a:srgbClr val="24364A"/>
                          </a:solidFill>
                          <a:latin typeface="Arial" pitchFamily="34" charset="0"/>
                          <a:ea typeface="Arial" pitchFamily="34" charset="-122"/>
                          <a:cs typeface="Arial" pitchFamily="34" charset="-120"/>
                        </a:rPr>
                        <a:t>Thiếu hỗ trợ đồ họa không</a:t>
                      </a:r>
                      <a:endParaRPr lang="en-US" sz="1800" dirty="0">
                        <a:latin typeface="Arial" charset="0"/>
                        <a:ea typeface="Arial" charset="0"/>
                        <a:cs typeface="Arial" charset="0"/>
                      </a:endParaRPr>
                    </a:p>
                    <a:p>
                      <a:pPr indent="0" marL="0">
                        <a:buNone/>
                      </a:pPr>
                      <a:r>
                        <a:rPr lang="en-US" sz="1800" dirty="0">
                          <a:solidFill>
                            <a:srgbClr val="24364A"/>
                          </a:solidFill>
                          <a:latin typeface="Arial" pitchFamily="34" charset="0"/>
                          <a:ea typeface="Arial" pitchFamily="34" charset="-122"/>
                          <a:cs typeface="Arial" pitchFamily="34" charset="-120"/>
                        </a:rPr>
                        <a:t>gian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Không dùng được bản không</a:t>
                      </a:r>
                      <a:endParaRPr lang="en-US" sz="1800" dirty="0">
                        <a:latin typeface="Arial" charset="0"/>
                        <a:ea typeface="Arial" charset="0"/>
                        <a:cs typeface="Arial" charset="0"/>
                      </a:endParaRPr>
                    </a:p>
                    <a:p>
                      <a:pPr indent="0" marL="0">
                        <a:buNone/>
                      </a:pPr>
                      <a:r>
                        <a:rPr lang="en-US" sz="1800" dirty="0">
                          <a:solidFill>
                            <a:srgbClr val="24364A"/>
                          </a:solidFill>
                          <a:latin typeface="Arial" pitchFamily="34" charset="0"/>
                          <a:ea typeface="Arial" pitchFamily="34" charset="-122"/>
                          <a:cs typeface="Arial" pitchFamily="34" charset="-120"/>
                        </a:rPr>
                        <a:t>gian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Giữ bản phẳng và kiểm dự phòng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506578">
                <a:tc>
                  <a:txBody>
                    <a:bodyPr/>
                    <a:lstStyle/>
                    <a:p>
                      <a:pPr indent="0" marL="0">
                        <a:buNone/>
                      </a:pPr>
                      <a:r>
                        <a:rPr lang="en-US" sz="1800" dirty="0">
                          <a:solidFill>
                            <a:srgbClr val="24364A"/>
                          </a:solidFill>
                          <a:latin typeface="Arial" pitchFamily="34" charset="0"/>
                          <a:ea typeface="Arial" pitchFamily="34" charset="-122"/>
                          <a:cs typeface="Arial" pitchFamily="34" charset="-120"/>
                        </a:rPr>
                        <a:t>Nội dung lỗi thời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Sai học thuật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Thẩm định, phiên bản, ký duyệt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506578">
                <a:tc>
                  <a:txBody>
                    <a:bodyPr/>
                    <a:lstStyle/>
                    <a:p>
                      <a:pPr indent="0" marL="0">
                        <a:buNone/>
                      </a:pPr>
                      <a:r>
                        <a:rPr lang="en-US" sz="1800" dirty="0">
                          <a:solidFill>
                            <a:srgbClr val="24364A"/>
                          </a:solidFill>
                          <a:latin typeface="Arial" pitchFamily="34" charset="0"/>
                          <a:ea typeface="Arial" pitchFamily="34" charset="-122"/>
                          <a:cs typeface="Arial" pitchFamily="34" charset="-120"/>
                        </a:rPr>
                        <a:t>Tập nội dung lớn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Chậm tải ban đầu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Đo trên máy đích rồi tối ưu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767182">
                <a:tc>
                  <a:txBody>
                    <a:bodyPr/>
                    <a:lstStyle/>
                    <a:p>
                      <a:pPr indent="0" marL="0">
                        <a:buNone/>
                      </a:pPr>
                      <a:r>
                        <a:rPr lang="en-US" sz="1800" dirty="0">
                          <a:solidFill>
                            <a:srgbClr val="24364A"/>
                          </a:solidFill>
                          <a:latin typeface="Arial" pitchFamily="34" charset="0"/>
                          <a:ea typeface="Arial" pitchFamily="34" charset="-122"/>
                          <a:cs typeface="Arial" pitchFamily="34" charset="-120"/>
                        </a:rPr>
                        <a:t>Mất bộ nhớ trình duyệt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Mất dữ liệu tự học</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Hướng dẫn lưu, chuyển; đề xuất sao</a:t>
                      </a:r>
                      <a:endParaRPr lang="en-US" sz="1800" dirty="0">
                        <a:latin typeface="Arial" charset="0"/>
                        <a:ea typeface="Arial" charset="0"/>
                        <a:cs typeface="Arial" charset="0"/>
                      </a:endParaRPr>
                    </a:p>
                    <a:p>
                      <a:pPr indent="0" marL="0">
                        <a:buNone/>
                      </a:pPr>
                      <a:r>
                        <a:rPr lang="en-US" sz="1800" dirty="0">
                          <a:solidFill>
                            <a:srgbClr val="24364A"/>
                          </a:solidFill>
                          <a:latin typeface="Arial" pitchFamily="34" charset="0"/>
                          <a:ea typeface="Arial" pitchFamily="34" charset="-122"/>
                          <a:cs typeface="Arial" pitchFamily="34" charset="-120"/>
                        </a:rPr>
                        <a:t>lưu</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TÁC ĐỘNG VÀ KHUYẾN NGHỊ</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Tác động giáo dục cần kiểm chứng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Giá trị kỳ vọng đối với ba nhóm, không phải hiệu quả đã đo.</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Cần nghiên cứu người học để kết luận hiệu quả, chi phí và khả năng nhân rộng.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26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9323061"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Học viên</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Tìm bài, đọc ngoại tuyến,</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quan sát và tự kiểm tra.</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Giảng viên</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Sửa nguồn; đối chiếu học liệu</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và câu hỏi.</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Nhà trường</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Thí điểm triển khai và tái sử</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dụng quy trình.</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TÁC ĐỘNG VÀ KHUYẾN NGHỊ</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Sáu bài học có thể chuyển giao</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Nguyên tắc thực hành, không phải kết luận từ thử nghiệm giáo dục.</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Nhân rộng quy trình kiểm chứng trước khi nhân rộng số lượng tính năng.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27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9681640"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1647825"/>
          </a:xfrm>
          <a:prstGeom prst="roundRect">
            <a:avLst>
              <a:gd name="adj" fmla="val 5780"/>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01 · Ngoại tuyến</a:t>
            </a:r>
            <a:endParaRPr lang="en-US" sz="2000" dirty="0"/>
          </a:p>
        </p:txBody>
      </p:sp>
      <p:sp>
        <p:nvSpPr>
          <p:cNvPr id="17" name="Text 15"/>
          <p:cNvSpPr txBox="1"/>
          <p:nvPr/>
        </p:nvSpPr>
        <p:spPr>
          <a:xfrm>
            <a:off x="819130" y="2994660"/>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Không đánh đổi chất lượng vì</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thiếu mạng.</a:t>
            </a:r>
            <a:endParaRPr lang="en-US" sz="1800" dirty="0"/>
          </a:p>
        </p:txBody>
      </p:sp>
      <p:sp>
        <p:nvSpPr>
          <p:cNvPr id="18" name="Shape 16"/>
          <p:cNvSpPr/>
          <p:nvPr/>
        </p:nvSpPr>
        <p:spPr>
          <a:xfrm>
            <a:off x="4336942" y="2209800"/>
            <a:ext cx="3517812" cy="1647825"/>
          </a:xfrm>
          <a:prstGeom prst="roundRect">
            <a:avLst>
              <a:gd name="adj" fmla="val 5780"/>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02 · Tạo học liệu</a:t>
            </a:r>
            <a:endParaRPr lang="en-US" sz="2000" dirty="0"/>
          </a:p>
        </p:txBody>
      </p:sp>
      <p:sp>
        <p:nvSpPr>
          <p:cNvPr id="21" name="Text 19"/>
          <p:cNvSpPr txBox="1"/>
          <p:nvPr/>
        </p:nvSpPr>
        <p:spPr>
          <a:xfrm>
            <a:off x="4546486" y="2994660"/>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Sửa nguồn rồi tái tạo đầu</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ra.</a:t>
            </a:r>
            <a:endParaRPr lang="en-US" sz="1800" dirty="0"/>
          </a:p>
        </p:txBody>
      </p:sp>
      <p:sp>
        <p:nvSpPr>
          <p:cNvPr id="22" name="Shape 20"/>
          <p:cNvSpPr/>
          <p:nvPr/>
        </p:nvSpPr>
        <p:spPr>
          <a:xfrm>
            <a:off x="8064298" y="2209800"/>
            <a:ext cx="3517812" cy="1647825"/>
          </a:xfrm>
          <a:prstGeom prst="roundRect">
            <a:avLst>
              <a:gd name="adj" fmla="val 5780"/>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03 · Truy vết</a:t>
            </a:r>
            <a:endParaRPr lang="en-US" sz="2000" dirty="0"/>
          </a:p>
        </p:txBody>
      </p:sp>
      <p:sp>
        <p:nvSpPr>
          <p:cNvPr id="25" name="Text 23"/>
          <p:cNvSpPr txBox="1"/>
          <p:nvPr/>
        </p:nvSpPr>
        <p:spPr>
          <a:xfrm>
            <a:off x="8273843" y="2994660"/>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Thiết kế liên kết từ đầu.</a:t>
            </a:r>
            <a:endParaRPr lang="en-US" sz="1800" dirty="0"/>
          </a:p>
        </p:txBody>
      </p:sp>
      <p:sp>
        <p:nvSpPr>
          <p:cNvPr id="26" name="Shape 24"/>
          <p:cNvSpPr/>
          <p:nvPr/>
        </p:nvSpPr>
        <p:spPr>
          <a:xfrm>
            <a:off x="609585" y="4067175"/>
            <a:ext cx="3517812" cy="1647825"/>
          </a:xfrm>
          <a:prstGeom prst="roundRect">
            <a:avLst>
              <a:gd name="adj" fmla="val 5780"/>
            </a:avLst>
          </a:prstGeom>
          <a:solidFill>
            <a:srgbClr val="FFFFFF"/>
          </a:solidFill>
          <a:ln w="7620">
            <a:solidFill>
              <a:srgbClr val="D8E1EB"/>
            </a:solidFill>
            <a:prstDash val="solid"/>
          </a:ln>
        </p:spPr>
      </p:sp>
      <p:sp>
        <p:nvSpPr>
          <p:cNvPr id="27" name="Shape 25"/>
          <p:cNvSpPr/>
          <p:nvPr/>
        </p:nvSpPr>
        <p:spPr>
          <a:xfrm>
            <a:off x="781030" y="4257675"/>
            <a:ext cx="304792" cy="38100"/>
          </a:xfrm>
          <a:prstGeom prst="rect">
            <a:avLst/>
          </a:prstGeom>
          <a:solidFill>
            <a:srgbClr val="F77F00"/>
          </a:solidFill>
          <a:ln w="12700">
            <a:solidFill>
              <a:srgbClr val="F77F00">
                <a:alpha val="0"/>
              </a:srgbClr>
            </a:solidFill>
            <a:prstDash val="solid"/>
          </a:ln>
        </p:spPr>
      </p:sp>
      <p:sp>
        <p:nvSpPr>
          <p:cNvPr id="28" name="Text 26"/>
          <p:cNvSpPr txBox="1"/>
          <p:nvPr/>
        </p:nvSpPr>
        <p:spPr>
          <a:xfrm>
            <a:off x="819130" y="4429125"/>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04 · Tiếp cận</a:t>
            </a:r>
            <a:endParaRPr lang="en-US" sz="2000" dirty="0"/>
          </a:p>
        </p:txBody>
      </p:sp>
      <p:sp>
        <p:nvSpPr>
          <p:cNvPr id="29" name="Text 27"/>
          <p:cNvSpPr txBox="1"/>
          <p:nvPr/>
        </p:nvSpPr>
        <p:spPr>
          <a:xfrm>
            <a:off x="819130" y="4852035"/>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Viết điều kiện kiểm rõ ràng.</a:t>
            </a:r>
            <a:endParaRPr lang="en-US" sz="1800" dirty="0"/>
          </a:p>
        </p:txBody>
      </p:sp>
      <p:sp>
        <p:nvSpPr>
          <p:cNvPr id="30" name="Shape 28"/>
          <p:cNvSpPr/>
          <p:nvPr/>
        </p:nvSpPr>
        <p:spPr>
          <a:xfrm>
            <a:off x="4336942" y="4067175"/>
            <a:ext cx="3517812" cy="1647825"/>
          </a:xfrm>
          <a:prstGeom prst="roundRect">
            <a:avLst>
              <a:gd name="adj" fmla="val 5780"/>
            </a:avLst>
          </a:prstGeom>
          <a:solidFill>
            <a:srgbClr val="FFFFFF"/>
          </a:solidFill>
          <a:ln w="7620">
            <a:solidFill>
              <a:srgbClr val="D8E1EB"/>
            </a:solidFill>
            <a:prstDash val="solid"/>
          </a:ln>
        </p:spPr>
      </p:sp>
      <p:sp>
        <p:nvSpPr>
          <p:cNvPr id="31" name="Shape 29"/>
          <p:cNvSpPr/>
          <p:nvPr/>
        </p:nvSpPr>
        <p:spPr>
          <a:xfrm>
            <a:off x="4508387" y="4257675"/>
            <a:ext cx="304792" cy="38100"/>
          </a:xfrm>
          <a:prstGeom prst="rect">
            <a:avLst/>
          </a:prstGeom>
          <a:solidFill>
            <a:srgbClr val="13315C"/>
          </a:solidFill>
          <a:ln w="12700">
            <a:solidFill>
              <a:srgbClr val="13315C">
                <a:alpha val="0"/>
              </a:srgbClr>
            </a:solidFill>
            <a:prstDash val="solid"/>
          </a:ln>
        </p:spPr>
      </p:sp>
      <p:sp>
        <p:nvSpPr>
          <p:cNvPr id="32" name="Text 30"/>
          <p:cNvSpPr txBox="1"/>
          <p:nvPr/>
        </p:nvSpPr>
        <p:spPr>
          <a:xfrm>
            <a:off x="4546486" y="4429125"/>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05 · Phát hành</a:t>
            </a:r>
            <a:endParaRPr lang="en-US" sz="2000" dirty="0"/>
          </a:p>
        </p:txBody>
      </p:sp>
      <p:sp>
        <p:nvSpPr>
          <p:cNvPr id="33" name="Text 31"/>
          <p:cNvSpPr txBox="1"/>
          <p:nvPr/>
        </p:nvSpPr>
        <p:spPr>
          <a:xfrm>
            <a:off x="4546486" y="4852035"/>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Gắn phiên bản và dấu kiểm</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tra tệp.</a:t>
            </a:r>
            <a:endParaRPr lang="en-US" sz="1800" dirty="0"/>
          </a:p>
        </p:txBody>
      </p:sp>
      <p:sp>
        <p:nvSpPr>
          <p:cNvPr id="34" name="Shape 32"/>
          <p:cNvSpPr/>
          <p:nvPr/>
        </p:nvSpPr>
        <p:spPr>
          <a:xfrm>
            <a:off x="8064298" y="4067175"/>
            <a:ext cx="3517812" cy="1647825"/>
          </a:xfrm>
          <a:prstGeom prst="roundRect">
            <a:avLst>
              <a:gd name="adj" fmla="val 5780"/>
            </a:avLst>
          </a:prstGeom>
          <a:solidFill>
            <a:srgbClr val="FFFFFF"/>
          </a:solidFill>
          <a:ln w="7620">
            <a:solidFill>
              <a:srgbClr val="D8E1EB"/>
            </a:solidFill>
            <a:prstDash val="solid"/>
          </a:ln>
        </p:spPr>
      </p:sp>
      <p:sp>
        <p:nvSpPr>
          <p:cNvPr id="35" name="Shape 33"/>
          <p:cNvSpPr/>
          <p:nvPr/>
        </p:nvSpPr>
        <p:spPr>
          <a:xfrm>
            <a:off x="8235744" y="4257675"/>
            <a:ext cx="304792" cy="38100"/>
          </a:xfrm>
          <a:prstGeom prst="rect">
            <a:avLst/>
          </a:prstGeom>
          <a:solidFill>
            <a:srgbClr val="2E7D32"/>
          </a:solidFill>
          <a:ln w="12700">
            <a:solidFill>
              <a:srgbClr val="2E7D32">
                <a:alpha val="0"/>
              </a:srgbClr>
            </a:solidFill>
            <a:prstDash val="solid"/>
          </a:ln>
        </p:spPr>
      </p:sp>
      <p:sp>
        <p:nvSpPr>
          <p:cNvPr id="36" name="Text 34"/>
          <p:cNvSpPr txBox="1"/>
          <p:nvPr/>
        </p:nvSpPr>
        <p:spPr>
          <a:xfrm>
            <a:off x="8273843" y="4429125"/>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06 · Trung thực</a:t>
            </a:r>
            <a:endParaRPr lang="en-US" sz="2000" dirty="0"/>
          </a:p>
        </p:txBody>
      </p:sp>
      <p:sp>
        <p:nvSpPr>
          <p:cNvPr id="37" name="Text 35"/>
          <p:cNvSpPr txBox="1"/>
          <p:nvPr/>
        </p:nvSpPr>
        <p:spPr>
          <a:xfrm>
            <a:off x="8273843" y="4852035"/>
            <a:ext cx="3098723" cy="681990"/>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Giữ trạng thái chưa đạt,</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chưa thể đánh giá.</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TÁC ĐỘNG VÀ KHUYẾN NGHỊ</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Lộ trình đề xuất: ba giai đoạn</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Mốc tương đối từ khi kế hoạch được đơn vị phê duyệt.</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Ưu tiên hoàn tất điều kiện chấp nhận; không mở rộng không gian chỉ để tăng số lượng.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28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0040220"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F77F00"/>
          </a:solidFill>
          <a:ln w="12700">
            <a:solidFill>
              <a:srgbClr val="F77F00">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0–3 tháng</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Sửa chưa đạt; kiểm lại</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nguồn; thẩm định và chạy</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thử độc lập.</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13315C"/>
          </a:solidFill>
          <a:ln w="12700">
            <a:solidFill>
              <a:srgbClr val="13315C">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13315C"/>
                </a:solidFill>
                <a:latin typeface="Arial" pitchFamily="34" charset="0"/>
                <a:ea typeface="Arial" pitchFamily="34" charset="-122"/>
                <a:cs typeface="Arial" pitchFamily="34" charset="-120"/>
              </a:rPr>
              <a:t>3–6 tháng</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Thử hệ thống học tập đích;</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mở không gian khi có giá trị</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sư phạm.</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6–12 tháng</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Đo tải; nâng trình đọc tài</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liệu; thí điểm học phần khác.</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TÁC ĐỘNG VÀ KHUYẾN NGHỊ</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Chỉ số đánh giá: hiện trạng và mục tiêu đề xuất</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Mỗi mục tiêu cần cách đo, người xác nhận và bản nguồn.</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Mục tiêu không phải cam kết; 25 vị trí và 10 bản không gian không cộng thành 35 bài.</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29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0398799" cy="38100"/>
          </a:xfrm>
          <a:prstGeom prst="rect">
            <a:avLst/>
          </a:prstGeom>
          <a:solidFill>
            <a:srgbClr val="F77F00"/>
          </a:solidFill>
          <a:ln w="12700">
            <a:solidFill>
              <a:srgbClr val="F77F00">
                <a:alpha val="0"/>
              </a:srgbClr>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2844729"/>
                <a:gridCol w="3792972"/>
                <a:gridCol w="2980192"/>
                <a:gridCol w="1354633"/>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Chỉ số</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Hiện trạng hồ sơ</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Mục tiêu đề xuất</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Mốc</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465582">
                <a:tc>
                  <a:txBody>
                    <a:bodyPr/>
                    <a:lstStyle/>
                    <a:p>
                      <a:pPr indent="0" marL="0">
                        <a:buNone/>
                      </a:pPr>
                      <a:r>
                        <a:rPr lang="en-US" sz="1800" dirty="0">
                          <a:solidFill>
                            <a:srgbClr val="24364A"/>
                          </a:solidFill>
                          <a:latin typeface="Arial" pitchFamily="34" charset="0"/>
                          <a:ea typeface="Arial" pitchFamily="34" charset="-122"/>
                          <a:cs typeface="Arial" pitchFamily="34" charset="-120"/>
                        </a:rPr>
                        <a:t>Kiểm tra chất lượng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11/24 đạt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24/24, đủ bằng chứng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0–3 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65582">
                <a:tc>
                  <a:txBody>
                    <a:bodyPr/>
                    <a:lstStyle/>
                    <a:p>
                      <a:pPr indent="0" marL="0">
                        <a:buNone/>
                      </a:pPr>
                      <a:r>
                        <a:rPr lang="en-US" sz="1800" dirty="0">
                          <a:solidFill>
                            <a:srgbClr val="24364A"/>
                          </a:solidFill>
                          <a:latin typeface="Arial" pitchFamily="34" charset="0"/>
                          <a:ea typeface="Arial" pitchFamily="34" charset="-122"/>
                          <a:cs typeface="Arial" pitchFamily="34" charset="-120"/>
                        </a:rPr>
                        <a:t>Thẩm định tiếp cận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Chưa thể đánh giá</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Hoàn tất độc lập</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0–3 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65582">
                <a:tc>
                  <a:txBody>
                    <a:bodyPr/>
                    <a:lstStyle/>
                    <a:p>
                      <a:pPr indent="0" marL="0">
                        <a:buNone/>
                      </a:pPr>
                      <a:r>
                        <a:rPr lang="en-US" sz="1800" dirty="0">
                          <a:solidFill>
                            <a:srgbClr val="24364A"/>
                          </a:solidFill>
                          <a:latin typeface="Arial" pitchFamily="34" charset="0"/>
                          <a:ea typeface="Arial" pitchFamily="34" charset="-122"/>
                          <a:cs typeface="Arial" pitchFamily="34" charset="-120"/>
                        </a:rPr>
                        <a:t>Ký duyệt học thuật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0 bản ghi</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Đủ phạm vi duyệt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0–3 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465582">
                <a:tc>
                  <a:txBody>
                    <a:bodyPr/>
                    <a:lstStyle/>
                    <a:p>
                      <a:pPr indent="0" marL="0">
                        <a:buNone/>
                      </a:pPr>
                      <a:r>
                        <a:rPr lang="en-US" sz="1800" dirty="0">
                          <a:solidFill>
                            <a:srgbClr val="24364A"/>
                          </a:solidFill>
                          <a:latin typeface="Arial" pitchFamily="34" charset="0"/>
                          <a:ea typeface="Arial" pitchFamily="34" charset="-122"/>
                          <a:cs typeface="Arial" pitchFamily="34" charset="-120"/>
                        </a:rPr>
                        <a:t>Mô phỏng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25 vị trí; 10 bản không gian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Giữ đúng; mở có căn cứ</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3–6 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465582">
                <a:tc>
                  <a:txBody>
                    <a:bodyPr/>
                    <a:lstStyle/>
                    <a:p>
                      <a:pPr indent="0" marL="0">
                        <a:buNone/>
                      </a:pPr>
                      <a:r>
                        <a:rPr lang="en-US" sz="1800" dirty="0">
                          <a:solidFill>
                            <a:srgbClr val="24364A"/>
                          </a:solidFill>
                          <a:latin typeface="Arial" pitchFamily="34" charset="0"/>
                          <a:ea typeface="Arial" pitchFamily="34" charset="-122"/>
                          <a:cs typeface="Arial" pitchFamily="34" charset="-120"/>
                        </a:rPr>
                        <a:t>Hệ thống học tập đích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Chưa có lần chạy</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2 đích có bằng chứng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3–6 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726186">
                <a:tc>
                  <a:txBody>
                    <a:bodyPr/>
                    <a:lstStyle/>
                    <a:p>
                      <a:pPr indent="0" marL="0">
                        <a:buNone/>
                      </a:pPr>
                      <a:r>
                        <a:rPr lang="en-US" sz="1800" dirty="0">
                          <a:solidFill>
                            <a:srgbClr val="24364A"/>
                          </a:solidFill>
                          <a:latin typeface="Arial" pitchFamily="34" charset="0"/>
                          <a:ea typeface="Arial" pitchFamily="34" charset="-122"/>
                          <a:cs typeface="Arial" pitchFamily="34" charset="-120"/>
                        </a:rPr>
                        <a:t>Học phần áp dụng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1 hiện vật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Thí điểm tới 3 môn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6–12</a:t>
                      </a:r>
                      <a:endParaRPr lang="en-US" sz="1800" dirty="0">
                        <a:latin typeface="Arial" charset="0"/>
                        <a:ea typeface="Arial" charset="0"/>
                        <a:cs typeface="Arial" charset="0"/>
                      </a:endParaRPr>
                    </a:p>
                    <a:p>
                      <a:pPr indent="0" marL="0">
                        <a:buNone/>
                      </a:pPr>
                      <a:r>
                        <a:rPr lang="en-US" sz="1800" dirty="0">
                          <a:solidFill>
                            <a:srgbClr val="24364A"/>
                          </a:solidFill>
                          <a:latin typeface="Arial" pitchFamily="34" charset="0"/>
                          <a:ea typeface="Arial" pitchFamily="34" charset="-122"/>
                          <a:cs typeface="Arial" pitchFamily="34" charset="-120"/>
                        </a:rPr>
                        <a:t>tháng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TÁC ĐỘNG VÀ KHUYẾN NGHỊ</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Năm khuyến nghị cho hội đồng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Đề nghị thống nhất ưu tiên và điều kiện chuyển bước.</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Đề nghị tiếp tục hoàn thiện có điều kiện, chưa đề nghị nghiệm thu cuối cùng.</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30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0757378" cy="38100"/>
          </a:xfrm>
          <a:prstGeom prst="rect">
            <a:avLst/>
          </a:prstGeom>
          <a:solidFill>
            <a:srgbClr val="F77F00"/>
          </a:solidFill>
          <a:ln w="12700">
            <a:solidFill>
              <a:srgbClr val="F77F00">
                <a:alpha val="0"/>
              </a:srgbClr>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09585" y="2209800"/>
          <a:ext cx="10972526" cy="3505200"/>
        </p:xfrm>
        <a:graphic>
          <a:graphicData uri="http://schemas.openxmlformats.org/drawingml/2006/table">
            <a:tbl>
              <a:tblPr/>
              <a:tblGrid>
                <a:gridCol w="2698162"/>
                <a:gridCol w="8274364"/>
              </a:tblGrid>
              <a:tr h="451104">
                <a:tc>
                  <a:txBody>
                    <a:bodyPr/>
                    <a:lstStyle/>
                    <a:p>
                      <a:pPr indent="0" marL="0">
                        <a:buNone/>
                      </a:pPr>
                      <a:r>
                        <a:rPr lang="en-US" sz="1800" b="1" dirty="0">
                          <a:solidFill>
                            <a:srgbClr val="FFFFFF"/>
                          </a:solidFill>
                          <a:latin typeface="Arial" pitchFamily="34" charset="0"/>
                          <a:ea typeface="Arial" pitchFamily="34" charset="-122"/>
                          <a:cs typeface="Arial" pitchFamily="34" charset="-120"/>
                        </a:rPr>
                        <a:t>Ưu tiên</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c>
                  <a:txBody>
                    <a:bodyPr/>
                    <a:lstStyle/>
                    <a:p>
                      <a:pPr indent="0" marL="0">
                        <a:buNone/>
                      </a:pPr>
                      <a:r>
                        <a:rPr lang="en-US" sz="1800" b="1" dirty="0">
                          <a:solidFill>
                            <a:srgbClr val="FFFFFF"/>
                          </a:solidFill>
                          <a:latin typeface="Arial" pitchFamily="34" charset="0"/>
                          <a:ea typeface="Arial" pitchFamily="34" charset="-122"/>
                          <a:cs typeface="Arial" pitchFamily="34" charset="-120"/>
                        </a:rPr>
                        <a:t>Khuyến nghị</a:t>
                      </a:r>
                      <a:endParaRPr lang="en-US" sz="1800" dirty="0">
                        <a:latin typeface="Arial" charset="0"/>
                        <a:ea typeface="Arial" charset="0"/>
                        <a:cs typeface="Arial" charset="0"/>
                      </a:endParaRPr>
                    </a:p>
                  </a:txBody>
                  <a:tcPr marL="114300" marR="114300" marT="95250" marB="9525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13315C"/>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1 · Học thuật</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Thẩm định độc lập, ký duyệt đúng thẩm quyền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2 · Tiếp cận</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Kiểm thủ công, thiết bị và người dùng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3 · Liên thông</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Thử hệ thống đích, lưu bằng chứng nhập và chạy</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4 · Chuyển giao</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Thí điểm môn khác với nguồn lực rõ</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5F7FA"/>
                    </a:solidFill>
                  </a:tcPr>
                </a:tc>
              </a:tr>
              <a:tr h="610819">
                <a:tc>
                  <a:txBody>
                    <a:bodyPr/>
                    <a:lstStyle/>
                    <a:p>
                      <a:pPr indent="0" marL="0">
                        <a:buNone/>
                      </a:pPr>
                      <a:r>
                        <a:rPr lang="en-US" sz="1800" dirty="0">
                          <a:solidFill>
                            <a:srgbClr val="24364A"/>
                          </a:solidFill>
                          <a:latin typeface="Arial" pitchFamily="34" charset="0"/>
                          <a:ea typeface="Arial" pitchFamily="34" charset="-122"/>
                          <a:cs typeface="Arial" pitchFamily="34" charset="-120"/>
                        </a:rPr>
                        <a:t>5 · Minh bạch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c>
                  <a:txBody>
                    <a:bodyPr/>
                    <a:lstStyle/>
                    <a:p>
                      <a:pPr indent="0" marL="0">
                        <a:buNone/>
                      </a:pPr>
                      <a:r>
                        <a:rPr lang="en-US" sz="1800" dirty="0">
                          <a:solidFill>
                            <a:srgbClr val="24364A"/>
                          </a:solidFill>
                          <a:latin typeface="Arial" pitchFamily="34" charset="0"/>
                          <a:ea typeface="Arial" pitchFamily="34" charset="-122"/>
                          <a:cs typeface="Arial" pitchFamily="34" charset="-120"/>
                        </a:rPr>
                        <a:t>Không nâng trạng thái bằng lời thuyết minh</a:t>
                      </a:r>
                      <a:endParaRPr lang="en-US" sz="1800" dirty="0">
                        <a:latin typeface="Arial" charset="0"/>
                        <a:ea typeface="Arial" charset="0"/>
                        <a:cs typeface="Arial" charset="0"/>
                      </a:endParaRPr>
                    </a:p>
                  </a:txBody>
                  <a:tcPr marL="114300" marR="114300" marT="76200" marB="76200" anchor="ctr">
                    <a:lnL w="8255" cap="flat" cmpd="sng" algn="ctr">
                      <a:solidFill>
                        <a:srgbClr val="D8E1EB"/>
                      </a:solidFill>
                      <a:prstDash val="solid"/>
                      <a:round/>
                      <a:headEnd type="none" w="med" len="med"/>
                      <a:tailEnd type="none" w="med" len="med"/>
                    </a:lnL>
                    <a:lnR w="8255" cap="flat" cmpd="sng" algn="ctr">
                      <a:solidFill>
                        <a:srgbClr val="D8E1EB"/>
                      </a:solidFill>
                      <a:prstDash val="solid"/>
                      <a:round/>
                      <a:headEnd type="none" w="med" len="med"/>
                      <a:tailEnd type="none" w="med" len="med"/>
                    </a:lnR>
                    <a:lnT w="8255" cap="flat" cmpd="sng" algn="ctr">
                      <a:solidFill>
                        <a:srgbClr val="D8E1EB"/>
                      </a:solidFill>
                      <a:prstDash val="solid"/>
                      <a:round/>
                      <a:headEnd type="none" w="med" len="med"/>
                      <a:tailEnd type="none" w="med" len="med"/>
                    </a:lnT>
                    <a:lnB w="8255" cap="flat" cmpd="sng" algn="ctr">
                      <a:solidFill>
                        <a:srgbClr val="D8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KẾT THÚC</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Kết luận: ba luận điểm</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Có hiện vật kỹ thuật; cần thẩm định độc lập; có hướng chuyển giao.</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Tiếp tục đầu tư vào bằng chứng và thẩm định trước khi mở rộng phạm vi.</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31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1115957"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3517812" cy="3505200"/>
          </a:xfrm>
          <a:prstGeom prst="roundRect">
            <a:avLst>
              <a:gd name="adj" fmla="val 2717"/>
            </a:avLst>
          </a:prstGeom>
          <a:solidFill>
            <a:srgbClr val="FFFFFF"/>
          </a:solidFill>
          <a:ln w="7620">
            <a:solidFill>
              <a:srgbClr val="D8E1EB"/>
            </a:solidFill>
            <a:prstDash val="solid"/>
          </a:ln>
        </p:spPr>
      </p:sp>
      <p:sp>
        <p:nvSpPr>
          <p:cNvPr id="15" name="Shape 13"/>
          <p:cNvSpPr/>
          <p:nvPr/>
        </p:nvSpPr>
        <p:spPr>
          <a:xfrm>
            <a:off x="781030" y="2400300"/>
            <a:ext cx="304792" cy="38100"/>
          </a:xfrm>
          <a:prstGeom prst="rect">
            <a:avLst/>
          </a:prstGeom>
          <a:solidFill>
            <a:srgbClr val="2E7D32"/>
          </a:solidFill>
          <a:ln w="12700">
            <a:solidFill>
              <a:srgbClr val="2E7D32">
                <a:alpha val="0"/>
              </a:srgbClr>
            </a:solidFill>
            <a:prstDash val="solid"/>
          </a:ln>
        </p:spPr>
      </p:sp>
      <p:sp>
        <p:nvSpPr>
          <p:cNvPr id="16" name="Text 14"/>
          <p:cNvSpPr txBox="1"/>
          <p:nvPr/>
        </p:nvSpPr>
        <p:spPr>
          <a:xfrm>
            <a:off x="819130"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Khả thi về thiết kế</a:t>
            </a:r>
            <a:endParaRPr lang="en-US" sz="2000" dirty="0"/>
          </a:p>
        </p:txBody>
      </p:sp>
      <p:sp>
        <p:nvSpPr>
          <p:cNvPr id="17" name="Text 15"/>
          <p:cNvSpPr txBox="1"/>
          <p:nvPr/>
        </p:nvSpPr>
        <p:spPr>
          <a:xfrm>
            <a:off x="819130"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Gói cục bộ và thành phần</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đọc tĩnh đã xây dựng.</a:t>
            </a:r>
            <a:endParaRPr lang="en-US" sz="1800" dirty="0"/>
          </a:p>
        </p:txBody>
      </p:sp>
      <p:sp>
        <p:nvSpPr>
          <p:cNvPr id="18" name="Shape 16"/>
          <p:cNvSpPr/>
          <p:nvPr/>
        </p:nvSpPr>
        <p:spPr>
          <a:xfrm>
            <a:off x="4336942" y="2209800"/>
            <a:ext cx="3517812" cy="3505200"/>
          </a:xfrm>
          <a:prstGeom prst="roundRect">
            <a:avLst>
              <a:gd name="adj" fmla="val 2717"/>
            </a:avLst>
          </a:prstGeom>
          <a:solidFill>
            <a:srgbClr val="FFFFFF"/>
          </a:solidFill>
          <a:ln w="7620">
            <a:solidFill>
              <a:srgbClr val="D8E1EB"/>
            </a:solidFill>
            <a:prstDash val="solid"/>
          </a:ln>
        </p:spPr>
      </p:sp>
      <p:sp>
        <p:nvSpPr>
          <p:cNvPr id="19" name="Shape 17"/>
          <p:cNvSpPr/>
          <p:nvPr/>
        </p:nvSpPr>
        <p:spPr>
          <a:xfrm>
            <a:off x="4508387" y="2400300"/>
            <a:ext cx="304792" cy="38100"/>
          </a:xfrm>
          <a:prstGeom prst="rect">
            <a:avLst/>
          </a:prstGeom>
          <a:solidFill>
            <a:srgbClr val="C62828"/>
          </a:solidFill>
          <a:ln w="12700">
            <a:solidFill>
              <a:srgbClr val="C62828">
                <a:alpha val="0"/>
              </a:srgbClr>
            </a:solidFill>
            <a:prstDash val="solid"/>
          </a:ln>
        </p:spPr>
      </p:sp>
      <p:sp>
        <p:nvSpPr>
          <p:cNvPr id="20" name="Text 18"/>
          <p:cNvSpPr txBox="1"/>
          <p:nvPr/>
        </p:nvSpPr>
        <p:spPr>
          <a:xfrm>
            <a:off x="4546486"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C62828"/>
                </a:solidFill>
                <a:latin typeface="Arial" pitchFamily="34" charset="0"/>
                <a:ea typeface="Arial" pitchFamily="34" charset="-122"/>
                <a:cs typeface="Arial" pitchFamily="34" charset="-120"/>
              </a:rPr>
              <a:t>Chưa đủ chấp nhận</a:t>
            </a:r>
            <a:endParaRPr lang="en-US" sz="2000" dirty="0"/>
          </a:p>
        </p:txBody>
      </p:sp>
      <p:sp>
        <p:nvSpPr>
          <p:cNvPr id="21" name="Text 19"/>
          <p:cNvSpPr txBox="1"/>
          <p:nvPr/>
        </p:nvSpPr>
        <p:spPr>
          <a:xfrm>
            <a:off x="4546486"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Kiểm chất lượng còn chưa</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đạt; chưa đủ thẩm định.</a:t>
            </a:r>
            <a:endParaRPr lang="en-US" sz="1800" dirty="0"/>
          </a:p>
        </p:txBody>
      </p:sp>
      <p:sp>
        <p:nvSpPr>
          <p:cNvPr id="22" name="Shape 20"/>
          <p:cNvSpPr/>
          <p:nvPr/>
        </p:nvSpPr>
        <p:spPr>
          <a:xfrm>
            <a:off x="8064298" y="2209800"/>
            <a:ext cx="3517812" cy="3505200"/>
          </a:xfrm>
          <a:prstGeom prst="roundRect">
            <a:avLst>
              <a:gd name="adj" fmla="val 2717"/>
            </a:avLst>
          </a:prstGeom>
          <a:solidFill>
            <a:srgbClr val="FFFFFF"/>
          </a:solidFill>
          <a:ln w="7620">
            <a:solidFill>
              <a:srgbClr val="D8E1EB"/>
            </a:solidFill>
            <a:prstDash val="solid"/>
          </a:ln>
        </p:spPr>
      </p:sp>
      <p:sp>
        <p:nvSpPr>
          <p:cNvPr id="23" name="Shape 21"/>
          <p:cNvSpPr/>
          <p:nvPr/>
        </p:nvSpPr>
        <p:spPr>
          <a:xfrm>
            <a:off x="8235744" y="2400300"/>
            <a:ext cx="304792" cy="38100"/>
          </a:xfrm>
          <a:prstGeom prst="rect">
            <a:avLst/>
          </a:prstGeom>
          <a:solidFill>
            <a:srgbClr val="2E7D32"/>
          </a:solidFill>
          <a:ln w="12700">
            <a:solidFill>
              <a:srgbClr val="2E7D32">
                <a:alpha val="0"/>
              </a:srgbClr>
            </a:solidFill>
            <a:prstDash val="solid"/>
          </a:ln>
        </p:spPr>
      </p:sp>
      <p:sp>
        <p:nvSpPr>
          <p:cNvPr id="24" name="Text 22"/>
          <p:cNvSpPr txBox="1"/>
          <p:nvPr/>
        </p:nvSpPr>
        <p:spPr>
          <a:xfrm>
            <a:off x="8273843" y="2571750"/>
            <a:ext cx="3098723" cy="318135"/>
          </a:xfrm>
          <a:prstGeom prst="rect">
            <a:avLst/>
          </a:prstGeom>
          <a:noFill/>
          <a:ln/>
        </p:spPr>
        <p:txBody>
          <a:bodyPr wrap="square" lIns="0" tIns="0" rIns="0" bIns="0" rtlCol="0" anchor="t"/>
          <a:lstStyle/>
          <a:p>
            <a:pPr algn="l" indent="0" marL="0">
              <a:lnSpc>
                <a:spcPct val="114000"/>
              </a:lnSpc>
              <a:buNone/>
            </a:pPr>
            <a:r>
              <a:rPr lang="en-US" sz="2000" b="1" dirty="0">
                <a:solidFill>
                  <a:srgbClr val="2E7D32"/>
                </a:solidFill>
                <a:latin typeface="Arial" pitchFamily="34" charset="0"/>
                <a:ea typeface="Arial" pitchFamily="34" charset="-122"/>
                <a:cs typeface="Arial" pitchFamily="34" charset="-120"/>
              </a:rPr>
              <a:t>Có hướng nhân rộng</a:t>
            </a:r>
            <a:endParaRPr lang="en-US" sz="2000" dirty="0"/>
          </a:p>
        </p:txBody>
      </p:sp>
      <p:sp>
        <p:nvSpPr>
          <p:cNvPr id="25" name="Text 23"/>
          <p:cNvSpPr txBox="1"/>
          <p:nvPr/>
        </p:nvSpPr>
        <p:spPr>
          <a:xfrm>
            <a:off x="8273843" y="2994660"/>
            <a:ext cx="3098723" cy="2539365"/>
          </a:xfrm>
          <a:prstGeom prst="rect">
            <a:avLst/>
          </a:prstGeom>
          <a:noFill/>
          <a:ln/>
        </p:spPr>
        <p:txBody>
          <a:bodyPr wrap="square" lIns="0" tIns="0" rIns="0" bIns="0" rtlCol="0" anchor="t"/>
          <a:lstStyle/>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Tái sử dụng quy trình qua</a:t>
            </a:r>
            <a:endParaRPr lang="en-US" sz="1800" dirty="0"/>
          </a:p>
          <a:p>
            <a:pPr algn="l" indent="0" marL="0">
              <a:lnSpc>
                <a:spcPct val="114000"/>
              </a:lnSpc>
              <a:buNone/>
            </a:pPr>
            <a:r>
              <a:rPr lang="en-US" sz="1800" dirty="0">
                <a:solidFill>
                  <a:srgbClr val="24364A"/>
                </a:solidFill>
                <a:latin typeface="Arial" pitchFamily="34" charset="0"/>
                <a:ea typeface="Arial" pitchFamily="34" charset="-122"/>
                <a:cs typeface="Arial" pitchFamily="34" charset="-120"/>
              </a:rPr>
              <a:t>thí điểm.</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BCCBDB"/>
                </a:solidFill>
                <a:latin typeface="Arial" pitchFamily="34" charset="0"/>
                <a:ea typeface="Arial" pitchFamily="34" charset="-122"/>
                <a:cs typeface="Arial" pitchFamily="34" charset="-120"/>
              </a:rPr>
              <a:t>KẾT THÚC</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FFFFFF"/>
                </a:solidFill>
                <a:latin typeface="Arial" pitchFamily="34" charset="0"/>
                <a:ea typeface="Arial" pitchFamily="34" charset="-122"/>
                <a:cs typeface="Arial" pitchFamily="34" charset="-120"/>
              </a:rPr>
              <a:t>HỌC VIỆN HẢI QUÂN</a:t>
            </a:r>
            <a:endParaRPr lang="en-US" sz="1050" dirty="0"/>
          </a:p>
        </p:txBody>
      </p:sp>
      <p:sp>
        <p:nvSpPr>
          <p:cNvPr id="5" name="Shape 3"/>
          <p:cNvSpPr/>
          <p:nvPr/>
        </p:nvSpPr>
        <p:spPr>
          <a:xfrm>
            <a:off x="609585" y="5886450"/>
            <a:ext cx="10972526" cy="533400"/>
          </a:xfrm>
          <a:prstGeom prst="rect">
            <a:avLst/>
          </a:prstGeom>
          <a:solidFill>
            <a:srgbClr val="13315C"/>
          </a:solidFill>
          <a:ln w="12700">
            <a:solidFill>
              <a:srgbClr val="13315C">
                <a:alpha val="0"/>
              </a:srgbClr>
            </a:solidFill>
            <a:prstDash val="solid"/>
          </a:ln>
        </p:spPr>
      </p:sp>
      <p:sp>
        <p:nvSpPr>
          <p:cNvPr id="6" name="Shape 4"/>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7" name="Text 5"/>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FFFFFF"/>
                </a:solidFill>
                <a:latin typeface="Arial" pitchFamily="34" charset="0"/>
                <a:ea typeface="Arial" pitchFamily="34" charset="-122"/>
                <a:cs typeface="Arial" pitchFamily="34" charset="-120"/>
              </a:rPr>
              <a:t>Sẵn sàng đối chiếu nguồn; không suy đoán thay bằng chứng còn thiếu.</a:t>
            </a:r>
            <a:endParaRPr lang="en-US" sz="1700" dirty="0"/>
          </a:p>
        </p:txBody>
      </p:sp>
      <p:sp>
        <p:nvSpPr>
          <p:cNvPr id="8" name="Shape 6"/>
          <p:cNvSpPr/>
          <p:nvPr/>
        </p:nvSpPr>
        <p:spPr>
          <a:xfrm>
            <a:off x="609585" y="6553200"/>
            <a:ext cx="10972526" cy="0"/>
          </a:xfrm>
          <a:prstGeom prst="line">
            <a:avLst/>
          </a:prstGeom>
          <a:noFill/>
          <a:ln w="7620">
            <a:solidFill>
              <a:srgbClr val="34516E"/>
            </a:solidFill>
            <a:prstDash val="solid"/>
          </a:ln>
        </p:spPr>
      </p:sp>
      <p:sp>
        <p:nvSpPr>
          <p:cNvPr id="9" name="Text 7"/>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BCCBDB"/>
                </a:solidFill>
                <a:latin typeface="Arial" pitchFamily="34" charset="0"/>
                <a:ea typeface="Arial" pitchFamily="34" charset="-122"/>
                <a:cs typeface="Arial" pitchFamily="34" charset="-120"/>
              </a:rPr>
              <a:t>32 / 34</a:t>
            </a:r>
            <a:endParaRPr lang="en-US" sz="900" dirty="0"/>
          </a:p>
        </p:txBody>
      </p:sp>
      <p:sp>
        <p:nvSpPr>
          <p:cNvPr id="10" name="Shape 8"/>
          <p:cNvSpPr/>
          <p:nvPr/>
        </p:nvSpPr>
        <p:spPr>
          <a:xfrm>
            <a:off x="0" y="6819900"/>
            <a:ext cx="12191695" cy="38100"/>
          </a:xfrm>
          <a:prstGeom prst="rect">
            <a:avLst/>
          </a:prstGeom>
          <a:solidFill>
            <a:srgbClr val="13315C"/>
          </a:solidFill>
          <a:ln w="12700">
            <a:solidFill>
              <a:srgbClr val="13315C">
                <a:alpha val="0"/>
              </a:srgbClr>
            </a:solidFill>
            <a:prstDash val="solid"/>
          </a:ln>
        </p:spPr>
      </p:sp>
      <p:sp>
        <p:nvSpPr>
          <p:cNvPr id="11" name="Shape 9"/>
          <p:cNvSpPr/>
          <p:nvPr/>
        </p:nvSpPr>
        <p:spPr>
          <a:xfrm>
            <a:off x="0" y="6819900"/>
            <a:ext cx="11474537" cy="38100"/>
          </a:xfrm>
          <a:prstGeom prst="rect">
            <a:avLst/>
          </a:prstGeom>
          <a:solidFill>
            <a:srgbClr val="F77F00"/>
          </a:solidFill>
          <a:ln w="12700">
            <a:solidFill>
              <a:srgbClr val="F77F00">
                <a:alpha val="0"/>
              </a:srgbClr>
            </a:solidFill>
            <a:prstDash val="solid"/>
          </a:ln>
        </p:spPr>
      </p:sp>
      <p:sp>
        <p:nvSpPr>
          <p:cNvPr id="12" name="Shape 10"/>
          <p:cNvSpPr/>
          <p:nvPr/>
        </p:nvSpPr>
        <p:spPr>
          <a:xfrm>
            <a:off x="7981750" y="1381125"/>
            <a:ext cx="0" cy="4076700"/>
          </a:xfrm>
          <a:prstGeom prst="line">
            <a:avLst/>
          </a:prstGeom>
          <a:noFill/>
          <a:ln w="5715">
            <a:solidFill>
              <a:srgbClr val="13315C"/>
            </a:solidFill>
            <a:prstDash val="solid"/>
          </a:ln>
        </p:spPr>
      </p:sp>
      <p:sp>
        <p:nvSpPr>
          <p:cNvPr id="13" name="Shape 11"/>
          <p:cNvSpPr/>
          <p:nvPr/>
        </p:nvSpPr>
        <p:spPr>
          <a:xfrm>
            <a:off x="8277018" y="1381125"/>
            <a:ext cx="0" cy="4076700"/>
          </a:xfrm>
          <a:prstGeom prst="line">
            <a:avLst/>
          </a:prstGeom>
          <a:noFill/>
          <a:ln w="5715">
            <a:solidFill>
              <a:srgbClr val="13315C"/>
            </a:solidFill>
            <a:prstDash val="solid"/>
          </a:ln>
        </p:spPr>
      </p:sp>
      <p:sp>
        <p:nvSpPr>
          <p:cNvPr id="14" name="Shape 12"/>
          <p:cNvSpPr/>
          <p:nvPr/>
        </p:nvSpPr>
        <p:spPr>
          <a:xfrm>
            <a:off x="8572286" y="1381125"/>
            <a:ext cx="0" cy="4076700"/>
          </a:xfrm>
          <a:prstGeom prst="line">
            <a:avLst/>
          </a:prstGeom>
          <a:noFill/>
          <a:ln w="5715">
            <a:solidFill>
              <a:srgbClr val="13315C"/>
            </a:solidFill>
            <a:prstDash val="solid"/>
          </a:ln>
        </p:spPr>
      </p:sp>
      <p:sp>
        <p:nvSpPr>
          <p:cNvPr id="15" name="Shape 13"/>
          <p:cNvSpPr/>
          <p:nvPr/>
        </p:nvSpPr>
        <p:spPr>
          <a:xfrm>
            <a:off x="8867553" y="1381125"/>
            <a:ext cx="0" cy="4076700"/>
          </a:xfrm>
          <a:prstGeom prst="line">
            <a:avLst/>
          </a:prstGeom>
          <a:noFill/>
          <a:ln w="5715">
            <a:solidFill>
              <a:srgbClr val="13315C"/>
            </a:solidFill>
            <a:prstDash val="solid"/>
          </a:ln>
        </p:spPr>
      </p:sp>
      <p:sp>
        <p:nvSpPr>
          <p:cNvPr id="16" name="Shape 14"/>
          <p:cNvSpPr/>
          <p:nvPr/>
        </p:nvSpPr>
        <p:spPr>
          <a:xfrm>
            <a:off x="9162821" y="1381125"/>
            <a:ext cx="0" cy="4076700"/>
          </a:xfrm>
          <a:prstGeom prst="line">
            <a:avLst/>
          </a:prstGeom>
          <a:noFill/>
          <a:ln w="5715">
            <a:solidFill>
              <a:srgbClr val="13315C"/>
            </a:solidFill>
            <a:prstDash val="solid"/>
          </a:ln>
        </p:spPr>
      </p:sp>
      <p:sp>
        <p:nvSpPr>
          <p:cNvPr id="17" name="Shape 15"/>
          <p:cNvSpPr/>
          <p:nvPr/>
        </p:nvSpPr>
        <p:spPr>
          <a:xfrm>
            <a:off x="9458089" y="1381125"/>
            <a:ext cx="0" cy="4076700"/>
          </a:xfrm>
          <a:prstGeom prst="line">
            <a:avLst/>
          </a:prstGeom>
          <a:noFill/>
          <a:ln w="5715">
            <a:solidFill>
              <a:srgbClr val="13315C"/>
            </a:solidFill>
            <a:prstDash val="solid"/>
          </a:ln>
        </p:spPr>
      </p:sp>
      <p:sp>
        <p:nvSpPr>
          <p:cNvPr id="18" name="Shape 16"/>
          <p:cNvSpPr/>
          <p:nvPr/>
        </p:nvSpPr>
        <p:spPr>
          <a:xfrm>
            <a:off x="9753356" y="1381125"/>
            <a:ext cx="0" cy="4076700"/>
          </a:xfrm>
          <a:prstGeom prst="line">
            <a:avLst/>
          </a:prstGeom>
          <a:noFill/>
          <a:ln w="5715">
            <a:solidFill>
              <a:srgbClr val="13315C"/>
            </a:solidFill>
            <a:prstDash val="solid"/>
          </a:ln>
        </p:spPr>
      </p:sp>
      <p:sp>
        <p:nvSpPr>
          <p:cNvPr id="19" name="Shape 17"/>
          <p:cNvSpPr/>
          <p:nvPr/>
        </p:nvSpPr>
        <p:spPr>
          <a:xfrm>
            <a:off x="10048624" y="1381125"/>
            <a:ext cx="0" cy="4076700"/>
          </a:xfrm>
          <a:prstGeom prst="line">
            <a:avLst/>
          </a:prstGeom>
          <a:noFill/>
          <a:ln w="5715">
            <a:solidFill>
              <a:srgbClr val="13315C"/>
            </a:solidFill>
            <a:prstDash val="solid"/>
          </a:ln>
        </p:spPr>
      </p:sp>
      <p:sp>
        <p:nvSpPr>
          <p:cNvPr id="20" name="Shape 18"/>
          <p:cNvSpPr/>
          <p:nvPr/>
        </p:nvSpPr>
        <p:spPr>
          <a:xfrm>
            <a:off x="10343891" y="1381125"/>
            <a:ext cx="0" cy="4076700"/>
          </a:xfrm>
          <a:prstGeom prst="line">
            <a:avLst/>
          </a:prstGeom>
          <a:noFill/>
          <a:ln w="5715">
            <a:solidFill>
              <a:srgbClr val="13315C"/>
            </a:solidFill>
            <a:prstDash val="solid"/>
          </a:ln>
        </p:spPr>
      </p:sp>
      <p:sp>
        <p:nvSpPr>
          <p:cNvPr id="21" name="Shape 19"/>
          <p:cNvSpPr/>
          <p:nvPr/>
        </p:nvSpPr>
        <p:spPr>
          <a:xfrm>
            <a:off x="10639159" y="1381125"/>
            <a:ext cx="0" cy="4076700"/>
          </a:xfrm>
          <a:prstGeom prst="line">
            <a:avLst/>
          </a:prstGeom>
          <a:noFill/>
          <a:ln w="5715">
            <a:solidFill>
              <a:srgbClr val="13315C"/>
            </a:solidFill>
            <a:prstDash val="solid"/>
          </a:ln>
        </p:spPr>
      </p:sp>
      <p:sp>
        <p:nvSpPr>
          <p:cNvPr id="22" name="Shape 20"/>
          <p:cNvSpPr/>
          <p:nvPr/>
        </p:nvSpPr>
        <p:spPr>
          <a:xfrm>
            <a:off x="10934427" y="1381125"/>
            <a:ext cx="0" cy="4076700"/>
          </a:xfrm>
          <a:prstGeom prst="line">
            <a:avLst/>
          </a:prstGeom>
          <a:noFill/>
          <a:ln w="5715">
            <a:solidFill>
              <a:srgbClr val="13315C"/>
            </a:solidFill>
            <a:prstDash val="solid"/>
          </a:ln>
        </p:spPr>
      </p:sp>
      <p:sp>
        <p:nvSpPr>
          <p:cNvPr id="23" name="Shape 21"/>
          <p:cNvSpPr/>
          <p:nvPr/>
        </p:nvSpPr>
        <p:spPr>
          <a:xfrm>
            <a:off x="11229694" y="1381125"/>
            <a:ext cx="0" cy="4076700"/>
          </a:xfrm>
          <a:prstGeom prst="line">
            <a:avLst/>
          </a:prstGeom>
          <a:noFill/>
          <a:ln w="5715">
            <a:solidFill>
              <a:srgbClr val="13315C"/>
            </a:solidFill>
            <a:prstDash val="solid"/>
          </a:ln>
        </p:spPr>
      </p:sp>
      <p:sp>
        <p:nvSpPr>
          <p:cNvPr id="24" name="Shape 22"/>
          <p:cNvSpPr/>
          <p:nvPr/>
        </p:nvSpPr>
        <p:spPr>
          <a:xfrm>
            <a:off x="11524962" y="1381125"/>
            <a:ext cx="0" cy="4076700"/>
          </a:xfrm>
          <a:prstGeom prst="line">
            <a:avLst/>
          </a:prstGeom>
          <a:noFill/>
          <a:ln w="5715">
            <a:solidFill>
              <a:srgbClr val="13315C"/>
            </a:solidFill>
            <a:prstDash val="solid"/>
          </a:ln>
        </p:spPr>
      </p:sp>
      <p:sp>
        <p:nvSpPr>
          <p:cNvPr id="25" name="Shape 23"/>
          <p:cNvSpPr/>
          <p:nvPr/>
        </p:nvSpPr>
        <p:spPr>
          <a:xfrm>
            <a:off x="7981750" y="1381125"/>
            <a:ext cx="3543211" cy="0"/>
          </a:xfrm>
          <a:prstGeom prst="line">
            <a:avLst/>
          </a:prstGeom>
          <a:noFill/>
          <a:ln w="5715">
            <a:solidFill>
              <a:srgbClr val="13315C"/>
            </a:solidFill>
            <a:prstDash val="solid"/>
          </a:ln>
        </p:spPr>
      </p:sp>
      <p:sp>
        <p:nvSpPr>
          <p:cNvPr id="26" name="Shape 24"/>
          <p:cNvSpPr/>
          <p:nvPr/>
        </p:nvSpPr>
        <p:spPr>
          <a:xfrm>
            <a:off x="7981750" y="1676400"/>
            <a:ext cx="3543211" cy="0"/>
          </a:xfrm>
          <a:prstGeom prst="line">
            <a:avLst/>
          </a:prstGeom>
          <a:noFill/>
          <a:ln w="5715">
            <a:solidFill>
              <a:srgbClr val="13315C"/>
            </a:solidFill>
            <a:prstDash val="solid"/>
          </a:ln>
        </p:spPr>
      </p:sp>
      <p:sp>
        <p:nvSpPr>
          <p:cNvPr id="27" name="Shape 25"/>
          <p:cNvSpPr/>
          <p:nvPr/>
        </p:nvSpPr>
        <p:spPr>
          <a:xfrm>
            <a:off x="7981750" y="1971675"/>
            <a:ext cx="3543211" cy="0"/>
          </a:xfrm>
          <a:prstGeom prst="line">
            <a:avLst/>
          </a:prstGeom>
          <a:noFill/>
          <a:ln w="5715">
            <a:solidFill>
              <a:srgbClr val="13315C"/>
            </a:solidFill>
            <a:prstDash val="solid"/>
          </a:ln>
        </p:spPr>
      </p:sp>
      <p:sp>
        <p:nvSpPr>
          <p:cNvPr id="28" name="Shape 26"/>
          <p:cNvSpPr/>
          <p:nvPr/>
        </p:nvSpPr>
        <p:spPr>
          <a:xfrm>
            <a:off x="7981750" y="2266950"/>
            <a:ext cx="3543211" cy="0"/>
          </a:xfrm>
          <a:prstGeom prst="line">
            <a:avLst/>
          </a:prstGeom>
          <a:noFill/>
          <a:ln w="5715">
            <a:solidFill>
              <a:srgbClr val="13315C"/>
            </a:solidFill>
            <a:prstDash val="solid"/>
          </a:ln>
        </p:spPr>
      </p:sp>
      <p:sp>
        <p:nvSpPr>
          <p:cNvPr id="29" name="Shape 27"/>
          <p:cNvSpPr/>
          <p:nvPr/>
        </p:nvSpPr>
        <p:spPr>
          <a:xfrm>
            <a:off x="7981750" y="2562225"/>
            <a:ext cx="3543211" cy="0"/>
          </a:xfrm>
          <a:prstGeom prst="line">
            <a:avLst/>
          </a:prstGeom>
          <a:noFill/>
          <a:ln w="5715">
            <a:solidFill>
              <a:srgbClr val="13315C"/>
            </a:solidFill>
            <a:prstDash val="solid"/>
          </a:ln>
        </p:spPr>
      </p:sp>
      <p:sp>
        <p:nvSpPr>
          <p:cNvPr id="30" name="Shape 28"/>
          <p:cNvSpPr/>
          <p:nvPr/>
        </p:nvSpPr>
        <p:spPr>
          <a:xfrm>
            <a:off x="7981750" y="2857500"/>
            <a:ext cx="3543211" cy="0"/>
          </a:xfrm>
          <a:prstGeom prst="line">
            <a:avLst/>
          </a:prstGeom>
          <a:noFill/>
          <a:ln w="5715">
            <a:solidFill>
              <a:srgbClr val="13315C"/>
            </a:solidFill>
            <a:prstDash val="solid"/>
          </a:ln>
        </p:spPr>
      </p:sp>
      <p:sp>
        <p:nvSpPr>
          <p:cNvPr id="31" name="Shape 29"/>
          <p:cNvSpPr/>
          <p:nvPr/>
        </p:nvSpPr>
        <p:spPr>
          <a:xfrm>
            <a:off x="7981750" y="3152775"/>
            <a:ext cx="3543211" cy="0"/>
          </a:xfrm>
          <a:prstGeom prst="line">
            <a:avLst/>
          </a:prstGeom>
          <a:noFill/>
          <a:ln w="5715">
            <a:solidFill>
              <a:srgbClr val="13315C"/>
            </a:solidFill>
            <a:prstDash val="solid"/>
          </a:ln>
        </p:spPr>
      </p:sp>
      <p:sp>
        <p:nvSpPr>
          <p:cNvPr id="32" name="Shape 30"/>
          <p:cNvSpPr/>
          <p:nvPr/>
        </p:nvSpPr>
        <p:spPr>
          <a:xfrm>
            <a:off x="7981750" y="3448050"/>
            <a:ext cx="3543211" cy="0"/>
          </a:xfrm>
          <a:prstGeom prst="line">
            <a:avLst/>
          </a:prstGeom>
          <a:noFill/>
          <a:ln w="5715">
            <a:solidFill>
              <a:srgbClr val="13315C"/>
            </a:solidFill>
            <a:prstDash val="solid"/>
          </a:ln>
        </p:spPr>
      </p:sp>
      <p:sp>
        <p:nvSpPr>
          <p:cNvPr id="33" name="Shape 31"/>
          <p:cNvSpPr/>
          <p:nvPr/>
        </p:nvSpPr>
        <p:spPr>
          <a:xfrm>
            <a:off x="7981750" y="3743325"/>
            <a:ext cx="3543211" cy="0"/>
          </a:xfrm>
          <a:prstGeom prst="line">
            <a:avLst/>
          </a:prstGeom>
          <a:noFill/>
          <a:ln w="5715">
            <a:solidFill>
              <a:srgbClr val="13315C"/>
            </a:solidFill>
            <a:prstDash val="solid"/>
          </a:ln>
        </p:spPr>
      </p:sp>
      <p:sp>
        <p:nvSpPr>
          <p:cNvPr id="34" name="Shape 32"/>
          <p:cNvSpPr/>
          <p:nvPr/>
        </p:nvSpPr>
        <p:spPr>
          <a:xfrm>
            <a:off x="7981750" y="4038600"/>
            <a:ext cx="3543211" cy="0"/>
          </a:xfrm>
          <a:prstGeom prst="line">
            <a:avLst/>
          </a:prstGeom>
          <a:noFill/>
          <a:ln w="5715">
            <a:solidFill>
              <a:srgbClr val="13315C"/>
            </a:solidFill>
            <a:prstDash val="solid"/>
          </a:ln>
        </p:spPr>
      </p:sp>
      <p:sp>
        <p:nvSpPr>
          <p:cNvPr id="35" name="Shape 33"/>
          <p:cNvSpPr/>
          <p:nvPr/>
        </p:nvSpPr>
        <p:spPr>
          <a:xfrm>
            <a:off x="7981750" y="4333875"/>
            <a:ext cx="3543211" cy="0"/>
          </a:xfrm>
          <a:prstGeom prst="line">
            <a:avLst/>
          </a:prstGeom>
          <a:noFill/>
          <a:ln w="5715">
            <a:solidFill>
              <a:srgbClr val="13315C"/>
            </a:solidFill>
            <a:prstDash val="solid"/>
          </a:ln>
        </p:spPr>
      </p:sp>
      <p:sp>
        <p:nvSpPr>
          <p:cNvPr id="36" name="Shape 34"/>
          <p:cNvSpPr/>
          <p:nvPr/>
        </p:nvSpPr>
        <p:spPr>
          <a:xfrm>
            <a:off x="7981750" y="4629150"/>
            <a:ext cx="3543211" cy="0"/>
          </a:xfrm>
          <a:prstGeom prst="line">
            <a:avLst/>
          </a:prstGeom>
          <a:noFill/>
          <a:ln w="5715">
            <a:solidFill>
              <a:srgbClr val="13315C"/>
            </a:solidFill>
            <a:prstDash val="solid"/>
          </a:ln>
        </p:spPr>
      </p:sp>
      <p:sp>
        <p:nvSpPr>
          <p:cNvPr id="37" name="Shape 35"/>
          <p:cNvSpPr/>
          <p:nvPr/>
        </p:nvSpPr>
        <p:spPr>
          <a:xfrm>
            <a:off x="7981750" y="4924425"/>
            <a:ext cx="3543211" cy="0"/>
          </a:xfrm>
          <a:prstGeom prst="line">
            <a:avLst/>
          </a:prstGeom>
          <a:noFill/>
          <a:ln w="5715">
            <a:solidFill>
              <a:srgbClr val="13315C"/>
            </a:solidFill>
            <a:prstDash val="solid"/>
          </a:ln>
        </p:spPr>
      </p:sp>
      <p:sp>
        <p:nvSpPr>
          <p:cNvPr id="38" name="Shape 36"/>
          <p:cNvSpPr/>
          <p:nvPr/>
        </p:nvSpPr>
        <p:spPr>
          <a:xfrm>
            <a:off x="7981750" y="5219700"/>
            <a:ext cx="3543211" cy="0"/>
          </a:xfrm>
          <a:prstGeom prst="line">
            <a:avLst/>
          </a:prstGeom>
          <a:noFill/>
          <a:ln w="5715">
            <a:solidFill>
              <a:srgbClr val="13315C"/>
            </a:solidFill>
            <a:prstDash val="solid"/>
          </a:ln>
        </p:spPr>
      </p:sp>
      <p:sp>
        <p:nvSpPr>
          <p:cNvPr id="39" name="Shape 37"/>
          <p:cNvSpPr/>
          <p:nvPr/>
        </p:nvSpPr>
        <p:spPr>
          <a:xfrm>
            <a:off x="8600860" y="2743200"/>
            <a:ext cx="2190695" cy="2190750"/>
          </a:xfrm>
          <a:prstGeom prst="ellipse">
            <a:avLst/>
          </a:prstGeom>
          <a:solidFill>
            <a:srgbClr val="FFFFFF">
              <a:alpha val="0"/>
            </a:srgbClr>
          </a:solidFill>
          <a:ln w="7620">
            <a:solidFill>
              <a:srgbClr val="345B7B"/>
            </a:solidFill>
            <a:prstDash val="solid"/>
          </a:ln>
        </p:spPr>
      </p:sp>
      <p:sp>
        <p:nvSpPr>
          <p:cNvPr id="40" name="Shape 38"/>
          <p:cNvSpPr/>
          <p:nvPr/>
        </p:nvSpPr>
        <p:spPr>
          <a:xfrm>
            <a:off x="8981850" y="3124200"/>
            <a:ext cx="1428714" cy="1428750"/>
          </a:xfrm>
          <a:prstGeom prst="ellipse">
            <a:avLst/>
          </a:prstGeom>
          <a:solidFill>
            <a:srgbClr val="FFFFFF">
              <a:alpha val="0"/>
            </a:srgbClr>
          </a:solidFill>
          <a:ln w="7620">
            <a:solidFill>
              <a:srgbClr val="345B7B"/>
            </a:solidFill>
            <a:prstDash val="solid"/>
          </a:ln>
        </p:spPr>
      </p:sp>
      <p:sp>
        <p:nvSpPr>
          <p:cNvPr id="41" name="Shape 39"/>
          <p:cNvSpPr/>
          <p:nvPr/>
        </p:nvSpPr>
        <p:spPr>
          <a:xfrm>
            <a:off x="9696208" y="3838575"/>
            <a:ext cx="1543011" cy="0"/>
          </a:xfrm>
          <a:prstGeom prst="line">
            <a:avLst/>
          </a:prstGeom>
          <a:noFill/>
          <a:ln w="17145">
            <a:solidFill>
              <a:srgbClr val="87A8C6"/>
            </a:solidFill>
            <a:prstDash val="solid"/>
            <a:tailEnd type="triangle"/>
          </a:ln>
        </p:spPr>
      </p:sp>
      <p:sp>
        <p:nvSpPr>
          <p:cNvPr id="42" name="Shape 40"/>
          <p:cNvSpPr/>
          <p:nvPr/>
        </p:nvSpPr>
        <p:spPr>
          <a:xfrm>
            <a:off x="9696208" y="1971675"/>
            <a:ext cx="0" cy="1866900"/>
          </a:xfrm>
          <a:prstGeom prst="line">
            <a:avLst/>
          </a:prstGeom>
          <a:noFill/>
          <a:ln w="17145">
            <a:solidFill>
              <a:srgbClr val="87A8C6"/>
            </a:solidFill>
            <a:prstDash val="solid"/>
            <a:tailEnd type="triangle"/>
          </a:ln>
        </p:spPr>
      </p:sp>
      <p:sp>
        <p:nvSpPr>
          <p:cNvPr id="43" name="Shape 41"/>
          <p:cNvSpPr/>
          <p:nvPr/>
        </p:nvSpPr>
        <p:spPr>
          <a:xfrm flipV="1">
            <a:off x="8638959" y="3838575"/>
            <a:ext cx="1057249" cy="981075"/>
          </a:xfrm>
          <a:prstGeom prst="line">
            <a:avLst/>
          </a:prstGeom>
          <a:noFill/>
          <a:ln w="17145">
            <a:solidFill>
              <a:srgbClr val="87A8C6"/>
            </a:solidFill>
            <a:prstDash val="solid"/>
            <a:tailEnd type="triangle"/>
          </a:ln>
        </p:spPr>
      </p:sp>
      <p:sp>
        <p:nvSpPr>
          <p:cNvPr id="44" name="Shape 42"/>
          <p:cNvSpPr/>
          <p:nvPr/>
        </p:nvSpPr>
        <p:spPr>
          <a:xfrm flipV="1">
            <a:off x="9696208" y="2571750"/>
            <a:ext cx="1114397" cy="1266825"/>
          </a:xfrm>
          <a:prstGeom prst="line">
            <a:avLst/>
          </a:prstGeom>
          <a:noFill/>
          <a:ln w="47625">
            <a:solidFill>
              <a:srgbClr val="F77F00"/>
            </a:solidFill>
            <a:prstDash val="solid"/>
            <a:tailEnd type="triangle"/>
          </a:ln>
        </p:spPr>
      </p:sp>
      <p:sp>
        <p:nvSpPr>
          <p:cNvPr id="45" name="Shape 43"/>
          <p:cNvSpPr/>
          <p:nvPr/>
        </p:nvSpPr>
        <p:spPr>
          <a:xfrm>
            <a:off x="10810605" y="2571750"/>
            <a:ext cx="0" cy="1266825"/>
          </a:xfrm>
          <a:prstGeom prst="line">
            <a:avLst/>
          </a:prstGeom>
          <a:noFill/>
          <a:ln w="11430">
            <a:solidFill>
              <a:srgbClr val="526F8F"/>
            </a:solidFill>
            <a:prstDash val="solid"/>
          </a:ln>
        </p:spPr>
      </p:sp>
      <p:sp>
        <p:nvSpPr>
          <p:cNvPr id="46" name="Shape 44"/>
          <p:cNvSpPr/>
          <p:nvPr/>
        </p:nvSpPr>
        <p:spPr>
          <a:xfrm>
            <a:off x="9696208" y="2571750"/>
            <a:ext cx="1114397" cy="0"/>
          </a:xfrm>
          <a:prstGeom prst="line">
            <a:avLst/>
          </a:prstGeom>
          <a:noFill/>
          <a:ln w="11430">
            <a:solidFill>
              <a:srgbClr val="526F8F"/>
            </a:solidFill>
            <a:prstDash val="solid"/>
          </a:ln>
        </p:spPr>
      </p:sp>
      <p:sp>
        <p:nvSpPr>
          <p:cNvPr id="47" name="Shape 45"/>
          <p:cNvSpPr/>
          <p:nvPr/>
        </p:nvSpPr>
        <p:spPr>
          <a:xfrm>
            <a:off x="9648584" y="3790950"/>
            <a:ext cx="95248" cy="95250"/>
          </a:xfrm>
          <a:prstGeom prst="ellipse">
            <a:avLst/>
          </a:prstGeom>
          <a:solidFill>
            <a:srgbClr val="F77F00"/>
          </a:solidFill>
          <a:ln w="12700">
            <a:solidFill>
              <a:srgbClr val="F77F00">
                <a:alpha val="0"/>
              </a:srgbClr>
            </a:solidFill>
            <a:prstDash val="solid"/>
          </a:ln>
        </p:spPr>
      </p:sp>
      <p:sp>
        <p:nvSpPr>
          <p:cNvPr id="48" name="Text 46"/>
          <p:cNvSpPr txBox="1"/>
          <p:nvPr/>
        </p:nvSpPr>
        <p:spPr>
          <a:xfrm>
            <a:off x="11277318" y="3733800"/>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x</a:t>
            </a:r>
            <a:endParaRPr lang="en-US" sz="1600" dirty="0"/>
          </a:p>
        </p:txBody>
      </p:sp>
      <p:sp>
        <p:nvSpPr>
          <p:cNvPr id="49" name="Text 47"/>
          <p:cNvSpPr txBox="1"/>
          <p:nvPr/>
        </p:nvSpPr>
        <p:spPr>
          <a:xfrm>
            <a:off x="9600960" y="1685925"/>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y</a:t>
            </a:r>
            <a:endParaRPr lang="en-US" sz="1600" dirty="0"/>
          </a:p>
        </p:txBody>
      </p:sp>
      <p:sp>
        <p:nvSpPr>
          <p:cNvPr id="50" name="Text 48"/>
          <p:cNvSpPr txBox="1"/>
          <p:nvPr/>
        </p:nvSpPr>
        <p:spPr>
          <a:xfrm>
            <a:off x="8419889" y="4819650"/>
            <a:ext cx="228594" cy="257175"/>
          </a:xfrm>
          <a:prstGeom prst="rect">
            <a:avLst/>
          </a:prstGeom>
          <a:noFill/>
          <a:ln/>
        </p:spPr>
        <p:txBody>
          <a:bodyPr wrap="square" lIns="0" tIns="0" rIns="0" bIns="0" rtlCol="0" anchor="t"/>
          <a:lstStyle/>
          <a:p>
            <a:pPr algn="l" indent="0" marL="0">
              <a:lnSpc>
                <a:spcPct val="114000"/>
              </a:lnSpc>
              <a:buNone/>
            </a:pPr>
            <a:r>
              <a:rPr lang="en-US" sz="1600" dirty="0">
                <a:solidFill>
                  <a:srgbClr val="BCCBDB"/>
                </a:solidFill>
                <a:latin typeface="Arial" pitchFamily="34" charset="0"/>
                <a:ea typeface="Arial" pitchFamily="34" charset="-122"/>
                <a:cs typeface="Arial" pitchFamily="34" charset="-120"/>
              </a:rPr>
              <a:t>z</a:t>
            </a:r>
            <a:endParaRPr lang="en-US" sz="1600" dirty="0"/>
          </a:p>
        </p:txBody>
      </p:sp>
      <p:sp>
        <p:nvSpPr>
          <p:cNvPr id="51" name="Text 49"/>
          <p:cNvSpPr txBox="1"/>
          <p:nvPr/>
        </p:nvSpPr>
        <p:spPr>
          <a:xfrm>
            <a:off x="10915377" y="2381250"/>
            <a:ext cx="304792" cy="342900"/>
          </a:xfrm>
          <a:prstGeom prst="rect">
            <a:avLst/>
          </a:prstGeom>
          <a:noFill/>
          <a:ln/>
        </p:spPr>
        <p:txBody>
          <a:bodyPr wrap="square" lIns="0" tIns="0" rIns="0" bIns="0" rtlCol="0" anchor="t"/>
          <a:lstStyle/>
          <a:p>
            <a:pPr algn="l" indent="0" marL="0">
              <a:lnSpc>
                <a:spcPct val="114000"/>
              </a:lnSpc>
              <a:buNone/>
            </a:pPr>
            <a:r>
              <a:rPr lang="en-US" sz="2000" b="1" dirty="0">
                <a:solidFill>
                  <a:srgbClr val="F77F00"/>
                </a:solidFill>
                <a:latin typeface="Arial" pitchFamily="34" charset="0"/>
                <a:ea typeface="Arial" pitchFamily="34" charset="-122"/>
                <a:cs typeface="Arial" pitchFamily="34" charset="-120"/>
              </a:rPr>
              <a:t>F</a:t>
            </a:r>
            <a:endParaRPr lang="en-US" sz="2000" dirty="0"/>
          </a:p>
        </p:txBody>
      </p:sp>
      <p:sp>
        <p:nvSpPr>
          <p:cNvPr id="52" name="Text 50"/>
          <p:cNvSpPr txBox="1"/>
          <p:nvPr/>
        </p:nvSpPr>
        <p:spPr>
          <a:xfrm>
            <a:off x="609585" y="1362075"/>
            <a:ext cx="7029274" cy="1695450"/>
          </a:xfrm>
          <a:prstGeom prst="rect">
            <a:avLst/>
          </a:prstGeom>
          <a:noFill/>
          <a:ln/>
        </p:spPr>
        <p:txBody>
          <a:bodyPr wrap="square" lIns="0" tIns="0" rIns="0" bIns="0" rtlCol="0" anchor="t"/>
          <a:lstStyle/>
          <a:p>
            <a:pPr algn="l" indent="0" marL="0">
              <a:lnSpc>
                <a:spcPct val="114000"/>
              </a:lnSpc>
              <a:buNone/>
            </a:pPr>
            <a:r>
              <a:rPr lang="en-US" sz="3600" b="1" dirty="0">
                <a:solidFill>
                  <a:srgbClr val="FFFFFF"/>
                </a:solidFill>
                <a:latin typeface="Arial" pitchFamily="34" charset="0"/>
                <a:ea typeface="Arial" pitchFamily="34" charset="-122"/>
                <a:cs typeface="Arial" pitchFamily="34" charset="-120"/>
              </a:rPr>
              <a:t>CẢM ƠN HỘI ĐỒNG</a:t>
            </a:r>
            <a:endParaRPr lang="en-US" sz="3600" dirty="0"/>
          </a:p>
          <a:p>
            <a:pPr algn="l" indent="0" marL="0">
              <a:lnSpc>
                <a:spcPct val="114000"/>
              </a:lnSpc>
              <a:buNone/>
            </a:pPr>
            <a:r>
              <a:rPr lang="en-US" sz="3600" b="1" dirty="0">
                <a:solidFill>
                  <a:srgbClr val="FFFFFF"/>
                </a:solidFill>
                <a:latin typeface="Arial" pitchFamily="34" charset="0"/>
                <a:ea typeface="Arial" pitchFamily="34" charset="-122"/>
                <a:cs typeface="Arial" pitchFamily="34" charset="-120"/>
              </a:rPr>
              <a:t>HỎI–ĐÁP</a:t>
            </a:r>
            <a:endParaRPr lang="en-US" sz="3600" dirty="0"/>
          </a:p>
        </p:txBody>
      </p:sp>
      <p:sp>
        <p:nvSpPr>
          <p:cNvPr id="53" name="Text 51"/>
          <p:cNvSpPr txBox="1"/>
          <p:nvPr/>
        </p:nvSpPr>
        <p:spPr>
          <a:xfrm>
            <a:off x="609585" y="3238500"/>
            <a:ext cx="6953076" cy="800100"/>
          </a:xfrm>
          <a:prstGeom prst="rect">
            <a:avLst/>
          </a:prstGeom>
          <a:noFill/>
          <a:ln/>
        </p:spPr>
        <p:txBody>
          <a:bodyPr wrap="square" lIns="0" tIns="0" rIns="0" bIns="0" rtlCol="0" anchor="t"/>
          <a:lstStyle/>
          <a:p>
            <a:pPr algn="l" indent="0" marL="0">
              <a:lnSpc>
                <a:spcPct val="114000"/>
              </a:lnSpc>
              <a:buNone/>
            </a:pPr>
            <a:r>
              <a:rPr lang="en-US" sz="2000" dirty="0">
                <a:solidFill>
                  <a:srgbClr val="CCD8E5"/>
                </a:solidFill>
                <a:latin typeface="Arial" pitchFamily="34" charset="0"/>
                <a:ea typeface="Arial" pitchFamily="34" charset="-122"/>
                <a:cs typeface="Arial" pitchFamily="34" charset="-120"/>
              </a:rPr>
              <a:t>Trao đổi về bằng chứng, phạm vi sử dụng và ưu tiên hoàn</a:t>
            </a:r>
            <a:endParaRPr lang="en-US" sz="2000" dirty="0"/>
          </a:p>
          <a:p>
            <a:pPr algn="l" indent="0" marL="0">
              <a:lnSpc>
                <a:spcPct val="114000"/>
              </a:lnSpc>
              <a:buNone/>
            </a:pPr>
            <a:r>
              <a:rPr lang="en-US" sz="2000" dirty="0">
                <a:solidFill>
                  <a:srgbClr val="CCD8E5"/>
                </a:solidFill>
                <a:latin typeface="Arial" pitchFamily="34" charset="0"/>
                <a:ea typeface="Arial" pitchFamily="34" charset="-122"/>
                <a:cs typeface="Arial" pitchFamily="34" charset="-120"/>
              </a:rPr>
              <a:t>thiện.</a:t>
            </a:r>
            <a:endParaRPr lang="en-US" sz="2000" dirty="0"/>
          </a:p>
        </p:txBody>
      </p:sp>
      <p:sp>
        <p:nvSpPr>
          <p:cNvPr id="54" name="Text 52"/>
          <p:cNvSpPr txBox="1"/>
          <p:nvPr/>
        </p:nvSpPr>
        <p:spPr>
          <a:xfrm>
            <a:off x="609585" y="4229100"/>
            <a:ext cx="7029274" cy="1438275"/>
          </a:xfrm>
          <a:prstGeom prst="rect">
            <a:avLst/>
          </a:prstGeom>
          <a:noFill/>
          <a:ln/>
        </p:spPr>
        <p:txBody>
          <a:bodyPr wrap="square" lIns="0" tIns="0" rIns="0" bIns="0" rtlCol="0" anchor="t"/>
          <a:lstStyle/>
          <a:p>
            <a:pPr algn="l" indent="0" marL="0">
              <a:lnSpc>
                <a:spcPct val="114000"/>
              </a:lnSpc>
              <a:buNone/>
            </a:pPr>
            <a:r>
              <a:rPr lang="en-US" sz="1800" dirty="0">
                <a:solidFill>
                  <a:srgbClr val="CCD8E5"/>
                </a:solidFill>
                <a:latin typeface="Arial" pitchFamily="34" charset="0"/>
                <a:ea typeface="Arial" pitchFamily="34" charset="-122"/>
                <a:cs typeface="Arial" pitchFamily="34" charset="-120"/>
              </a:rPr>
              <a:t>Mã nguồn công khai — Có thể truy cập từ địa chỉ trong ghi chú.</a:t>
            </a:r>
            <a:endParaRPr lang="en-US" sz="1800" dirty="0"/>
          </a:p>
          <a:p>
            <a:pPr algn="l" indent="0" marL="0">
              <a:lnSpc>
                <a:spcPct val="114000"/>
              </a:lnSpc>
              <a:buNone/>
            </a:pPr>
            <a:r>
              <a:rPr lang="en-US" sz="1800" dirty="0">
                <a:solidFill>
                  <a:srgbClr val="CCD8E5"/>
                </a:solidFill>
                <a:latin typeface="Arial" pitchFamily="34" charset="0"/>
                <a:ea typeface="Arial" pitchFamily="34" charset="-122"/>
                <a:cs typeface="Arial" pitchFamily="34" charset="-120"/>
              </a:rPr>
              <a:t>Trang dự phòng — 33 · Vòng đời tải bài</a:t>
            </a:r>
            <a:endParaRPr lang="en-US" sz="1800" dirty="0"/>
          </a:p>
          <a:p>
            <a:pPr algn="l" indent="0" marL="0">
              <a:lnSpc>
                <a:spcPct val="114000"/>
              </a:lnSpc>
              <a:buNone/>
            </a:pPr>
            <a:r>
              <a:rPr lang="en-US" sz="1800" dirty="0">
                <a:solidFill>
                  <a:srgbClr val="CCD8E5"/>
                </a:solidFill>
                <a:latin typeface="Arial" pitchFamily="34" charset="0"/>
                <a:ea typeface="Arial" pitchFamily="34" charset="-122"/>
                <a:cs typeface="Arial" pitchFamily="34" charset="-120"/>
              </a:rPr>
              <a:t>34 · Danh mục mô phỏng</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DỰ PHÒNG CHO HỎI–ĐÁP</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Chi tiết kiến trúc và vòng đời bài</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Từ chọn bài, tải nội dung đến mở mô phỏng và chuyển bài.</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Chuyển bài phải tránh thao tác và tài nguyên còn sót; nguồn mới vẫn cần kiểm lại.</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33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1833116"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209800"/>
            <a:ext cx="7257869" cy="3505200"/>
          </a:xfrm>
          <a:prstGeom prst="roundRect">
            <a:avLst>
              <a:gd name="adj" fmla="val 2717"/>
            </a:avLst>
          </a:prstGeom>
          <a:solidFill>
            <a:srgbClr val="FFFFFF"/>
          </a:solidFill>
          <a:ln w="7620">
            <a:solidFill>
              <a:srgbClr val="D8E1EB"/>
            </a:solidFill>
            <a:prstDash val="solid"/>
          </a:ln>
        </p:spPr>
      </p:sp>
      <p:pic>
        <p:nvPicPr>
          <p:cNvPr id="15" name="Image 0" descr="Giao diện đang chạy — ảnh chụp ngày 05/10/2026.">    </p:cNvPr>
          <p:cNvPicPr>
            <a:picLocks noChangeAspect="1"/>
          </p:cNvPicPr>
          <p:nvPr/>
        </p:nvPicPr>
        <p:blipFill>
          <a:blip r:embed="rId1"/>
          <a:stretch>
            <a:fillRect/>
          </a:stretch>
        </p:blipFill>
        <p:spPr>
          <a:xfrm>
            <a:off x="723882" y="2679383"/>
            <a:ext cx="7029274" cy="2108835"/>
          </a:xfrm>
          <a:prstGeom prst="rect">
            <a:avLst/>
          </a:prstGeom>
        </p:spPr>
      </p:pic>
      <p:sp>
        <p:nvSpPr>
          <p:cNvPr id="16" name="Text 13"/>
          <p:cNvSpPr txBox="1"/>
          <p:nvPr/>
        </p:nvSpPr>
        <p:spPr>
          <a:xfrm>
            <a:off x="781030" y="5238750"/>
            <a:ext cx="6914977" cy="400050"/>
          </a:xfrm>
          <a:prstGeom prst="rect">
            <a:avLst/>
          </a:prstGeom>
          <a:noFill/>
          <a:ln/>
        </p:spPr>
        <p:txBody>
          <a:bodyPr wrap="square" lIns="0" tIns="0" rIns="0" bIns="0" rtlCol="0" anchor="ctr"/>
          <a:lstStyle/>
          <a:p>
            <a:pPr algn="ctr" indent="0" marL="0">
              <a:lnSpc>
                <a:spcPct val="114000"/>
              </a:lnSpc>
              <a:buNone/>
            </a:pPr>
            <a:r>
              <a:rPr lang="en-US" sz="1200" dirty="0">
                <a:solidFill>
                  <a:srgbClr val="586B81"/>
                </a:solidFill>
                <a:latin typeface="Arial" pitchFamily="34" charset="0"/>
                <a:ea typeface="Arial" pitchFamily="34" charset="-122"/>
                <a:cs typeface="Arial" pitchFamily="34" charset="-120"/>
              </a:rPr>
              <a:t>Giao diện đang chạy — ảnh chụp ngày 05/10/2026.</a:t>
            </a:r>
            <a:endParaRPr lang="en-US" sz="1200" dirty="0"/>
          </a:p>
        </p:txBody>
      </p:sp>
      <p:sp>
        <p:nvSpPr>
          <p:cNvPr id="17" name="Shape 14"/>
          <p:cNvSpPr/>
          <p:nvPr/>
        </p:nvSpPr>
        <p:spPr>
          <a:xfrm>
            <a:off x="8076998" y="2209800"/>
            <a:ext cx="3505112" cy="1092200"/>
          </a:xfrm>
          <a:prstGeom prst="roundRect">
            <a:avLst>
              <a:gd name="adj" fmla="val 8721"/>
            </a:avLst>
          </a:prstGeom>
          <a:solidFill>
            <a:srgbClr val="FFFFFF"/>
          </a:solidFill>
          <a:ln w="7620">
            <a:solidFill>
              <a:srgbClr val="D8E1EB"/>
            </a:solidFill>
            <a:prstDash val="solid"/>
          </a:ln>
        </p:spPr>
      </p:sp>
      <p:sp>
        <p:nvSpPr>
          <p:cNvPr id="18" name="Shape 15"/>
          <p:cNvSpPr/>
          <p:nvPr/>
        </p:nvSpPr>
        <p:spPr>
          <a:xfrm>
            <a:off x="8076998" y="2209800"/>
            <a:ext cx="38099" cy="1092200"/>
          </a:xfrm>
          <a:prstGeom prst="rect">
            <a:avLst/>
          </a:prstGeom>
          <a:solidFill>
            <a:srgbClr val="F77F00"/>
          </a:solidFill>
          <a:ln w="12700">
            <a:solidFill>
              <a:srgbClr val="F77F00">
                <a:alpha val="0"/>
              </a:srgbClr>
            </a:solidFill>
            <a:prstDash val="solid"/>
          </a:ln>
        </p:spPr>
      </p:sp>
      <p:sp>
        <p:nvSpPr>
          <p:cNvPr id="19" name="Text 16"/>
          <p:cNvSpPr txBox="1"/>
          <p:nvPr/>
        </p:nvSpPr>
        <p:spPr>
          <a:xfrm>
            <a:off x="8277018" y="2314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F77F00"/>
                </a:solidFill>
                <a:latin typeface="Arial" pitchFamily="34" charset="0"/>
                <a:ea typeface="Arial" pitchFamily="34" charset="-122"/>
                <a:cs typeface="Arial" pitchFamily="34" charset="-120"/>
              </a:rPr>
              <a:t>Chọn và tải bài</a:t>
            </a:r>
            <a:endParaRPr lang="en-US" sz="1800" dirty="0"/>
          </a:p>
        </p:txBody>
      </p:sp>
      <p:sp>
        <p:nvSpPr>
          <p:cNvPr id="20" name="Text 17"/>
          <p:cNvSpPr txBox="1"/>
          <p:nvPr/>
        </p:nvSpPr>
        <p:spPr>
          <a:xfrm>
            <a:off x="8277018" y="2657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Tìm nội dung trong gói cục bộ</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rồi đưa vào vùng đọc.</a:t>
            </a:r>
            <a:endParaRPr lang="en-US" sz="1600" dirty="0"/>
          </a:p>
        </p:txBody>
      </p:sp>
      <p:sp>
        <p:nvSpPr>
          <p:cNvPr id="21" name="Shape 18"/>
          <p:cNvSpPr/>
          <p:nvPr/>
        </p:nvSpPr>
        <p:spPr>
          <a:xfrm>
            <a:off x="8076998" y="3416300"/>
            <a:ext cx="3505112" cy="1092200"/>
          </a:xfrm>
          <a:prstGeom prst="roundRect">
            <a:avLst>
              <a:gd name="adj" fmla="val 8721"/>
            </a:avLst>
          </a:prstGeom>
          <a:solidFill>
            <a:srgbClr val="FFFFFF"/>
          </a:solidFill>
          <a:ln w="7620">
            <a:solidFill>
              <a:srgbClr val="D8E1EB"/>
            </a:solidFill>
            <a:prstDash val="solid"/>
          </a:ln>
        </p:spPr>
      </p:sp>
      <p:sp>
        <p:nvSpPr>
          <p:cNvPr id="22" name="Shape 19"/>
          <p:cNvSpPr/>
          <p:nvPr/>
        </p:nvSpPr>
        <p:spPr>
          <a:xfrm>
            <a:off x="8076998" y="3416300"/>
            <a:ext cx="38099" cy="1092200"/>
          </a:xfrm>
          <a:prstGeom prst="rect">
            <a:avLst/>
          </a:prstGeom>
          <a:solidFill>
            <a:srgbClr val="13315C"/>
          </a:solidFill>
          <a:ln w="12700">
            <a:solidFill>
              <a:srgbClr val="13315C">
                <a:alpha val="0"/>
              </a:srgbClr>
            </a:solidFill>
            <a:prstDash val="solid"/>
          </a:ln>
        </p:spPr>
      </p:sp>
      <p:sp>
        <p:nvSpPr>
          <p:cNvPr id="23" name="Text 20"/>
          <p:cNvSpPr txBox="1"/>
          <p:nvPr/>
        </p:nvSpPr>
        <p:spPr>
          <a:xfrm>
            <a:off x="8277018" y="35210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13315C"/>
                </a:solidFill>
                <a:latin typeface="Arial" pitchFamily="34" charset="0"/>
                <a:ea typeface="Arial" pitchFamily="34" charset="-122"/>
                <a:cs typeface="Arial" pitchFamily="34" charset="-120"/>
              </a:rPr>
              <a:t>Mở tương tác</a:t>
            </a:r>
            <a:endParaRPr lang="en-US" sz="1800" dirty="0"/>
          </a:p>
        </p:txBody>
      </p:sp>
      <p:sp>
        <p:nvSpPr>
          <p:cNvPr id="24" name="Text 21"/>
          <p:cNvSpPr txBox="1"/>
          <p:nvPr/>
        </p:nvSpPr>
        <p:spPr>
          <a:xfrm>
            <a:off x="8277018" y="38639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Hiển thị công thức; khởi tạo mô</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phỏng theo bài.</a:t>
            </a:r>
            <a:endParaRPr lang="en-US" sz="1600" dirty="0"/>
          </a:p>
        </p:txBody>
      </p:sp>
      <p:sp>
        <p:nvSpPr>
          <p:cNvPr id="25" name="Shape 22"/>
          <p:cNvSpPr/>
          <p:nvPr/>
        </p:nvSpPr>
        <p:spPr>
          <a:xfrm>
            <a:off x="8076998" y="4622800"/>
            <a:ext cx="3505112" cy="1092200"/>
          </a:xfrm>
          <a:prstGeom prst="roundRect">
            <a:avLst>
              <a:gd name="adj" fmla="val 8721"/>
            </a:avLst>
          </a:prstGeom>
          <a:solidFill>
            <a:srgbClr val="FFFFFF"/>
          </a:solidFill>
          <a:ln w="7620">
            <a:solidFill>
              <a:srgbClr val="D8E1EB"/>
            </a:solidFill>
            <a:prstDash val="solid"/>
          </a:ln>
        </p:spPr>
      </p:sp>
      <p:sp>
        <p:nvSpPr>
          <p:cNvPr id="26" name="Shape 23"/>
          <p:cNvSpPr/>
          <p:nvPr/>
        </p:nvSpPr>
        <p:spPr>
          <a:xfrm>
            <a:off x="8076998" y="4622800"/>
            <a:ext cx="38099" cy="1092200"/>
          </a:xfrm>
          <a:prstGeom prst="rect">
            <a:avLst/>
          </a:prstGeom>
          <a:solidFill>
            <a:srgbClr val="2E7D32"/>
          </a:solidFill>
          <a:ln w="12700">
            <a:solidFill>
              <a:srgbClr val="2E7D32">
                <a:alpha val="0"/>
              </a:srgbClr>
            </a:solidFill>
            <a:prstDash val="solid"/>
          </a:ln>
        </p:spPr>
      </p:sp>
      <p:sp>
        <p:nvSpPr>
          <p:cNvPr id="27" name="Text 24"/>
          <p:cNvSpPr txBox="1"/>
          <p:nvPr/>
        </p:nvSpPr>
        <p:spPr>
          <a:xfrm>
            <a:off x="8277018" y="4727575"/>
            <a:ext cx="3105072" cy="304800"/>
          </a:xfrm>
          <a:prstGeom prst="rect">
            <a:avLst/>
          </a:prstGeom>
          <a:noFill/>
          <a:ln/>
        </p:spPr>
        <p:txBody>
          <a:bodyPr wrap="square" lIns="0" tIns="0" rIns="0" bIns="0" rtlCol="0" anchor="t"/>
          <a:lstStyle/>
          <a:p>
            <a:pPr algn="l" indent="0" marL="0">
              <a:lnSpc>
                <a:spcPct val="114000"/>
              </a:lnSpc>
              <a:buNone/>
            </a:pPr>
            <a:r>
              <a:rPr lang="en-US" sz="1800" b="1" dirty="0">
                <a:solidFill>
                  <a:srgbClr val="2E7D32"/>
                </a:solidFill>
                <a:latin typeface="Arial" pitchFamily="34" charset="0"/>
                <a:ea typeface="Arial" pitchFamily="34" charset="-122"/>
                <a:cs typeface="Arial" pitchFamily="34" charset="-120"/>
              </a:rPr>
              <a:t>Chuyển nội dung</a:t>
            </a:r>
            <a:endParaRPr lang="en-US" sz="1800" dirty="0"/>
          </a:p>
        </p:txBody>
      </p:sp>
      <p:sp>
        <p:nvSpPr>
          <p:cNvPr id="28" name="Text 25"/>
          <p:cNvSpPr txBox="1"/>
          <p:nvPr/>
        </p:nvSpPr>
        <p:spPr>
          <a:xfrm>
            <a:off x="8277018" y="5070475"/>
            <a:ext cx="3105072" cy="568325"/>
          </a:xfrm>
          <a:prstGeom prst="rect">
            <a:avLst/>
          </a:prstGeom>
          <a:noFill/>
          <a:ln/>
        </p:spPr>
        <p:txBody>
          <a:bodyPr wrap="square" lIns="0" tIns="0" rIns="0" bIns="0" rtlCol="0" anchor="t"/>
          <a:lstStyle/>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Dừng tác vụ; giải phóng đúng tài</a:t>
            </a:r>
            <a:endParaRPr lang="en-US" sz="1600" dirty="0"/>
          </a:p>
          <a:p>
            <a:pPr algn="l" indent="0" marL="0">
              <a:lnSpc>
                <a:spcPct val="114000"/>
              </a:lnSpc>
              <a:buNone/>
            </a:pPr>
            <a:r>
              <a:rPr lang="en-US" sz="1600" dirty="0">
                <a:solidFill>
                  <a:srgbClr val="24364A"/>
                </a:solidFill>
                <a:latin typeface="Arial" pitchFamily="34" charset="0"/>
                <a:ea typeface="Arial" pitchFamily="34" charset="-122"/>
                <a:cs typeface="Arial" pitchFamily="34" charset="-120"/>
              </a:rPr>
              <a:t>nguyên.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609585" y="428625"/>
            <a:ext cx="304792" cy="0"/>
          </a:xfrm>
          <a:prstGeom prst="line">
            <a:avLst/>
          </a:prstGeom>
          <a:noFill/>
          <a:ln w="28575">
            <a:solidFill>
              <a:srgbClr val="F77F00"/>
            </a:solidFill>
            <a:prstDash val="solid"/>
          </a:ln>
        </p:spPr>
      </p:sp>
      <p:sp>
        <p:nvSpPr>
          <p:cNvPr id="3" name="Text 1"/>
          <p:cNvSpPr txBox="1"/>
          <p:nvPr/>
        </p:nvSpPr>
        <p:spPr>
          <a:xfrm>
            <a:off x="1028674" y="323850"/>
            <a:ext cx="5981550" cy="209550"/>
          </a:xfrm>
          <a:prstGeom prst="rect">
            <a:avLst/>
          </a:prstGeom>
          <a:noFill/>
          <a:ln/>
        </p:spPr>
        <p:txBody>
          <a:bodyPr wrap="square" lIns="0" tIns="0" rIns="0" bIns="0" rtlCol="0" anchor="ctr"/>
          <a:lstStyle/>
          <a:p>
            <a:pPr algn="l" indent="0" marL="0">
              <a:lnSpc>
                <a:spcPct val="114000"/>
              </a:lnSpc>
              <a:buNone/>
            </a:pPr>
            <a:r>
              <a:rPr lang="en-US" sz="1050" b="1" dirty="0">
                <a:solidFill>
                  <a:srgbClr val="586B81"/>
                </a:solidFill>
                <a:latin typeface="Arial" pitchFamily="34" charset="0"/>
                <a:ea typeface="Arial" pitchFamily="34" charset="-122"/>
                <a:cs typeface="Arial" pitchFamily="34" charset="-120"/>
              </a:rPr>
              <a:t>DỰ PHÒNG CHO HỎI–ĐÁP</a:t>
            </a:r>
            <a:endParaRPr lang="en-US" sz="1050" dirty="0"/>
          </a:p>
        </p:txBody>
      </p:sp>
      <p:sp>
        <p:nvSpPr>
          <p:cNvPr id="4" name="Text 2"/>
          <p:cNvSpPr txBox="1"/>
          <p:nvPr/>
        </p:nvSpPr>
        <p:spPr>
          <a:xfrm>
            <a:off x="7295968" y="276225"/>
            <a:ext cx="4286143" cy="381000"/>
          </a:xfrm>
          <a:prstGeom prst="rect">
            <a:avLst/>
          </a:prstGeom>
          <a:noFill/>
          <a:ln/>
        </p:spPr>
        <p:txBody>
          <a:bodyPr wrap="square" lIns="0" tIns="0" rIns="0" bIns="0" rtlCol="0" anchor="ctr"/>
          <a:lstStyle/>
          <a:p>
            <a:pPr algn="r" indent="0" marL="0">
              <a:lnSpc>
                <a:spcPct val="114000"/>
              </a:lnSpc>
              <a:buNone/>
            </a:pPr>
            <a:r>
              <a:rPr lang="en-US" sz="1050" b="1" dirty="0">
                <a:solidFill>
                  <a:srgbClr val="0B2545"/>
                </a:solidFill>
                <a:latin typeface="Arial" pitchFamily="34" charset="0"/>
                <a:ea typeface="Arial" pitchFamily="34" charset="-122"/>
                <a:cs typeface="Arial" pitchFamily="34" charset="-120"/>
              </a:rPr>
              <a:t>HỌC VIỆN HẢI QUÂN</a:t>
            </a:r>
            <a:endParaRPr lang="en-US" sz="1050" dirty="0"/>
          </a:p>
        </p:txBody>
      </p:sp>
      <p:sp>
        <p:nvSpPr>
          <p:cNvPr id="5" name="Text 3"/>
          <p:cNvSpPr txBox="1"/>
          <p:nvPr/>
        </p:nvSpPr>
        <p:spPr>
          <a:xfrm>
            <a:off x="609585" y="733425"/>
            <a:ext cx="10972526" cy="895350"/>
          </a:xfrm>
          <a:prstGeom prst="rect">
            <a:avLst/>
          </a:prstGeom>
          <a:noFill/>
          <a:ln/>
        </p:spPr>
        <p:txBody>
          <a:bodyPr wrap="square" lIns="0" tIns="0" rIns="0" bIns="0" rtlCol="0" anchor="t"/>
          <a:lstStyle/>
          <a:p>
            <a:pPr algn="l" indent="0" marL="0">
              <a:lnSpc>
                <a:spcPct val="114000"/>
              </a:lnSpc>
              <a:buNone/>
            </a:pPr>
            <a:r>
              <a:rPr lang="en-US" sz="3400" b="1" dirty="0">
                <a:solidFill>
                  <a:srgbClr val="0B2545"/>
                </a:solidFill>
                <a:latin typeface="Arial" pitchFamily="34" charset="0"/>
                <a:ea typeface="Arial" pitchFamily="34" charset="-122"/>
                <a:cs typeface="Arial" pitchFamily="34" charset="-120"/>
              </a:rPr>
              <a:t>Danh mục đầy đủ mô phỏng</a:t>
            </a:r>
            <a:endParaRPr lang="en-US" sz="3400" dirty="0"/>
          </a:p>
        </p:txBody>
      </p:sp>
      <p:sp>
        <p:nvSpPr>
          <p:cNvPr id="6" name="Text 4"/>
          <p:cNvSpPr txBox="1"/>
          <p:nvPr/>
        </p:nvSpPr>
        <p:spPr>
          <a:xfrm>
            <a:off x="609585" y="1685925"/>
            <a:ext cx="10972526" cy="428625"/>
          </a:xfrm>
          <a:prstGeom prst="rect">
            <a:avLst/>
          </a:prstGeom>
          <a:noFill/>
          <a:ln/>
        </p:spPr>
        <p:txBody>
          <a:bodyPr wrap="square" lIns="0" tIns="0" rIns="0" bIns="0" rtlCol="0" anchor="t"/>
          <a:lstStyle/>
          <a:p>
            <a:pPr algn="l" indent="0" marL="0">
              <a:lnSpc>
                <a:spcPct val="114000"/>
              </a:lnSpc>
              <a:buNone/>
            </a:pPr>
            <a:r>
              <a:rPr lang="en-US" sz="1600" dirty="0">
                <a:solidFill>
                  <a:srgbClr val="586B81"/>
                </a:solidFill>
                <a:latin typeface="Arial" pitchFamily="34" charset="0"/>
                <a:ea typeface="Arial" pitchFamily="34" charset="-122"/>
                <a:cs typeface="Arial" pitchFamily="34" charset="-120"/>
              </a:rPr>
              <a:t>25 vị trí phẳng · đánh dấu 10 vị trí có bản không gian tăng cường.</a:t>
            </a:r>
            <a:endParaRPr lang="en-US" sz="1600" dirty="0"/>
          </a:p>
        </p:txBody>
      </p:sp>
      <p:sp>
        <p:nvSpPr>
          <p:cNvPr id="7" name="Shape 5"/>
          <p:cNvSpPr/>
          <p:nvPr/>
        </p:nvSpPr>
        <p:spPr>
          <a:xfrm>
            <a:off x="609585" y="5886450"/>
            <a:ext cx="10972526" cy="533400"/>
          </a:xfrm>
          <a:prstGeom prst="rect">
            <a:avLst/>
          </a:prstGeom>
          <a:solidFill>
            <a:srgbClr val="FFF1E1"/>
          </a:solidFill>
          <a:ln w="12700">
            <a:solidFill>
              <a:srgbClr val="FFF1E1">
                <a:alpha val="0"/>
              </a:srgbClr>
            </a:solidFill>
            <a:prstDash val="solid"/>
          </a:ln>
        </p:spPr>
      </p:sp>
      <p:sp>
        <p:nvSpPr>
          <p:cNvPr id="8" name="Shape 6"/>
          <p:cNvSpPr/>
          <p:nvPr/>
        </p:nvSpPr>
        <p:spPr>
          <a:xfrm>
            <a:off x="609585" y="5886450"/>
            <a:ext cx="47624" cy="533400"/>
          </a:xfrm>
          <a:prstGeom prst="rect">
            <a:avLst/>
          </a:prstGeom>
          <a:solidFill>
            <a:srgbClr val="F77F00"/>
          </a:solidFill>
          <a:ln w="12700">
            <a:solidFill>
              <a:srgbClr val="F77F00">
                <a:alpha val="0"/>
              </a:srgbClr>
            </a:solidFill>
            <a:prstDash val="solid"/>
          </a:ln>
        </p:spPr>
      </p:sp>
      <p:sp>
        <p:nvSpPr>
          <p:cNvPr id="9" name="Text 7"/>
          <p:cNvSpPr txBox="1"/>
          <p:nvPr/>
        </p:nvSpPr>
        <p:spPr>
          <a:xfrm>
            <a:off x="819130" y="5972175"/>
            <a:ext cx="10553436" cy="381000"/>
          </a:xfrm>
          <a:prstGeom prst="rect">
            <a:avLst/>
          </a:prstGeom>
          <a:noFill/>
          <a:ln/>
        </p:spPr>
        <p:txBody>
          <a:bodyPr wrap="square" lIns="0" tIns="0" rIns="0" bIns="0" rtlCol="0" anchor="ctr"/>
          <a:lstStyle/>
          <a:p>
            <a:pPr algn="l" indent="0" marL="0">
              <a:lnSpc>
                <a:spcPct val="114000"/>
              </a:lnSpc>
              <a:buNone/>
            </a:pPr>
            <a:r>
              <a:rPr lang="en-US" sz="1700" b="1" dirty="0">
                <a:solidFill>
                  <a:srgbClr val="0B2545"/>
                </a:solidFill>
                <a:latin typeface="Arial" pitchFamily="34" charset="0"/>
                <a:ea typeface="Arial" pitchFamily="34" charset="-122"/>
                <a:cs typeface="Arial" pitchFamily="34" charset="-120"/>
              </a:rPr>
              <a:t>Bản không gian thuộc tập 25 vị trí; danh mục không chứng minh chất lượng mô hình.</a:t>
            </a:r>
            <a:endParaRPr lang="en-US" sz="1700" dirty="0"/>
          </a:p>
        </p:txBody>
      </p:sp>
      <p:sp>
        <p:nvSpPr>
          <p:cNvPr id="10" name="Shape 8"/>
          <p:cNvSpPr/>
          <p:nvPr/>
        </p:nvSpPr>
        <p:spPr>
          <a:xfrm>
            <a:off x="609585" y="6553200"/>
            <a:ext cx="10972526" cy="0"/>
          </a:xfrm>
          <a:prstGeom prst="line">
            <a:avLst/>
          </a:prstGeom>
          <a:noFill/>
          <a:ln w="7620">
            <a:solidFill>
              <a:srgbClr val="D8E1EB"/>
            </a:solidFill>
            <a:prstDash val="solid"/>
          </a:ln>
        </p:spPr>
      </p:sp>
      <p:sp>
        <p:nvSpPr>
          <p:cNvPr id="11" name="Text 9"/>
          <p:cNvSpPr txBox="1"/>
          <p:nvPr/>
        </p:nvSpPr>
        <p:spPr>
          <a:xfrm>
            <a:off x="10610585" y="6610350"/>
            <a:ext cx="971526" cy="161925"/>
          </a:xfrm>
          <a:prstGeom prst="rect">
            <a:avLst/>
          </a:prstGeom>
          <a:noFill/>
          <a:ln/>
        </p:spPr>
        <p:txBody>
          <a:bodyPr wrap="square" lIns="0" tIns="0" rIns="0" bIns="0" rtlCol="0" anchor="t"/>
          <a:lstStyle/>
          <a:p>
            <a:pPr algn="r" indent="0" marL="0">
              <a:lnSpc>
                <a:spcPct val="114000"/>
              </a:lnSpc>
              <a:buNone/>
            </a:pPr>
            <a:r>
              <a:rPr lang="en-US" sz="900" b="1" dirty="0">
                <a:solidFill>
                  <a:srgbClr val="586B81"/>
                </a:solidFill>
                <a:latin typeface="Arial" pitchFamily="34" charset="0"/>
                <a:ea typeface="Arial" pitchFamily="34" charset="-122"/>
                <a:cs typeface="Arial" pitchFamily="34" charset="-120"/>
              </a:rPr>
              <a:t>34 / 34</a:t>
            </a:r>
            <a:endParaRPr lang="en-US" sz="900" dirty="0"/>
          </a:p>
        </p:txBody>
      </p:sp>
      <p:sp>
        <p:nvSpPr>
          <p:cNvPr id="12" name="Shape 10"/>
          <p:cNvSpPr/>
          <p:nvPr/>
        </p:nvSpPr>
        <p:spPr>
          <a:xfrm>
            <a:off x="0" y="6819900"/>
            <a:ext cx="12191695" cy="38100"/>
          </a:xfrm>
          <a:prstGeom prst="rect">
            <a:avLst/>
          </a:prstGeom>
          <a:solidFill>
            <a:srgbClr val="D8E1EB"/>
          </a:solidFill>
          <a:ln w="12700">
            <a:solidFill>
              <a:srgbClr val="D8E1EB">
                <a:alpha val="0"/>
              </a:srgbClr>
            </a:solidFill>
            <a:prstDash val="solid"/>
          </a:ln>
        </p:spPr>
      </p:sp>
      <p:sp>
        <p:nvSpPr>
          <p:cNvPr id="13" name="Shape 11"/>
          <p:cNvSpPr/>
          <p:nvPr/>
        </p:nvSpPr>
        <p:spPr>
          <a:xfrm>
            <a:off x="0" y="6819900"/>
            <a:ext cx="12191695" cy="38100"/>
          </a:xfrm>
          <a:prstGeom prst="rect">
            <a:avLst/>
          </a:prstGeom>
          <a:solidFill>
            <a:srgbClr val="F77F00"/>
          </a:solidFill>
          <a:ln w="12700">
            <a:solidFill>
              <a:srgbClr val="F77F00">
                <a:alpha val="0"/>
              </a:srgbClr>
            </a:solidFill>
            <a:prstDash val="solid"/>
          </a:ln>
        </p:spPr>
      </p:sp>
      <p:sp>
        <p:nvSpPr>
          <p:cNvPr id="14" name="Shape 12"/>
          <p:cNvSpPr/>
          <p:nvPr/>
        </p:nvSpPr>
        <p:spPr>
          <a:xfrm>
            <a:off x="609585" y="2171700"/>
            <a:ext cx="3517812" cy="3600450"/>
          </a:xfrm>
          <a:prstGeom prst="roundRect">
            <a:avLst>
              <a:gd name="adj" fmla="val 2166"/>
            </a:avLst>
          </a:prstGeom>
          <a:solidFill>
            <a:srgbClr val="FFFFFF"/>
          </a:solidFill>
          <a:ln w="7620">
            <a:solidFill>
              <a:srgbClr val="D8E1EB"/>
            </a:solidFill>
            <a:prstDash val="solid"/>
          </a:ln>
        </p:spPr>
      </p:sp>
      <p:sp>
        <p:nvSpPr>
          <p:cNvPr id="15" name="Shape 13"/>
          <p:cNvSpPr/>
          <p:nvPr/>
        </p:nvSpPr>
        <p:spPr>
          <a:xfrm>
            <a:off x="609585" y="2171700"/>
            <a:ext cx="3517812" cy="390525"/>
          </a:xfrm>
          <a:prstGeom prst="rect">
            <a:avLst/>
          </a:prstGeom>
          <a:solidFill>
            <a:srgbClr val="13315C"/>
          </a:solidFill>
          <a:ln w="12700">
            <a:solidFill>
              <a:srgbClr val="13315C">
                <a:alpha val="0"/>
              </a:srgbClr>
            </a:solidFill>
            <a:prstDash val="solid"/>
          </a:ln>
        </p:spPr>
      </p:sp>
      <p:sp>
        <p:nvSpPr>
          <p:cNvPr id="16" name="Text 14"/>
          <p:cNvSpPr txBox="1"/>
          <p:nvPr/>
        </p:nvSpPr>
        <p:spPr>
          <a:xfrm>
            <a:off x="742931" y="2257425"/>
            <a:ext cx="3251119" cy="247650"/>
          </a:xfrm>
          <a:prstGeom prst="rect">
            <a:avLst/>
          </a:prstGeom>
          <a:noFill/>
          <a:ln/>
        </p:spPr>
        <p:txBody>
          <a:bodyPr wrap="square" lIns="0" tIns="0" rIns="0" bIns="0" rtlCol="0" anchor="t"/>
          <a:lstStyle/>
          <a:p>
            <a:pPr algn="l" indent="0" marL="0">
              <a:lnSpc>
                <a:spcPct val="114000"/>
              </a:lnSpc>
              <a:buNone/>
            </a:pPr>
            <a:r>
              <a:rPr lang="en-US" sz="1600" b="1" dirty="0">
                <a:solidFill>
                  <a:srgbClr val="FFFFFF"/>
                </a:solidFill>
                <a:latin typeface="Arial" pitchFamily="34" charset="0"/>
                <a:ea typeface="Arial" pitchFamily="34" charset="-122"/>
                <a:cs typeface="Arial" pitchFamily="34" charset="-120"/>
              </a:rPr>
              <a:t>Chương 1 · Tĩnh học (10)</a:t>
            </a:r>
            <a:endParaRPr lang="en-US" sz="1600" dirty="0"/>
          </a:p>
        </p:txBody>
      </p:sp>
      <p:sp>
        <p:nvSpPr>
          <p:cNvPr id="17" name="Text 15"/>
          <p:cNvSpPr txBox="1"/>
          <p:nvPr/>
        </p:nvSpPr>
        <p:spPr>
          <a:xfrm>
            <a:off x="742931" y="2595563"/>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Véc tơ lực: điểm đặt, phương và độ lớn</a:t>
            </a:r>
            <a:endParaRPr lang="en-US" sz="1150" dirty="0"/>
          </a:p>
        </p:txBody>
      </p:sp>
      <p:sp>
        <p:nvSpPr>
          <p:cNvPr id="18" name="Shape 16"/>
          <p:cNvSpPr/>
          <p:nvPr/>
        </p:nvSpPr>
        <p:spPr>
          <a:xfrm>
            <a:off x="619110" y="2905125"/>
            <a:ext cx="3498763" cy="314325"/>
          </a:xfrm>
          <a:prstGeom prst="rect">
            <a:avLst/>
          </a:prstGeom>
          <a:solidFill>
            <a:srgbClr val="F5F7FA"/>
          </a:solidFill>
          <a:ln w="12700">
            <a:solidFill>
              <a:srgbClr val="F5F7FA">
                <a:alpha val="0"/>
              </a:srgbClr>
            </a:solidFill>
            <a:prstDash val="solid"/>
          </a:ln>
        </p:spPr>
      </p:sp>
      <p:sp>
        <p:nvSpPr>
          <p:cNvPr id="19" name="Text 17"/>
          <p:cNvSpPr txBox="1"/>
          <p:nvPr/>
        </p:nvSpPr>
        <p:spPr>
          <a:xfrm>
            <a:off x="742931" y="2909888"/>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Mô men lực và cánh tay đòn</a:t>
            </a:r>
            <a:endParaRPr lang="en-US" sz="1150" dirty="0"/>
          </a:p>
        </p:txBody>
      </p:sp>
      <p:sp>
        <p:nvSpPr>
          <p:cNvPr id="20" name="Text 18"/>
          <p:cNvSpPr txBox="1"/>
          <p:nvPr/>
        </p:nvSpPr>
        <p:spPr>
          <a:xfrm>
            <a:off x="742931" y="3224213"/>
            <a:ext cx="2574861" cy="304800"/>
          </a:xfrm>
          <a:prstGeom prst="rect">
            <a:avLst/>
          </a:prstGeom>
          <a:noFill/>
          <a:ln/>
        </p:spPr>
        <p:txBody>
          <a:bodyPr wrap="square" lIns="0" tIns="0" rIns="0" bIns="0" rtlCol="0" anchor="ctr"/>
          <a:lstStyle/>
          <a:p>
            <a:pPr algn="l" indent="0" marL="0">
              <a:lnSpc>
                <a:spcPct val="114000"/>
              </a:lnSpc>
              <a:buNone/>
            </a:pPr>
            <a:r>
              <a:rPr lang="en-US" sz="1050" dirty="0">
                <a:solidFill>
                  <a:srgbClr val="24364A"/>
                </a:solidFill>
                <a:latin typeface="Arial" pitchFamily="34" charset="0"/>
                <a:ea typeface="Arial" pitchFamily="34" charset="-122"/>
                <a:cs typeface="Arial" pitchFamily="34" charset="-120"/>
              </a:rPr>
              <a:t>Thu gọn hệ lực phẳng: lực tổng hợp và</a:t>
            </a:r>
            <a:endParaRPr lang="en-US" sz="1050" dirty="0"/>
          </a:p>
          <a:p>
            <a:pPr algn="l" indent="0" marL="0">
              <a:lnSpc>
                <a:spcPct val="114000"/>
              </a:lnSpc>
              <a:buNone/>
            </a:pPr>
            <a:r>
              <a:rPr lang="en-US" sz="1050" dirty="0">
                <a:solidFill>
                  <a:srgbClr val="24364A"/>
                </a:solidFill>
                <a:latin typeface="Arial" pitchFamily="34" charset="0"/>
                <a:ea typeface="Arial" pitchFamily="34" charset="-122"/>
                <a:cs typeface="Arial" pitchFamily="34" charset="-120"/>
              </a:rPr>
              <a:t>mô men</a:t>
            </a:r>
            <a:endParaRPr lang="en-US" sz="1050" dirty="0"/>
          </a:p>
        </p:txBody>
      </p:sp>
      <p:sp>
        <p:nvSpPr>
          <p:cNvPr id="21" name="Shape 19"/>
          <p:cNvSpPr/>
          <p:nvPr/>
        </p:nvSpPr>
        <p:spPr>
          <a:xfrm>
            <a:off x="3384465" y="3271838"/>
            <a:ext cx="628634" cy="209550"/>
          </a:xfrm>
          <a:prstGeom prst="roundRect">
            <a:avLst>
              <a:gd name="adj" fmla="val 18181"/>
            </a:avLst>
          </a:prstGeom>
          <a:solidFill>
            <a:srgbClr val="FFF1E1"/>
          </a:solidFill>
          <a:ln w="12700">
            <a:solidFill>
              <a:srgbClr val="FFF1E1">
                <a:alpha val="0"/>
              </a:srgbClr>
            </a:solidFill>
            <a:prstDash val="solid"/>
          </a:ln>
        </p:spPr>
      </p:sp>
      <p:sp>
        <p:nvSpPr>
          <p:cNvPr id="22" name="Text 20"/>
          <p:cNvSpPr txBox="1"/>
          <p:nvPr/>
        </p:nvSpPr>
        <p:spPr>
          <a:xfrm>
            <a:off x="3393990" y="3300413"/>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23" name="Shape 21"/>
          <p:cNvSpPr/>
          <p:nvPr/>
        </p:nvSpPr>
        <p:spPr>
          <a:xfrm>
            <a:off x="619110" y="3533775"/>
            <a:ext cx="3498763" cy="314325"/>
          </a:xfrm>
          <a:prstGeom prst="rect">
            <a:avLst/>
          </a:prstGeom>
          <a:solidFill>
            <a:srgbClr val="F5F7FA"/>
          </a:solidFill>
          <a:ln w="12700">
            <a:solidFill>
              <a:srgbClr val="F5F7FA">
                <a:alpha val="0"/>
              </a:srgbClr>
            </a:solidFill>
            <a:prstDash val="solid"/>
          </a:ln>
        </p:spPr>
      </p:sp>
      <p:sp>
        <p:nvSpPr>
          <p:cNvPr id="24" name="Text 22"/>
          <p:cNvSpPr txBox="1"/>
          <p:nvPr/>
        </p:nvSpPr>
        <p:spPr>
          <a:xfrm>
            <a:off x="742931" y="3538538"/>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Ngẫu lực và mô men ngẫu lực</a:t>
            </a:r>
            <a:endParaRPr lang="en-US" sz="1150" dirty="0"/>
          </a:p>
        </p:txBody>
      </p:sp>
      <p:sp>
        <p:nvSpPr>
          <p:cNvPr id="25" name="Text 23"/>
          <p:cNvSpPr txBox="1"/>
          <p:nvPr/>
        </p:nvSpPr>
        <p:spPr>
          <a:xfrm>
            <a:off x="742931" y="3852862"/>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Hình bình hành của hai lực đồng quy</a:t>
            </a:r>
            <a:endParaRPr lang="en-US" sz="1150" dirty="0"/>
          </a:p>
        </p:txBody>
      </p:sp>
      <p:sp>
        <p:nvSpPr>
          <p:cNvPr id="26" name="Shape 24"/>
          <p:cNvSpPr/>
          <p:nvPr/>
        </p:nvSpPr>
        <p:spPr>
          <a:xfrm>
            <a:off x="619110" y="4162425"/>
            <a:ext cx="3498763" cy="314325"/>
          </a:xfrm>
          <a:prstGeom prst="rect">
            <a:avLst/>
          </a:prstGeom>
          <a:solidFill>
            <a:srgbClr val="F5F7FA"/>
          </a:solidFill>
          <a:ln w="12700">
            <a:solidFill>
              <a:srgbClr val="F5F7FA">
                <a:alpha val="0"/>
              </a:srgbClr>
            </a:solidFill>
            <a:prstDash val="solid"/>
          </a:ln>
        </p:spPr>
      </p:sp>
      <p:sp>
        <p:nvSpPr>
          <p:cNvPr id="27" name="Text 25"/>
          <p:cNvSpPr txBox="1"/>
          <p:nvPr/>
        </p:nvSpPr>
        <p:spPr>
          <a:xfrm>
            <a:off x="742931" y="4167187"/>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Phản lực liên kết và sơ đồ lực tác dụng</a:t>
            </a:r>
            <a:endParaRPr lang="en-US" sz="1150" dirty="0"/>
          </a:p>
        </p:txBody>
      </p:sp>
      <p:sp>
        <p:nvSpPr>
          <p:cNvPr id="28" name="Text 26"/>
          <p:cNvSpPr txBox="1"/>
          <p:nvPr/>
        </p:nvSpPr>
        <p:spPr>
          <a:xfrm>
            <a:off x="742931" y="4481512"/>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Lực căng dây và ràng buộc một chiều</a:t>
            </a:r>
            <a:endParaRPr lang="en-US" sz="1150" dirty="0"/>
          </a:p>
        </p:txBody>
      </p:sp>
      <p:sp>
        <p:nvSpPr>
          <p:cNvPr id="29" name="Shape 27"/>
          <p:cNvSpPr/>
          <p:nvPr/>
        </p:nvSpPr>
        <p:spPr>
          <a:xfrm>
            <a:off x="619110" y="4791075"/>
            <a:ext cx="3498763" cy="314325"/>
          </a:xfrm>
          <a:prstGeom prst="rect">
            <a:avLst/>
          </a:prstGeom>
          <a:solidFill>
            <a:srgbClr val="F5F7FA"/>
          </a:solidFill>
          <a:ln w="12700">
            <a:solidFill>
              <a:srgbClr val="F5F7FA">
                <a:alpha val="0"/>
              </a:srgbClr>
            </a:solidFill>
            <a:prstDash val="solid"/>
          </a:ln>
        </p:spPr>
      </p:sp>
      <p:sp>
        <p:nvSpPr>
          <p:cNvPr id="30" name="Text 28"/>
          <p:cNvSpPr txBox="1"/>
          <p:nvPr/>
        </p:nvSpPr>
        <p:spPr>
          <a:xfrm>
            <a:off x="742931" y="4795837"/>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Phản lực và mô men tại ngàm</a:t>
            </a:r>
            <a:endParaRPr lang="en-US" sz="1150" dirty="0"/>
          </a:p>
        </p:txBody>
      </p:sp>
      <p:sp>
        <p:nvSpPr>
          <p:cNvPr id="31" name="Text 29"/>
          <p:cNvSpPr txBox="1"/>
          <p:nvPr/>
        </p:nvSpPr>
        <p:spPr>
          <a:xfrm>
            <a:off x="742931" y="5110162"/>
            <a:ext cx="2574861"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Nón ma sát trên mặt nghiêng</a:t>
            </a:r>
            <a:endParaRPr lang="en-US" sz="1150" dirty="0"/>
          </a:p>
        </p:txBody>
      </p:sp>
      <p:sp>
        <p:nvSpPr>
          <p:cNvPr id="32" name="Shape 30"/>
          <p:cNvSpPr/>
          <p:nvPr/>
        </p:nvSpPr>
        <p:spPr>
          <a:xfrm>
            <a:off x="3384465" y="5157788"/>
            <a:ext cx="628634" cy="209550"/>
          </a:xfrm>
          <a:prstGeom prst="roundRect">
            <a:avLst>
              <a:gd name="adj" fmla="val 18181"/>
            </a:avLst>
          </a:prstGeom>
          <a:solidFill>
            <a:srgbClr val="FFF1E1"/>
          </a:solidFill>
          <a:ln w="12700">
            <a:solidFill>
              <a:srgbClr val="FFF1E1">
                <a:alpha val="0"/>
              </a:srgbClr>
            </a:solidFill>
            <a:prstDash val="solid"/>
          </a:ln>
        </p:spPr>
      </p:sp>
      <p:sp>
        <p:nvSpPr>
          <p:cNvPr id="33" name="Text 31"/>
          <p:cNvSpPr txBox="1"/>
          <p:nvPr/>
        </p:nvSpPr>
        <p:spPr>
          <a:xfrm>
            <a:off x="3393990" y="5186363"/>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34" name="Shape 32"/>
          <p:cNvSpPr/>
          <p:nvPr/>
        </p:nvSpPr>
        <p:spPr>
          <a:xfrm>
            <a:off x="619110" y="5419725"/>
            <a:ext cx="3498763" cy="314325"/>
          </a:xfrm>
          <a:prstGeom prst="rect">
            <a:avLst/>
          </a:prstGeom>
          <a:solidFill>
            <a:srgbClr val="F5F7FA"/>
          </a:solidFill>
          <a:ln w="12700">
            <a:solidFill>
              <a:srgbClr val="F5F7FA">
                <a:alpha val="0"/>
              </a:srgbClr>
            </a:solidFill>
            <a:prstDash val="solid"/>
          </a:ln>
        </p:spPr>
      </p:sp>
      <p:sp>
        <p:nvSpPr>
          <p:cNvPr id="35" name="Text 33"/>
          <p:cNvSpPr txBox="1"/>
          <p:nvPr/>
        </p:nvSpPr>
        <p:spPr>
          <a:xfrm>
            <a:off x="742931" y="5424487"/>
            <a:ext cx="3251119" cy="304800"/>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Trọng tâm hình ghép và hình khoét</a:t>
            </a:r>
            <a:endParaRPr lang="en-US" sz="1150" dirty="0"/>
          </a:p>
        </p:txBody>
      </p:sp>
      <p:sp>
        <p:nvSpPr>
          <p:cNvPr id="36" name="Shape 34"/>
          <p:cNvSpPr/>
          <p:nvPr/>
        </p:nvSpPr>
        <p:spPr>
          <a:xfrm>
            <a:off x="4336942" y="2171700"/>
            <a:ext cx="3517812" cy="3600450"/>
          </a:xfrm>
          <a:prstGeom prst="roundRect">
            <a:avLst>
              <a:gd name="adj" fmla="val 2166"/>
            </a:avLst>
          </a:prstGeom>
          <a:solidFill>
            <a:srgbClr val="FFFFFF"/>
          </a:solidFill>
          <a:ln w="7620">
            <a:solidFill>
              <a:srgbClr val="D8E1EB"/>
            </a:solidFill>
            <a:prstDash val="solid"/>
          </a:ln>
        </p:spPr>
      </p:sp>
      <p:sp>
        <p:nvSpPr>
          <p:cNvPr id="37" name="Shape 35"/>
          <p:cNvSpPr/>
          <p:nvPr/>
        </p:nvSpPr>
        <p:spPr>
          <a:xfrm>
            <a:off x="4336942" y="2171700"/>
            <a:ext cx="3517812" cy="390525"/>
          </a:xfrm>
          <a:prstGeom prst="rect">
            <a:avLst/>
          </a:prstGeom>
          <a:solidFill>
            <a:srgbClr val="13315C"/>
          </a:solidFill>
          <a:ln w="12700">
            <a:solidFill>
              <a:srgbClr val="13315C">
                <a:alpha val="0"/>
              </a:srgbClr>
            </a:solidFill>
            <a:prstDash val="solid"/>
          </a:ln>
        </p:spPr>
      </p:sp>
      <p:sp>
        <p:nvSpPr>
          <p:cNvPr id="38" name="Text 36"/>
          <p:cNvSpPr txBox="1"/>
          <p:nvPr/>
        </p:nvSpPr>
        <p:spPr>
          <a:xfrm>
            <a:off x="4470288" y="2257425"/>
            <a:ext cx="3251119" cy="247650"/>
          </a:xfrm>
          <a:prstGeom prst="rect">
            <a:avLst/>
          </a:prstGeom>
          <a:noFill/>
          <a:ln/>
        </p:spPr>
        <p:txBody>
          <a:bodyPr wrap="square" lIns="0" tIns="0" rIns="0" bIns="0" rtlCol="0" anchor="t"/>
          <a:lstStyle/>
          <a:p>
            <a:pPr algn="l" indent="0" marL="0">
              <a:lnSpc>
                <a:spcPct val="114000"/>
              </a:lnSpc>
              <a:buNone/>
            </a:pPr>
            <a:r>
              <a:rPr lang="en-US" sz="1600" b="1" dirty="0">
                <a:solidFill>
                  <a:srgbClr val="FFFFFF"/>
                </a:solidFill>
                <a:latin typeface="Arial" pitchFamily="34" charset="0"/>
                <a:ea typeface="Arial" pitchFamily="34" charset="-122"/>
                <a:cs typeface="Arial" pitchFamily="34" charset="-120"/>
              </a:rPr>
              <a:t>Chương 2 · Động học (7)</a:t>
            </a:r>
            <a:endParaRPr lang="en-US" sz="1600" dirty="0"/>
          </a:p>
        </p:txBody>
      </p:sp>
      <p:sp>
        <p:nvSpPr>
          <p:cNvPr id="39" name="Text 37"/>
          <p:cNvSpPr txBox="1"/>
          <p:nvPr/>
        </p:nvSpPr>
        <p:spPr>
          <a:xfrm>
            <a:off x="4470288" y="2595563"/>
            <a:ext cx="3251119"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Quỹ đạo, vận tốc và gia tốc chất điểm</a:t>
            </a:r>
            <a:endParaRPr lang="en-US" sz="1150" dirty="0"/>
          </a:p>
        </p:txBody>
      </p:sp>
      <p:sp>
        <p:nvSpPr>
          <p:cNvPr id="40" name="Shape 38"/>
          <p:cNvSpPr/>
          <p:nvPr/>
        </p:nvSpPr>
        <p:spPr>
          <a:xfrm>
            <a:off x="4346466" y="3039836"/>
            <a:ext cx="3498763" cy="449036"/>
          </a:xfrm>
          <a:prstGeom prst="rect">
            <a:avLst/>
          </a:prstGeom>
          <a:solidFill>
            <a:srgbClr val="F5F7FA"/>
          </a:solidFill>
          <a:ln w="12700">
            <a:solidFill>
              <a:srgbClr val="F5F7FA">
                <a:alpha val="0"/>
              </a:srgbClr>
            </a:solidFill>
            <a:prstDash val="solid"/>
          </a:ln>
        </p:spPr>
      </p:sp>
      <p:sp>
        <p:nvSpPr>
          <p:cNvPr id="41" name="Text 39"/>
          <p:cNvSpPr txBox="1"/>
          <p:nvPr/>
        </p:nvSpPr>
        <p:spPr>
          <a:xfrm>
            <a:off x="4470288" y="3044598"/>
            <a:ext cx="2574861"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Phương tiếp tuyến, pháp tuyến và</a:t>
            </a:r>
            <a:endParaRPr lang="en-US" sz="1150" dirty="0"/>
          </a:p>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bán kính cong</a:t>
            </a:r>
            <a:endParaRPr lang="en-US" sz="1150" dirty="0"/>
          </a:p>
        </p:txBody>
      </p:sp>
      <p:sp>
        <p:nvSpPr>
          <p:cNvPr id="42" name="Shape 40"/>
          <p:cNvSpPr/>
          <p:nvPr/>
        </p:nvSpPr>
        <p:spPr>
          <a:xfrm>
            <a:off x="7111822" y="3159579"/>
            <a:ext cx="628634" cy="209550"/>
          </a:xfrm>
          <a:prstGeom prst="roundRect">
            <a:avLst>
              <a:gd name="adj" fmla="val 18181"/>
            </a:avLst>
          </a:prstGeom>
          <a:solidFill>
            <a:srgbClr val="FFF1E1"/>
          </a:solidFill>
          <a:ln w="12700">
            <a:solidFill>
              <a:srgbClr val="FFF1E1">
                <a:alpha val="0"/>
              </a:srgbClr>
            </a:solidFill>
            <a:prstDash val="solid"/>
          </a:ln>
        </p:spPr>
      </p:sp>
      <p:sp>
        <p:nvSpPr>
          <p:cNvPr id="43" name="Text 41"/>
          <p:cNvSpPr txBox="1"/>
          <p:nvPr/>
        </p:nvSpPr>
        <p:spPr>
          <a:xfrm>
            <a:off x="7121347" y="3188154"/>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44" name="Text 42"/>
          <p:cNvSpPr txBox="1"/>
          <p:nvPr/>
        </p:nvSpPr>
        <p:spPr>
          <a:xfrm>
            <a:off x="4470288" y="3493634"/>
            <a:ext cx="2574861"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Quay quanh trục: vận tốc và gia tốc</a:t>
            </a:r>
            <a:endParaRPr lang="en-US" sz="1150" dirty="0"/>
          </a:p>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góc</a:t>
            </a:r>
            <a:endParaRPr lang="en-US" sz="1150" dirty="0"/>
          </a:p>
        </p:txBody>
      </p:sp>
      <p:sp>
        <p:nvSpPr>
          <p:cNvPr id="45" name="Shape 43"/>
          <p:cNvSpPr/>
          <p:nvPr/>
        </p:nvSpPr>
        <p:spPr>
          <a:xfrm>
            <a:off x="7111822" y="3608614"/>
            <a:ext cx="628634" cy="209550"/>
          </a:xfrm>
          <a:prstGeom prst="roundRect">
            <a:avLst>
              <a:gd name="adj" fmla="val 18181"/>
            </a:avLst>
          </a:prstGeom>
          <a:solidFill>
            <a:srgbClr val="FFF1E1"/>
          </a:solidFill>
          <a:ln w="12700">
            <a:solidFill>
              <a:srgbClr val="FFF1E1">
                <a:alpha val="0"/>
              </a:srgbClr>
            </a:solidFill>
            <a:prstDash val="solid"/>
          </a:ln>
        </p:spPr>
      </p:sp>
      <p:sp>
        <p:nvSpPr>
          <p:cNvPr id="46" name="Text 44"/>
          <p:cNvSpPr txBox="1"/>
          <p:nvPr/>
        </p:nvSpPr>
        <p:spPr>
          <a:xfrm>
            <a:off x="7121347" y="3637189"/>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47" name="Shape 45"/>
          <p:cNvSpPr/>
          <p:nvPr/>
        </p:nvSpPr>
        <p:spPr>
          <a:xfrm>
            <a:off x="4346466" y="3937907"/>
            <a:ext cx="3498763" cy="449036"/>
          </a:xfrm>
          <a:prstGeom prst="rect">
            <a:avLst/>
          </a:prstGeom>
          <a:solidFill>
            <a:srgbClr val="F5F7FA"/>
          </a:solidFill>
          <a:ln w="12700">
            <a:solidFill>
              <a:srgbClr val="F5F7FA">
                <a:alpha val="0"/>
              </a:srgbClr>
            </a:solidFill>
            <a:prstDash val="solid"/>
          </a:ln>
        </p:spPr>
      </p:sp>
      <p:sp>
        <p:nvSpPr>
          <p:cNvPr id="48" name="Text 46"/>
          <p:cNvSpPr txBox="1"/>
          <p:nvPr/>
        </p:nvSpPr>
        <p:spPr>
          <a:xfrm>
            <a:off x="4470288" y="3942670"/>
            <a:ext cx="2574861"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Truyền động bánh răng, đai và puli</a:t>
            </a:r>
            <a:endParaRPr lang="en-US" sz="1150" dirty="0"/>
          </a:p>
        </p:txBody>
      </p:sp>
      <p:sp>
        <p:nvSpPr>
          <p:cNvPr id="49" name="Shape 47"/>
          <p:cNvSpPr/>
          <p:nvPr/>
        </p:nvSpPr>
        <p:spPr>
          <a:xfrm>
            <a:off x="7111822" y="4057650"/>
            <a:ext cx="628634" cy="209550"/>
          </a:xfrm>
          <a:prstGeom prst="roundRect">
            <a:avLst>
              <a:gd name="adj" fmla="val 18181"/>
            </a:avLst>
          </a:prstGeom>
          <a:solidFill>
            <a:srgbClr val="FFF1E1"/>
          </a:solidFill>
          <a:ln w="12700">
            <a:solidFill>
              <a:srgbClr val="FFF1E1">
                <a:alpha val="0"/>
              </a:srgbClr>
            </a:solidFill>
            <a:prstDash val="solid"/>
          </a:ln>
        </p:spPr>
      </p:sp>
      <p:sp>
        <p:nvSpPr>
          <p:cNvPr id="50" name="Text 48"/>
          <p:cNvSpPr txBox="1"/>
          <p:nvPr/>
        </p:nvSpPr>
        <p:spPr>
          <a:xfrm>
            <a:off x="7121347" y="4086225"/>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51" name="Text 49"/>
          <p:cNvSpPr txBox="1"/>
          <p:nvPr/>
        </p:nvSpPr>
        <p:spPr>
          <a:xfrm>
            <a:off x="4470288" y="4391705"/>
            <a:ext cx="2574861"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Hợp chuyển động và gia tốc Coriolis</a:t>
            </a:r>
            <a:endParaRPr lang="en-US" sz="1150" dirty="0"/>
          </a:p>
        </p:txBody>
      </p:sp>
      <p:sp>
        <p:nvSpPr>
          <p:cNvPr id="52" name="Shape 50"/>
          <p:cNvSpPr/>
          <p:nvPr/>
        </p:nvSpPr>
        <p:spPr>
          <a:xfrm>
            <a:off x="7111822" y="4506686"/>
            <a:ext cx="628634" cy="209550"/>
          </a:xfrm>
          <a:prstGeom prst="roundRect">
            <a:avLst>
              <a:gd name="adj" fmla="val 18181"/>
            </a:avLst>
          </a:prstGeom>
          <a:solidFill>
            <a:srgbClr val="FFF1E1"/>
          </a:solidFill>
          <a:ln w="12700">
            <a:solidFill>
              <a:srgbClr val="FFF1E1">
                <a:alpha val="0"/>
              </a:srgbClr>
            </a:solidFill>
            <a:prstDash val="solid"/>
          </a:ln>
        </p:spPr>
      </p:sp>
      <p:sp>
        <p:nvSpPr>
          <p:cNvPr id="53" name="Text 51"/>
          <p:cNvSpPr txBox="1"/>
          <p:nvPr/>
        </p:nvSpPr>
        <p:spPr>
          <a:xfrm>
            <a:off x="7121347" y="4535261"/>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54" name="Shape 52"/>
          <p:cNvSpPr/>
          <p:nvPr/>
        </p:nvSpPr>
        <p:spPr>
          <a:xfrm>
            <a:off x="4346466" y="4835979"/>
            <a:ext cx="3498763" cy="449036"/>
          </a:xfrm>
          <a:prstGeom prst="rect">
            <a:avLst/>
          </a:prstGeom>
          <a:solidFill>
            <a:srgbClr val="F5F7FA"/>
          </a:solidFill>
          <a:ln w="12700">
            <a:solidFill>
              <a:srgbClr val="F5F7FA">
                <a:alpha val="0"/>
              </a:srgbClr>
            </a:solidFill>
            <a:prstDash val="solid"/>
          </a:ln>
        </p:spPr>
      </p:sp>
      <p:sp>
        <p:nvSpPr>
          <p:cNvPr id="55" name="Text 53"/>
          <p:cNvSpPr txBox="1"/>
          <p:nvPr/>
        </p:nvSpPr>
        <p:spPr>
          <a:xfrm>
            <a:off x="4470288" y="4840741"/>
            <a:ext cx="3251119"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Tâm vận tốc tức thời</a:t>
            </a:r>
            <a:endParaRPr lang="en-US" sz="1150" dirty="0"/>
          </a:p>
        </p:txBody>
      </p:sp>
      <p:sp>
        <p:nvSpPr>
          <p:cNvPr id="56" name="Text 54"/>
          <p:cNvSpPr txBox="1"/>
          <p:nvPr/>
        </p:nvSpPr>
        <p:spPr>
          <a:xfrm>
            <a:off x="4470288" y="5289777"/>
            <a:ext cx="2574861" cy="43951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Phân bố vận tốc trên vật rắn</a:t>
            </a:r>
            <a:endParaRPr lang="en-US" sz="1150" dirty="0"/>
          </a:p>
        </p:txBody>
      </p:sp>
      <p:sp>
        <p:nvSpPr>
          <p:cNvPr id="57" name="Shape 55"/>
          <p:cNvSpPr/>
          <p:nvPr/>
        </p:nvSpPr>
        <p:spPr>
          <a:xfrm>
            <a:off x="7111822" y="5404757"/>
            <a:ext cx="628634" cy="209550"/>
          </a:xfrm>
          <a:prstGeom prst="roundRect">
            <a:avLst>
              <a:gd name="adj" fmla="val 18181"/>
            </a:avLst>
          </a:prstGeom>
          <a:solidFill>
            <a:srgbClr val="FFF1E1"/>
          </a:solidFill>
          <a:ln w="12700">
            <a:solidFill>
              <a:srgbClr val="FFF1E1">
                <a:alpha val="0"/>
              </a:srgbClr>
            </a:solidFill>
            <a:prstDash val="solid"/>
          </a:ln>
        </p:spPr>
      </p:sp>
      <p:sp>
        <p:nvSpPr>
          <p:cNvPr id="58" name="Text 56"/>
          <p:cNvSpPr txBox="1"/>
          <p:nvPr/>
        </p:nvSpPr>
        <p:spPr>
          <a:xfrm>
            <a:off x="7121347" y="5433332"/>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59" name="Shape 57"/>
          <p:cNvSpPr/>
          <p:nvPr/>
        </p:nvSpPr>
        <p:spPr>
          <a:xfrm>
            <a:off x="8064298" y="2171700"/>
            <a:ext cx="3517812" cy="3600450"/>
          </a:xfrm>
          <a:prstGeom prst="roundRect">
            <a:avLst>
              <a:gd name="adj" fmla="val 2166"/>
            </a:avLst>
          </a:prstGeom>
          <a:solidFill>
            <a:srgbClr val="FFFFFF"/>
          </a:solidFill>
          <a:ln w="7620">
            <a:solidFill>
              <a:srgbClr val="D8E1EB"/>
            </a:solidFill>
            <a:prstDash val="solid"/>
          </a:ln>
        </p:spPr>
      </p:sp>
      <p:sp>
        <p:nvSpPr>
          <p:cNvPr id="60" name="Shape 58"/>
          <p:cNvSpPr/>
          <p:nvPr/>
        </p:nvSpPr>
        <p:spPr>
          <a:xfrm>
            <a:off x="8064298" y="2171700"/>
            <a:ext cx="3517812" cy="390525"/>
          </a:xfrm>
          <a:prstGeom prst="rect">
            <a:avLst/>
          </a:prstGeom>
          <a:solidFill>
            <a:srgbClr val="13315C"/>
          </a:solidFill>
          <a:ln w="12700">
            <a:solidFill>
              <a:srgbClr val="13315C">
                <a:alpha val="0"/>
              </a:srgbClr>
            </a:solidFill>
            <a:prstDash val="solid"/>
          </a:ln>
        </p:spPr>
      </p:sp>
      <p:sp>
        <p:nvSpPr>
          <p:cNvPr id="61" name="Text 59"/>
          <p:cNvSpPr txBox="1"/>
          <p:nvPr/>
        </p:nvSpPr>
        <p:spPr>
          <a:xfrm>
            <a:off x="8197645" y="2257425"/>
            <a:ext cx="3251119" cy="247650"/>
          </a:xfrm>
          <a:prstGeom prst="rect">
            <a:avLst/>
          </a:prstGeom>
          <a:noFill/>
          <a:ln/>
        </p:spPr>
        <p:txBody>
          <a:bodyPr wrap="square" lIns="0" tIns="0" rIns="0" bIns="0" rtlCol="0" anchor="t"/>
          <a:lstStyle/>
          <a:p>
            <a:pPr algn="l" indent="0" marL="0">
              <a:lnSpc>
                <a:spcPct val="114000"/>
              </a:lnSpc>
              <a:buNone/>
            </a:pPr>
            <a:r>
              <a:rPr lang="en-US" sz="1600" b="1" dirty="0">
                <a:solidFill>
                  <a:srgbClr val="FFFFFF"/>
                </a:solidFill>
                <a:latin typeface="Arial" pitchFamily="34" charset="0"/>
                <a:ea typeface="Arial" pitchFamily="34" charset="-122"/>
                <a:cs typeface="Arial" pitchFamily="34" charset="-120"/>
              </a:rPr>
              <a:t>Chương 3 · Động lực học (8)</a:t>
            </a:r>
            <a:endParaRPr lang="en-US" sz="1600" dirty="0"/>
          </a:p>
        </p:txBody>
      </p:sp>
      <p:sp>
        <p:nvSpPr>
          <p:cNvPr id="62" name="Text 60"/>
          <p:cNvSpPr txBox="1"/>
          <p:nvPr/>
        </p:nvSpPr>
        <p:spPr>
          <a:xfrm>
            <a:off x="8197645" y="2595563"/>
            <a:ext cx="3251119"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Định luật hai Newton: lực, khối lượng và gia tốc</a:t>
            </a:r>
            <a:endParaRPr lang="en-US" sz="1150" dirty="0"/>
          </a:p>
        </p:txBody>
      </p:sp>
      <p:sp>
        <p:nvSpPr>
          <p:cNvPr id="63" name="Shape 61"/>
          <p:cNvSpPr/>
          <p:nvPr/>
        </p:nvSpPr>
        <p:spPr>
          <a:xfrm>
            <a:off x="8073823" y="2983706"/>
            <a:ext cx="3498763" cy="392906"/>
          </a:xfrm>
          <a:prstGeom prst="rect">
            <a:avLst/>
          </a:prstGeom>
          <a:solidFill>
            <a:srgbClr val="F5F7FA"/>
          </a:solidFill>
          <a:ln w="12700">
            <a:solidFill>
              <a:srgbClr val="F5F7FA">
                <a:alpha val="0"/>
              </a:srgbClr>
            </a:solidFill>
            <a:prstDash val="solid"/>
          </a:ln>
        </p:spPr>
      </p:sp>
      <p:sp>
        <p:nvSpPr>
          <p:cNvPr id="64" name="Text 62"/>
          <p:cNvSpPr txBox="1"/>
          <p:nvPr/>
        </p:nvSpPr>
        <p:spPr>
          <a:xfrm>
            <a:off x="8197645" y="2988469"/>
            <a:ext cx="3251119"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Định luật ba Newton: lực và phản lực</a:t>
            </a:r>
            <a:endParaRPr lang="en-US" sz="1150" dirty="0"/>
          </a:p>
        </p:txBody>
      </p:sp>
      <p:sp>
        <p:nvSpPr>
          <p:cNvPr id="65" name="Text 63"/>
          <p:cNvSpPr txBox="1"/>
          <p:nvPr/>
        </p:nvSpPr>
        <p:spPr>
          <a:xfrm>
            <a:off x="8197645" y="3381375"/>
            <a:ext cx="2574861"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Hệ quy chiếu quán tính và phi quán</a:t>
            </a:r>
            <a:endParaRPr lang="en-US" sz="1150" dirty="0"/>
          </a:p>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tính</a:t>
            </a:r>
            <a:endParaRPr lang="en-US" sz="1150" dirty="0"/>
          </a:p>
        </p:txBody>
      </p:sp>
      <p:sp>
        <p:nvSpPr>
          <p:cNvPr id="66" name="Shape 64"/>
          <p:cNvSpPr/>
          <p:nvPr/>
        </p:nvSpPr>
        <p:spPr>
          <a:xfrm>
            <a:off x="10839179" y="3468291"/>
            <a:ext cx="628634" cy="209550"/>
          </a:xfrm>
          <a:prstGeom prst="roundRect">
            <a:avLst>
              <a:gd name="adj" fmla="val 18181"/>
            </a:avLst>
          </a:prstGeom>
          <a:solidFill>
            <a:srgbClr val="FFF1E1"/>
          </a:solidFill>
          <a:ln w="12700">
            <a:solidFill>
              <a:srgbClr val="FFF1E1">
                <a:alpha val="0"/>
              </a:srgbClr>
            </a:solidFill>
            <a:prstDash val="solid"/>
          </a:ln>
        </p:spPr>
      </p:sp>
      <p:sp>
        <p:nvSpPr>
          <p:cNvPr id="67" name="Text 65"/>
          <p:cNvSpPr txBox="1"/>
          <p:nvPr/>
        </p:nvSpPr>
        <p:spPr>
          <a:xfrm>
            <a:off x="10848704" y="3496866"/>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68" name="Shape 66"/>
          <p:cNvSpPr/>
          <p:nvPr/>
        </p:nvSpPr>
        <p:spPr>
          <a:xfrm>
            <a:off x="8073823" y="3769519"/>
            <a:ext cx="3498763" cy="392906"/>
          </a:xfrm>
          <a:prstGeom prst="rect">
            <a:avLst/>
          </a:prstGeom>
          <a:solidFill>
            <a:srgbClr val="F5F7FA"/>
          </a:solidFill>
          <a:ln w="12700">
            <a:solidFill>
              <a:srgbClr val="F5F7FA">
                <a:alpha val="0"/>
              </a:srgbClr>
            </a:solidFill>
            <a:prstDash val="solid"/>
          </a:ln>
        </p:spPr>
      </p:sp>
      <p:sp>
        <p:nvSpPr>
          <p:cNvPr id="69" name="Text 67"/>
          <p:cNvSpPr txBox="1"/>
          <p:nvPr/>
        </p:nvSpPr>
        <p:spPr>
          <a:xfrm>
            <a:off x="8197645" y="3774281"/>
            <a:ext cx="3251119"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Giải phương trình chuyển động bằng phương</a:t>
            </a:r>
            <a:endParaRPr lang="en-US" sz="1150" dirty="0"/>
          </a:p>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pháp số</a:t>
            </a:r>
            <a:endParaRPr lang="en-US" sz="1150" dirty="0"/>
          </a:p>
        </p:txBody>
      </p:sp>
      <p:sp>
        <p:nvSpPr>
          <p:cNvPr id="70" name="Text 68"/>
          <p:cNvSpPr txBox="1"/>
          <p:nvPr/>
        </p:nvSpPr>
        <p:spPr>
          <a:xfrm>
            <a:off x="8197645" y="4167187"/>
            <a:ext cx="3251119"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Định lý động lượng và xung lượng</a:t>
            </a:r>
            <a:endParaRPr lang="en-US" sz="1150" dirty="0"/>
          </a:p>
        </p:txBody>
      </p:sp>
      <p:sp>
        <p:nvSpPr>
          <p:cNvPr id="71" name="Shape 69"/>
          <p:cNvSpPr/>
          <p:nvPr/>
        </p:nvSpPr>
        <p:spPr>
          <a:xfrm>
            <a:off x="8073823" y="4555331"/>
            <a:ext cx="3498763" cy="392906"/>
          </a:xfrm>
          <a:prstGeom prst="rect">
            <a:avLst/>
          </a:prstGeom>
          <a:solidFill>
            <a:srgbClr val="F5F7FA"/>
          </a:solidFill>
          <a:ln w="12700">
            <a:solidFill>
              <a:srgbClr val="F5F7FA">
                <a:alpha val="0"/>
              </a:srgbClr>
            </a:solidFill>
            <a:prstDash val="solid"/>
          </a:ln>
        </p:spPr>
      </p:sp>
      <p:sp>
        <p:nvSpPr>
          <p:cNvPr id="72" name="Text 70"/>
          <p:cNvSpPr txBox="1"/>
          <p:nvPr/>
        </p:nvSpPr>
        <p:spPr>
          <a:xfrm>
            <a:off x="8197645" y="4560094"/>
            <a:ext cx="2574861"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Bảo toàn mô men động lượng</a:t>
            </a:r>
            <a:endParaRPr lang="en-US" sz="1150" dirty="0"/>
          </a:p>
        </p:txBody>
      </p:sp>
      <p:sp>
        <p:nvSpPr>
          <p:cNvPr id="73" name="Shape 71"/>
          <p:cNvSpPr/>
          <p:nvPr/>
        </p:nvSpPr>
        <p:spPr>
          <a:xfrm>
            <a:off x="10839179" y="4647009"/>
            <a:ext cx="628634" cy="209550"/>
          </a:xfrm>
          <a:prstGeom prst="roundRect">
            <a:avLst>
              <a:gd name="adj" fmla="val 18181"/>
            </a:avLst>
          </a:prstGeom>
          <a:solidFill>
            <a:srgbClr val="FFF1E1"/>
          </a:solidFill>
          <a:ln w="12700">
            <a:solidFill>
              <a:srgbClr val="FFF1E1">
                <a:alpha val="0"/>
              </a:srgbClr>
            </a:solidFill>
            <a:prstDash val="solid"/>
          </a:ln>
        </p:spPr>
      </p:sp>
      <p:sp>
        <p:nvSpPr>
          <p:cNvPr id="74" name="Text 72"/>
          <p:cNvSpPr txBox="1"/>
          <p:nvPr/>
        </p:nvSpPr>
        <p:spPr>
          <a:xfrm>
            <a:off x="10848704" y="4675584"/>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
        <p:nvSpPr>
          <p:cNvPr id="75" name="Text 73"/>
          <p:cNvSpPr txBox="1"/>
          <p:nvPr/>
        </p:nvSpPr>
        <p:spPr>
          <a:xfrm>
            <a:off x="8197645" y="4953000"/>
            <a:ext cx="3251119"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Định lý động năng: công và năng lượng</a:t>
            </a:r>
            <a:endParaRPr lang="en-US" sz="1150" dirty="0"/>
          </a:p>
        </p:txBody>
      </p:sp>
      <p:sp>
        <p:nvSpPr>
          <p:cNvPr id="76" name="Shape 74"/>
          <p:cNvSpPr/>
          <p:nvPr/>
        </p:nvSpPr>
        <p:spPr>
          <a:xfrm>
            <a:off x="8073823" y="5341144"/>
            <a:ext cx="3498763" cy="392906"/>
          </a:xfrm>
          <a:prstGeom prst="rect">
            <a:avLst/>
          </a:prstGeom>
          <a:solidFill>
            <a:srgbClr val="F5F7FA"/>
          </a:solidFill>
          <a:ln w="12700">
            <a:solidFill>
              <a:srgbClr val="F5F7FA">
                <a:alpha val="0"/>
              </a:srgbClr>
            </a:solidFill>
            <a:prstDash val="solid"/>
          </a:ln>
        </p:spPr>
      </p:sp>
      <p:sp>
        <p:nvSpPr>
          <p:cNvPr id="77" name="Text 75"/>
          <p:cNvSpPr txBox="1"/>
          <p:nvPr/>
        </p:nvSpPr>
        <p:spPr>
          <a:xfrm>
            <a:off x="8197645" y="5345906"/>
            <a:ext cx="2574861" cy="383381"/>
          </a:xfrm>
          <a:prstGeom prst="rect">
            <a:avLst/>
          </a:prstGeom>
          <a:noFill/>
          <a:ln/>
        </p:spPr>
        <p:txBody>
          <a:bodyPr wrap="square" lIns="0" tIns="0" rIns="0" bIns="0" rtlCol="0" anchor="ctr"/>
          <a:lstStyle/>
          <a:p>
            <a:pPr algn="l" indent="0" marL="0">
              <a:lnSpc>
                <a:spcPct val="114000"/>
              </a:lnSpc>
              <a:buNone/>
            </a:pPr>
            <a:r>
              <a:rPr lang="en-US" sz="1150" dirty="0">
                <a:solidFill>
                  <a:srgbClr val="24364A"/>
                </a:solidFill>
                <a:latin typeface="Arial" pitchFamily="34" charset="0"/>
                <a:ea typeface="Arial" pitchFamily="34" charset="-122"/>
                <a:cs typeface="Arial" pitchFamily="34" charset="-120"/>
              </a:rPr>
              <a:t>Va chạm và hệ số phục hồi</a:t>
            </a:r>
            <a:endParaRPr lang="en-US" sz="1150" dirty="0"/>
          </a:p>
        </p:txBody>
      </p:sp>
      <p:sp>
        <p:nvSpPr>
          <p:cNvPr id="78" name="Shape 76"/>
          <p:cNvSpPr/>
          <p:nvPr/>
        </p:nvSpPr>
        <p:spPr>
          <a:xfrm>
            <a:off x="10839179" y="5432822"/>
            <a:ext cx="628634" cy="209550"/>
          </a:xfrm>
          <a:prstGeom prst="roundRect">
            <a:avLst>
              <a:gd name="adj" fmla="val 18181"/>
            </a:avLst>
          </a:prstGeom>
          <a:solidFill>
            <a:srgbClr val="FFF1E1"/>
          </a:solidFill>
          <a:ln w="12700">
            <a:solidFill>
              <a:srgbClr val="FFF1E1">
                <a:alpha val="0"/>
              </a:srgbClr>
            </a:solidFill>
            <a:prstDash val="solid"/>
          </a:ln>
        </p:spPr>
      </p:sp>
      <p:sp>
        <p:nvSpPr>
          <p:cNvPr id="79" name="Text 77"/>
          <p:cNvSpPr txBox="1"/>
          <p:nvPr/>
        </p:nvSpPr>
        <p:spPr>
          <a:xfrm>
            <a:off x="10848704" y="5461397"/>
            <a:ext cx="609585" cy="171450"/>
          </a:xfrm>
          <a:prstGeom prst="rect">
            <a:avLst/>
          </a:prstGeom>
          <a:noFill/>
          <a:ln/>
        </p:spPr>
        <p:txBody>
          <a:bodyPr wrap="square" lIns="0" tIns="0" rIns="0" bIns="0" rtlCol="0" anchor="t"/>
          <a:lstStyle/>
          <a:p>
            <a:pPr algn="ctr" indent="0" marL="0">
              <a:lnSpc>
                <a:spcPct val="114000"/>
              </a:lnSpc>
              <a:buNone/>
            </a:pPr>
            <a:r>
              <a:rPr lang="en-US" sz="800" b="1" dirty="0">
                <a:solidFill>
                  <a:srgbClr val="F77F00"/>
                </a:solidFill>
                <a:latin typeface="Arial" pitchFamily="34" charset="0"/>
                <a:ea typeface="Arial" pitchFamily="34" charset="-122"/>
                <a:cs typeface="Arial" pitchFamily="34" charset="-120"/>
              </a:rPr>
              <a:t>Không gian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Học viện Hải quân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Giáo trình điện tử Cơ học lý thuyết</dc:title>
  <dc:subject>Kiến trúc · Chất lượng · Tác động</dc:subject>
  <dc:creator>Tiến sĩ Nguyễn Lê Văn — Chủ biên; Thạc sĩ Đinh Văn Tứ — Biên soạn; Thạc sĩ Bùi Thanh Xuân — Biên soạn</dc:creator>
  <cp:lastModifiedBy>Tiến sĩ Nguyễn Lê Văn — Chủ biên; Thạc sĩ Đinh Văn Tứ — Biên soạn; Thạc sĩ Bùi Thanh Xuân — Biên soạn</cp:lastModifiedBy>
  <cp:revision>1</cp:revision>
  <dcterms:created xsi:type="dcterms:W3CDTF">2026-10-05T06:44:00Z</dcterms:created>
  <dcterms:modified xsi:type="dcterms:W3CDTF">2026-10-05T06:44:00Z</dcterms:modified>
</cp:coreProperties>
</file>