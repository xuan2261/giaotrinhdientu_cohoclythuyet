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1/34 — Trải nghiệm giáo trình trực tuyến
Phần: Truy cập trực tuyến
Quét QR bằng điện thoại để mở phiên bản web.
Kính mời hội đồng quét mã QR để mở giáo trình trực tuyến tại https://xuan2261.github.io/GiaoTrinhDienTu_CoHocLyThuyet/
Có thể dùng camera điện thoại hoặc ứng dụng quét QR. Trang QR được đặt trước phần báo cáo để người nghe truy cập học liệu trong lúc theo dõi.
Thông điệp chính: Kết nối Internet để truy cập web; giữ bản ngoại tuyến khi cần.
NGUỒN ĐẦY ĐỦ (đường dẫn tương đối từ gốc kho mã hoặc URL nguyên vẹn):
- https://xuan2261.github.io/GiaoTrinhDienTu_CoHocLyThuyet/
- assets/designs/bao-cao-nghiem-thu-giao-trinh-dien-tu/assets/qr-code-online-textbook.png
Kho mã: https://github.com/xuan2261/GiaoTrinhDienTu_CoHocLyThuyet
LƯU Ý BIÊN TẬP:
- Bộ mới gồm 1 trang QR mở đầu và 33 chủ đề theo tài liệu. Hai trang dự phòng nằm ở slide 33–34.
- Không sử dụng tỷ lệ minh họa 73%, điểm 8,2/10 hay tuyên bố QA 8/8 đạt như kết quả đã đo.
- QA được trích từ sổ ngày 2026-09-25: 11 pass, 9 fail, 4 blocked; không phải lần kiểm tra sản phẩm mới.
- 10 bản 3D bổ sung cho 25 vị trí 2D, không phải 35 bài độc lập. Thẩm định nguồn mô phỏng hiện tại còn pending.
- Các mốc roadmap, KPI, lợi ích và xác suất rủi ro là đề xuất, không phải cam kết được phê duyệt hoặc kết quả nghiên cứu người học.
- Dùng Arial để tránh thay font trên máy trình chiếu. Không dựng biểu trưng giả khi chưa có logo chính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2/34 — GIÁO TRÌNH ĐIỆN TỬ CƠ HỌC LÝ THUYẾT
Phần: Mở đầu
Kiến trúc · Chất lượng · Tác động
Kính thưa hội đồng, báo cáo này đánh giá giáo trình điện tử Cơ học lý thuyết được xây dựng phục vụ đào tạo tại Học viện Hải quân. Nội dung tập trung vào ba trục: kiến trúc triển khai, chất lượng có bằng chứng và giá trị giáo dục cần tiếp tục kiểm chứng.
Luận điểm xuyên suốt là sản phẩm có hiện vật kỹ thuật và quy trình kiểm tra, nhưng chưa được đồng nhất với chấp nhận học thuật. Những số liệu trong báo cáo được gắn với nguồn cụ thể; phần kế hoạch được phân biệt với kết quả đã đạt.
Thông điệp chính: Báo cáo hiện trạng, bằng chứng và lộ trình hoàn thiện — không thay quyết định nghiệm thu.
NGUỒN ĐẦY ĐỦ (đường dẫn tương đối từ gốc kho mã hoặc URL nguyên vẹn):
- NghienCuuLamSlideMoi.txt
- data/acceptance-report.json
- chapters/tac-gia.html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3/34 — Tóm tắt điều hành
Phần: Mở đầu
Bốn con số phạm vi; ba kết luận để hội đồng ra quyết định.
Bốn con số gồm 372 tệp trong gói ứng viên, 25 vị trí mô phỏng 2D, 10 bản 3D bổ sung và tám nhóm kiểm tra để tổ chức trình bày. Tám nhóm không phải tám cổng đã đạt: Sổ 2026-09-25: 11 pass / 9 fail / 4 blocked.
Ba kết luận là có cơ sở kỹ thuật cho triển khai ngoại tuyến, chưa đủ điều kiện chấp nhận học thuật chính thức và có khả năng tái sử dụng quy trình cho môn khác. Giá trị chuyển giao vẫn cần thí điểm; không suy ra hiệu quả học tập hoặc chi phí bằng không.
Thông điệp chính: Phạm vi không phải chất lượng; chạy được không đồng nghĩa đã được nghiệm thu.
NGUỒN ĐẦY ĐỦ (đường dẫn tương đối từ gốc kho mã hoặc URL nguyên vẹn):
- release/2026.09.02-candidate/release-summary.json
- js/sim2/sim2-route-manifest.js
- js/sim3/sim3-route-manifest.js
- data/acceptance-report.json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4/34 — Lộ trình báo cáo — 25 phút
Phần: Mở đầu
1 trang QR · 30 slide nội dung · 1 trang hỏi–đáp · 2 trang dự phòng.
Báo cáo chính được phân bổ theo sáu khối với tổng thời gian mục tiêu 25 phút. Mở đầu và kết luận được lồng vào các khối thay vì cộng thêm ngoài ngân sách thời gian.
Trang QR mở đầu là slide 1. Sau slide 31 là trang hỏi–đáp. Hai trang 33 và 34 là dự phòng: chi tiết vòng đời tải bài và danh mục đầy đủ mô phỏng.
Thông điệp chính: Dành thêm 5–10 phút cho Q&amp;A; phụ lục chỉ mở khi cần đào sâu.
NGUỒN ĐẦY ĐỦ (đường dẫn tương đối từ gốc kho mã hoặc URL nguyên vẹn):
- NghienCuuLamSlideMoi.txt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5/34 — Vì sao ngoại tuyến là quan trọng?
Phần: Mở đầu
Thiết kế cho điều kiện kết nối bị hạn chế, không dựa vào tỷ lệ khảo sát giả định.
Trong môi trường kết nối hạn chế, bài học không nên phụ thuộc vào việc truy cập dịch vụ từ xa ở mỗi phiên học. Kiến trúc tài nguyên cục bộ của dự án hướng tới tình huống này; gói có thể được phân phối qua USB hoặc máy chủ tĩnh.
Tỷ lệ 73% trong tài liệu chỉ là minh họa, nên không được dùng làm bằng chứng về đơn vị. Tương tự, chưa có căn cứ trong phiên biên tập này để khẳng định 100% tính năng đã vượt qua thử nghiệm trên mọi thiết bị. Cần khảo sát và chạy thử độc lập trước khi mở rộng.
Thông điệp chính: Offline-first là lựa chọn theo bối cảnh sử dụng; phải thử trên thiết bị thực.
NGUỒN ĐẦY ĐỦ (đường dẫn tương đối từ gốc kho mã hoặc URL nguyên vẹn):
- README.md
- docs/deployment-guide.md
- NghienCuuLamSlideMoi.txt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6/34 — Phương pháp đánh giá
Phần: Phương pháp luận
Bốn bước phân biệt thiết kế, thực thi, bằng chứng và chuẩn đối chiếu.
Bước một xác định hệ thống được thiết kế như thế nào từ mã và tài liệu. Bước hai quan sát nó chạy trong các điều kiện thực tế. Bước ba kiểm tra đầu ra, dấu thời gian và hash của bằng chứng để tránh lấy ảnh bản cũ chứng minh cho mã mới.
Bước bốn dùng chuẩn ngành làm khung đối chiếu, không phải chứng nhận tự động. Báo cáo này sử dụng hồ sơ kiểm tra đã lưu; việc dựng và kiểm bộ slide không phải lần chạy lại toàn bộ QA của sản phẩm. Nguồn mô phỏng mới vẫn có trạng thái revalidation pending.
Thông điệp chính: Chỉ kết luận trong phạm vi đã kiểm tra và đúng phiên bản nguồn.
NGUỒN ĐẦY ĐỦ (đường dẫn tương đối từ gốc kho mã hoặc URL nguyên vẹn):
- README.md
- data/evidence-registry.json
- data/acceptance-report.json
- data/simulation-current-revalidation.json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7/34 — Sáu tiêu chí đánh giá
Phần: Phương pháp luận
Dùng bằng chứng và trạng thái thay cho điểm số chưa được thẩm định.
Sáu tiêu chí giữ nguyên ý định đánh giá của tài liệu: kiến trúc, tính năng, chất lượng, tiếp cận, phát hành và chuyển giao. Mỗi tiêu chí được nối với hiện vật hoặc trạng thái kiểm tra thay vì một thang điểm có vẻ chính xác nhưng chưa có quy trình chấm.
Các điểm 8, 9, 10 và tổng 8,2 trong bản đề xuất chưa phải kết quả khảo sát hoặc đánh giá độc lập. Đặc biệt không thể chấm QA tuyệt đối khi sổ hiện có fail và blocked. Hội đồng có thể phê duyệt rubric và tổ chức đánh giá riêng sau báo cáo này.
Thông điệp chính: Không dùng 8,2/10 làm kết luận độc lập khi chưa có rubric và người chấm.
NGUỒN ĐẦY ĐỦ (đường dẫn tương đối từ gốc kho mã hoặc URL nguyên vẹn):
- data/acceptance-report.json
- data/presentation-specification.json
- docs/system-architecture.md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8/34 — Nguồn dữ liệu và bằng chứng
Phần: Phương pháp luận
Tám tuyến tra cứu, mỗi tuyến có chức năng riêng.
Các nguồn được chia theo chức năng để người nghe có thể kiểm lại tuyên bố. Mã nguồn chỉ ra cơ chế; manifest chỉ ra phạm vi; hồ sơ thực thi mới cho biết kết quả trên một phiên bản và môi trường cụ thể.
Lịch sử Git giúp nhận diện thay đổi, không tự chứng minh chất lượng. Tương tự, tồn tại tests hoặc thư mục evidence chưa đủ: phải kiểm kết quả, hash và ràng buộc với gói đang báo cáo. Các ảnh giao diện dùng trong bộ này được ghi rõ là minh họa lịch sử.
Thông điệp chính: Định nghĩa một phép kiểm tra không chứng minh phép kiểm tra đó đã pass.
NGUỒN ĐẦY ĐỦ (đường dẫn tương đối từ gốc kho mã hoặc URL nguyên vẹn):
- README.md
- data/evidence-registry.json
- data/acceptance-report.json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9/34 — Tổng quan dự án
Phần: Tổng quan
Một giáo trình tĩnh cho ba chương Cơ học lý thuyết.
Sản phẩm là giáo trình điện tử tĩnh với ba chương. Nguồn narrative chuẩn là CoHocLyThuyet_Full_New.docx; một số bảng tra cứu và dữ liệu kiểm tra được quản lý riêng dưới data. Runtime phát hành không cần npm hoặc một backend phục vụ từng người học.
Các khác biệt đáng chú ý là tài nguyên ngoại tuyến, quy trình tạo nội dung, mô phỏng và khả năng truy vết. Không gọi đây là hệ thống không có dependency: KaTeX, Three.js và PDF.js là thư viện đóng gói cục bộ. Việc tác giả sửa DOCX không loại bỏ vai trò của kỹ thuật trong tái tạo và kiểm tra.
Thông điệp chính: Không cần backend cho đọc học liệu; bảo trì và QA vẫn cần đầu mối kỹ thuật.
NGUỒN ĐẦY ĐỦ (đường dẫn tương đối từ gốc kho mã hoặc URL nguyên vẹn):
- README.md
- CoHocLyThuyet_Full_New.docx
- data/presentation-specification.json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10/34 — Phạm vi: giáo trình, không phải LMS
Phần: Tổng quan
Ranh giới rõ để tránh kỳ vọng sai về tài khoản, sổ điểm và đồng bộ.
Bảng này tách những hiện vật có trong dự án khỏi khả năng mà một LMS thường cung cấp. Giáo trình có hỗ trợ tự học, nhưng không có danh tính người học hoặc cơ chế đồng bộ tập trung trong phạm vi hiện tại.
Có các bản dẫn xuất QTI 3 và Common Cartridge 1.4 ở mức pilot. Điều đó không có nghĩa SCORM, xAPI hay cmi5 đã được triển khai, cũng không chứng minh liên thông trên LMS thật. Giới hạn này cần được duy trì trong hồ sơ bàn giao và khuyến nghị sử dụng.
Thông điệp chính: Gói ZIP không phải LMS; dữ liệu tự học cục bộ không phải sổ điểm chính thức.
NGUỒN ĐẦY ĐỦ (đường dẫn tương đối từ gốc kho mã hoặc URL nguyên vẹn):
- README.md
- data/presentation-specification.json
- data/lms-targets.json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11/34 — Kiến trúc năm lớp
Phần: Tổng quan
Phân tách giao diện, tải bài, runtime, nội dung và dữ liệu.
Năm lớp ở đây là cách trình bày kiến trúc để hội đồng thấy các trách nhiệm chính. Shell điều khiển giao diện; loader tải bài; runtime quản lý mô phỏng, PDF và quiz; content chứa học liệu; data giữ các cấu trúc và hồ sơ kiểm chứng.
Phân lớp tạo điều kiện bảo trì nhưng các lớp vẫn có hợp đồng liên kết. Thay engine mô phỏng hoặc schema có thể ảnh hưởng loader và nội dung. Vì vậy phải kiểm các điểm mount, dispose, route và dữ liệu thay vì tuyên bố có thể thay độc lập tuyệt đối.
Thông điệp chính: Phân lớp giúp xác định nơi sửa và nơi kiểm; không đảm bảo thay engine không có tác động.
NGUỒN ĐẦY ĐỦ (đường dẫn tương đối từ gốc kho mã hoặc URL nguyên vẹn):
- docs/system-architecture.md
- js/loader.js
- README.md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12/34 — Offline-first: cơ chế và phép chứng minh
Phần: Kiến trúc và tính năng
Tài nguyên đóng gói cục bộ; kết luận phải gắn với máy và gói đã thử.
Gói standalone có tài nguyên nội dung và thư viện cục bộ. Cơ chế này tránh yêu cầu gọi CDN trong quá trình đọc và cho phép mở bằng file:// hoặc máy chủ tĩnh. Hồ sơ technical-smoke của candidate là bằng chứng có giới hạn theo thời điểm và gói.
Không suy từ cơ chế sang cam kết mọi tính năng chạy trên mọi trình duyệt. Cần kiểm đường dẫn tương đối, localStorage, PDF, mô phỏng và fallback trên máy trình chiếu. Gate smoke độc lập vẫn bị chặn trong hồ sơ; báo cáo giữ trạng thái đó.
Thông điệp chính: Ngoại tuyến là đặc tính thiết kế; 100% tính năng cần bộ bằng chứng đầy đủ.
NGUỒN ĐẦY ĐỦ (đường dẫn tương đối từ gốc kho mã hoặc URL nguyên vẹn):
- README.md
- release/2026.09.02-candidate/technical-smoke.md
- data/acceptance-report.json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13/34 — Sim2 và Sim3: chiến lược hai tầng
Phần: Kiến trúc và tính năng
10 bản 3D tăng cường trải nghiệm trên những vị trí 2D đã có.
Sim2 là lớp cơ sở trên 25 vị trí. Mười vị trí trong số đó có tùy chọn Sim3; đây là hai cách biểu diễn cùng chủ đề chứ không phải 35 bài khác nhau. Lựa chọn 3D cần giá trị sư phạm rõ và phương án dự phòng khi không có WebGL.
README mô tả fixed-step 1/60 giây và demand rendering của Sim3. Đây là thông tin thiết kế, không phải kết quả đo 60fps trên thiết bị. Nguồn mô phỏng được cập nhật trên GitHub gần đây và trạng thái kiểm lại hiện pending, nên ảnh và pass lịch sử không được dùng xác nhận mã mới.
Thông điệp chính: Không cộng 25 + 10 thành 35 bài; bước thời gian 1/60 s không phải đo FPS.
NGUỒN ĐẦY ĐỦ (đường dẫn tương đối từ gốc kho mã hoặc URL nguyên vẹn):
- js/sim2/sim2-route-manifest.js
- js/sim3/sim3-route-manifest.js
- data/simulation-current-revalidation.json
- README.md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14/34 — Sáu tính năng học tập tương tác
Phần: Kiến trúc và tính năng
Hỗ trợ tự học; không đồng nhất với quản lý đào tạo có danh tính.
Sáu tính năng tạo vòng tự học: tìm bài, tương tác, làm câu hỏi và ghi nhận tiến độ. Tìm kiếm dùng chỉ mục văn bản cục bộ; quiz có chọn phạm vi và khôi phục lượt làm; tiến độ, bookmark, ghi chú sử dụng bộ nhớ trình duyệt.
Điểm số quiz và lượt đọc chưa chứng minh chuẩn đầu ra đã đạt. Dữ liệu localStorage không tự đồng bộ giữa máy, có thể mất khi xóa dữ liệu hoặc đổi hồ sơ trình duyệt. Đơn vị triển khai cần hướng dẫn riêng về lưu giữ và chuyển dữ liệu cá nhân.
Thông điệp chính: Dữ liệu thuộc trình duyệt; phải giải thích rủi ro mất hoặc không chuyển theo USB.
NGUỒN ĐẦY ĐỦ (đường dẫn tương đối từ gốc kho mã hoặc URL nguyên vẹn):
- README.md
- js/quiz-state.js
- js/progress.js
- js/notes.js
- js/glossary.js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15/34 — PDF nội tuyến: giữ ngữ cảnh học
Phần: Kiến trúc và tính năng
Dialog chuyên dụng thay vì chuyển người học ra khỏi bài.
Trình đọc PDF được mở nội tuyến và nạp tài nguyên khi người dùng cần. Thiết kế cho phép chuyển trang, nhập trang, zoom, tải xuống và đóng bằng Escape hoặc Browser Back trong khi giữ ngữ cảnh bài.
Ảnh trên slide là ảnh đã có trong kho, không phải lần kiểm thử mới. Gate PDF-release đang fail trong sổ lịch sử; vì vậy các thao tác được mô tả như phạm vi thiết kế, không nâng thành cam kết kiểm thử toàn bộ đã pass. Tìm kiếm, thumbnail và annotation PDF chưa nằm trong hiện vật.
Thông điệp chính: Mở PDF cần kiểm cả hiển thị lẫn trạng thái khi đóng dialog.
NGUỒN ĐẦY ĐỦ (đường dẫn tương đối từ gốc kho mã hoặc URL nguyên vẹn):
- README.md
- js/pdf-viewer.js
- data/acceptance-report.json
- assets/designs/bao-cao-nghiem-thu-giao-trinh-dien-tu/assets/img-06-pdf-viewer-1440x1000.png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16/34 — GIF với phương án dự phòng
Phần: Kiến trúc và tính năng
Progressive enhancement: ảnh động khi phù hợp, ảnh tĩnh khi cần.
Manifest quản lý 20 GIF được chọn cho các hình cơ học. Nút ảnh động cho phép đổi giữa GIF và PNG; prefers-reduced-motion định hướng sử dụng ảnh tĩnh. Cơ chế dự phòng hướng đến việc không làm người học mất hình minh họa khi ảnh động lỗi.
Đây là quan sát thiết kế và số lượng trong gói. Gate gif-release vẫn fail trong hồ sơ đã lưu, nên cần kiểm lại tài nguyên, tình huống lỗi và thao tác người dùng trên bản đích. Không nhầm GIF với video hoặc học liệu âm thanh.
Thông điệp chính: Có fallback không đồng nghĩa mọi ảnh đã qua kiểm tra phát hành.
NGUỒN ĐẦY ĐỦ (đường dẫn tương đối từ gốc kho mã hoặc URL nguyên vẹn):
- js/gif-figures.js
- README.md
- data/acceptance-report.json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17/34 — Khả năng tiếp cận: nói đúng giới hạn
Phần: Kiến trúc và tính năng
Kiểm tự động là một phần; đánh giá thủ công độc lập là phần riêng.
Dự án có các cơ chế hướng tới khả năng tiếp cận và các phép kiểm tự động. Các phép kiểm có thể phát hiện một phần vấn đề, nhưng không đánh giá hết ngữ nghĩa công thức, thao tác với mô phỏng hoặc trải nghiệm trình đọc màn hình.
Hồ sơ lưu gate phase-08-accessibility là fail và gate review độc lập là blocked. Không dùng ngôn ngữ chứng nhận WCAG 2.2 AA. Muốn kết luận mức đáp ứng cần đối chiếu từng tiêu chí áp dụng, kiểm thủ công và lưu bằng chứng đúng bản nguồn.
Thông điệp chính: Có test không phải pass; pass tự động không thay đối chiếu WCAG đầy đủ.
NGUỒN ĐẦY ĐỦ (đường dẫn tương đối từ gốc kho mã hoặc URL nguyên vẹn):
- data/accessibility-baseline.json
- data/acceptance-report.json
- data/presentation-specification.json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18/34 — QA: tám nhóm, 24 cổng thực tế
Phần: Chất lượng và bằng chứng
Khung nhóm để trình bày; không phải bảng tám cổng đã đạt.
Tám nhóm này giúp hội đồng hiểu các loại rủi ro được bao phủ. Sổ QA thực tế có 24 cổng. Không thể thay trạng thái của sổ bằng cách gộp thành tám hàng hoặc bằng sửa lời thuyết minh.
Sổ 2026-09-25: 11 pass / 9 fail / 4 blocked. Các lần soak ba lượt liên tiếp và revalidation nguồn mới là yêu cầu cần có bằng chứng. Approval cuối phải đi qua các điều kiện học thuật, tiếp cận và chạy thử độc lập, không được suy ra từ việc công cụ build xuất được ZIP.
Thông điệp chính: Sổ 2026-09-25: 11 pass / 9 fail / 4 blocked. Soak: yêu cầu ba lần liên tiếp, không tự coi đã hoàn tất.
NGUỒN ĐẦY ĐỦ (đường dẫn tương đối từ gốc kho mã hoặc URL nguyên vẹn):
- package.json
- data/qa-gates.json
- data/acceptance-report.json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19/34 — Academic review: chuỗi truy vết
Phần: Chất lượng và bằng chứng
Yêu cầu → mục tiêu học tập → học liệu → kiểm chứng → ký duyệt.
Chuỗi truy vết nối căn cứ đào tạo và mục tiêu với nội dung, quiz, mô phỏng và bằng chứng. Ledger giúp ghi lại nội dung cần review và tình trạng, chứ bản thân kích thước tệp không phản ánh chất lượng học thuật.
Ledger đo được 836233 byte và sổ academic_signoffs có 0 bản ghi. Gate học thuật vẫn bị chặn. Cần review độc lập, đúng thẩm quyền và đúng phiên bản; không được tự ghi nhận đạt chuẩn đầu ra bằng tồn tại metadata LO.
Thông điệp chính: Ledger 836.233 byte; 0 bản ký trong sổ — dữ liệu không thay phê duyệt.
NGUỒN ĐẦY ĐỦ (đường dẫn tương đối từ gốc kho mã hoặc URL nguyên vẹn):
- data/academic_review_ledger.json
- data/academic_signoffs.json
- data/learning-outcomes.json
- data/acceptance-report.json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20/34 — Release: tái tạo và xác minh
Phần: Chất lượng và bằng chứng
Gói ứng viên lịch sử phải được phân biệt với mã nguồn đang thay đổi.
Gói ứng viên là 2026.09.02-candidate, ZIP 78739543 byte. SHA-256 đầy đủ: 3defec1306bab10288faed66e45f19d8aa2befc2b66ecb1b6f2066df186f005a. Hash đã được tính trực tiếp khi chuẩn bị báo cáo và khớp sổ ứng viên.
Xác minh hash chỉ xác nhận tệp đúng như hồ sơ. Tái tạo cùng byte cần chạy build với điều kiện cố định; phiên này không thay bằng chứng reproducibility lịch sử. Candidate không phải final acceptance, và mã nguồn hiện tại đã có thay đổi cần kiểm lại riêng.
Thông điệp chính: Hash xác nhận đúng byte của gói, không xác nhận học thuật hoặc mã mới đã đạt.
NGUỒN ĐẦY ĐỦ (đường dẫn tương đối từ gốc kho mã hoặc URL nguyên vẹn):
- data/release-candidate.json
- release/2026.09.02-candidate/release-summary.json
- data/acceptance-report.json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21/34 — Tuyên bố nào, bằng chứng đó
Phần: Chất lượng và bằng chứng
Không dùng đường dẫn giả hoặc số đếm suy diễn.
Slide này là bản đồ kiểm chứng cho các con số chính. Số tệp lấy từ staging.fileCount của summary, không lấy bằng ls ở thư mục chứa nhiều bản gói. Danh mục mô phỏng nằm ở hai manifest JavaScript thực tế, không phải routes.json.
Hash gói candidate là 3defec1306bab10288faed66e45f19d8aa2befc2b66ecb1b6f2066df186f005a. Kết quả QA được gắn với snapshot 2026-09-25T13:56:04Z. Khi dữ liệu được cập nhật, dựng lại báo cáo từ nguồn thay vì sửa số riêng trên slide. Không dùng hash hay ảnh gói cũ để đóng finding của nguồn mới.
Thông điệp chính: Lưu toàn bộ đường dẫn và hash trong Notes để hội đồng truy lại.
NGUỒN ĐẦY ĐỦ (đường dẫn tương đối từ gốc kho mã hoặc URL nguyên vẹn):
- release/2026.09.02-candidate/release-summary.json
- data/release-candidate.json
- js/sim2/sim2-route-manifest.js
- js/sim3/sim3-route-manifest.js
- data/acceptance-report.json
- data/simulation-current-revalidation.json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22/34 — So sánh theo điều kiện triển khai
Phần: So sánh và đánh giá
Các giải pháp phục vụ mục đích khác nhau; không có lựa chọn tốt nhất tuyệt đối.
Bảng so sánh tập trung vào điều kiện sử dụng và phạm vi, không chấm điểm sản phẩm khác. Moodle có thể triển khai tại chỗ hoặc trong LAN và ứng dụng có tính năng offline có điều kiện. Google Classroom trên iOS/Android cho đọc thông báo, bài và sửa tài liệu đã tải trước theo tài liệu chính thức.
Giáo trình này không cần dịch vụ tập trung khi đọc gói, nhưng không thay chức năng LMS về tài khoản và sổ điểm. Cả bản giấy lẫn phần mềm đều có chi phí biên soạn, bảo trì và phân phối; không dùng zero-cost. Tài liệu Moodle được tìm thấy qua nguồn chính thức nhưng truy cập trực tiếp bị chặn, nên không mở rộng kết luận về từng chức năng offline.
Thông điệp chính: Lợi thế là phân phối cục bộ; không tuyên bố đối thủ không có offline hoặc QA.
NGUỒN ĐẦY ĐỦ (đường dẫn tương đối từ gốc kho mã hoặc URL nguyên vẹn):
- README.md
- https://docs.moodle.org/en/Moodle_app_offline_features
- https://support.google.com/edu/classroom/answer/11015503?hl=en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23/34 — Mười điểm mạnh, ba nhóm
Phần: So sánh và đánh giá
Điểm mạnh thiết kế được phân biệt với kết quả thẩm định.
Bốn điểm kỹ thuật là tài nguyên cục bộ, phân lớp trách nhiệm, pipeline nội dung và hai tầng mô phỏng. Ba điểm tổ chức chất lượng là khung QA, liên kết truy vết và ledger review. Ba điểm người dùng là cơ chế tiếp cận, giữ ngữ cảnh PDF và fallback GIF.
Không gọi QA cấp công nghiệp như một chứng nhận hoặc mặc định chất lượng tuyệt đối. Những điểm mạnh là cơ chế quan sát được giúp quản lý rủi ro; vẫn phải kiểm lại thực thi và xem bằng chứng chấp nhận. Khả năng chuyển giao cần thử trên học phần khác.
Thông điệp chính: Các cơ chế tạo nền tảng kiểm soát chất lượng, không thay kết quả kiểm tra.
NGUỒN ĐẦY ĐỦ (đường dẫn tương đối từ gốc kho mã hoặc URL nguyên vẹn):
- README.md
- docs/system-architecture.md
- data/academic_review_ledger.json
- data/qa-gates.json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24/34 — Hạn chế theo mức ảnh hưởng
Phần: So sánh và đánh giá
Ưu tiên đề xuất: chấp nhận học thuật và tính đúng của bản nguồn trước mở rộng.
Hai hạn chế ưu tiên cao là thiếu chấp nhận học thuật chính thức và thiếu bằng chứng chạy liên thông LMS thật. Bốn điểm trung bình gồm phụ thuộc nguồn DOCX, QA cần bộ công cụ dev, phạm vi Sim3 pilot và PDF chưa search/thumbnail/annotation.
Hai điểm còn lại là bundle pages.js 1411022 byte và các mục bài tập Chương 3 VII-4 đến VII-6 đã loại khỏi phạm vi. Phân hạng này là đề xuất biên tập, chưa phải đánh giá rủi ro được đơn vị phê duyệt. Nguồn mô phỏng mới còn cần kiểm lại nên không được sử dụng như bản đạt đầy đủ.
Thông điệp chính: Nguồn mô phỏng mới còn pending; mức ảnh hưởng là đánh giá đề xuất.
NGUỒN ĐẦY ĐỦ (đường dẫn tương đối từ gốc kho mã hoặc URL nguyên vẹn):
- data/acceptance-report.json
- data/lms-targets.json
- data/simulation-current-revalidation.json
- README.md
- js/pages.js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25/34 — Năm rủi ro và cách xử lý
Phần: So sánh và đánh giá
Ước lượng định tính để ưu tiên; chưa có dữ liệu xác suất.
Năm rủi ro gồm lệch nội dung sau sửa DOCX, thiếu WebGL, học thuật lỗi thời, thời gian tải bundle và mất dữ liệu cục bộ. Biện pháp đã có về thiết kế như fallback và pipeline cần kiểm thực thi; biện pháp mới như backup phải được ghi là đề xuất.
Chưa có thống kê xác suất nên không trình bày Cao/Trung bình/Thấp như số liệu đo. Tối ưu bundle phải dựa vào thời gian mở và mức sử dụng bộ nhớ trên máy đích. Không tuyên bố đã có export/import JSON khi chưa có bằng chứng về giao diện và phạm vi dữ liệu đó.
Thông điệp chính: Biện pháp dự kiến không phải tính năng đã có; không tự nhận export/import JSON.
NGUỒN ĐẦY ĐỦ (đường dẫn tương đối từ gốc kho mã hoặc URL nguyên vẹn):
- README.md
- data/academic_review_ledger.json
- data/simulation-current-revalidation.json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26/34 — Tác động giáo dục cần kiểm chứng
Phần: Tác động và khuyến nghị
Giá trị kỳ vọng đối với ba nhóm, không phải hiệu quả đã đo.
Đối với học viên, giá trị kỳ vọng là tiếp cận học liệu trong điều kiện hạn chế kết nối và quan sát những đại lượng cơ học khó thấy trong trang giấy. Đối với giảng viên, nguồn DOCX và truy vết hỗ trợ cập nhật, nhưng tái tạo và QA vẫn cần phối hợp kỹ thuật.
Đối với nhà trường, khả năng phân phối cục bộ và tái sử dụng quy trình là hướng đáng thí điểm. Chưa có số liệu trước–sau, nhóm đối chứng hoặc tổng chi phí sở hữu để kết luận tăng chất lượng đào tạo hay tiết kiệm tiền. Cần kế hoạch đo lường riêng, bảo đảm quyền riêng tư người học.
Thông điệp chính: Cần nghiên cứu người học để kết luận hiệu quả, chi phí và khả năng nhân rộng.
NGUỒN ĐẦY ĐỦ (đường dẫn tương đối từ gốc kho mã hoặc URL nguyên vẹn):
- data/presentation-specification.json
- data/learning-outcomes.json
- README.md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27/34 — Sáu bài học có thể chuyển giao
Phần: Tác động và khuyến nghị
Nguyên tắc thực hành, không phải kết luận tổng quát từ thử nghiệm giáo dục.
Sáu bài học là lựa chọn thiết kế rút ra từ hiện vật: giữ chất lượng trong kiến trúc ngoại tuyến, tự động hóa tái tạo, tạo truy vết sớm, có điều kiện tiếp cận rõ, quản lý phiên bản và trung thực về trạng thái.
Đây là kinh nghiệm tổ chức dự án, không chứng minh mọi giáo trình phải dùng cùng công nghệ. Khi chuyển sang môn khác phải rà soát nguồn, cấu trúc, mô hình đặc thù và quyền sử dụng tài nguyên; pipeline không đảm bảo thay nội dung là dùng được ngay.
Thông điệp chính: Nhân rộng quy trình kiểm chứng trước khi nhân rộng số lượng tính năng.
NGUỒN ĐẦY ĐỦ (đường dẫn tương đối từ gốc kho mã hoặc URL nguyên vẹn):
- README.md
- docs/docx-sync-pipeline.md
- data/acceptance-report.json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28/34 — Roadmap đề xuất: ba giai đoạn
Phần: Tác động và khuyến nghị
Mốc tương đối từ khi kế hoạch được đơn vị phê duyệt.
Giai đoạn ngắn hạn tập trung sửa các finding, kiểm nguồn mô phỏng hiện tại và hoàn thiện review độc lập, bao gồm học thuật, tiếp cận, smoke và Word round-trip. Cần thống nhất người chịu trách nhiệm và điều kiện kết thúc trước khi bắt đầu.
Trung hạn thí điểm liên thông trên hai nền tảng đích và lựa chọn chỗ mở rộng Sim3 theo nhu cầu sư phạm. Dài hạn gồm đo hiệu năng, nâng trải nghiệm PDF và thử chuyển giao. Những mốc này là đề xuất, không phải tiến độ đã được cấp nguồn lực hoặc phê duyệt.
Thông điệp chính: Ưu tiên đóng điều kiện chấp nhận; không mở rộng 3D chỉ để tăng số lượng.
NGUỒN ĐẦY ĐỦ (đường dẫn tương đối từ gốc kho mã hoặc URL nguyên vẹn):
- data/acceptance-report.json
- data/simulation-current-revalidation.json
- data/lms-targets.json
- NghienCuuLamSlideMoi.txt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29/34 — KPI: baseline và mục tiêu đề xuất
Phần: Tác động và khuyến nghị
Mỗi mục tiêu cần định nghĩa cách đo, người xác nhận và bản nguồn.
Baseline QA lấy từ snapshot 2026-09-25T13:56:04Z; không phải kết quả chạy lại nguồn mới. Mục tiêu 24/24 chỉ có giá trị khi đủ ràng buộc bằng chứng và điều kiện review, không phải đơn giản sửa trạng thái trong JSON.
Chỉ số mở rộng mô phỏng không đặt 40+ bài vì 3D là bản tăng cường của 2D; trước hết giữ tính đúng rồi mới mở rộng. Các mục tiêu về hai LMS và ba học phần là đề xuất để thảo luận nguồn lực. Tác động học tập cần một chỉ số nghiên cứu riêng, không thay bằng đếm tài nguyên.
Thông điệp chính: Mục tiêu không phải cam kết; 25 vị trí và 10 bản 3D không cộng thành 35 bài.
NGUỒN ĐẦY ĐỦ (đường dẫn tương đối từ gốc kho mã hoặc URL nguyên vẹn):
- data/acceptance-report.json
- data/academic_signoffs.json
- data/lms-targets.json
- js/sim2/sim2-route-manifest.js
- js/sim3/sim3-route-manifest.js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30/34 — Năm khuyến nghị cho hội đồng
Phần: Tác động và khuyến nghị
Đề nghị thống nhất ưu tiên và điều kiện chuyển bước.
Khuyến nghị thứ nhất và thứ hai là hoàn thiện review độc lập về học thuật và khả năng tiếp cận. Khuyến nghị thứ ba yêu cầu minh chứng thực tế trên LMS đích thay vì chỉ có tệp chuẩn. Thứ tư là chuyển giao qua thí điểm, không sao chép kỳ vọng giữa các môn.
Khuyến nghị cuối giữ nguyên nguyên tắc trung thực về giới hạn. Sửa hồ sơ hoặc dựng slide không đóng được gate fail hay blocked. Đề nghị hội đồng ghi nhận hiện vật và thống nhất lộ trình hoàn thiện; quyền chấp nhận cuối cùng thuộc quy trình riêng của đơn vị.
Thông điệp chính: Đề nghị tiếp tục hoàn thiện có điều kiện, chưa đề nghị nghiệm thu cuối cùng.
NGUỒN ĐẦY ĐỦ (đường dẫn tương đối từ gốc kho mã hoặc URL nguyên vẹn):
- data/acceptance-report.json
- data/presentation-specification.json
- NghienCuuLamSlideMoi.txt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31/34 — Kết luận: ba luận điểm
Phần: Kết thúc
Có hiện vật kỹ thuật; cần review độc lập; có hướng chuyển giao.
Ba luận điểm khép lại báo cáo: kiến trúc và gói phát hành cho thấy có cơ sở kỹ thuật, hồ sơ hiện tại chưa đủ chấp nhận học thuật, và quy trình có thể là nền tảng chuyển giao sau thí điểm.
Kết luận không phải chứng nhận mọi tính năng ngoại tuyến đã pass hoặc hiệu quả giáo dục đã được chứng minh. Hành động thiết thực là kiểm bản nguồn hiện tại, sửa finding và tổ chức review độc lập để tạo bằng chứng mà hội đồng có thể kiểm lại.
Thông điệp chính: Tiếp tục đầu tư vào bằng chứng và thẩm định trước khi mở rộng phạm vi.
NGUỒN ĐẦY ĐỦ (đường dẫn tương đối từ gốc kho mã hoặc URL nguyên vẹn):
- data/acceptance-report.json
- data/simulation-current-revalidation.json
- data/release-candidate.json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32/34 — CẢM ƠN HỘI ĐỒNG Q &amp; A
Phần: Kết thúc
Trao đổi về bằng chứng, phạm vi sử dụng và ưu tiên hoàn thiện.
Cảm ơn hội đồng đã lắng nghe. Tôi xin nhận các câu hỏi về căn cứ kỹ thuật, phạm vi học thuật và cách ưu tiên đầu tư. Những câu hỏi cần số liệu khảo sát hoặc kiểm chứng mới sẽ được ghi lại thay vì trả lời bằng ước lượng chưa có nguồn.
Hai trang dự phòng tiếp theo trình bày vòng đời loader và danh mục tất cả vị trí mô phỏng. Có thể mở chúng khi cần làm rõ kiến trúc hoặc phạm vi; không trình bày như bằng chứng runtime đã pass ở bản nguồn mới.
Thông điệp chính: Sẵn sàng đối chiếu nguồn; không suy đoán thay bằng chứng còn thiếu.
NGUỒN ĐẦY ĐỦ (đường dẫn tương đối từ gốc kho mã hoặc URL nguyên vẹn):
- README.md
- NghienCuuLamSlideMoi.txt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33/34 — Chi tiết kiến trúc và vòng đời bài
Phần: Dự phòng cho Q&amp;A
PAGE_MAP, fragment, render toán, mount và dispose.
Loader đóng vai trò điều phối nội dung và runtime. Từ route, nó tìm fragment hoặc nội dung bundle rồi cập nhật bài. Công thức được render và mô phỏng được mount theo base route. Hợp đồng SIM_MAP trả về factory với dispose là điểm cần kiểm khi điều hướng.
Khi đổi bài phải giải phóng listener, observer, RAF và DOM thuộc mô phỏng. PDF giữ route là một đường trạng thái riêng cần kiểm để không dispose nhầm. Đây là giải thích mã thiết kế; nguồn mới cần bằng chứng revalidation về vòng đời và fallback, không được coi các capture cũ là xác nhận.
Thông điệp chính: Vòng đời phải chống listener, RAF và DOM còn sót khi đổi route.
NGUỒN ĐẦY ĐỦ (đường dẫn tương đối từ gốc kho mã hoặc URL nguyên vẹn):
- js/loader.js
- js/pages.js
- README.md
- data/simulation-current-revalidation.json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34/34 — Danh mục đầy đủ mô phỏng
Phần: Dự phòng cho Q&amp;A
25 vị trí Sim2 · ký hiệu 3D đánh dấu 10 bản tăng cường trên cùng bài.
Phụ lục liệt kê đầy đủ 25 vị trí cơ sở theo ba chương: 10 Tĩnh học, 7 Động học và 8 Động lực học. Ký hiệu 3D chỉ những vị trí có bản Three.js thử nghiệm; tất cả vẫn thuộc tập bài 2D.
Mười vị trí có Sim3: ch1-1-5 — Thu gọn hệ lực phẳng → R + Mo; ch1-5-3 — Nón ma sát trên mặt nghiêng; ch2-1-3 — Tiếp/pháp tuyến + bán kính cong; ch2-2-2 — Quay quanh trục cố định (ω, α); ch2-3-2 — Truyền động bánh răng–đai–puli; ch2-4-4 — Hợp chuyển động &amp; Coriolis; ch2-5-3 — Phân bố vận tốc điểm trên vật rắn; ch3-1-3 — HQC quán tính vs phi quán tính; ch3-5-3 — Bảo toàn mô men động lượng; ch3-6-2 — Va chạm với hệ số phục hồi e. Phạm vi được đọc trực tiếp từ manifest; chất lượng mô hình, giả thiết và tính đúng phải xem đặc tả và evidence đúng bản nguồn.
Thông điệp chính: Bản 3D nằm trong tập 25 vị trí; danh mục không chứng minh đạt chất lượng mô hình.
NGUỒN ĐẦY ĐỦ (đường dẫn tương đối từ gốc kho mã hoặc URL nguyên vẹn):
- js/sim2/sim2-route-manifest.js
- js/sim3/sim3-route-manifest.js
- data/simulation-specifications.json
Kho mã: https://github.com/xuan2261/GiaoTrinhDienTu_CoHocLyThuyet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TRUY CẬP TRỰC TUYẾN</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Trải nghiệm giáo trình trực tuyến</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Quét QR bằng điện thoại để mở phiên bản web.</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Kết nối Internet để truy cập web; giữ bản ngoại tuyến khi cần.</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01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358579"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6743531" cy="3505200"/>
          </a:xfrm>
          <a:prstGeom prst="roundRect">
            <a:avLst>
              <a:gd name="adj" fmla="val 2717"/>
            </a:avLst>
          </a:prstGeom>
          <a:solidFill>
            <a:srgbClr val="FFFFFF"/>
          </a:solidFill>
          <a:ln w="7620">
            <a:solidFill>
              <a:srgbClr val="D8E1EB"/>
            </a:solidFill>
            <a:prstDash val="solid"/>
          </a:ln>
        </p:spPr>
      </p:sp>
      <p:sp>
        <p:nvSpPr>
          <p:cNvPr id="15" name="Text 13"/>
          <p:cNvSpPr txBox="1"/>
          <p:nvPr/>
        </p:nvSpPr>
        <p:spPr>
          <a:xfrm>
            <a:off x="819130" y="2457450"/>
            <a:ext cx="6286343" cy="457200"/>
          </a:xfrm>
          <a:prstGeom prst="rect">
            <a:avLst/>
          </a:prstGeom>
          <a:noFill/>
          <a:ln/>
        </p:spPr>
        <p:txBody>
          <a:bodyPr wrap="square" lIns="0" tIns="0" rIns="0" bIns="0" rtlCol="0" anchor="t"/>
          <a:lstStyle/>
          <a:p>
            <a:pPr algn="l" indent="0" marL="0">
              <a:lnSpc>
                <a:spcPct val="114000"/>
              </a:lnSpc>
              <a:buNone/>
            </a:pPr>
            <a:r>
              <a:rPr lang="en-US" sz="2600" b="1" dirty="0">
                <a:solidFill>
                  <a:srgbClr val="0B2545"/>
                </a:solidFill>
                <a:latin typeface="Arial" pitchFamily="34" charset="0"/>
                <a:ea typeface="Arial" pitchFamily="34" charset="-122"/>
                <a:cs typeface="Arial" pitchFamily="34" charset="-120"/>
              </a:rPr>
              <a:t>Quét mã để mở giáo trình</a:t>
            </a:r>
            <a:endParaRPr lang="en-US" sz="2600" dirty="0"/>
          </a:p>
        </p:txBody>
      </p:sp>
      <p:sp>
        <p:nvSpPr>
          <p:cNvPr id="16" name="Text 14"/>
          <p:cNvSpPr txBox="1"/>
          <p:nvPr/>
        </p:nvSpPr>
        <p:spPr>
          <a:xfrm>
            <a:off x="819130" y="3143250"/>
            <a:ext cx="6286343" cy="1314450"/>
          </a:xfrm>
          <a:prstGeom prst="rect">
            <a:avLst/>
          </a:prstGeom>
          <a:noFill/>
          <a:ln/>
        </p:spPr>
        <p:txBody>
          <a:bodyPr wrap="square" lIns="0" tIns="0" rIns="0" bIns="0" rtlCol="0" anchor="t"/>
          <a:lstStyle/>
          <a:p>
            <a:pPr algn="l" indent="0" marL="0">
              <a:lnSpc>
                <a:spcPct val="114000"/>
              </a:lnSpc>
              <a:buNone/>
            </a:pPr>
            <a:r>
              <a:rPr lang="en-US" sz="2000" dirty="0">
                <a:solidFill>
                  <a:srgbClr val="24364A"/>
                </a:solidFill>
                <a:latin typeface="Arial" pitchFamily="34" charset="0"/>
                <a:ea typeface="Arial" pitchFamily="34" charset="-122"/>
                <a:cs typeface="Arial" pitchFamily="34" charset="-120"/>
              </a:rPr>
              <a:t>1. Mở camera hoặc ứng dụng quét QR.</a:t>
            </a:r>
            <a:endParaRPr lang="en-US" sz="2000" dirty="0"/>
          </a:p>
          <a:p>
            <a:pPr algn="l" indent="0" marL="0">
              <a:lnSpc>
                <a:spcPct val="114000"/>
              </a:lnSpc>
              <a:buNone/>
            </a:pPr>
            <a:r>
              <a:rPr lang="en-US" sz="2000" dirty="0">
                <a:solidFill>
                  <a:srgbClr val="24364A"/>
                </a:solidFill>
                <a:latin typeface="Arial" pitchFamily="34" charset="0"/>
                <a:ea typeface="Arial" pitchFamily="34" charset="-122"/>
                <a:cs typeface="Arial" pitchFamily="34" charset="-120"/>
              </a:rPr>
              <a:t>2. Quét mã bên phải.</a:t>
            </a:r>
            <a:endParaRPr lang="en-US" sz="2000" dirty="0"/>
          </a:p>
          <a:p>
            <a:pPr algn="l" indent="0" marL="0">
              <a:lnSpc>
                <a:spcPct val="114000"/>
              </a:lnSpc>
              <a:buNone/>
            </a:pPr>
            <a:r>
              <a:rPr lang="en-US" sz="2000" dirty="0">
                <a:solidFill>
                  <a:srgbClr val="24364A"/>
                </a:solidFill>
                <a:latin typeface="Arial" pitchFamily="34" charset="0"/>
                <a:ea typeface="Arial" pitchFamily="34" charset="-122"/>
                <a:cs typeface="Arial" pitchFamily="34" charset="-120"/>
              </a:rPr>
              <a:t>3. Mở liên kết và trải nghiệm học liệu.</a:t>
            </a:r>
            <a:endParaRPr lang="en-US" sz="2000" dirty="0"/>
          </a:p>
        </p:txBody>
      </p:sp>
      <p:sp>
        <p:nvSpPr>
          <p:cNvPr id="17" name="Text 15"/>
          <p:cNvSpPr txBox="1"/>
          <p:nvPr/>
        </p:nvSpPr>
        <p:spPr>
          <a:xfrm>
            <a:off x="819130" y="4810125"/>
            <a:ext cx="6191095" cy="714375"/>
          </a:xfrm>
          <a:prstGeom prst="rect">
            <a:avLst/>
          </a:prstGeom>
          <a:noFill/>
          <a:ln/>
        </p:spPr>
        <p:txBody>
          <a:bodyPr wrap="square" lIns="0" tIns="0" rIns="0" bIns="0" rtlCol="0" anchor="t"/>
          <a:lstStyle/>
          <a:p>
            <a:pPr algn="l" indent="0" marL="0">
              <a:lnSpc>
                <a:spcPct val="114000"/>
              </a:lnSpc>
              <a:buNone/>
            </a:pPr>
            <a:r>
              <a:rPr lang="en-US" sz="1700" dirty="0">
                <a:solidFill>
                  <a:srgbClr val="13315C"/>
                </a:solidFill>
                <a:latin typeface="Arial" pitchFamily="34" charset="0"/>
                <a:ea typeface="Arial" pitchFamily="34" charset="-122"/>
                <a:cs typeface="Arial" pitchFamily="34" charset="-120"/>
              </a:rPr>
              <a:t>https://xuan2261.github.io/GiaoTrinhDienTu_CoHocLyThuye</a:t>
            </a:r>
            <a:endParaRPr lang="en-US" sz="1700" dirty="0"/>
          </a:p>
          <a:p>
            <a:pPr algn="l" indent="0" marL="0">
              <a:lnSpc>
                <a:spcPct val="114000"/>
              </a:lnSpc>
              <a:buNone/>
            </a:pPr>
            <a:r>
              <a:rPr lang="en-US" sz="1700" dirty="0">
                <a:solidFill>
                  <a:srgbClr val="13315C"/>
                </a:solidFill>
                <a:latin typeface="Arial" pitchFamily="34" charset="0"/>
                <a:ea typeface="Arial" pitchFamily="34" charset="-122"/>
                <a:cs typeface="Arial" pitchFamily="34" charset="-120"/>
              </a:rPr>
              <a:t>t/</a:t>
            </a:r>
            <a:endParaRPr lang="en-US" sz="1700" dirty="0"/>
          </a:p>
        </p:txBody>
      </p:sp>
      <p:pic>
        <p:nvPicPr>
          <p:cNvPr id="18" name="Image 0" descr="QR mở giáo trình trực tuyến: https://xuan2261.github.io/GiaoTrinhDienTu_CoHocLyThuyet/">    </p:cNvPr>
          <p:cNvPicPr>
            <a:picLocks noChangeAspect="1"/>
          </p:cNvPicPr>
          <p:nvPr/>
        </p:nvPicPr>
        <p:blipFill>
          <a:blip r:embed="rId1"/>
          <a:stretch>
            <a:fillRect/>
          </a:stretch>
        </p:blipFill>
        <p:spPr>
          <a:xfrm>
            <a:off x="8076998" y="2209800"/>
            <a:ext cx="3505112" cy="3505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BCCBDB"/>
                </a:solidFill>
                <a:latin typeface="Arial" pitchFamily="34" charset="0"/>
                <a:ea typeface="Arial" pitchFamily="34" charset="-122"/>
                <a:cs typeface="Arial" pitchFamily="34" charset="-120"/>
              </a:rPr>
              <a:t>MỞ ĐẦU</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FFFFFF"/>
                </a:solidFill>
                <a:latin typeface="Arial" pitchFamily="34" charset="0"/>
                <a:ea typeface="Arial" pitchFamily="34" charset="-122"/>
                <a:cs typeface="Arial" pitchFamily="34" charset="-120"/>
              </a:rPr>
              <a:t>HỌC VIỆN HẢI QUÂN</a:t>
            </a:r>
            <a:endParaRPr lang="en-US" sz="1050" dirty="0"/>
          </a:p>
        </p:txBody>
      </p:sp>
      <p:sp>
        <p:nvSpPr>
          <p:cNvPr id="5" name="Shape 3"/>
          <p:cNvSpPr/>
          <p:nvPr/>
        </p:nvSpPr>
        <p:spPr>
          <a:xfrm>
            <a:off x="609585" y="5886450"/>
            <a:ext cx="10972526" cy="533400"/>
          </a:xfrm>
          <a:prstGeom prst="rect">
            <a:avLst/>
          </a:prstGeom>
          <a:solidFill>
            <a:srgbClr val="13315C"/>
          </a:solidFill>
          <a:ln w="12700">
            <a:solidFill>
              <a:srgbClr val="13315C">
                <a:alpha val="0"/>
              </a:srgbClr>
            </a:solidFill>
            <a:prstDash val="solid"/>
          </a:ln>
        </p:spPr>
      </p:sp>
      <p:sp>
        <p:nvSpPr>
          <p:cNvPr id="6" name="Shape 4"/>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7" name="Text 5"/>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FFFFFF"/>
                </a:solidFill>
                <a:latin typeface="Arial" pitchFamily="34" charset="0"/>
                <a:ea typeface="Arial" pitchFamily="34" charset="-122"/>
                <a:cs typeface="Arial" pitchFamily="34" charset="-120"/>
              </a:rPr>
              <a:t>Báo cáo hiện trạng, bằng chứng và lộ trình hoàn thiện — không thay quyết định nghiệm thu.</a:t>
            </a:r>
            <a:endParaRPr lang="en-US" sz="1700" dirty="0"/>
          </a:p>
        </p:txBody>
      </p:sp>
      <p:sp>
        <p:nvSpPr>
          <p:cNvPr id="8" name="Shape 6"/>
          <p:cNvSpPr/>
          <p:nvPr/>
        </p:nvSpPr>
        <p:spPr>
          <a:xfrm>
            <a:off x="609585" y="6553200"/>
            <a:ext cx="10972526" cy="0"/>
          </a:xfrm>
          <a:prstGeom prst="line">
            <a:avLst/>
          </a:prstGeom>
          <a:noFill/>
          <a:ln w="7620">
            <a:solidFill>
              <a:srgbClr val="34516E"/>
            </a:solidFill>
            <a:prstDash val="solid"/>
          </a:ln>
        </p:spPr>
      </p:sp>
      <p:sp>
        <p:nvSpPr>
          <p:cNvPr id="9" name="Text 7"/>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BCCBDB"/>
                </a:solidFill>
                <a:latin typeface="Arial" pitchFamily="34" charset="0"/>
                <a:ea typeface="Arial" pitchFamily="34" charset="-122"/>
                <a:cs typeface="Arial" pitchFamily="34" charset="-120"/>
              </a:rPr>
              <a:t>02 / 34</a:t>
            </a:r>
            <a:endParaRPr lang="en-US" sz="900" dirty="0"/>
          </a:p>
        </p:txBody>
      </p:sp>
      <p:sp>
        <p:nvSpPr>
          <p:cNvPr id="10" name="Shape 8"/>
          <p:cNvSpPr/>
          <p:nvPr/>
        </p:nvSpPr>
        <p:spPr>
          <a:xfrm>
            <a:off x="0" y="6819900"/>
            <a:ext cx="12191695" cy="38100"/>
          </a:xfrm>
          <a:prstGeom prst="rect">
            <a:avLst/>
          </a:prstGeom>
          <a:solidFill>
            <a:srgbClr val="13315C"/>
          </a:solidFill>
          <a:ln w="12700">
            <a:solidFill>
              <a:srgbClr val="13315C">
                <a:alpha val="0"/>
              </a:srgbClr>
            </a:solidFill>
            <a:prstDash val="solid"/>
          </a:ln>
        </p:spPr>
      </p:sp>
      <p:sp>
        <p:nvSpPr>
          <p:cNvPr id="11" name="Shape 9"/>
          <p:cNvSpPr/>
          <p:nvPr/>
        </p:nvSpPr>
        <p:spPr>
          <a:xfrm>
            <a:off x="0" y="6819900"/>
            <a:ext cx="717159" cy="38100"/>
          </a:xfrm>
          <a:prstGeom prst="rect">
            <a:avLst/>
          </a:prstGeom>
          <a:solidFill>
            <a:srgbClr val="F77F00"/>
          </a:solidFill>
          <a:ln w="12700">
            <a:solidFill>
              <a:srgbClr val="F77F00">
                <a:alpha val="0"/>
              </a:srgbClr>
            </a:solidFill>
            <a:prstDash val="solid"/>
          </a:ln>
        </p:spPr>
      </p:sp>
      <p:sp>
        <p:nvSpPr>
          <p:cNvPr id="12" name="Shape 10"/>
          <p:cNvSpPr/>
          <p:nvPr/>
        </p:nvSpPr>
        <p:spPr>
          <a:xfrm>
            <a:off x="7981750" y="1381125"/>
            <a:ext cx="0" cy="4076700"/>
          </a:xfrm>
          <a:prstGeom prst="line">
            <a:avLst/>
          </a:prstGeom>
          <a:noFill/>
          <a:ln w="5715">
            <a:solidFill>
              <a:srgbClr val="13315C"/>
            </a:solidFill>
            <a:prstDash val="solid"/>
          </a:ln>
        </p:spPr>
      </p:sp>
      <p:sp>
        <p:nvSpPr>
          <p:cNvPr id="13" name="Shape 11"/>
          <p:cNvSpPr/>
          <p:nvPr/>
        </p:nvSpPr>
        <p:spPr>
          <a:xfrm>
            <a:off x="8277018" y="1381125"/>
            <a:ext cx="0" cy="4076700"/>
          </a:xfrm>
          <a:prstGeom prst="line">
            <a:avLst/>
          </a:prstGeom>
          <a:noFill/>
          <a:ln w="5715">
            <a:solidFill>
              <a:srgbClr val="13315C"/>
            </a:solidFill>
            <a:prstDash val="solid"/>
          </a:ln>
        </p:spPr>
      </p:sp>
      <p:sp>
        <p:nvSpPr>
          <p:cNvPr id="14" name="Shape 12"/>
          <p:cNvSpPr/>
          <p:nvPr/>
        </p:nvSpPr>
        <p:spPr>
          <a:xfrm>
            <a:off x="8572286" y="1381125"/>
            <a:ext cx="0" cy="4076700"/>
          </a:xfrm>
          <a:prstGeom prst="line">
            <a:avLst/>
          </a:prstGeom>
          <a:noFill/>
          <a:ln w="5715">
            <a:solidFill>
              <a:srgbClr val="13315C"/>
            </a:solidFill>
            <a:prstDash val="solid"/>
          </a:ln>
        </p:spPr>
      </p:sp>
      <p:sp>
        <p:nvSpPr>
          <p:cNvPr id="15" name="Shape 13"/>
          <p:cNvSpPr/>
          <p:nvPr/>
        </p:nvSpPr>
        <p:spPr>
          <a:xfrm>
            <a:off x="8867553" y="1381125"/>
            <a:ext cx="0" cy="4076700"/>
          </a:xfrm>
          <a:prstGeom prst="line">
            <a:avLst/>
          </a:prstGeom>
          <a:noFill/>
          <a:ln w="5715">
            <a:solidFill>
              <a:srgbClr val="13315C"/>
            </a:solidFill>
            <a:prstDash val="solid"/>
          </a:ln>
        </p:spPr>
      </p:sp>
      <p:sp>
        <p:nvSpPr>
          <p:cNvPr id="16" name="Shape 14"/>
          <p:cNvSpPr/>
          <p:nvPr/>
        </p:nvSpPr>
        <p:spPr>
          <a:xfrm>
            <a:off x="9162821" y="1381125"/>
            <a:ext cx="0" cy="4076700"/>
          </a:xfrm>
          <a:prstGeom prst="line">
            <a:avLst/>
          </a:prstGeom>
          <a:noFill/>
          <a:ln w="5715">
            <a:solidFill>
              <a:srgbClr val="13315C"/>
            </a:solidFill>
            <a:prstDash val="solid"/>
          </a:ln>
        </p:spPr>
      </p:sp>
      <p:sp>
        <p:nvSpPr>
          <p:cNvPr id="17" name="Shape 15"/>
          <p:cNvSpPr/>
          <p:nvPr/>
        </p:nvSpPr>
        <p:spPr>
          <a:xfrm>
            <a:off x="9458089" y="1381125"/>
            <a:ext cx="0" cy="4076700"/>
          </a:xfrm>
          <a:prstGeom prst="line">
            <a:avLst/>
          </a:prstGeom>
          <a:noFill/>
          <a:ln w="5715">
            <a:solidFill>
              <a:srgbClr val="13315C"/>
            </a:solidFill>
            <a:prstDash val="solid"/>
          </a:ln>
        </p:spPr>
      </p:sp>
      <p:sp>
        <p:nvSpPr>
          <p:cNvPr id="18" name="Shape 16"/>
          <p:cNvSpPr/>
          <p:nvPr/>
        </p:nvSpPr>
        <p:spPr>
          <a:xfrm>
            <a:off x="9753356" y="1381125"/>
            <a:ext cx="0" cy="4076700"/>
          </a:xfrm>
          <a:prstGeom prst="line">
            <a:avLst/>
          </a:prstGeom>
          <a:noFill/>
          <a:ln w="5715">
            <a:solidFill>
              <a:srgbClr val="13315C"/>
            </a:solidFill>
            <a:prstDash val="solid"/>
          </a:ln>
        </p:spPr>
      </p:sp>
      <p:sp>
        <p:nvSpPr>
          <p:cNvPr id="19" name="Shape 17"/>
          <p:cNvSpPr/>
          <p:nvPr/>
        </p:nvSpPr>
        <p:spPr>
          <a:xfrm>
            <a:off x="10048624" y="1381125"/>
            <a:ext cx="0" cy="4076700"/>
          </a:xfrm>
          <a:prstGeom prst="line">
            <a:avLst/>
          </a:prstGeom>
          <a:noFill/>
          <a:ln w="5715">
            <a:solidFill>
              <a:srgbClr val="13315C"/>
            </a:solidFill>
            <a:prstDash val="solid"/>
          </a:ln>
        </p:spPr>
      </p:sp>
      <p:sp>
        <p:nvSpPr>
          <p:cNvPr id="20" name="Shape 18"/>
          <p:cNvSpPr/>
          <p:nvPr/>
        </p:nvSpPr>
        <p:spPr>
          <a:xfrm>
            <a:off x="10343891" y="1381125"/>
            <a:ext cx="0" cy="4076700"/>
          </a:xfrm>
          <a:prstGeom prst="line">
            <a:avLst/>
          </a:prstGeom>
          <a:noFill/>
          <a:ln w="5715">
            <a:solidFill>
              <a:srgbClr val="13315C"/>
            </a:solidFill>
            <a:prstDash val="solid"/>
          </a:ln>
        </p:spPr>
      </p:sp>
      <p:sp>
        <p:nvSpPr>
          <p:cNvPr id="21" name="Shape 19"/>
          <p:cNvSpPr/>
          <p:nvPr/>
        </p:nvSpPr>
        <p:spPr>
          <a:xfrm>
            <a:off x="10639159" y="1381125"/>
            <a:ext cx="0" cy="4076700"/>
          </a:xfrm>
          <a:prstGeom prst="line">
            <a:avLst/>
          </a:prstGeom>
          <a:noFill/>
          <a:ln w="5715">
            <a:solidFill>
              <a:srgbClr val="13315C"/>
            </a:solidFill>
            <a:prstDash val="solid"/>
          </a:ln>
        </p:spPr>
      </p:sp>
      <p:sp>
        <p:nvSpPr>
          <p:cNvPr id="22" name="Shape 20"/>
          <p:cNvSpPr/>
          <p:nvPr/>
        </p:nvSpPr>
        <p:spPr>
          <a:xfrm>
            <a:off x="10934427" y="1381125"/>
            <a:ext cx="0" cy="4076700"/>
          </a:xfrm>
          <a:prstGeom prst="line">
            <a:avLst/>
          </a:prstGeom>
          <a:noFill/>
          <a:ln w="5715">
            <a:solidFill>
              <a:srgbClr val="13315C"/>
            </a:solidFill>
            <a:prstDash val="solid"/>
          </a:ln>
        </p:spPr>
      </p:sp>
      <p:sp>
        <p:nvSpPr>
          <p:cNvPr id="23" name="Shape 21"/>
          <p:cNvSpPr/>
          <p:nvPr/>
        </p:nvSpPr>
        <p:spPr>
          <a:xfrm>
            <a:off x="11229694" y="1381125"/>
            <a:ext cx="0" cy="4076700"/>
          </a:xfrm>
          <a:prstGeom prst="line">
            <a:avLst/>
          </a:prstGeom>
          <a:noFill/>
          <a:ln w="5715">
            <a:solidFill>
              <a:srgbClr val="13315C"/>
            </a:solidFill>
            <a:prstDash val="solid"/>
          </a:ln>
        </p:spPr>
      </p:sp>
      <p:sp>
        <p:nvSpPr>
          <p:cNvPr id="24" name="Shape 22"/>
          <p:cNvSpPr/>
          <p:nvPr/>
        </p:nvSpPr>
        <p:spPr>
          <a:xfrm>
            <a:off x="11524962" y="1381125"/>
            <a:ext cx="0" cy="4076700"/>
          </a:xfrm>
          <a:prstGeom prst="line">
            <a:avLst/>
          </a:prstGeom>
          <a:noFill/>
          <a:ln w="5715">
            <a:solidFill>
              <a:srgbClr val="13315C"/>
            </a:solidFill>
            <a:prstDash val="solid"/>
          </a:ln>
        </p:spPr>
      </p:sp>
      <p:sp>
        <p:nvSpPr>
          <p:cNvPr id="25" name="Shape 23"/>
          <p:cNvSpPr/>
          <p:nvPr/>
        </p:nvSpPr>
        <p:spPr>
          <a:xfrm>
            <a:off x="7981750" y="1381125"/>
            <a:ext cx="3543211" cy="0"/>
          </a:xfrm>
          <a:prstGeom prst="line">
            <a:avLst/>
          </a:prstGeom>
          <a:noFill/>
          <a:ln w="5715">
            <a:solidFill>
              <a:srgbClr val="13315C"/>
            </a:solidFill>
            <a:prstDash val="solid"/>
          </a:ln>
        </p:spPr>
      </p:sp>
      <p:sp>
        <p:nvSpPr>
          <p:cNvPr id="26" name="Shape 24"/>
          <p:cNvSpPr/>
          <p:nvPr/>
        </p:nvSpPr>
        <p:spPr>
          <a:xfrm>
            <a:off x="7981750" y="1676400"/>
            <a:ext cx="3543211" cy="0"/>
          </a:xfrm>
          <a:prstGeom prst="line">
            <a:avLst/>
          </a:prstGeom>
          <a:noFill/>
          <a:ln w="5715">
            <a:solidFill>
              <a:srgbClr val="13315C"/>
            </a:solidFill>
            <a:prstDash val="solid"/>
          </a:ln>
        </p:spPr>
      </p:sp>
      <p:sp>
        <p:nvSpPr>
          <p:cNvPr id="27" name="Shape 25"/>
          <p:cNvSpPr/>
          <p:nvPr/>
        </p:nvSpPr>
        <p:spPr>
          <a:xfrm>
            <a:off x="7981750" y="1971675"/>
            <a:ext cx="3543211" cy="0"/>
          </a:xfrm>
          <a:prstGeom prst="line">
            <a:avLst/>
          </a:prstGeom>
          <a:noFill/>
          <a:ln w="5715">
            <a:solidFill>
              <a:srgbClr val="13315C"/>
            </a:solidFill>
            <a:prstDash val="solid"/>
          </a:ln>
        </p:spPr>
      </p:sp>
      <p:sp>
        <p:nvSpPr>
          <p:cNvPr id="28" name="Shape 26"/>
          <p:cNvSpPr/>
          <p:nvPr/>
        </p:nvSpPr>
        <p:spPr>
          <a:xfrm>
            <a:off x="7981750" y="2266950"/>
            <a:ext cx="3543211" cy="0"/>
          </a:xfrm>
          <a:prstGeom prst="line">
            <a:avLst/>
          </a:prstGeom>
          <a:noFill/>
          <a:ln w="5715">
            <a:solidFill>
              <a:srgbClr val="13315C"/>
            </a:solidFill>
            <a:prstDash val="solid"/>
          </a:ln>
        </p:spPr>
      </p:sp>
      <p:sp>
        <p:nvSpPr>
          <p:cNvPr id="29" name="Shape 27"/>
          <p:cNvSpPr/>
          <p:nvPr/>
        </p:nvSpPr>
        <p:spPr>
          <a:xfrm>
            <a:off x="7981750" y="2562225"/>
            <a:ext cx="3543211" cy="0"/>
          </a:xfrm>
          <a:prstGeom prst="line">
            <a:avLst/>
          </a:prstGeom>
          <a:noFill/>
          <a:ln w="5715">
            <a:solidFill>
              <a:srgbClr val="13315C"/>
            </a:solidFill>
            <a:prstDash val="solid"/>
          </a:ln>
        </p:spPr>
      </p:sp>
      <p:sp>
        <p:nvSpPr>
          <p:cNvPr id="30" name="Shape 28"/>
          <p:cNvSpPr/>
          <p:nvPr/>
        </p:nvSpPr>
        <p:spPr>
          <a:xfrm>
            <a:off x="7981750" y="2857500"/>
            <a:ext cx="3543211" cy="0"/>
          </a:xfrm>
          <a:prstGeom prst="line">
            <a:avLst/>
          </a:prstGeom>
          <a:noFill/>
          <a:ln w="5715">
            <a:solidFill>
              <a:srgbClr val="13315C"/>
            </a:solidFill>
            <a:prstDash val="solid"/>
          </a:ln>
        </p:spPr>
      </p:sp>
      <p:sp>
        <p:nvSpPr>
          <p:cNvPr id="31" name="Shape 29"/>
          <p:cNvSpPr/>
          <p:nvPr/>
        </p:nvSpPr>
        <p:spPr>
          <a:xfrm>
            <a:off x="7981750" y="3152775"/>
            <a:ext cx="3543211" cy="0"/>
          </a:xfrm>
          <a:prstGeom prst="line">
            <a:avLst/>
          </a:prstGeom>
          <a:noFill/>
          <a:ln w="5715">
            <a:solidFill>
              <a:srgbClr val="13315C"/>
            </a:solidFill>
            <a:prstDash val="solid"/>
          </a:ln>
        </p:spPr>
      </p:sp>
      <p:sp>
        <p:nvSpPr>
          <p:cNvPr id="32" name="Shape 30"/>
          <p:cNvSpPr/>
          <p:nvPr/>
        </p:nvSpPr>
        <p:spPr>
          <a:xfrm>
            <a:off x="7981750" y="3448050"/>
            <a:ext cx="3543211" cy="0"/>
          </a:xfrm>
          <a:prstGeom prst="line">
            <a:avLst/>
          </a:prstGeom>
          <a:noFill/>
          <a:ln w="5715">
            <a:solidFill>
              <a:srgbClr val="13315C"/>
            </a:solidFill>
            <a:prstDash val="solid"/>
          </a:ln>
        </p:spPr>
      </p:sp>
      <p:sp>
        <p:nvSpPr>
          <p:cNvPr id="33" name="Shape 31"/>
          <p:cNvSpPr/>
          <p:nvPr/>
        </p:nvSpPr>
        <p:spPr>
          <a:xfrm>
            <a:off x="7981750" y="3743325"/>
            <a:ext cx="3543211" cy="0"/>
          </a:xfrm>
          <a:prstGeom prst="line">
            <a:avLst/>
          </a:prstGeom>
          <a:noFill/>
          <a:ln w="5715">
            <a:solidFill>
              <a:srgbClr val="13315C"/>
            </a:solidFill>
            <a:prstDash val="solid"/>
          </a:ln>
        </p:spPr>
      </p:sp>
      <p:sp>
        <p:nvSpPr>
          <p:cNvPr id="34" name="Shape 32"/>
          <p:cNvSpPr/>
          <p:nvPr/>
        </p:nvSpPr>
        <p:spPr>
          <a:xfrm>
            <a:off x="7981750" y="4038600"/>
            <a:ext cx="3543211" cy="0"/>
          </a:xfrm>
          <a:prstGeom prst="line">
            <a:avLst/>
          </a:prstGeom>
          <a:noFill/>
          <a:ln w="5715">
            <a:solidFill>
              <a:srgbClr val="13315C"/>
            </a:solidFill>
            <a:prstDash val="solid"/>
          </a:ln>
        </p:spPr>
      </p:sp>
      <p:sp>
        <p:nvSpPr>
          <p:cNvPr id="35" name="Shape 33"/>
          <p:cNvSpPr/>
          <p:nvPr/>
        </p:nvSpPr>
        <p:spPr>
          <a:xfrm>
            <a:off x="7981750" y="4333875"/>
            <a:ext cx="3543211" cy="0"/>
          </a:xfrm>
          <a:prstGeom prst="line">
            <a:avLst/>
          </a:prstGeom>
          <a:noFill/>
          <a:ln w="5715">
            <a:solidFill>
              <a:srgbClr val="13315C"/>
            </a:solidFill>
            <a:prstDash val="solid"/>
          </a:ln>
        </p:spPr>
      </p:sp>
      <p:sp>
        <p:nvSpPr>
          <p:cNvPr id="36" name="Shape 34"/>
          <p:cNvSpPr/>
          <p:nvPr/>
        </p:nvSpPr>
        <p:spPr>
          <a:xfrm>
            <a:off x="7981750" y="4629150"/>
            <a:ext cx="3543211" cy="0"/>
          </a:xfrm>
          <a:prstGeom prst="line">
            <a:avLst/>
          </a:prstGeom>
          <a:noFill/>
          <a:ln w="5715">
            <a:solidFill>
              <a:srgbClr val="13315C"/>
            </a:solidFill>
            <a:prstDash val="solid"/>
          </a:ln>
        </p:spPr>
      </p:sp>
      <p:sp>
        <p:nvSpPr>
          <p:cNvPr id="37" name="Shape 35"/>
          <p:cNvSpPr/>
          <p:nvPr/>
        </p:nvSpPr>
        <p:spPr>
          <a:xfrm>
            <a:off x="7981750" y="4924425"/>
            <a:ext cx="3543211" cy="0"/>
          </a:xfrm>
          <a:prstGeom prst="line">
            <a:avLst/>
          </a:prstGeom>
          <a:noFill/>
          <a:ln w="5715">
            <a:solidFill>
              <a:srgbClr val="13315C"/>
            </a:solidFill>
            <a:prstDash val="solid"/>
          </a:ln>
        </p:spPr>
      </p:sp>
      <p:sp>
        <p:nvSpPr>
          <p:cNvPr id="38" name="Shape 36"/>
          <p:cNvSpPr/>
          <p:nvPr/>
        </p:nvSpPr>
        <p:spPr>
          <a:xfrm>
            <a:off x="7981750" y="5219700"/>
            <a:ext cx="3543211" cy="0"/>
          </a:xfrm>
          <a:prstGeom prst="line">
            <a:avLst/>
          </a:prstGeom>
          <a:noFill/>
          <a:ln w="5715">
            <a:solidFill>
              <a:srgbClr val="13315C"/>
            </a:solidFill>
            <a:prstDash val="solid"/>
          </a:ln>
        </p:spPr>
      </p:sp>
      <p:sp>
        <p:nvSpPr>
          <p:cNvPr id="39" name="Shape 37"/>
          <p:cNvSpPr/>
          <p:nvPr/>
        </p:nvSpPr>
        <p:spPr>
          <a:xfrm>
            <a:off x="8600860" y="2743200"/>
            <a:ext cx="2190695" cy="2190750"/>
          </a:xfrm>
          <a:prstGeom prst="ellipse">
            <a:avLst/>
          </a:prstGeom>
          <a:solidFill>
            <a:srgbClr val="FFFFFF">
              <a:alpha val="0"/>
            </a:srgbClr>
          </a:solidFill>
          <a:ln w="7620">
            <a:solidFill>
              <a:srgbClr val="345B7B"/>
            </a:solidFill>
            <a:prstDash val="solid"/>
          </a:ln>
        </p:spPr>
      </p:sp>
      <p:sp>
        <p:nvSpPr>
          <p:cNvPr id="40" name="Shape 38"/>
          <p:cNvSpPr/>
          <p:nvPr/>
        </p:nvSpPr>
        <p:spPr>
          <a:xfrm>
            <a:off x="8981850" y="3124200"/>
            <a:ext cx="1428714" cy="1428750"/>
          </a:xfrm>
          <a:prstGeom prst="ellipse">
            <a:avLst/>
          </a:prstGeom>
          <a:solidFill>
            <a:srgbClr val="FFFFFF">
              <a:alpha val="0"/>
            </a:srgbClr>
          </a:solidFill>
          <a:ln w="7620">
            <a:solidFill>
              <a:srgbClr val="345B7B"/>
            </a:solidFill>
            <a:prstDash val="solid"/>
          </a:ln>
        </p:spPr>
      </p:sp>
      <p:sp>
        <p:nvSpPr>
          <p:cNvPr id="41" name="Shape 39"/>
          <p:cNvSpPr/>
          <p:nvPr/>
        </p:nvSpPr>
        <p:spPr>
          <a:xfrm>
            <a:off x="9696208" y="3838575"/>
            <a:ext cx="1543011" cy="0"/>
          </a:xfrm>
          <a:prstGeom prst="line">
            <a:avLst/>
          </a:prstGeom>
          <a:noFill/>
          <a:ln w="17145">
            <a:solidFill>
              <a:srgbClr val="87A8C6"/>
            </a:solidFill>
            <a:prstDash val="solid"/>
            <a:tailEnd type="triangle"/>
          </a:ln>
        </p:spPr>
      </p:sp>
      <p:sp>
        <p:nvSpPr>
          <p:cNvPr id="42" name="Shape 40"/>
          <p:cNvSpPr/>
          <p:nvPr/>
        </p:nvSpPr>
        <p:spPr>
          <a:xfrm>
            <a:off x="9696208" y="1971675"/>
            <a:ext cx="0" cy="1866900"/>
          </a:xfrm>
          <a:prstGeom prst="line">
            <a:avLst/>
          </a:prstGeom>
          <a:noFill/>
          <a:ln w="17145">
            <a:solidFill>
              <a:srgbClr val="87A8C6"/>
            </a:solidFill>
            <a:prstDash val="solid"/>
            <a:tailEnd type="triangle"/>
          </a:ln>
        </p:spPr>
      </p:sp>
      <p:sp>
        <p:nvSpPr>
          <p:cNvPr id="43" name="Shape 41"/>
          <p:cNvSpPr/>
          <p:nvPr/>
        </p:nvSpPr>
        <p:spPr>
          <a:xfrm flipV="1">
            <a:off x="8638959" y="3838575"/>
            <a:ext cx="1057249" cy="981075"/>
          </a:xfrm>
          <a:prstGeom prst="line">
            <a:avLst/>
          </a:prstGeom>
          <a:noFill/>
          <a:ln w="17145">
            <a:solidFill>
              <a:srgbClr val="87A8C6"/>
            </a:solidFill>
            <a:prstDash val="solid"/>
            <a:tailEnd type="triangle"/>
          </a:ln>
        </p:spPr>
      </p:sp>
      <p:sp>
        <p:nvSpPr>
          <p:cNvPr id="44" name="Shape 42"/>
          <p:cNvSpPr/>
          <p:nvPr/>
        </p:nvSpPr>
        <p:spPr>
          <a:xfrm flipV="1">
            <a:off x="9696208" y="2571750"/>
            <a:ext cx="1114397" cy="1266825"/>
          </a:xfrm>
          <a:prstGeom prst="line">
            <a:avLst/>
          </a:prstGeom>
          <a:noFill/>
          <a:ln w="47625">
            <a:solidFill>
              <a:srgbClr val="F77F00"/>
            </a:solidFill>
            <a:prstDash val="solid"/>
            <a:tailEnd type="triangle"/>
          </a:ln>
        </p:spPr>
      </p:sp>
      <p:sp>
        <p:nvSpPr>
          <p:cNvPr id="45" name="Shape 43"/>
          <p:cNvSpPr/>
          <p:nvPr/>
        </p:nvSpPr>
        <p:spPr>
          <a:xfrm>
            <a:off x="10810605" y="2571750"/>
            <a:ext cx="0" cy="1266825"/>
          </a:xfrm>
          <a:prstGeom prst="line">
            <a:avLst/>
          </a:prstGeom>
          <a:noFill/>
          <a:ln w="11430">
            <a:solidFill>
              <a:srgbClr val="526F8F"/>
            </a:solidFill>
            <a:prstDash val="solid"/>
          </a:ln>
        </p:spPr>
      </p:sp>
      <p:sp>
        <p:nvSpPr>
          <p:cNvPr id="46" name="Shape 44"/>
          <p:cNvSpPr/>
          <p:nvPr/>
        </p:nvSpPr>
        <p:spPr>
          <a:xfrm>
            <a:off x="9696208" y="2571750"/>
            <a:ext cx="1114397" cy="0"/>
          </a:xfrm>
          <a:prstGeom prst="line">
            <a:avLst/>
          </a:prstGeom>
          <a:noFill/>
          <a:ln w="11430">
            <a:solidFill>
              <a:srgbClr val="526F8F"/>
            </a:solidFill>
            <a:prstDash val="solid"/>
          </a:ln>
        </p:spPr>
      </p:sp>
      <p:sp>
        <p:nvSpPr>
          <p:cNvPr id="47" name="Shape 45"/>
          <p:cNvSpPr/>
          <p:nvPr/>
        </p:nvSpPr>
        <p:spPr>
          <a:xfrm>
            <a:off x="9648584" y="3790950"/>
            <a:ext cx="95248" cy="95250"/>
          </a:xfrm>
          <a:prstGeom prst="ellipse">
            <a:avLst/>
          </a:prstGeom>
          <a:solidFill>
            <a:srgbClr val="F77F00"/>
          </a:solidFill>
          <a:ln w="12700">
            <a:solidFill>
              <a:srgbClr val="F77F00">
                <a:alpha val="0"/>
              </a:srgbClr>
            </a:solidFill>
            <a:prstDash val="solid"/>
          </a:ln>
        </p:spPr>
      </p:sp>
      <p:sp>
        <p:nvSpPr>
          <p:cNvPr id="48" name="Text 46"/>
          <p:cNvSpPr txBox="1"/>
          <p:nvPr/>
        </p:nvSpPr>
        <p:spPr>
          <a:xfrm>
            <a:off x="11277318" y="3733800"/>
            <a:ext cx="228594" cy="257175"/>
          </a:xfrm>
          <a:prstGeom prst="rect">
            <a:avLst/>
          </a:prstGeom>
          <a:noFill/>
          <a:ln/>
        </p:spPr>
        <p:txBody>
          <a:bodyPr wrap="square" lIns="0" tIns="0" rIns="0" bIns="0" rtlCol="0" anchor="t"/>
          <a:lstStyle/>
          <a:p>
            <a:pPr algn="l" indent="0" marL="0">
              <a:lnSpc>
                <a:spcPct val="114000"/>
              </a:lnSpc>
              <a:buNone/>
            </a:pPr>
            <a:r>
              <a:rPr lang="en-US" sz="1600" dirty="0">
                <a:solidFill>
                  <a:srgbClr val="BCCBDB"/>
                </a:solidFill>
                <a:latin typeface="Arial" pitchFamily="34" charset="0"/>
                <a:ea typeface="Arial" pitchFamily="34" charset="-122"/>
                <a:cs typeface="Arial" pitchFamily="34" charset="-120"/>
              </a:rPr>
              <a:t>x</a:t>
            </a:r>
            <a:endParaRPr lang="en-US" sz="1600" dirty="0"/>
          </a:p>
        </p:txBody>
      </p:sp>
      <p:sp>
        <p:nvSpPr>
          <p:cNvPr id="49" name="Text 47"/>
          <p:cNvSpPr txBox="1"/>
          <p:nvPr/>
        </p:nvSpPr>
        <p:spPr>
          <a:xfrm>
            <a:off x="9600960" y="1685925"/>
            <a:ext cx="228594" cy="257175"/>
          </a:xfrm>
          <a:prstGeom prst="rect">
            <a:avLst/>
          </a:prstGeom>
          <a:noFill/>
          <a:ln/>
        </p:spPr>
        <p:txBody>
          <a:bodyPr wrap="square" lIns="0" tIns="0" rIns="0" bIns="0" rtlCol="0" anchor="t"/>
          <a:lstStyle/>
          <a:p>
            <a:pPr algn="l" indent="0" marL="0">
              <a:lnSpc>
                <a:spcPct val="114000"/>
              </a:lnSpc>
              <a:buNone/>
            </a:pPr>
            <a:r>
              <a:rPr lang="en-US" sz="1600" dirty="0">
                <a:solidFill>
                  <a:srgbClr val="BCCBDB"/>
                </a:solidFill>
                <a:latin typeface="Arial" pitchFamily="34" charset="0"/>
                <a:ea typeface="Arial" pitchFamily="34" charset="-122"/>
                <a:cs typeface="Arial" pitchFamily="34" charset="-120"/>
              </a:rPr>
              <a:t>y</a:t>
            </a:r>
            <a:endParaRPr lang="en-US" sz="1600" dirty="0"/>
          </a:p>
        </p:txBody>
      </p:sp>
      <p:sp>
        <p:nvSpPr>
          <p:cNvPr id="50" name="Text 48"/>
          <p:cNvSpPr txBox="1"/>
          <p:nvPr/>
        </p:nvSpPr>
        <p:spPr>
          <a:xfrm>
            <a:off x="8419889" y="4819650"/>
            <a:ext cx="228594" cy="257175"/>
          </a:xfrm>
          <a:prstGeom prst="rect">
            <a:avLst/>
          </a:prstGeom>
          <a:noFill/>
          <a:ln/>
        </p:spPr>
        <p:txBody>
          <a:bodyPr wrap="square" lIns="0" tIns="0" rIns="0" bIns="0" rtlCol="0" anchor="t"/>
          <a:lstStyle/>
          <a:p>
            <a:pPr algn="l" indent="0" marL="0">
              <a:lnSpc>
                <a:spcPct val="114000"/>
              </a:lnSpc>
              <a:buNone/>
            </a:pPr>
            <a:r>
              <a:rPr lang="en-US" sz="1600" dirty="0">
                <a:solidFill>
                  <a:srgbClr val="BCCBDB"/>
                </a:solidFill>
                <a:latin typeface="Arial" pitchFamily="34" charset="0"/>
                <a:ea typeface="Arial" pitchFamily="34" charset="-122"/>
                <a:cs typeface="Arial" pitchFamily="34" charset="-120"/>
              </a:rPr>
              <a:t>z</a:t>
            </a:r>
            <a:endParaRPr lang="en-US" sz="1600" dirty="0"/>
          </a:p>
        </p:txBody>
      </p:sp>
      <p:sp>
        <p:nvSpPr>
          <p:cNvPr id="51" name="Text 49"/>
          <p:cNvSpPr txBox="1"/>
          <p:nvPr/>
        </p:nvSpPr>
        <p:spPr>
          <a:xfrm>
            <a:off x="10915377" y="2381250"/>
            <a:ext cx="304792" cy="342900"/>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F</a:t>
            </a:r>
            <a:endParaRPr lang="en-US" sz="2000" dirty="0"/>
          </a:p>
        </p:txBody>
      </p:sp>
      <p:sp>
        <p:nvSpPr>
          <p:cNvPr id="52" name="Text 50"/>
          <p:cNvSpPr txBox="1"/>
          <p:nvPr/>
        </p:nvSpPr>
        <p:spPr>
          <a:xfrm>
            <a:off x="609585" y="1362075"/>
            <a:ext cx="7029274" cy="1695450"/>
          </a:xfrm>
          <a:prstGeom prst="rect">
            <a:avLst/>
          </a:prstGeom>
          <a:noFill/>
          <a:ln/>
        </p:spPr>
        <p:txBody>
          <a:bodyPr wrap="square" lIns="0" tIns="0" rIns="0" bIns="0" rtlCol="0" anchor="t"/>
          <a:lstStyle/>
          <a:p>
            <a:pPr algn="l" indent="0" marL="0">
              <a:lnSpc>
                <a:spcPct val="114000"/>
              </a:lnSpc>
              <a:buNone/>
            </a:pPr>
            <a:r>
              <a:rPr lang="en-US" sz="3600" b="1" dirty="0">
                <a:solidFill>
                  <a:srgbClr val="FFFFFF"/>
                </a:solidFill>
                <a:latin typeface="Arial" pitchFamily="34" charset="0"/>
                <a:ea typeface="Arial" pitchFamily="34" charset="-122"/>
                <a:cs typeface="Arial" pitchFamily="34" charset="-120"/>
              </a:rPr>
              <a:t>GIÁO TRÌNH ĐIỆN TỬ</a:t>
            </a:r>
            <a:endParaRPr lang="en-US" sz="3600" dirty="0"/>
          </a:p>
          <a:p>
            <a:pPr algn="l" indent="0" marL="0">
              <a:lnSpc>
                <a:spcPct val="114000"/>
              </a:lnSpc>
              <a:buNone/>
            </a:pPr>
            <a:r>
              <a:rPr lang="en-US" sz="3600" b="1" dirty="0">
                <a:solidFill>
                  <a:srgbClr val="FFFFFF"/>
                </a:solidFill>
                <a:latin typeface="Arial" pitchFamily="34" charset="0"/>
                <a:ea typeface="Arial" pitchFamily="34" charset="-122"/>
                <a:cs typeface="Arial" pitchFamily="34" charset="-120"/>
              </a:rPr>
              <a:t>CƠ HỌC LÝ THUYẾT</a:t>
            </a:r>
            <a:endParaRPr lang="en-US" sz="3600" dirty="0"/>
          </a:p>
        </p:txBody>
      </p:sp>
      <p:sp>
        <p:nvSpPr>
          <p:cNvPr id="53" name="Text 51"/>
          <p:cNvSpPr txBox="1"/>
          <p:nvPr/>
        </p:nvSpPr>
        <p:spPr>
          <a:xfrm>
            <a:off x="609585" y="3238500"/>
            <a:ext cx="6953076" cy="800100"/>
          </a:xfrm>
          <a:prstGeom prst="rect">
            <a:avLst/>
          </a:prstGeom>
          <a:noFill/>
          <a:ln/>
        </p:spPr>
        <p:txBody>
          <a:bodyPr wrap="square" lIns="0" tIns="0" rIns="0" bIns="0" rtlCol="0" anchor="t"/>
          <a:lstStyle/>
          <a:p>
            <a:pPr algn="l" indent="0" marL="0">
              <a:lnSpc>
                <a:spcPct val="114000"/>
              </a:lnSpc>
              <a:buNone/>
            </a:pPr>
            <a:r>
              <a:rPr lang="en-US" sz="2000" dirty="0">
                <a:solidFill>
                  <a:srgbClr val="CCD8E5"/>
                </a:solidFill>
                <a:latin typeface="Arial" pitchFamily="34" charset="0"/>
                <a:ea typeface="Arial" pitchFamily="34" charset="-122"/>
                <a:cs typeface="Arial" pitchFamily="34" charset="-120"/>
              </a:rPr>
              <a:t>Kiến trúc · Chất lượng · Tác động</a:t>
            </a:r>
            <a:endParaRPr lang="en-US" sz="2000" dirty="0"/>
          </a:p>
        </p:txBody>
      </p:sp>
      <p:sp>
        <p:nvSpPr>
          <p:cNvPr id="54" name="Text 52"/>
          <p:cNvSpPr txBox="1"/>
          <p:nvPr/>
        </p:nvSpPr>
        <p:spPr>
          <a:xfrm>
            <a:off x="609585" y="4324350"/>
            <a:ext cx="7029274" cy="942975"/>
          </a:xfrm>
          <a:prstGeom prst="rect">
            <a:avLst/>
          </a:prstGeom>
          <a:noFill/>
          <a:ln/>
        </p:spPr>
        <p:txBody>
          <a:bodyPr wrap="square" lIns="0" tIns="0" rIns="0" bIns="0" rtlCol="0" anchor="t"/>
          <a:lstStyle/>
          <a:p>
            <a:pPr algn="l" indent="0" marL="0">
              <a:lnSpc>
                <a:spcPct val="114000"/>
              </a:lnSpc>
              <a:buNone/>
            </a:pPr>
            <a:r>
              <a:rPr lang="en-US" sz="1800" b="1" dirty="0">
                <a:solidFill>
                  <a:srgbClr val="FFFFFF"/>
                </a:solidFill>
                <a:latin typeface="Arial" pitchFamily="34" charset="0"/>
                <a:ea typeface="Arial" pitchFamily="34" charset="-122"/>
                <a:cs typeface="Arial" pitchFamily="34" charset="-120"/>
              </a:rPr>
              <a:t>TS Nguyễn Lê Văn — Chủ biên</a:t>
            </a:r>
            <a:endParaRPr lang="en-US" sz="1800" dirty="0"/>
          </a:p>
          <a:p>
            <a:pPr algn="l" indent="0" marL="0">
              <a:lnSpc>
                <a:spcPct val="114000"/>
              </a:lnSpc>
              <a:buNone/>
            </a:pPr>
            <a:r>
              <a:rPr lang="en-US" sz="1800" b="1" dirty="0">
                <a:solidFill>
                  <a:srgbClr val="FFFFFF"/>
                </a:solidFill>
                <a:latin typeface="Arial" pitchFamily="34" charset="0"/>
                <a:ea typeface="Arial" pitchFamily="34" charset="-122"/>
                <a:cs typeface="Arial" pitchFamily="34" charset="-120"/>
              </a:rPr>
              <a:t>ThS Đinh Văn Tứ — Biên soạn</a:t>
            </a:r>
            <a:endParaRPr lang="en-US" sz="1800" dirty="0"/>
          </a:p>
          <a:p>
            <a:pPr algn="l" indent="0" marL="0">
              <a:lnSpc>
                <a:spcPct val="114000"/>
              </a:lnSpc>
              <a:buNone/>
            </a:pPr>
            <a:r>
              <a:rPr lang="en-US" sz="1800" b="1" dirty="0">
                <a:solidFill>
                  <a:srgbClr val="FFFFFF"/>
                </a:solidFill>
                <a:latin typeface="Arial" pitchFamily="34" charset="0"/>
                <a:ea typeface="Arial" pitchFamily="34" charset="-122"/>
                <a:cs typeface="Arial" pitchFamily="34" charset="-120"/>
              </a:rPr>
              <a:t>ThS Bùi Thanh Xuân — Biên soạn</a:t>
            </a:r>
            <a:endParaRPr lang="en-US" sz="1800" dirty="0"/>
          </a:p>
        </p:txBody>
      </p:sp>
      <p:sp>
        <p:nvSpPr>
          <p:cNvPr id="55" name="Text 53"/>
          <p:cNvSpPr txBox="1"/>
          <p:nvPr/>
        </p:nvSpPr>
        <p:spPr>
          <a:xfrm>
            <a:off x="609585" y="5305425"/>
            <a:ext cx="2857429" cy="285750"/>
          </a:xfrm>
          <a:prstGeom prst="rect">
            <a:avLst/>
          </a:prstGeom>
          <a:noFill/>
          <a:ln/>
        </p:spPr>
        <p:txBody>
          <a:bodyPr wrap="square" lIns="0" tIns="0" rIns="0" bIns="0" rtlCol="0" anchor="t"/>
          <a:lstStyle/>
          <a:p>
            <a:pPr algn="l" indent="0" marL="0">
              <a:lnSpc>
                <a:spcPct val="114000"/>
              </a:lnSpc>
              <a:buNone/>
            </a:pPr>
            <a:r>
              <a:rPr lang="en-US" sz="1600" dirty="0">
                <a:solidFill>
                  <a:srgbClr val="BCCBDB"/>
                </a:solidFill>
                <a:latin typeface="Arial" pitchFamily="34" charset="0"/>
                <a:ea typeface="Arial" pitchFamily="34" charset="-122"/>
                <a:cs typeface="Arial" pitchFamily="34" charset="-120"/>
              </a:rPr>
              <a:t>05/10/2026</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MỞ ĐẦU</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Tóm tắt điều hành</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Bốn con số phạm vi; ba kết luận để hội đồng ra quyết định.</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Phạm vi không phải chất lượng; chạy được không đồng nghĩa đã được nghiệm thu.</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03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1075738"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2585973" cy="1981200"/>
          </a:xfrm>
          <a:prstGeom prst="roundRect">
            <a:avLst>
              <a:gd name="adj" fmla="val 4808"/>
            </a:avLst>
          </a:prstGeom>
          <a:solidFill>
            <a:srgbClr val="FFFFFF"/>
          </a:solidFill>
          <a:ln w="7620">
            <a:solidFill>
              <a:srgbClr val="D8E1EB"/>
            </a:solidFill>
            <a:prstDash val="solid"/>
          </a:ln>
        </p:spPr>
      </p:sp>
      <p:sp>
        <p:nvSpPr>
          <p:cNvPr id="15" name="Text 13"/>
          <p:cNvSpPr txBox="1"/>
          <p:nvPr/>
        </p:nvSpPr>
        <p:spPr>
          <a:xfrm>
            <a:off x="781030" y="2286000"/>
            <a:ext cx="2243081" cy="1009650"/>
          </a:xfrm>
          <a:prstGeom prst="rect">
            <a:avLst/>
          </a:prstGeom>
          <a:noFill/>
          <a:ln/>
        </p:spPr>
        <p:txBody>
          <a:bodyPr wrap="square" lIns="0" tIns="0" rIns="0" bIns="0" rtlCol="0" anchor="ctr"/>
          <a:lstStyle/>
          <a:p>
            <a:pPr algn="ctr" indent="0" marL="0">
              <a:lnSpc>
                <a:spcPct val="114000"/>
              </a:lnSpc>
              <a:buNone/>
            </a:pPr>
            <a:r>
              <a:rPr lang="en-US" sz="6000" b="1" dirty="0">
                <a:solidFill>
                  <a:srgbClr val="F77F00"/>
                </a:solidFill>
                <a:latin typeface="Arial" pitchFamily="34" charset="0"/>
                <a:ea typeface="Arial" pitchFamily="34" charset="-122"/>
                <a:cs typeface="Arial" pitchFamily="34" charset="-120"/>
              </a:rPr>
              <a:t>372</a:t>
            </a:r>
            <a:endParaRPr lang="en-US" sz="6000" dirty="0"/>
          </a:p>
        </p:txBody>
      </p:sp>
      <p:sp>
        <p:nvSpPr>
          <p:cNvPr id="16" name="Text 14"/>
          <p:cNvSpPr txBox="1"/>
          <p:nvPr/>
        </p:nvSpPr>
        <p:spPr>
          <a:xfrm>
            <a:off x="781030" y="3314700"/>
            <a:ext cx="2243081" cy="504825"/>
          </a:xfrm>
          <a:prstGeom prst="rect">
            <a:avLst/>
          </a:prstGeom>
          <a:noFill/>
          <a:ln/>
        </p:spPr>
        <p:txBody>
          <a:bodyPr wrap="square" lIns="0" tIns="0" rIns="0" bIns="0" rtlCol="0" anchor="t"/>
          <a:lstStyle/>
          <a:p>
            <a:pPr algn="ctr" indent="0" marL="0">
              <a:lnSpc>
                <a:spcPct val="114000"/>
              </a:lnSpc>
              <a:buNone/>
            </a:pPr>
            <a:r>
              <a:rPr lang="en-US" sz="1900" b="1" dirty="0">
                <a:solidFill>
                  <a:srgbClr val="0B2545"/>
                </a:solidFill>
                <a:latin typeface="Arial" pitchFamily="34" charset="0"/>
                <a:ea typeface="Arial" pitchFamily="34" charset="-122"/>
                <a:cs typeface="Arial" pitchFamily="34" charset="-120"/>
              </a:rPr>
              <a:t>tệp trong gói</a:t>
            </a:r>
            <a:endParaRPr lang="en-US" sz="1900" dirty="0"/>
          </a:p>
        </p:txBody>
      </p:sp>
      <p:sp>
        <p:nvSpPr>
          <p:cNvPr id="17" name="Text 15"/>
          <p:cNvSpPr txBox="1"/>
          <p:nvPr/>
        </p:nvSpPr>
        <p:spPr>
          <a:xfrm>
            <a:off x="800080" y="3848100"/>
            <a:ext cx="2204982" cy="276225"/>
          </a:xfrm>
          <a:prstGeom prst="rect">
            <a:avLst/>
          </a:prstGeom>
          <a:noFill/>
          <a:ln/>
        </p:spPr>
        <p:txBody>
          <a:bodyPr wrap="square" lIns="0" tIns="0" rIns="0" bIns="0" rtlCol="0" anchor="t"/>
          <a:lstStyle/>
          <a:p>
            <a:pPr algn="ctr" indent="0" marL="0">
              <a:lnSpc>
                <a:spcPct val="114000"/>
              </a:lnSpc>
              <a:buNone/>
            </a:pPr>
            <a:r>
              <a:rPr lang="en-US" sz="1600" dirty="0">
                <a:solidFill>
                  <a:srgbClr val="586B81"/>
                </a:solidFill>
                <a:latin typeface="Arial" pitchFamily="34" charset="0"/>
                <a:ea typeface="Arial" pitchFamily="34" charset="-122"/>
                <a:cs typeface="Arial" pitchFamily="34" charset="-120"/>
              </a:rPr>
              <a:t>Candidate 02/09</a:t>
            </a:r>
            <a:endParaRPr lang="en-US" sz="1600" dirty="0"/>
          </a:p>
        </p:txBody>
      </p:sp>
      <p:sp>
        <p:nvSpPr>
          <p:cNvPr id="18" name="Shape 16"/>
          <p:cNvSpPr/>
          <p:nvPr/>
        </p:nvSpPr>
        <p:spPr>
          <a:xfrm>
            <a:off x="3405102" y="2209800"/>
            <a:ext cx="2585973" cy="1981200"/>
          </a:xfrm>
          <a:prstGeom prst="roundRect">
            <a:avLst>
              <a:gd name="adj" fmla="val 4808"/>
            </a:avLst>
          </a:prstGeom>
          <a:solidFill>
            <a:srgbClr val="FFFFFF"/>
          </a:solidFill>
          <a:ln w="7620">
            <a:solidFill>
              <a:srgbClr val="D8E1EB"/>
            </a:solidFill>
            <a:prstDash val="solid"/>
          </a:ln>
        </p:spPr>
      </p:sp>
      <p:sp>
        <p:nvSpPr>
          <p:cNvPr id="19" name="Text 17"/>
          <p:cNvSpPr txBox="1"/>
          <p:nvPr/>
        </p:nvSpPr>
        <p:spPr>
          <a:xfrm>
            <a:off x="3576548" y="2286000"/>
            <a:ext cx="2243081" cy="1009650"/>
          </a:xfrm>
          <a:prstGeom prst="rect">
            <a:avLst/>
          </a:prstGeom>
          <a:noFill/>
          <a:ln/>
        </p:spPr>
        <p:txBody>
          <a:bodyPr wrap="square" lIns="0" tIns="0" rIns="0" bIns="0" rtlCol="0" anchor="ctr"/>
          <a:lstStyle/>
          <a:p>
            <a:pPr algn="ctr" indent="0" marL="0">
              <a:lnSpc>
                <a:spcPct val="114000"/>
              </a:lnSpc>
              <a:buNone/>
            </a:pPr>
            <a:r>
              <a:rPr lang="en-US" sz="6000" b="1" dirty="0">
                <a:solidFill>
                  <a:srgbClr val="0B2545"/>
                </a:solidFill>
                <a:latin typeface="Arial" pitchFamily="34" charset="0"/>
                <a:ea typeface="Arial" pitchFamily="34" charset="-122"/>
                <a:cs typeface="Arial" pitchFamily="34" charset="-120"/>
              </a:rPr>
              <a:t>25</a:t>
            </a:r>
            <a:endParaRPr lang="en-US" sz="6000" dirty="0"/>
          </a:p>
        </p:txBody>
      </p:sp>
      <p:sp>
        <p:nvSpPr>
          <p:cNvPr id="20" name="Text 18"/>
          <p:cNvSpPr txBox="1"/>
          <p:nvPr/>
        </p:nvSpPr>
        <p:spPr>
          <a:xfrm>
            <a:off x="3576548" y="3314700"/>
            <a:ext cx="2243081" cy="504825"/>
          </a:xfrm>
          <a:prstGeom prst="rect">
            <a:avLst/>
          </a:prstGeom>
          <a:noFill/>
          <a:ln/>
        </p:spPr>
        <p:txBody>
          <a:bodyPr wrap="square" lIns="0" tIns="0" rIns="0" bIns="0" rtlCol="0" anchor="t"/>
          <a:lstStyle/>
          <a:p>
            <a:pPr algn="ctr" indent="0" marL="0">
              <a:lnSpc>
                <a:spcPct val="114000"/>
              </a:lnSpc>
              <a:buNone/>
            </a:pPr>
            <a:r>
              <a:rPr lang="en-US" sz="1900" b="1" dirty="0">
                <a:solidFill>
                  <a:srgbClr val="0B2545"/>
                </a:solidFill>
                <a:latin typeface="Arial" pitchFamily="34" charset="0"/>
                <a:ea typeface="Arial" pitchFamily="34" charset="-122"/>
                <a:cs typeface="Arial" pitchFamily="34" charset="-120"/>
              </a:rPr>
              <a:t>vị trí Sim2</a:t>
            </a:r>
            <a:endParaRPr lang="en-US" sz="1900" dirty="0"/>
          </a:p>
        </p:txBody>
      </p:sp>
      <p:sp>
        <p:nvSpPr>
          <p:cNvPr id="21" name="Text 19"/>
          <p:cNvSpPr txBox="1"/>
          <p:nvPr/>
        </p:nvSpPr>
        <p:spPr>
          <a:xfrm>
            <a:off x="3595598" y="3848100"/>
            <a:ext cx="2204982" cy="276225"/>
          </a:xfrm>
          <a:prstGeom prst="rect">
            <a:avLst/>
          </a:prstGeom>
          <a:noFill/>
          <a:ln/>
        </p:spPr>
        <p:txBody>
          <a:bodyPr wrap="square" lIns="0" tIns="0" rIns="0" bIns="0" rtlCol="0" anchor="t"/>
          <a:lstStyle/>
          <a:p>
            <a:pPr algn="ctr" indent="0" marL="0">
              <a:lnSpc>
                <a:spcPct val="114000"/>
              </a:lnSpc>
              <a:buNone/>
            </a:pPr>
            <a:r>
              <a:rPr lang="en-US" sz="1600" dirty="0">
                <a:solidFill>
                  <a:srgbClr val="586B81"/>
                </a:solidFill>
                <a:latin typeface="Arial" pitchFamily="34" charset="0"/>
                <a:ea typeface="Arial" pitchFamily="34" charset="-122"/>
                <a:cs typeface="Arial" pitchFamily="34" charset="-120"/>
              </a:rPr>
              <a:t>Lớp cơ sở SVG</a:t>
            </a:r>
            <a:endParaRPr lang="en-US" sz="1600" dirty="0"/>
          </a:p>
        </p:txBody>
      </p:sp>
      <p:sp>
        <p:nvSpPr>
          <p:cNvPr id="22" name="Shape 20"/>
          <p:cNvSpPr/>
          <p:nvPr/>
        </p:nvSpPr>
        <p:spPr>
          <a:xfrm>
            <a:off x="6200620" y="2209800"/>
            <a:ext cx="2585973" cy="1981200"/>
          </a:xfrm>
          <a:prstGeom prst="roundRect">
            <a:avLst>
              <a:gd name="adj" fmla="val 4808"/>
            </a:avLst>
          </a:prstGeom>
          <a:solidFill>
            <a:srgbClr val="FFFFFF"/>
          </a:solidFill>
          <a:ln w="7620">
            <a:solidFill>
              <a:srgbClr val="D8E1EB"/>
            </a:solidFill>
            <a:prstDash val="solid"/>
          </a:ln>
        </p:spPr>
      </p:sp>
      <p:sp>
        <p:nvSpPr>
          <p:cNvPr id="23" name="Text 21"/>
          <p:cNvSpPr txBox="1"/>
          <p:nvPr/>
        </p:nvSpPr>
        <p:spPr>
          <a:xfrm>
            <a:off x="6372066" y="2286000"/>
            <a:ext cx="2243081" cy="1009650"/>
          </a:xfrm>
          <a:prstGeom prst="rect">
            <a:avLst/>
          </a:prstGeom>
          <a:noFill/>
          <a:ln/>
        </p:spPr>
        <p:txBody>
          <a:bodyPr wrap="square" lIns="0" tIns="0" rIns="0" bIns="0" rtlCol="0" anchor="ctr"/>
          <a:lstStyle/>
          <a:p>
            <a:pPr algn="ctr" indent="0" marL="0">
              <a:lnSpc>
                <a:spcPct val="114000"/>
              </a:lnSpc>
              <a:buNone/>
            </a:pPr>
            <a:r>
              <a:rPr lang="en-US" sz="6000" b="1" dirty="0">
                <a:solidFill>
                  <a:srgbClr val="0B2545"/>
                </a:solidFill>
                <a:latin typeface="Arial" pitchFamily="34" charset="0"/>
                <a:ea typeface="Arial" pitchFamily="34" charset="-122"/>
                <a:cs typeface="Arial" pitchFamily="34" charset="-120"/>
              </a:rPr>
              <a:t>10</a:t>
            </a:r>
            <a:endParaRPr lang="en-US" sz="6000" dirty="0"/>
          </a:p>
        </p:txBody>
      </p:sp>
      <p:sp>
        <p:nvSpPr>
          <p:cNvPr id="24" name="Text 22"/>
          <p:cNvSpPr txBox="1"/>
          <p:nvPr/>
        </p:nvSpPr>
        <p:spPr>
          <a:xfrm>
            <a:off x="6372066" y="3314700"/>
            <a:ext cx="2243081" cy="504825"/>
          </a:xfrm>
          <a:prstGeom prst="rect">
            <a:avLst/>
          </a:prstGeom>
          <a:noFill/>
          <a:ln/>
        </p:spPr>
        <p:txBody>
          <a:bodyPr wrap="square" lIns="0" tIns="0" rIns="0" bIns="0" rtlCol="0" anchor="t"/>
          <a:lstStyle/>
          <a:p>
            <a:pPr algn="ctr" indent="0" marL="0">
              <a:lnSpc>
                <a:spcPct val="114000"/>
              </a:lnSpc>
              <a:buNone/>
            </a:pPr>
            <a:r>
              <a:rPr lang="en-US" sz="1900" b="1" dirty="0">
                <a:solidFill>
                  <a:srgbClr val="0B2545"/>
                </a:solidFill>
                <a:latin typeface="Arial" pitchFamily="34" charset="0"/>
                <a:ea typeface="Arial" pitchFamily="34" charset="-122"/>
                <a:cs typeface="Arial" pitchFamily="34" charset="-120"/>
              </a:rPr>
              <a:t>bản Sim3</a:t>
            </a:r>
            <a:endParaRPr lang="en-US" sz="1900" dirty="0"/>
          </a:p>
        </p:txBody>
      </p:sp>
      <p:sp>
        <p:nvSpPr>
          <p:cNvPr id="25" name="Text 23"/>
          <p:cNvSpPr txBox="1"/>
          <p:nvPr/>
        </p:nvSpPr>
        <p:spPr>
          <a:xfrm>
            <a:off x="6391115" y="3848100"/>
            <a:ext cx="2204982" cy="276225"/>
          </a:xfrm>
          <a:prstGeom prst="rect">
            <a:avLst/>
          </a:prstGeom>
          <a:noFill/>
          <a:ln/>
        </p:spPr>
        <p:txBody>
          <a:bodyPr wrap="square" lIns="0" tIns="0" rIns="0" bIns="0" rtlCol="0" anchor="t"/>
          <a:lstStyle/>
          <a:p>
            <a:pPr algn="ctr" indent="0" marL="0">
              <a:lnSpc>
                <a:spcPct val="114000"/>
              </a:lnSpc>
              <a:buNone/>
            </a:pPr>
            <a:r>
              <a:rPr lang="en-US" sz="1600" dirty="0">
                <a:solidFill>
                  <a:srgbClr val="586B81"/>
                </a:solidFill>
                <a:latin typeface="Arial" pitchFamily="34" charset="0"/>
                <a:ea typeface="Arial" pitchFamily="34" charset="-122"/>
                <a:cs typeface="Arial" pitchFamily="34" charset="-120"/>
              </a:rPr>
              <a:t>Bổ sung cho Sim2</a:t>
            </a:r>
            <a:endParaRPr lang="en-US" sz="1600" dirty="0"/>
          </a:p>
        </p:txBody>
      </p:sp>
      <p:sp>
        <p:nvSpPr>
          <p:cNvPr id="26" name="Shape 24"/>
          <p:cNvSpPr/>
          <p:nvPr/>
        </p:nvSpPr>
        <p:spPr>
          <a:xfrm>
            <a:off x="8996138" y="2209800"/>
            <a:ext cx="2585973" cy="1981200"/>
          </a:xfrm>
          <a:prstGeom prst="roundRect">
            <a:avLst>
              <a:gd name="adj" fmla="val 4808"/>
            </a:avLst>
          </a:prstGeom>
          <a:solidFill>
            <a:srgbClr val="FFFFFF"/>
          </a:solidFill>
          <a:ln w="7620">
            <a:solidFill>
              <a:srgbClr val="D8E1EB"/>
            </a:solidFill>
            <a:prstDash val="solid"/>
          </a:ln>
        </p:spPr>
      </p:sp>
      <p:sp>
        <p:nvSpPr>
          <p:cNvPr id="27" name="Text 25"/>
          <p:cNvSpPr txBox="1"/>
          <p:nvPr/>
        </p:nvSpPr>
        <p:spPr>
          <a:xfrm>
            <a:off x="9167583" y="2286000"/>
            <a:ext cx="2243081" cy="1009650"/>
          </a:xfrm>
          <a:prstGeom prst="rect">
            <a:avLst/>
          </a:prstGeom>
          <a:noFill/>
          <a:ln/>
        </p:spPr>
        <p:txBody>
          <a:bodyPr wrap="square" lIns="0" tIns="0" rIns="0" bIns="0" rtlCol="0" anchor="ctr"/>
          <a:lstStyle/>
          <a:p>
            <a:pPr algn="ctr" indent="0" marL="0">
              <a:lnSpc>
                <a:spcPct val="114000"/>
              </a:lnSpc>
              <a:buNone/>
            </a:pPr>
            <a:r>
              <a:rPr lang="en-US" sz="6000" b="1" dirty="0">
                <a:solidFill>
                  <a:srgbClr val="0B2545"/>
                </a:solidFill>
                <a:latin typeface="Arial" pitchFamily="34" charset="0"/>
                <a:ea typeface="Arial" pitchFamily="34" charset="-122"/>
                <a:cs typeface="Arial" pitchFamily="34" charset="-120"/>
              </a:rPr>
              <a:t>8</a:t>
            </a:r>
            <a:endParaRPr lang="en-US" sz="6000" dirty="0"/>
          </a:p>
        </p:txBody>
      </p:sp>
      <p:sp>
        <p:nvSpPr>
          <p:cNvPr id="28" name="Text 26"/>
          <p:cNvSpPr txBox="1"/>
          <p:nvPr/>
        </p:nvSpPr>
        <p:spPr>
          <a:xfrm>
            <a:off x="9167583" y="3314700"/>
            <a:ext cx="2243081" cy="504825"/>
          </a:xfrm>
          <a:prstGeom prst="rect">
            <a:avLst/>
          </a:prstGeom>
          <a:noFill/>
          <a:ln/>
        </p:spPr>
        <p:txBody>
          <a:bodyPr wrap="square" lIns="0" tIns="0" rIns="0" bIns="0" rtlCol="0" anchor="t"/>
          <a:lstStyle/>
          <a:p>
            <a:pPr algn="ctr" indent="0" marL="0">
              <a:lnSpc>
                <a:spcPct val="114000"/>
              </a:lnSpc>
              <a:buNone/>
            </a:pPr>
            <a:r>
              <a:rPr lang="en-US" sz="1900" b="1" dirty="0">
                <a:solidFill>
                  <a:srgbClr val="0B2545"/>
                </a:solidFill>
                <a:latin typeface="Arial" pitchFamily="34" charset="0"/>
                <a:ea typeface="Arial" pitchFamily="34" charset="-122"/>
                <a:cs typeface="Arial" pitchFamily="34" charset="-120"/>
              </a:rPr>
              <a:t>nhóm QA</a:t>
            </a:r>
            <a:endParaRPr lang="en-US" sz="1900" dirty="0"/>
          </a:p>
        </p:txBody>
      </p:sp>
      <p:sp>
        <p:nvSpPr>
          <p:cNvPr id="29" name="Text 27"/>
          <p:cNvSpPr txBox="1"/>
          <p:nvPr/>
        </p:nvSpPr>
        <p:spPr>
          <a:xfrm>
            <a:off x="9186633" y="3848100"/>
            <a:ext cx="2204982" cy="276225"/>
          </a:xfrm>
          <a:prstGeom prst="rect">
            <a:avLst/>
          </a:prstGeom>
          <a:noFill/>
          <a:ln/>
        </p:spPr>
        <p:txBody>
          <a:bodyPr wrap="square" lIns="0" tIns="0" rIns="0" bIns="0" rtlCol="0" anchor="t"/>
          <a:lstStyle/>
          <a:p>
            <a:pPr algn="ctr" indent="0" marL="0">
              <a:lnSpc>
                <a:spcPct val="114000"/>
              </a:lnSpc>
              <a:buNone/>
            </a:pPr>
            <a:r>
              <a:rPr lang="en-US" sz="1600" dirty="0">
                <a:solidFill>
                  <a:srgbClr val="586B81"/>
                </a:solidFill>
                <a:latin typeface="Arial" pitchFamily="34" charset="0"/>
                <a:ea typeface="Arial" pitchFamily="34" charset="-122"/>
                <a:cs typeface="Arial" pitchFamily="34" charset="-120"/>
              </a:rPr>
              <a:t>24 cổng thực tế</a:t>
            </a:r>
            <a:endParaRPr lang="en-US" sz="1600" dirty="0"/>
          </a:p>
        </p:txBody>
      </p:sp>
      <p:sp>
        <p:nvSpPr>
          <p:cNvPr id="30" name="Shape 28"/>
          <p:cNvSpPr/>
          <p:nvPr/>
        </p:nvSpPr>
        <p:spPr>
          <a:xfrm>
            <a:off x="609585" y="4391025"/>
            <a:ext cx="3517812" cy="1323975"/>
          </a:xfrm>
          <a:prstGeom prst="roundRect">
            <a:avLst>
              <a:gd name="adj" fmla="val 7194"/>
            </a:avLst>
          </a:prstGeom>
          <a:solidFill>
            <a:srgbClr val="FFFFFF"/>
          </a:solidFill>
          <a:ln w="7620">
            <a:solidFill>
              <a:srgbClr val="D8E1EB"/>
            </a:solidFill>
            <a:prstDash val="solid"/>
          </a:ln>
        </p:spPr>
      </p:sp>
      <p:sp>
        <p:nvSpPr>
          <p:cNvPr id="31" name="Shape 29"/>
          <p:cNvSpPr/>
          <p:nvPr/>
        </p:nvSpPr>
        <p:spPr>
          <a:xfrm>
            <a:off x="781030" y="4581525"/>
            <a:ext cx="304792" cy="38100"/>
          </a:xfrm>
          <a:prstGeom prst="rect">
            <a:avLst/>
          </a:prstGeom>
          <a:solidFill>
            <a:srgbClr val="F77F00"/>
          </a:solidFill>
          <a:ln w="12700">
            <a:solidFill>
              <a:srgbClr val="F77F00">
                <a:alpha val="0"/>
              </a:srgbClr>
            </a:solidFill>
            <a:prstDash val="solid"/>
          </a:ln>
        </p:spPr>
      </p:sp>
      <p:sp>
        <p:nvSpPr>
          <p:cNvPr id="32" name="Text 30"/>
          <p:cNvSpPr txBox="1"/>
          <p:nvPr/>
        </p:nvSpPr>
        <p:spPr>
          <a:xfrm>
            <a:off x="819130" y="4752975"/>
            <a:ext cx="3098723" cy="295275"/>
          </a:xfrm>
          <a:prstGeom prst="rect">
            <a:avLst/>
          </a:prstGeom>
          <a:noFill/>
          <a:ln/>
        </p:spPr>
        <p:txBody>
          <a:bodyPr wrap="square" lIns="0" tIns="0" rIns="0" bIns="0" rtlCol="0" anchor="t"/>
          <a:lstStyle/>
          <a:p>
            <a:pPr algn="l" indent="0" marL="0">
              <a:lnSpc>
                <a:spcPct val="114000"/>
              </a:lnSpc>
              <a:buNone/>
            </a:pPr>
            <a:r>
              <a:rPr lang="en-US" sz="1800" b="1" dirty="0">
                <a:solidFill>
                  <a:srgbClr val="F77F00"/>
                </a:solidFill>
                <a:latin typeface="Arial" pitchFamily="34" charset="0"/>
                <a:ea typeface="Arial" pitchFamily="34" charset="-122"/>
                <a:cs typeface="Arial" pitchFamily="34" charset="-120"/>
              </a:rPr>
              <a:t>Kỹ thuật</a:t>
            </a:r>
            <a:endParaRPr lang="en-US" sz="1800" dirty="0"/>
          </a:p>
        </p:txBody>
      </p:sp>
      <p:sp>
        <p:nvSpPr>
          <p:cNvPr id="33" name="Text 31"/>
          <p:cNvSpPr txBox="1"/>
          <p:nvPr/>
        </p:nvSpPr>
        <p:spPr>
          <a:xfrm>
            <a:off x="819130" y="5153025"/>
            <a:ext cx="3098723" cy="381000"/>
          </a:xfrm>
          <a:prstGeom prst="rect">
            <a:avLst/>
          </a:prstGeom>
          <a:noFill/>
          <a:ln/>
        </p:spPr>
        <p:txBody>
          <a:bodyPr wrap="square" lIns="0" tIns="0" rIns="0" bIns="0" rtlCol="0" anchor="t"/>
          <a:lstStyle/>
          <a:p>
            <a:pPr algn="l" indent="0" marL="0">
              <a:lnSpc>
                <a:spcPct val="114000"/>
              </a:lnSpc>
              <a:buNone/>
            </a:pPr>
            <a:r>
              <a:rPr lang="en-US" sz="1600" dirty="0">
                <a:solidFill>
                  <a:srgbClr val="24364A"/>
                </a:solidFill>
                <a:latin typeface="Arial" pitchFamily="34" charset="0"/>
                <a:ea typeface="Arial" pitchFamily="34" charset="-122"/>
                <a:cs typeface="Arial" pitchFamily="34" charset="-120"/>
              </a:rPr>
              <a:t>Có hiện vật ngoại tuyến.</a:t>
            </a:r>
            <a:endParaRPr lang="en-US" sz="1600" dirty="0"/>
          </a:p>
        </p:txBody>
      </p:sp>
      <p:sp>
        <p:nvSpPr>
          <p:cNvPr id="34" name="Shape 32"/>
          <p:cNvSpPr/>
          <p:nvPr/>
        </p:nvSpPr>
        <p:spPr>
          <a:xfrm>
            <a:off x="4336942" y="4391025"/>
            <a:ext cx="3517812" cy="1323975"/>
          </a:xfrm>
          <a:prstGeom prst="roundRect">
            <a:avLst>
              <a:gd name="adj" fmla="val 7194"/>
            </a:avLst>
          </a:prstGeom>
          <a:solidFill>
            <a:srgbClr val="FFFFFF"/>
          </a:solidFill>
          <a:ln w="7620">
            <a:solidFill>
              <a:srgbClr val="D8E1EB"/>
            </a:solidFill>
            <a:prstDash val="solid"/>
          </a:ln>
        </p:spPr>
      </p:sp>
      <p:sp>
        <p:nvSpPr>
          <p:cNvPr id="35" name="Shape 33"/>
          <p:cNvSpPr/>
          <p:nvPr/>
        </p:nvSpPr>
        <p:spPr>
          <a:xfrm>
            <a:off x="4508387" y="4581525"/>
            <a:ext cx="304792" cy="38100"/>
          </a:xfrm>
          <a:prstGeom prst="rect">
            <a:avLst/>
          </a:prstGeom>
          <a:solidFill>
            <a:srgbClr val="C62828"/>
          </a:solidFill>
          <a:ln w="12700">
            <a:solidFill>
              <a:srgbClr val="C62828">
                <a:alpha val="0"/>
              </a:srgbClr>
            </a:solidFill>
            <a:prstDash val="solid"/>
          </a:ln>
        </p:spPr>
      </p:sp>
      <p:sp>
        <p:nvSpPr>
          <p:cNvPr id="36" name="Text 34"/>
          <p:cNvSpPr txBox="1"/>
          <p:nvPr/>
        </p:nvSpPr>
        <p:spPr>
          <a:xfrm>
            <a:off x="4546486" y="4752975"/>
            <a:ext cx="3098723" cy="295275"/>
          </a:xfrm>
          <a:prstGeom prst="rect">
            <a:avLst/>
          </a:prstGeom>
          <a:noFill/>
          <a:ln/>
        </p:spPr>
        <p:txBody>
          <a:bodyPr wrap="square" lIns="0" tIns="0" rIns="0" bIns="0" rtlCol="0" anchor="t"/>
          <a:lstStyle/>
          <a:p>
            <a:pPr algn="l" indent="0" marL="0">
              <a:lnSpc>
                <a:spcPct val="114000"/>
              </a:lnSpc>
              <a:buNone/>
            </a:pPr>
            <a:r>
              <a:rPr lang="en-US" sz="1800" b="1" dirty="0">
                <a:solidFill>
                  <a:srgbClr val="C62828"/>
                </a:solidFill>
                <a:latin typeface="Arial" pitchFamily="34" charset="0"/>
                <a:ea typeface="Arial" pitchFamily="34" charset="-122"/>
                <a:cs typeface="Arial" pitchFamily="34" charset="-120"/>
              </a:rPr>
              <a:t>Học thuật</a:t>
            </a:r>
            <a:endParaRPr lang="en-US" sz="1800" dirty="0"/>
          </a:p>
        </p:txBody>
      </p:sp>
      <p:sp>
        <p:nvSpPr>
          <p:cNvPr id="37" name="Text 35"/>
          <p:cNvSpPr txBox="1"/>
          <p:nvPr/>
        </p:nvSpPr>
        <p:spPr>
          <a:xfrm>
            <a:off x="4546486" y="5153025"/>
            <a:ext cx="3098723" cy="381000"/>
          </a:xfrm>
          <a:prstGeom prst="rect">
            <a:avLst/>
          </a:prstGeom>
          <a:noFill/>
          <a:ln/>
        </p:spPr>
        <p:txBody>
          <a:bodyPr wrap="square" lIns="0" tIns="0" rIns="0" bIns="0" rtlCol="0" anchor="t"/>
          <a:lstStyle/>
          <a:p>
            <a:pPr algn="l" indent="0" marL="0">
              <a:lnSpc>
                <a:spcPct val="114000"/>
              </a:lnSpc>
              <a:buNone/>
            </a:pPr>
            <a:r>
              <a:rPr lang="en-US" sz="1600" dirty="0">
                <a:solidFill>
                  <a:srgbClr val="24364A"/>
                </a:solidFill>
                <a:latin typeface="Arial" pitchFamily="34" charset="0"/>
                <a:ea typeface="Arial" pitchFamily="34" charset="-122"/>
                <a:cs typeface="Arial" pitchFamily="34" charset="-120"/>
              </a:rPr>
              <a:t>Chưa đủ ký duyệt.</a:t>
            </a:r>
            <a:endParaRPr lang="en-US" sz="1600" dirty="0"/>
          </a:p>
        </p:txBody>
      </p:sp>
      <p:sp>
        <p:nvSpPr>
          <p:cNvPr id="38" name="Shape 36"/>
          <p:cNvSpPr/>
          <p:nvPr/>
        </p:nvSpPr>
        <p:spPr>
          <a:xfrm>
            <a:off x="8064298" y="4391025"/>
            <a:ext cx="3517812" cy="1323975"/>
          </a:xfrm>
          <a:prstGeom prst="roundRect">
            <a:avLst>
              <a:gd name="adj" fmla="val 7194"/>
            </a:avLst>
          </a:prstGeom>
          <a:solidFill>
            <a:srgbClr val="FFFFFF"/>
          </a:solidFill>
          <a:ln w="7620">
            <a:solidFill>
              <a:srgbClr val="D8E1EB"/>
            </a:solidFill>
            <a:prstDash val="solid"/>
          </a:ln>
        </p:spPr>
      </p:sp>
      <p:sp>
        <p:nvSpPr>
          <p:cNvPr id="39" name="Shape 37"/>
          <p:cNvSpPr/>
          <p:nvPr/>
        </p:nvSpPr>
        <p:spPr>
          <a:xfrm>
            <a:off x="8235744" y="4581525"/>
            <a:ext cx="304792" cy="38100"/>
          </a:xfrm>
          <a:prstGeom prst="rect">
            <a:avLst/>
          </a:prstGeom>
          <a:solidFill>
            <a:srgbClr val="2E7D32"/>
          </a:solidFill>
          <a:ln w="12700">
            <a:solidFill>
              <a:srgbClr val="2E7D32">
                <a:alpha val="0"/>
              </a:srgbClr>
            </a:solidFill>
            <a:prstDash val="solid"/>
          </a:ln>
        </p:spPr>
      </p:sp>
      <p:sp>
        <p:nvSpPr>
          <p:cNvPr id="40" name="Text 38"/>
          <p:cNvSpPr txBox="1"/>
          <p:nvPr/>
        </p:nvSpPr>
        <p:spPr>
          <a:xfrm>
            <a:off x="8273843" y="4752975"/>
            <a:ext cx="3098723" cy="295275"/>
          </a:xfrm>
          <a:prstGeom prst="rect">
            <a:avLst/>
          </a:prstGeom>
          <a:noFill/>
          <a:ln/>
        </p:spPr>
        <p:txBody>
          <a:bodyPr wrap="square" lIns="0" tIns="0" rIns="0" bIns="0" rtlCol="0" anchor="t"/>
          <a:lstStyle/>
          <a:p>
            <a:pPr algn="l" indent="0" marL="0">
              <a:lnSpc>
                <a:spcPct val="114000"/>
              </a:lnSpc>
              <a:buNone/>
            </a:pPr>
            <a:r>
              <a:rPr lang="en-US" sz="1800" b="1" dirty="0">
                <a:solidFill>
                  <a:srgbClr val="2E7D32"/>
                </a:solidFill>
                <a:latin typeface="Arial" pitchFamily="34" charset="0"/>
                <a:ea typeface="Arial" pitchFamily="34" charset="-122"/>
                <a:cs typeface="Arial" pitchFamily="34" charset="-120"/>
              </a:rPr>
              <a:t>Chuyển giao</a:t>
            </a:r>
            <a:endParaRPr lang="en-US" sz="1800" dirty="0"/>
          </a:p>
        </p:txBody>
      </p:sp>
      <p:sp>
        <p:nvSpPr>
          <p:cNvPr id="41" name="Text 39"/>
          <p:cNvSpPr txBox="1"/>
          <p:nvPr/>
        </p:nvSpPr>
        <p:spPr>
          <a:xfrm>
            <a:off x="8273843" y="5153025"/>
            <a:ext cx="3098723" cy="381000"/>
          </a:xfrm>
          <a:prstGeom prst="rect">
            <a:avLst/>
          </a:prstGeom>
          <a:noFill/>
          <a:ln/>
        </p:spPr>
        <p:txBody>
          <a:bodyPr wrap="square" lIns="0" tIns="0" rIns="0" bIns="0" rtlCol="0" anchor="t"/>
          <a:lstStyle/>
          <a:p>
            <a:pPr algn="l" indent="0" marL="0">
              <a:lnSpc>
                <a:spcPct val="114000"/>
              </a:lnSpc>
              <a:buNone/>
            </a:pPr>
            <a:r>
              <a:rPr lang="en-US" sz="1600" dirty="0">
                <a:solidFill>
                  <a:srgbClr val="24364A"/>
                </a:solidFill>
                <a:latin typeface="Arial" pitchFamily="34" charset="0"/>
                <a:ea typeface="Arial" pitchFamily="34" charset="-122"/>
                <a:cs typeface="Arial" pitchFamily="34" charset="-120"/>
              </a:rPr>
              <a:t>Có hướng tái sử dụng.</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MỞ ĐẦU</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Lộ trình báo cáo — 25 phút</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1 trang QR · 30 slide nội dung · 1 trang hỏi–đáp · 2 trang dự phòng.</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Dành thêm 5–10 phút cho Q&amp;A; phụ lục chỉ mở khi cần đào sâu.</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04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1434317" cy="38100"/>
          </a:xfrm>
          <a:prstGeom prst="rect">
            <a:avLst/>
          </a:prstGeom>
          <a:solidFill>
            <a:srgbClr val="F77F00"/>
          </a:solidFill>
          <a:ln w="12700">
            <a:solidFill>
              <a:srgbClr val="F77F00">
                <a:alpha val="0"/>
              </a:srgbClr>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2438339"/>
                <a:gridCol w="6095848"/>
                <a:gridCol w="2438339"/>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Phần</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Trọng tâm</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Thời lượng</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1</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Phương pháp luận đánh giá</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3 phút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2</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Tổng quan dự án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3 phút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3</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Kiến trúc và tính năng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8 phút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4</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Chất lượng và bằng chứng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5 phút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5</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So sánh và đánh giá</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4 phút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6</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Tác động và khuyến nghị</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2 phút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MỞ ĐẦU</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Vì sao ngoại tuyến là quan trọng?</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Thiết kế cho điều kiện kết nối bị hạn chế, không dựa vào tỷ lệ khảo sát giả định.</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Offline-first là lựa chọn theo bối cảnh sử dụng; phải thử trên thiết bị thực.</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05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1792896"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3517812" cy="3505200"/>
          </a:xfrm>
          <a:prstGeom prst="roundRect">
            <a:avLst>
              <a:gd name="adj" fmla="val 2717"/>
            </a:avLst>
          </a:prstGeom>
          <a:solidFill>
            <a:srgbClr val="FFFFFF"/>
          </a:solidFill>
          <a:ln w="7620">
            <a:solidFill>
              <a:srgbClr val="D8E1EB"/>
            </a:solidFill>
            <a:prstDash val="solid"/>
          </a:ln>
        </p:spPr>
      </p:sp>
      <p:sp>
        <p:nvSpPr>
          <p:cNvPr id="15" name="Shape 13"/>
          <p:cNvSpPr/>
          <p:nvPr/>
        </p:nvSpPr>
        <p:spPr>
          <a:xfrm>
            <a:off x="781030" y="2400300"/>
            <a:ext cx="304792" cy="38100"/>
          </a:xfrm>
          <a:prstGeom prst="rect">
            <a:avLst/>
          </a:prstGeom>
          <a:solidFill>
            <a:srgbClr val="F77F00"/>
          </a:solidFill>
          <a:ln w="12700">
            <a:solidFill>
              <a:srgbClr val="F77F00">
                <a:alpha val="0"/>
              </a:srgbClr>
            </a:solidFill>
            <a:prstDash val="solid"/>
          </a:ln>
        </p:spPr>
      </p:sp>
      <p:sp>
        <p:nvSpPr>
          <p:cNvPr id="16" name="Text 14"/>
          <p:cNvSpPr txBox="1"/>
          <p:nvPr/>
        </p:nvSpPr>
        <p:spPr>
          <a:xfrm>
            <a:off x="819130"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Điều kiện triển khai</a:t>
            </a:r>
            <a:endParaRPr lang="en-US" sz="2000" dirty="0"/>
          </a:p>
        </p:txBody>
      </p:sp>
      <p:sp>
        <p:nvSpPr>
          <p:cNvPr id="17" name="Text 15"/>
          <p:cNvSpPr txBox="1"/>
          <p:nvPr/>
        </p:nvSpPr>
        <p:spPr>
          <a:xfrm>
            <a:off x="819130"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Không mặc định Internet</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luôn sẵn sàng.</a:t>
            </a:r>
            <a:endParaRPr lang="en-US" sz="1800" dirty="0"/>
          </a:p>
        </p:txBody>
      </p:sp>
      <p:sp>
        <p:nvSpPr>
          <p:cNvPr id="18" name="Shape 16"/>
          <p:cNvSpPr/>
          <p:nvPr/>
        </p:nvSpPr>
        <p:spPr>
          <a:xfrm>
            <a:off x="4336942" y="2209800"/>
            <a:ext cx="3517812" cy="3505200"/>
          </a:xfrm>
          <a:prstGeom prst="roundRect">
            <a:avLst>
              <a:gd name="adj" fmla="val 2717"/>
            </a:avLst>
          </a:prstGeom>
          <a:solidFill>
            <a:srgbClr val="FFFFFF"/>
          </a:solidFill>
          <a:ln w="7620">
            <a:solidFill>
              <a:srgbClr val="D8E1EB"/>
            </a:solidFill>
            <a:prstDash val="solid"/>
          </a:ln>
        </p:spPr>
      </p:sp>
      <p:sp>
        <p:nvSpPr>
          <p:cNvPr id="19" name="Shape 17"/>
          <p:cNvSpPr/>
          <p:nvPr/>
        </p:nvSpPr>
        <p:spPr>
          <a:xfrm>
            <a:off x="4508387" y="2400300"/>
            <a:ext cx="304792" cy="38100"/>
          </a:xfrm>
          <a:prstGeom prst="rect">
            <a:avLst/>
          </a:prstGeom>
          <a:solidFill>
            <a:srgbClr val="13315C"/>
          </a:solidFill>
          <a:ln w="12700">
            <a:solidFill>
              <a:srgbClr val="13315C">
                <a:alpha val="0"/>
              </a:srgbClr>
            </a:solidFill>
            <a:prstDash val="solid"/>
          </a:ln>
        </p:spPr>
      </p:sp>
      <p:sp>
        <p:nvSpPr>
          <p:cNvPr id="20" name="Text 18"/>
          <p:cNvSpPr txBox="1"/>
          <p:nvPr/>
        </p:nvSpPr>
        <p:spPr>
          <a:xfrm>
            <a:off x="4546486"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13315C"/>
                </a:solidFill>
                <a:latin typeface="Arial" pitchFamily="34" charset="0"/>
                <a:ea typeface="Arial" pitchFamily="34" charset="-122"/>
                <a:cs typeface="Arial" pitchFamily="34" charset="-120"/>
              </a:rPr>
              <a:t>Hướng giải quyết</a:t>
            </a:r>
            <a:endParaRPr lang="en-US" sz="2000" dirty="0"/>
          </a:p>
        </p:txBody>
      </p:sp>
      <p:sp>
        <p:nvSpPr>
          <p:cNvPr id="21" name="Text 19"/>
          <p:cNvSpPr txBox="1"/>
          <p:nvPr/>
        </p:nvSpPr>
        <p:spPr>
          <a:xfrm>
            <a:off x="4546486"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Phân phối tài nguyên cục bộ;</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mở index.html.</a:t>
            </a:r>
            <a:endParaRPr lang="en-US" sz="1800" dirty="0"/>
          </a:p>
        </p:txBody>
      </p:sp>
      <p:sp>
        <p:nvSpPr>
          <p:cNvPr id="22" name="Shape 20"/>
          <p:cNvSpPr/>
          <p:nvPr/>
        </p:nvSpPr>
        <p:spPr>
          <a:xfrm>
            <a:off x="8064298" y="2209800"/>
            <a:ext cx="3517812" cy="3505200"/>
          </a:xfrm>
          <a:prstGeom prst="roundRect">
            <a:avLst>
              <a:gd name="adj" fmla="val 2717"/>
            </a:avLst>
          </a:prstGeom>
          <a:solidFill>
            <a:srgbClr val="FFFFFF"/>
          </a:solidFill>
          <a:ln w="7620">
            <a:solidFill>
              <a:srgbClr val="D8E1EB"/>
            </a:solidFill>
            <a:prstDash val="solid"/>
          </a:ln>
        </p:spPr>
      </p:sp>
      <p:sp>
        <p:nvSpPr>
          <p:cNvPr id="23" name="Shape 21"/>
          <p:cNvSpPr/>
          <p:nvPr/>
        </p:nvSpPr>
        <p:spPr>
          <a:xfrm>
            <a:off x="8235744" y="2400300"/>
            <a:ext cx="304792" cy="38100"/>
          </a:xfrm>
          <a:prstGeom prst="rect">
            <a:avLst/>
          </a:prstGeom>
          <a:solidFill>
            <a:srgbClr val="C62828"/>
          </a:solidFill>
          <a:ln w="12700">
            <a:solidFill>
              <a:srgbClr val="C62828">
                <a:alpha val="0"/>
              </a:srgbClr>
            </a:solidFill>
            <a:prstDash val="solid"/>
          </a:ln>
        </p:spPr>
      </p:sp>
      <p:sp>
        <p:nvSpPr>
          <p:cNvPr id="24" name="Text 22"/>
          <p:cNvSpPr txBox="1"/>
          <p:nvPr/>
        </p:nvSpPr>
        <p:spPr>
          <a:xfrm>
            <a:off x="8273843"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C62828"/>
                </a:solidFill>
                <a:latin typeface="Arial" pitchFamily="34" charset="0"/>
                <a:ea typeface="Arial" pitchFamily="34" charset="-122"/>
                <a:cs typeface="Arial" pitchFamily="34" charset="-120"/>
              </a:rPr>
              <a:t>Giới hạn dữ liệu</a:t>
            </a:r>
            <a:endParaRPr lang="en-US" sz="2000" dirty="0"/>
          </a:p>
        </p:txBody>
      </p:sp>
      <p:sp>
        <p:nvSpPr>
          <p:cNvPr id="25" name="Text 23"/>
          <p:cNvSpPr txBox="1"/>
          <p:nvPr/>
        </p:nvSpPr>
        <p:spPr>
          <a:xfrm>
            <a:off x="8273843"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Chưa có khảo sát thiết bị</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của đơn vị.</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PHƯƠNG PHÁP LUẬN</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Phương pháp đánh giá</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Bốn bước phân biệt thiết kế, thực thi, bằng chứng và chuẩn đối chiếu.</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Chỉ kết luận trong phạm vi đã kiểm tra và đúng phiên bản nguồn.</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06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2151476"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2571686" cy="3505200"/>
          </a:xfrm>
          <a:prstGeom prst="roundRect">
            <a:avLst>
              <a:gd name="adj" fmla="val 3704"/>
            </a:avLst>
          </a:prstGeom>
          <a:solidFill>
            <a:srgbClr val="FFFFFF"/>
          </a:solidFill>
          <a:ln w="7620">
            <a:solidFill>
              <a:srgbClr val="D8E1EB"/>
            </a:solidFill>
            <a:prstDash val="solid"/>
          </a:ln>
        </p:spPr>
      </p:sp>
      <p:sp>
        <p:nvSpPr>
          <p:cNvPr id="15" name="Shape 13"/>
          <p:cNvSpPr/>
          <p:nvPr/>
        </p:nvSpPr>
        <p:spPr>
          <a:xfrm>
            <a:off x="819130" y="2419350"/>
            <a:ext cx="419090" cy="419100"/>
          </a:xfrm>
          <a:prstGeom prst="ellipse">
            <a:avLst/>
          </a:prstGeom>
          <a:solidFill>
            <a:srgbClr val="0B2545"/>
          </a:solidFill>
          <a:ln w="12700">
            <a:solidFill>
              <a:srgbClr val="0B2545">
                <a:alpha val="0"/>
              </a:srgbClr>
            </a:solidFill>
            <a:prstDash val="solid"/>
          </a:ln>
        </p:spPr>
      </p:sp>
      <p:sp>
        <p:nvSpPr>
          <p:cNvPr id="16" name="Text 14"/>
          <p:cNvSpPr txBox="1"/>
          <p:nvPr/>
        </p:nvSpPr>
        <p:spPr>
          <a:xfrm>
            <a:off x="82865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01</a:t>
            </a:r>
            <a:endParaRPr lang="en-US" sz="1600" dirty="0"/>
          </a:p>
        </p:txBody>
      </p:sp>
      <p:sp>
        <p:nvSpPr>
          <p:cNvPr id="17" name="Text 15"/>
          <p:cNvSpPr txBox="1"/>
          <p:nvPr/>
        </p:nvSpPr>
        <p:spPr>
          <a:xfrm>
            <a:off x="819130"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Phân tích tĩnh</a:t>
            </a:r>
            <a:endParaRPr lang="en-US" sz="2000" dirty="0"/>
          </a:p>
        </p:txBody>
      </p:sp>
      <p:sp>
        <p:nvSpPr>
          <p:cNvPr id="18" name="Text 16"/>
          <p:cNvSpPr txBox="1"/>
          <p:nvPr/>
        </p:nvSpPr>
        <p:spPr>
          <a:xfrm>
            <a:off x="819130"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Đọc nguồn,</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README và tài</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liệu.</a:t>
            </a:r>
            <a:endParaRPr lang="en-US" sz="1800" dirty="0"/>
          </a:p>
        </p:txBody>
      </p:sp>
      <p:sp>
        <p:nvSpPr>
          <p:cNvPr id="19" name="Shape 17"/>
          <p:cNvSpPr/>
          <p:nvPr/>
        </p:nvSpPr>
        <p:spPr>
          <a:xfrm>
            <a:off x="3209845" y="2647950"/>
            <a:ext cx="171446" cy="0"/>
          </a:xfrm>
          <a:prstGeom prst="line">
            <a:avLst/>
          </a:prstGeom>
          <a:noFill/>
          <a:ln w="19050">
            <a:solidFill>
              <a:srgbClr val="F77F00"/>
            </a:solidFill>
            <a:prstDash val="solid"/>
            <a:tailEnd type="triangle"/>
          </a:ln>
        </p:spPr>
      </p:sp>
      <p:sp>
        <p:nvSpPr>
          <p:cNvPr id="20" name="Shape 18"/>
          <p:cNvSpPr/>
          <p:nvPr/>
        </p:nvSpPr>
        <p:spPr>
          <a:xfrm>
            <a:off x="3409865" y="2209800"/>
            <a:ext cx="2571686" cy="3505200"/>
          </a:xfrm>
          <a:prstGeom prst="roundRect">
            <a:avLst>
              <a:gd name="adj" fmla="val 3704"/>
            </a:avLst>
          </a:prstGeom>
          <a:solidFill>
            <a:srgbClr val="FFFFFF"/>
          </a:solidFill>
          <a:ln w="7620">
            <a:solidFill>
              <a:srgbClr val="D8E1EB"/>
            </a:solidFill>
            <a:prstDash val="solid"/>
          </a:ln>
        </p:spPr>
      </p:sp>
      <p:sp>
        <p:nvSpPr>
          <p:cNvPr id="21" name="Shape 19"/>
          <p:cNvSpPr/>
          <p:nvPr/>
        </p:nvSpPr>
        <p:spPr>
          <a:xfrm>
            <a:off x="3619410" y="2419350"/>
            <a:ext cx="419090" cy="419100"/>
          </a:xfrm>
          <a:prstGeom prst="ellipse">
            <a:avLst/>
          </a:prstGeom>
          <a:solidFill>
            <a:srgbClr val="0B2545"/>
          </a:solidFill>
          <a:ln w="12700">
            <a:solidFill>
              <a:srgbClr val="0B2545">
                <a:alpha val="0"/>
              </a:srgbClr>
            </a:solidFill>
            <a:prstDash val="solid"/>
          </a:ln>
        </p:spPr>
      </p:sp>
      <p:sp>
        <p:nvSpPr>
          <p:cNvPr id="22" name="Text 20"/>
          <p:cNvSpPr txBox="1"/>
          <p:nvPr/>
        </p:nvSpPr>
        <p:spPr>
          <a:xfrm>
            <a:off x="362893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02</a:t>
            </a:r>
            <a:endParaRPr lang="en-US" sz="1600" dirty="0"/>
          </a:p>
        </p:txBody>
      </p:sp>
      <p:sp>
        <p:nvSpPr>
          <p:cNvPr id="23" name="Text 21"/>
          <p:cNvSpPr txBox="1"/>
          <p:nvPr/>
        </p:nvSpPr>
        <p:spPr>
          <a:xfrm>
            <a:off x="3619410"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Kiểm chứng động</a:t>
            </a:r>
            <a:endParaRPr lang="en-US" sz="2000" dirty="0"/>
          </a:p>
        </p:txBody>
      </p:sp>
      <p:sp>
        <p:nvSpPr>
          <p:cNvPr id="24" name="Text 22"/>
          <p:cNvSpPr txBox="1"/>
          <p:nvPr/>
        </p:nvSpPr>
        <p:spPr>
          <a:xfrm>
            <a:off x="3619410"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Thử file://, HTTP</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và máy đích.</a:t>
            </a:r>
            <a:endParaRPr lang="en-US" sz="1800" dirty="0"/>
          </a:p>
        </p:txBody>
      </p:sp>
      <p:sp>
        <p:nvSpPr>
          <p:cNvPr id="25" name="Shape 23"/>
          <p:cNvSpPr/>
          <p:nvPr/>
        </p:nvSpPr>
        <p:spPr>
          <a:xfrm>
            <a:off x="6010125" y="2647950"/>
            <a:ext cx="171446" cy="0"/>
          </a:xfrm>
          <a:prstGeom prst="line">
            <a:avLst/>
          </a:prstGeom>
          <a:noFill/>
          <a:ln w="19050">
            <a:solidFill>
              <a:srgbClr val="F77F00"/>
            </a:solidFill>
            <a:prstDash val="solid"/>
            <a:tailEnd type="triangle"/>
          </a:ln>
        </p:spPr>
      </p:sp>
      <p:sp>
        <p:nvSpPr>
          <p:cNvPr id="26" name="Shape 24"/>
          <p:cNvSpPr/>
          <p:nvPr/>
        </p:nvSpPr>
        <p:spPr>
          <a:xfrm>
            <a:off x="6210145" y="2209800"/>
            <a:ext cx="2571686" cy="3505200"/>
          </a:xfrm>
          <a:prstGeom prst="roundRect">
            <a:avLst>
              <a:gd name="adj" fmla="val 3704"/>
            </a:avLst>
          </a:prstGeom>
          <a:solidFill>
            <a:srgbClr val="FFFFFF"/>
          </a:solidFill>
          <a:ln w="7620">
            <a:solidFill>
              <a:srgbClr val="D8E1EB"/>
            </a:solidFill>
            <a:prstDash val="solid"/>
          </a:ln>
        </p:spPr>
      </p:sp>
      <p:sp>
        <p:nvSpPr>
          <p:cNvPr id="27" name="Shape 25"/>
          <p:cNvSpPr/>
          <p:nvPr/>
        </p:nvSpPr>
        <p:spPr>
          <a:xfrm>
            <a:off x="6419690" y="2419350"/>
            <a:ext cx="419090" cy="419100"/>
          </a:xfrm>
          <a:prstGeom prst="ellipse">
            <a:avLst/>
          </a:prstGeom>
          <a:solidFill>
            <a:srgbClr val="0B2545"/>
          </a:solidFill>
          <a:ln w="12700">
            <a:solidFill>
              <a:srgbClr val="0B2545">
                <a:alpha val="0"/>
              </a:srgbClr>
            </a:solidFill>
            <a:prstDash val="solid"/>
          </a:ln>
        </p:spPr>
      </p:sp>
      <p:sp>
        <p:nvSpPr>
          <p:cNvPr id="28" name="Text 26"/>
          <p:cNvSpPr txBox="1"/>
          <p:nvPr/>
        </p:nvSpPr>
        <p:spPr>
          <a:xfrm>
            <a:off x="642921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03</a:t>
            </a:r>
            <a:endParaRPr lang="en-US" sz="1600" dirty="0"/>
          </a:p>
        </p:txBody>
      </p:sp>
      <p:sp>
        <p:nvSpPr>
          <p:cNvPr id="29" name="Text 27"/>
          <p:cNvSpPr txBox="1"/>
          <p:nvPr/>
        </p:nvSpPr>
        <p:spPr>
          <a:xfrm>
            <a:off x="6419690"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Đối chiếu bằng</a:t>
            </a:r>
            <a:endParaRPr lang="en-US" sz="2000" dirty="0"/>
          </a:p>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chứng</a:t>
            </a:r>
            <a:endParaRPr lang="en-US" sz="2000" dirty="0"/>
          </a:p>
        </p:txBody>
      </p:sp>
      <p:sp>
        <p:nvSpPr>
          <p:cNvPr id="30" name="Text 28"/>
          <p:cNvSpPr txBox="1"/>
          <p:nvPr/>
        </p:nvSpPr>
        <p:spPr>
          <a:xfrm>
            <a:off x="6419690"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Gắn capture, hash</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và phiên bản.</a:t>
            </a:r>
            <a:endParaRPr lang="en-US" sz="1800" dirty="0"/>
          </a:p>
        </p:txBody>
      </p:sp>
      <p:sp>
        <p:nvSpPr>
          <p:cNvPr id="31" name="Shape 29"/>
          <p:cNvSpPr/>
          <p:nvPr/>
        </p:nvSpPr>
        <p:spPr>
          <a:xfrm>
            <a:off x="8810405" y="2647950"/>
            <a:ext cx="171446" cy="0"/>
          </a:xfrm>
          <a:prstGeom prst="line">
            <a:avLst/>
          </a:prstGeom>
          <a:noFill/>
          <a:ln w="19050">
            <a:solidFill>
              <a:srgbClr val="F77F00"/>
            </a:solidFill>
            <a:prstDash val="solid"/>
            <a:tailEnd type="triangle"/>
          </a:ln>
        </p:spPr>
      </p:sp>
      <p:sp>
        <p:nvSpPr>
          <p:cNvPr id="32" name="Shape 30"/>
          <p:cNvSpPr/>
          <p:nvPr/>
        </p:nvSpPr>
        <p:spPr>
          <a:xfrm>
            <a:off x="9010425" y="2209800"/>
            <a:ext cx="2571686" cy="3505200"/>
          </a:xfrm>
          <a:prstGeom prst="roundRect">
            <a:avLst>
              <a:gd name="adj" fmla="val 3704"/>
            </a:avLst>
          </a:prstGeom>
          <a:solidFill>
            <a:srgbClr val="FFFFFF"/>
          </a:solidFill>
          <a:ln w="7620">
            <a:solidFill>
              <a:srgbClr val="D8E1EB"/>
            </a:solidFill>
            <a:prstDash val="solid"/>
          </a:ln>
        </p:spPr>
      </p:sp>
      <p:sp>
        <p:nvSpPr>
          <p:cNvPr id="33" name="Shape 31"/>
          <p:cNvSpPr/>
          <p:nvPr/>
        </p:nvSpPr>
        <p:spPr>
          <a:xfrm>
            <a:off x="9219969" y="2419350"/>
            <a:ext cx="419090" cy="419100"/>
          </a:xfrm>
          <a:prstGeom prst="ellipse">
            <a:avLst/>
          </a:prstGeom>
          <a:solidFill>
            <a:srgbClr val="0B2545"/>
          </a:solidFill>
          <a:ln w="12700">
            <a:solidFill>
              <a:srgbClr val="0B2545">
                <a:alpha val="0"/>
              </a:srgbClr>
            </a:solidFill>
            <a:prstDash val="solid"/>
          </a:ln>
        </p:spPr>
      </p:sp>
      <p:sp>
        <p:nvSpPr>
          <p:cNvPr id="34" name="Text 32"/>
          <p:cNvSpPr txBox="1"/>
          <p:nvPr/>
        </p:nvSpPr>
        <p:spPr>
          <a:xfrm>
            <a:off x="922949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04</a:t>
            </a:r>
            <a:endParaRPr lang="en-US" sz="1600" dirty="0"/>
          </a:p>
        </p:txBody>
      </p:sp>
      <p:sp>
        <p:nvSpPr>
          <p:cNvPr id="35" name="Text 33"/>
          <p:cNvSpPr txBox="1"/>
          <p:nvPr/>
        </p:nvSpPr>
        <p:spPr>
          <a:xfrm>
            <a:off x="9219969"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So sánh chuẩn</a:t>
            </a:r>
            <a:endParaRPr lang="en-US" sz="2000" dirty="0"/>
          </a:p>
        </p:txBody>
      </p:sp>
      <p:sp>
        <p:nvSpPr>
          <p:cNvPr id="36" name="Text 34"/>
          <p:cNvSpPr txBox="1"/>
          <p:nvPr/>
        </p:nvSpPr>
        <p:spPr>
          <a:xfrm>
            <a:off x="9219969"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WCAG, QTI và</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Cartridge.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PHƯƠNG PHÁP LUẬN</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Sáu tiêu chí đánh giá</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Dùng bằng chứng và trạng thái thay cho điểm số chưa được thẩm định.</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Không dùng 8,2/10 làm kết luận độc lập khi chưa có rubric và người chấm.</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07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2510055" cy="38100"/>
          </a:xfrm>
          <a:prstGeom prst="rect">
            <a:avLst/>
          </a:prstGeom>
          <a:solidFill>
            <a:srgbClr val="F77F00"/>
          </a:solidFill>
          <a:ln w="12700">
            <a:solidFill>
              <a:srgbClr val="F77F00">
                <a:alpha val="0"/>
              </a:srgbClr>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3465008"/>
                <a:gridCol w="7507518"/>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Tiêu chí</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Bằng chứng hoặc trạng thái</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Kiến trúc</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Có phân lớp và tài nguyên cục bộ</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Tính năng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Có tìm kiếm, quiz và mô phỏng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Chất lượng QA</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11 pass; 9 fail; 4 blocked</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Khả năng tiếp cận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Có kiểm tự động; review độc lập bị chặn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Sẵn sàng phát hành</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Candidate; chưa chấp nhận cuối cùng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Chuyển giao</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Đề xuất thí điểm môn khác</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PHƯƠNG PHÁP LUẬN</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Nguồn dữ liệu và bằng chứng</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Tám tuyến tra cứu, mỗi tuyến có chức năng riêng.</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Định nghĩa một phép kiểm tra không chứng minh phép kiểm tra đó đã pass.</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08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2868634" cy="38100"/>
          </a:xfrm>
          <a:prstGeom prst="rect">
            <a:avLst/>
          </a:prstGeom>
          <a:solidFill>
            <a:srgbClr val="F77F00"/>
          </a:solidFill>
          <a:ln w="12700">
            <a:solidFill>
              <a:srgbClr val="F77F00">
                <a:alpha val="0"/>
              </a:srgbClr>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4937637"/>
                <a:gridCol w="6034889"/>
              </a:tblGrid>
              <a:tr h="428625">
                <a:tc>
                  <a:txBody>
                    <a:bodyPr/>
                    <a:lstStyle/>
                    <a:p>
                      <a:pPr indent="0" marL="0">
                        <a:buNone/>
                      </a:pPr>
                      <a:r>
                        <a:rPr lang="en-US" sz="1600" b="1" dirty="0">
                          <a:solidFill>
                            <a:srgbClr val="FFFFFF"/>
                          </a:solidFill>
                          <a:latin typeface="Arial" pitchFamily="34" charset="0"/>
                          <a:ea typeface="Arial" pitchFamily="34" charset="-122"/>
                          <a:cs typeface="Arial" pitchFamily="34" charset="-120"/>
                        </a:rPr>
                        <a:t>Nguồn</a:t>
                      </a:r>
                      <a:endParaRPr lang="en-US" sz="16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Vai trò</a:t>
                      </a:r>
                      <a:endParaRPr lang="en-US" sz="16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README.md</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Phạm vi và đường dẫn vận hành</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docs/</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Kiến trúc, triển khai và giới hạn</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release/</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Gói ứng viên và SHA-256</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data/evidence-registry.json</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Danh mục bằng chứng</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data/</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Manifest, ledger và trạng thái</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tests/</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Định nghĩa hành vi cần kiểm tra</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tools/</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Nguồn pipeline và công cụ</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Git history</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Phiên bản và lịch sử thay đổi</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TỔNG QUAN</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Tổng quan dự án</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Một giáo trình tĩnh cho ba chương Cơ học lý thuyết.</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Không cần backend cho đọc học liệu; bảo trì và QA vẫn cần đầu mối kỹ thuật.</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09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3227213"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3517812" cy="3505200"/>
          </a:xfrm>
          <a:prstGeom prst="roundRect">
            <a:avLst>
              <a:gd name="adj" fmla="val 2717"/>
            </a:avLst>
          </a:prstGeom>
          <a:solidFill>
            <a:srgbClr val="FFFFFF"/>
          </a:solidFill>
          <a:ln w="7620">
            <a:solidFill>
              <a:srgbClr val="D8E1EB"/>
            </a:solidFill>
            <a:prstDash val="solid"/>
          </a:ln>
        </p:spPr>
      </p:sp>
      <p:sp>
        <p:nvSpPr>
          <p:cNvPr id="15" name="Shape 13"/>
          <p:cNvSpPr/>
          <p:nvPr/>
        </p:nvSpPr>
        <p:spPr>
          <a:xfrm>
            <a:off x="781030" y="2400300"/>
            <a:ext cx="304792" cy="38100"/>
          </a:xfrm>
          <a:prstGeom prst="rect">
            <a:avLst/>
          </a:prstGeom>
          <a:solidFill>
            <a:srgbClr val="F77F00"/>
          </a:solidFill>
          <a:ln w="12700">
            <a:solidFill>
              <a:srgbClr val="F77F00">
                <a:alpha val="0"/>
              </a:srgbClr>
            </a:solidFill>
            <a:prstDash val="solid"/>
          </a:ln>
        </p:spPr>
      </p:sp>
      <p:sp>
        <p:nvSpPr>
          <p:cNvPr id="16" name="Text 14"/>
          <p:cNvSpPr txBox="1"/>
          <p:nvPr/>
        </p:nvSpPr>
        <p:spPr>
          <a:xfrm>
            <a:off x="819130"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Nội dung</a:t>
            </a:r>
            <a:endParaRPr lang="en-US" sz="2000" dirty="0"/>
          </a:p>
        </p:txBody>
      </p:sp>
      <p:sp>
        <p:nvSpPr>
          <p:cNvPr id="17" name="Text 15"/>
          <p:cNvSpPr txBox="1"/>
          <p:nvPr/>
        </p:nvSpPr>
        <p:spPr>
          <a:xfrm>
            <a:off x="819130"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Tĩnh học · Động học · Động</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lực học.</a:t>
            </a:r>
            <a:endParaRPr lang="en-US" sz="1800" dirty="0"/>
          </a:p>
        </p:txBody>
      </p:sp>
      <p:sp>
        <p:nvSpPr>
          <p:cNvPr id="18" name="Shape 16"/>
          <p:cNvSpPr/>
          <p:nvPr/>
        </p:nvSpPr>
        <p:spPr>
          <a:xfrm>
            <a:off x="4336942" y="2209800"/>
            <a:ext cx="3517812" cy="3505200"/>
          </a:xfrm>
          <a:prstGeom prst="roundRect">
            <a:avLst>
              <a:gd name="adj" fmla="val 2717"/>
            </a:avLst>
          </a:prstGeom>
          <a:solidFill>
            <a:srgbClr val="FFFFFF"/>
          </a:solidFill>
          <a:ln w="7620">
            <a:solidFill>
              <a:srgbClr val="D8E1EB"/>
            </a:solidFill>
            <a:prstDash val="solid"/>
          </a:ln>
        </p:spPr>
      </p:sp>
      <p:sp>
        <p:nvSpPr>
          <p:cNvPr id="19" name="Shape 17"/>
          <p:cNvSpPr/>
          <p:nvPr/>
        </p:nvSpPr>
        <p:spPr>
          <a:xfrm>
            <a:off x="4508387" y="2400300"/>
            <a:ext cx="304792" cy="38100"/>
          </a:xfrm>
          <a:prstGeom prst="rect">
            <a:avLst/>
          </a:prstGeom>
          <a:solidFill>
            <a:srgbClr val="13315C"/>
          </a:solidFill>
          <a:ln w="12700">
            <a:solidFill>
              <a:srgbClr val="13315C">
                <a:alpha val="0"/>
              </a:srgbClr>
            </a:solidFill>
            <a:prstDash val="solid"/>
          </a:ln>
        </p:spPr>
      </p:sp>
      <p:sp>
        <p:nvSpPr>
          <p:cNvPr id="20" name="Text 18"/>
          <p:cNvSpPr txBox="1"/>
          <p:nvPr/>
        </p:nvSpPr>
        <p:spPr>
          <a:xfrm>
            <a:off x="4546486"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13315C"/>
                </a:solidFill>
                <a:latin typeface="Arial" pitchFamily="34" charset="0"/>
                <a:ea typeface="Arial" pitchFamily="34" charset="-122"/>
                <a:cs typeface="Arial" pitchFamily="34" charset="-120"/>
              </a:rPr>
              <a:t>Công nghệ</a:t>
            </a:r>
            <a:endParaRPr lang="en-US" sz="2000" dirty="0"/>
          </a:p>
        </p:txBody>
      </p:sp>
      <p:sp>
        <p:nvSpPr>
          <p:cNvPr id="21" name="Text 19"/>
          <p:cNvSpPr txBox="1"/>
          <p:nvPr/>
        </p:nvSpPr>
        <p:spPr>
          <a:xfrm>
            <a:off x="4546486"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HTML, CSS, JavaScript;</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thư viện cục bộ.</a:t>
            </a:r>
            <a:endParaRPr lang="en-US" sz="1800" dirty="0"/>
          </a:p>
        </p:txBody>
      </p:sp>
      <p:sp>
        <p:nvSpPr>
          <p:cNvPr id="22" name="Shape 20"/>
          <p:cNvSpPr/>
          <p:nvPr/>
        </p:nvSpPr>
        <p:spPr>
          <a:xfrm>
            <a:off x="8064298" y="2209800"/>
            <a:ext cx="3517812" cy="3505200"/>
          </a:xfrm>
          <a:prstGeom prst="roundRect">
            <a:avLst>
              <a:gd name="adj" fmla="val 2717"/>
            </a:avLst>
          </a:prstGeom>
          <a:solidFill>
            <a:srgbClr val="FFFFFF"/>
          </a:solidFill>
          <a:ln w="7620">
            <a:solidFill>
              <a:srgbClr val="D8E1EB"/>
            </a:solidFill>
            <a:prstDash val="solid"/>
          </a:ln>
        </p:spPr>
      </p:sp>
      <p:sp>
        <p:nvSpPr>
          <p:cNvPr id="23" name="Shape 21"/>
          <p:cNvSpPr/>
          <p:nvPr/>
        </p:nvSpPr>
        <p:spPr>
          <a:xfrm>
            <a:off x="8235744" y="2400300"/>
            <a:ext cx="304792" cy="38100"/>
          </a:xfrm>
          <a:prstGeom prst="rect">
            <a:avLst/>
          </a:prstGeom>
          <a:solidFill>
            <a:srgbClr val="2E7D32"/>
          </a:solidFill>
          <a:ln w="12700">
            <a:solidFill>
              <a:srgbClr val="2E7D32">
                <a:alpha val="0"/>
              </a:srgbClr>
            </a:solidFill>
            <a:prstDash val="solid"/>
          </a:ln>
        </p:spPr>
      </p:sp>
      <p:sp>
        <p:nvSpPr>
          <p:cNvPr id="24" name="Text 22"/>
          <p:cNvSpPr txBox="1"/>
          <p:nvPr/>
        </p:nvSpPr>
        <p:spPr>
          <a:xfrm>
            <a:off x="8273843"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2E7D32"/>
                </a:solidFill>
                <a:latin typeface="Arial" pitchFamily="34" charset="0"/>
                <a:ea typeface="Arial" pitchFamily="34" charset="-122"/>
                <a:cs typeface="Arial" pitchFamily="34" charset="-120"/>
              </a:rPr>
              <a:t>Nguồn chuẩn</a:t>
            </a:r>
            <a:endParaRPr lang="en-US" sz="2000" dirty="0"/>
          </a:p>
        </p:txBody>
      </p:sp>
      <p:sp>
        <p:nvSpPr>
          <p:cNvPr id="25" name="Text 23"/>
          <p:cNvSpPr txBox="1"/>
          <p:nvPr/>
        </p:nvSpPr>
        <p:spPr>
          <a:xfrm>
            <a:off x="8273843"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DOCX và dữ liệu curated bổ</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trợ.</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TỔNG QUAN</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Phạm vi: giáo trình, không phải LMS</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Ranh giới rõ để tránh kỳ vọng sai về tài khoản, sổ điểm và đồng bộ.</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Gói ZIP không phải LMS; dữ liệu tự học cục bộ không phải sổ điểm chính thức.</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10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3585793" cy="38100"/>
          </a:xfrm>
          <a:prstGeom prst="rect">
            <a:avLst/>
          </a:prstGeom>
          <a:solidFill>
            <a:srgbClr val="F77F00"/>
          </a:solidFill>
          <a:ln w="12700">
            <a:solidFill>
              <a:srgbClr val="F77F00">
                <a:alpha val="0"/>
              </a:srgbClr>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5314817"/>
                <a:gridCol w="5657709"/>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Trong phạm vi hiện vật</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Ngoài phạm vi hiện tại</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Đọc học liệu và tìm kiếm cục bộ</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Backend, tài khoản, cloud sync</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Quiz, tiến độ, ghi chú cá nhân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Sổ điểm có danh tính trên máy chủ</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25 vị trí Sim2; 10 bản Sim3</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3D cho toàn bộ vị trí</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Trình đọc PDF nội tuyến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PDF search và annotation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Pipeline QA và academic ledger</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Nghiệm thu học thuật mặc định</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QTI/Cartridge thử nghiệm</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SCORM, xAPI/cmi5 hoàn chỉnh</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TỔNG QUAN</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Kiến trúc năm lớp</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Phân tách giao diện, tải bài, runtime, nội dung và dữ liệu.</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Phân lớp giúp xác định nơi sửa và nơi kiểm; không đảm bảo thay engine không có tác động.</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11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3944372" cy="38100"/>
          </a:xfrm>
          <a:prstGeom prst="rect">
            <a:avLst/>
          </a:prstGeom>
          <a:solidFill>
            <a:srgbClr val="F77F00"/>
          </a:solidFill>
          <a:ln w="12700">
            <a:solidFill>
              <a:srgbClr val="F77F00">
                <a:alpha val="0"/>
              </a:srgbClr>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1859750"/>
                <a:gridCol w="4463400"/>
                <a:gridCol w="4649375"/>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Lớp</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Thành phần</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Trách nhiệm</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Shell</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index.html, css/, app.js</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UI, theme, điều hướng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Loader</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loader.js, pages.js</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Route, fragment, mount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Runtime</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Sim2, Sim3, PDF, quiz</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Tương tác và vòng đời</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Content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chapters/, images/, GIF</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Học liệu và hình minh họa</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Data</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data/ và hồ sơ evidence</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Schema, truy vết, review</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KIẾN TRÚC VÀ TÍNH NĂNG</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Offline-first: cơ chế và phép chứng minh</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Tài nguyên đóng gói cục bộ; kết luận phải gắn với máy và gói đã thử.</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Ngoại tuyến là đặc tính thiết kế; 100% tính năng cần bộ bằng chứng đầy đủ.</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12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4302951"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3517812" cy="3505200"/>
          </a:xfrm>
          <a:prstGeom prst="roundRect">
            <a:avLst>
              <a:gd name="adj" fmla="val 2717"/>
            </a:avLst>
          </a:prstGeom>
          <a:solidFill>
            <a:srgbClr val="FFFFFF"/>
          </a:solidFill>
          <a:ln w="7620">
            <a:solidFill>
              <a:srgbClr val="D8E1EB"/>
            </a:solidFill>
            <a:prstDash val="solid"/>
          </a:ln>
        </p:spPr>
      </p:sp>
      <p:sp>
        <p:nvSpPr>
          <p:cNvPr id="15" name="Shape 13"/>
          <p:cNvSpPr/>
          <p:nvPr/>
        </p:nvSpPr>
        <p:spPr>
          <a:xfrm>
            <a:off x="781030" y="2400300"/>
            <a:ext cx="304792" cy="38100"/>
          </a:xfrm>
          <a:prstGeom prst="rect">
            <a:avLst/>
          </a:prstGeom>
          <a:solidFill>
            <a:srgbClr val="F77F00"/>
          </a:solidFill>
          <a:ln w="12700">
            <a:solidFill>
              <a:srgbClr val="F77F00">
                <a:alpha val="0"/>
              </a:srgbClr>
            </a:solidFill>
            <a:prstDash val="solid"/>
          </a:ln>
        </p:spPr>
      </p:sp>
      <p:sp>
        <p:nvSpPr>
          <p:cNvPr id="16" name="Text 14"/>
          <p:cNvSpPr txBox="1"/>
          <p:nvPr/>
        </p:nvSpPr>
        <p:spPr>
          <a:xfrm>
            <a:off x="819130"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Không backend</a:t>
            </a:r>
            <a:endParaRPr lang="en-US" sz="2000" dirty="0"/>
          </a:p>
        </p:txBody>
      </p:sp>
      <p:sp>
        <p:nvSpPr>
          <p:cNvPr id="17" name="Text 15"/>
          <p:cNvSpPr txBox="1"/>
          <p:nvPr/>
        </p:nvSpPr>
        <p:spPr>
          <a:xfrm>
            <a:off x="819130"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Đọc gói tĩnh từ index.html.</a:t>
            </a:r>
            <a:endParaRPr lang="en-US" sz="1800" dirty="0"/>
          </a:p>
        </p:txBody>
      </p:sp>
      <p:sp>
        <p:nvSpPr>
          <p:cNvPr id="18" name="Shape 16"/>
          <p:cNvSpPr/>
          <p:nvPr/>
        </p:nvSpPr>
        <p:spPr>
          <a:xfrm>
            <a:off x="4336942" y="2209800"/>
            <a:ext cx="3517812" cy="3505200"/>
          </a:xfrm>
          <a:prstGeom prst="roundRect">
            <a:avLst>
              <a:gd name="adj" fmla="val 2717"/>
            </a:avLst>
          </a:prstGeom>
          <a:solidFill>
            <a:srgbClr val="FFFFFF"/>
          </a:solidFill>
          <a:ln w="7620">
            <a:solidFill>
              <a:srgbClr val="D8E1EB"/>
            </a:solidFill>
            <a:prstDash val="solid"/>
          </a:ln>
        </p:spPr>
      </p:sp>
      <p:sp>
        <p:nvSpPr>
          <p:cNvPr id="19" name="Shape 17"/>
          <p:cNvSpPr/>
          <p:nvPr/>
        </p:nvSpPr>
        <p:spPr>
          <a:xfrm>
            <a:off x="4508387" y="2400300"/>
            <a:ext cx="304792" cy="38100"/>
          </a:xfrm>
          <a:prstGeom prst="rect">
            <a:avLst/>
          </a:prstGeom>
          <a:solidFill>
            <a:srgbClr val="13315C"/>
          </a:solidFill>
          <a:ln w="12700">
            <a:solidFill>
              <a:srgbClr val="13315C">
                <a:alpha val="0"/>
              </a:srgbClr>
            </a:solidFill>
            <a:prstDash val="solid"/>
          </a:ln>
        </p:spPr>
      </p:sp>
      <p:sp>
        <p:nvSpPr>
          <p:cNvPr id="20" name="Text 18"/>
          <p:cNvSpPr txBox="1"/>
          <p:nvPr/>
        </p:nvSpPr>
        <p:spPr>
          <a:xfrm>
            <a:off x="4546486"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13315C"/>
                </a:solidFill>
                <a:latin typeface="Arial" pitchFamily="34" charset="0"/>
                <a:ea typeface="Arial" pitchFamily="34" charset="-122"/>
                <a:cs typeface="Arial" pitchFamily="34" charset="-120"/>
              </a:rPr>
              <a:t>Không CDN bắt buộc</a:t>
            </a:r>
            <a:endParaRPr lang="en-US" sz="2000" dirty="0"/>
          </a:p>
        </p:txBody>
      </p:sp>
      <p:sp>
        <p:nvSpPr>
          <p:cNvPr id="21" name="Text 19"/>
          <p:cNvSpPr txBox="1"/>
          <p:nvPr/>
        </p:nvSpPr>
        <p:spPr>
          <a:xfrm>
            <a:off x="4546486"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Thư viện có trong lib/.</a:t>
            </a:r>
            <a:endParaRPr lang="en-US" sz="1800" dirty="0"/>
          </a:p>
        </p:txBody>
      </p:sp>
      <p:sp>
        <p:nvSpPr>
          <p:cNvPr id="22" name="Shape 20"/>
          <p:cNvSpPr/>
          <p:nvPr/>
        </p:nvSpPr>
        <p:spPr>
          <a:xfrm>
            <a:off x="8064298" y="2209800"/>
            <a:ext cx="3517812" cy="3505200"/>
          </a:xfrm>
          <a:prstGeom prst="roundRect">
            <a:avLst>
              <a:gd name="adj" fmla="val 2717"/>
            </a:avLst>
          </a:prstGeom>
          <a:solidFill>
            <a:srgbClr val="FFFFFF"/>
          </a:solidFill>
          <a:ln w="7620">
            <a:solidFill>
              <a:srgbClr val="D8E1EB"/>
            </a:solidFill>
            <a:prstDash val="solid"/>
          </a:ln>
        </p:spPr>
      </p:sp>
      <p:sp>
        <p:nvSpPr>
          <p:cNvPr id="23" name="Shape 21"/>
          <p:cNvSpPr/>
          <p:nvPr/>
        </p:nvSpPr>
        <p:spPr>
          <a:xfrm>
            <a:off x="8235744" y="2400300"/>
            <a:ext cx="304792" cy="38100"/>
          </a:xfrm>
          <a:prstGeom prst="rect">
            <a:avLst/>
          </a:prstGeom>
          <a:solidFill>
            <a:srgbClr val="C62828"/>
          </a:solidFill>
          <a:ln w="12700">
            <a:solidFill>
              <a:srgbClr val="C62828">
                <a:alpha val="0"/>
              </a:srgbClr>
            </a:solidFill>
            <a:prstDash val="solid"/>
          </a:ln>
        </p:spPr>
      </p:sp>
      <p:sp>
        <p:nvSpPr>
          <p:cNvPr id="24" name="Text 22"/>
          <p:cNvSpPr txBox="1"/>
          <p:nvPr/>
        </p:nvSpPr>
        <p:spPr>
          <a:xfrm>
            <a:off x="8273843"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C62828"/>
                </a:solidFill>
                <a:latin typeface="Arial" pitchFamily="34" charset="0"/>
                <a:ea typeface="Arial" pitchFamily="34" charset="-122"/>
                <a:cs typeface="Arial" pitchFamily="34" charset="-120"/>
              </a:rPr>
              <a:t>Cần kiểm máy đích</a:t>
            </a:r>
            <a:endParaRPr lang="en-US" sz="2000" dirty="0"/>
          </a:p>
        </p:txBody>
      </p:sp>
      <p:sp>
        <p:nvSpPr>
          <p:cNvPr id="25" name="Text 23"/>
          <p:cNvSpPr txBox="1"/>
          <p:nvPr/>
        </p:nvSpPr>
        <p:spPr>
          <a:xfrm>
            <a:off x="8273843"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file://, USB, HTTP và</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fallback.</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KIẾN TRÚC VÀ TÍNH NĂNG</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Sim2 và Sim3: chiến lược hai tầng</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10 bản 3D tăng cường trải nghiệm trên những vị trí 2D đã có.</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Không cộng 25 + 10 thành 35 bài; bước thời gian 1/60 s không phải đo FPS.</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13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4661531" cy="38100"/>
          </a:xfrm>
          <a:prstGeom prst="rect">
            <a:avLst/>
          </a:prstGeom>
          <a:solidFill>
            <a:srgbClr val="F77F00"/>
          </a:solidFill>
          <a:ln w="12700">
            <a:solidFill>
              <a:srgbClr val="F77F00">
                <a:alpha val="0"/>
              </a:srgbClr>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3990009"/>
                <a:gridCol w="3790509"/>
                <a:gridCol w="3192007"/>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Tiêu chí</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Sim2</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Sim3</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Phạm vi</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25 vị trí cơ sở</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10 bản bổ sung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Công nghệ</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SVG-first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Three.js / WebGL</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Vai trò</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Canonical</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Pilot tùy chọn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Đồ họa GPU</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Không đòi hỏi WebGL</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Cần WebGL</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Khi lỗi 3D</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Giữ lớp 2D</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Fallback về Sim2</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Trạng thái nguồn mới</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Cần revalidation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Cần revalidation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KIẾN TRÚC VÀ TÍNH NĂNG</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Sáu tính năng học tập tương tác</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Hỗ trợ tự học; không đồng nhất với quản lý đào tạo có danh tính.</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Dữ liệu thuộc trình duyệt; phải giải thích rủi ro mất hoặc không chuyển theo USB.</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14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5020110" cy="38100"/>
          </a:xfrm>
          <a:prstGeom prst="rect">
            <a:avLst/>
          </a:prstGeom>
          <a:solidFill>
            <a:srgbClr val="F77F00"/>
          </a:solidFill>
          <a:ln w="12700">
            <a:solidFill>
              <a:srgbClr val="F77F00">
                <a:alpha val="0"/>
              </a:srgbClr>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2239291"/>
                <a:gridCol w="8733235"/>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Tính năng</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Cơ chế hoặc dữ liệu</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Tìm kiếm</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Chỉ mục cục bộ; có dấu/không dấu</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Quiz</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Phạm vi chương, ngẫu nhiên, lưu attempt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Tiến độ</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Theo dõi đọc trong localStorage</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Bookmark</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Đánh dấu bài trên trình duyệt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Ghi chú</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Dữ liệu cá nhân cục bộ</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Thuật ngữ</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Tooltip và nội dung tra cứu</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KIẾN TRÚC VÀ TÍNH NĂNG</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PDF nội tuyến: giữ ngữ cảnh học</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Dialog chuyên dụng thay vì chuyển người học ra khỏi bài.</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Mở PDF cần kiểm cả hiển thị lẫn trạng thái khi đóng dialog.</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15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5378689"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7257869" cy="3505200"/>
          </a:xfrm>
          <a:prstGeom prst="roundRect">
            <a:avLst>
              <a:gd name="adj" fmla="val 2717"/>
            </a:avLst>
          </a:prstGeom>
          <a:solidFill>
            <a:srgbClr val="FFFFFF"/>
          </a:solidFill>
          <a:ln w="7620">
            <a:solidFill>
              <a:srgbClr val="D8E1EB"/>
            </a:solidFill>
            <a:prstDash val="solid"/>
          </a:ln>
        </p:spPr>
      </p:sp>
      <p:pic>
        <p:nvPicPr>
          <p:cNvPr id="15" name="Image 0" descr="Ảnh giao diện lịch sử — không xác nhận trạng thái QA hiện tại.">    </p:cNvPr>
          <p:cNvPicPr>
            <a:picLocks noChangeAspect="1"/>
          </p:cNvPicPr>
          <p:nvPr/>
        </p:nvPicPr>
        <p:blipFill>
          <a:blip r:embed="rId1"/>
          <a:stretch>
            <a:fillRect/>
          </a:stretch>
        </p:blipFill>
        <p:spPr>
          <a:xfrm>
            <a:off x="2208285" y="2324100"/>
            <a:ext cx="4060469" cy="2819400"/>
          </a:xfrm>
          <a:prstGeom prst="rect">
            <a:avLst/>
          </a:prstGeom>
        </p:spPr>
      </p:pic>
      <p:sp>
        <p:nvSpPr>
          <p:cNvPr id="16" name="Text 13"/>
          <p:cNvSpPr txBox="1"/>
          <p:nvPr/>
        </p:nvSpPr>
        <p:spPr>
          <a:xfrm>
            <a:off x="781030" y="5238750"/>
            <a:ext cx="6914977" cy="400050"/>
          </a:xfrm>
          <a:prstGeom prst="rect">
            <a:avLst/>
          </a:prstGeom>
          <a:noFill/>
          <a:ln/>
        </p:spPr>
        <p:txBody>
          <a:bodyPr wrap="square" lIns="0" tIns="0" rIns="0" bIns="0" rtlCol="0" anchor="ctr"/>
          <a:lstStyle/>
          <a:p>
            <a:pPr algn="ctr" indent="0" marL="0">
              <a:lnSpc>
                <a:spcPct val="114000"/>
              </a:lnSpc>
              <a:buNone/>
            </a:pPr>
            <a:r>
              <a:rPr lang="en-US" sz="1200" dirty="0">
                <a:solidFill>
                  <a:srgbClr val="586B81"/>
                </a:solidFill>
                <a:latin typeface="Arial" pitchFamily="34" charset="0"/>
                <a:ea typeface="Arial" pitchFamily="34" charset="-122"/>
                <a:cs typeface="Arial" pitchFamily="34" charset="-120"/>
              </a:rPr>
              <a:t>Ảnh giao diện lịch sử — không xác nhận trạng thái QA hiện tại.</a:t>
            </a:r>
            <a:endParaRPr lang="en-US" sz="1200" dirty="0"/>
          </a:p>
        </p:txBody>
      </p:sp>
      <p:sp>
        <p:nvSpPr>
          <p:cNvPr id="17" name="Shape 14"/>
          <p:cNvSpPr/>
          <p:nvPr/>
        </p:nvSpPr>
        <p:spPr>
          <a:xfrm>
            <a:off x="8076998" y="2209800"/>
            <a:ext cx="3505112" cy="1092200"/>
          </a:xfrm>
          <a:prstGeom prst="roundRect">
            <a:avLst>
              <a:gd name="adj" fmla="val 8721"/>
            </a:avLst>
          </a:prstGeom>
          <a:solidFill>
            <a:srgbClr val="FFFFFF"/>
          </a:solidFill>
          <a:ln w="7620">
            <a:solidFill>
              <a:srgbClr val="D8E1EB"/>
            </a:solidFill>
            <a:prstDash val="solid"/>
          </a:ln>
        </p:spPr>
      </p:sp>
      <p:sp>
        <p:nvSpPr>
          <p:cNvPr id="18" name="Shape 15"/>
          <p:cNvSpPr/>
          <p:nvPr/>
        </p:nvSpPr>
        <p:spPr>
          <a:xfrm>
            <a:off x="8076998" y="2209800"/>
            <a:ext cx="38099" cy="1092200"/>
          </a:xfrm>
          <a:prstGeom prst="rect">
            <a:avLst/>
          </a:prstGeom>
          <a:solidFill>
            <a:srgbClr val="F77F00"/>
          </a:solidFill>
          <a:ln w="12700">
            <a:solidFill>
              <a:srgbClr val="F77F00">
                <a:alpha val="0"/>
              </a:srgbClr>
            </a:solidFill>
            <a:prstDash val="solid"/>
          </a:ln>
        </p:spPr>
      </p:sp>
      <p:sp>
        <p:nvSpPr>
          <p:cNvPr id="19" name="Text 16"/>
          <p:cNvSpPr txBox="1"/>
          <p:nvPr/>
        </p:nvSpPr>
        <p:spPr>
          <a:xfrm>
            <a:off x="8277018" y="2314575"/>
            <a:ext cx="3105072" cy="304800"/>
          </a:xfrm>
          <a:prstGeom prst="rect">
            <a:avLst/>
          </a:prstGeom>
          <a:noFill/>
          <a:ln/>
        </p:spPr>
        <p:txBody>
          <a:bodyPr wrap="square" lIns="0" tIns="0" rIns="0" bIns="0" rtlCol="0" anchor="t"/>
          <a:lstStyle/>
          <a:p>
            <a:pPr algn="l" indent="0" marL="0">
              <a:lnSpc>
                <a:spcPct val="114000"/>
              </a:lnSpc>
              <a:buNone/>
            </a:pPr>
            <a:r>
              <a:rPr lang="en-US" sz="1800" b="1" dirty="0">
                <a:solidFill>
                  <a:srgbClr val="F77F00"/>
                </a:solidFill>
                <a:latin typeface="Arial" pitchFamily="34" charset="0"/>
                <a:ea typeface="Arial" pitchFamily="34" charset="-122"/>
                <a:cs typeface="Arial" pitchFamily="34" charset="-120"/>
              </a:rPr>
              <a:t>Ngữ cảnh</a:t>
            </a:r>
            <a:endParaRPr lang="en-US" sz="1800" dirty="0"/>
          </a:p>
        </p:txBody>
      </p:sp>
      <p:sp>
        <p:nvSpPr>
          <p:cNvPr id="20" name="Text 17"/>
          <p:cNvSpPr txBox="1"/>
          <p:nvPr/>
        </p:nvSpPr>
        <p:spPr>
          <a:xfrm>
            <a:off x="8277018" y="2657475"/>
            <a:ext cx="3105072" cy="568325"/>
          </a:xfrm>
          <a:prstGeom prst="rect">
            <a:avLst/>
          </a:prstGeom>
          <a:noFill/>
          <a:ln/>
        </p:spPr>
        <p:txBody>
          <a:bodyPr wrap="square" lIns="0" tIns="0" rIns="0" bIns="0" rtlCol="0" anchor="t"/>
          <a:lstStyle/>
          <a:p>
            <a:pPr algn="l" indent="0" marL="0">
              <a:lnSpc>
                <a:spcPct val="114000"/>
              </a:lnSpc>
              <a:buNone/>
            </a:pPr>
            <a:r>
              <a:rPr lang="en-US" sz="1600" dirty="0">
                <a:solidFill>
                  <a:srgbClr val="24364A"/>
                </a:solidFill>
                <a:latin typeface="Arial" pitchFamily="34" charset="0"/>
                <a:ea typeface="Arial" pitchFamily="34" charset="-122"/>
                <a:cs typeface="Arial" pitchFamily="34" charset="-120"/>
              </a:rPr>
              <a:t>Thiết kế giữ route và bài học.</a:t>
            </a:r>
            <a:endParaRPr lang="en-US" sz="1600" dirty="0"/>
          </a:p>
        </p:txBody>
      </p:sp>
      <p:sp>
        <p:nvSpPr>
          <p:cNvPr id="21" name="Shape 18"/>
          <p:cNvSpPr/>
          <p:nvPr/>
        </p:nvSpPr>
        <p:spPr>
          <a:xfrm>
            <a:off x="8076998" y="3416300"/>
            <a:ext cx="3505112" cy="1092200"/>
          </a:xfrm>
          <a:prstGeom prst="roundRect">
            <a:avLst>
              <a:gd name="adj" fmla="val 8721"/>
            </a:avLst>
          </a:prstGeom>
          <a:solidFill>
            <a:srgbClr val="FFFFFF"/>
          </a:solidFill>
          <a:ln w="7620">
            <a:solidFill>
              <a:srgbClr val="D8E1EB"/>
            </a:solidFill>
            <a:prstDash val="solid"/>
          </a:ln>
        </p:spPr>
      </p:sp>
      <p:sp>
        <p:nvSpPr>
          <p:cNvPr id="22" name="Shape 19"/>
          <p:cNvSpPr/>
          <p:nvPr/>
        </p:nvSpPr>
        <p:spPr>
          <a:xfrm>
            <a:off x="8076998" y="3416300"/>
            <a:ext cx="38099" cy="1092200"/>
          </a:xfrm>
          <a:prstGeom prst="rect">
            <a:avLst/>
          </a:prstGeom>
          <a:solidFill>
            <a:srgbClr val="13315C"/>
          </a:solidFill>
          <a:ln w="12700">
            <a:solidFill>
              <a:srgbClr val="13315C">
                <a:alpha val="0"/>
              </a:srgbClr>
            </a:solidFill>
            <a:prstDash val="solid"/>
          </a:ln>
        </p:spPr>
      </p:sp>
      <p:sp>
        <p:nvSpPr>
          <p:cNvPr id="23" name="Text 20"/>
          <p:cNvSpPr txBox="1"/>
          <p:nvPr/>
        </p:nvSpPr>
        <p:spPr>
          <a:xfrm>
            <a:off x="8277018" y="3521075"/>
            <a:ext cx="3105072" cy="304800"/>
          </a:xfrm>
          <a:prstGeom prst="rect">
            <a:avLst/>
          </a:prstGeom>
          <a:noFill/>
          <a:ln/>
        </p:spPr>
        <p:txBody>
          <a:bodyPr wrap="square" lIns="0" tIns="0" rIns="0" bIns="0" rtlCol="0" anchor="t"/>
          <a:lstStyle/>
          <a:p>
            <a:pPr algn="l" indent="0" marL="0">
              <a:lnSpc>
                <a:spcPct val="114000"/>
              </a:lnSpc>
              <a:buNone/>
            </a:pPr>
            <a:r>
              <a:rPr lang="en-US" sz="1800" b="1" dirty="0">
                <a:solidFill>
                  <a:srgbClr val="13315C"/>
                </a:solidFill>
                <a:latin typeface="Arial" pitchFamily="34" charset="0"/>
                <a:ea typeface="Arial" pitchFamily="34" charset="-122"/>
                <a:cs typeface="Arial" pitchFamily="34" charset="-120"/>
              </a:rPr>
              <a:t>Thao tác</a:t>
            </a:r>
            <a:endParaRPr lang="en-US" sz="1800" dirty="0"/>
          </a:p>
        </p:txBody>
      </p:sp>
      <p:sp>
        <p:nvSpPr>
          <p:cNvPr id="24" name="Text 21"/>
          <p:cNvSpPr txBox="1"/>
          <p:nvPr/>
        </p:nvSpPr>
        <p:spPr>
          <a:xfrm>
            <a:off x="8277018" y="3863975"/>
            <a:ext cx="3105072" cy="568325"/>
          </a:xfrm>
          <a:prstGeom prst="rect">
            <a:avLst/>
          </a:prstGeom>
          <a:noFill/>
          <a:ln/>
        </p:spPr>
        <p:txBody>
          <a:bodyPr wrap="square" lIns="0" tIns="0" rIns="0" bIns="0" rtlCol="0" anchor="t"/>
          <a:lstStyle/>
          <a:p>
            <a:pPr algn="l" indent="0" marL="0">
              <a:lnSpc>
                <a:spcPct val="114000"/>
              </a:lnSpc>
              <a:buNone/>
            </a:pPr>
            <a:r>
              <a:rPr lang="en-US" sz="1600" dirty="0">
                <a:solidFill>
                  <a:srgbClr val="24364A"/>
                </a:solidFill>
                <a:latin typeface="Arial" pitchFamily="34" charset="0"/>
                <a:ea typeface="Arial" pitchFamily="34" charset="-122"/>
                <a:cs typeface="Arial" pitchFamily="34" charset="-120"/>
              </a:rPr>
              <a:t>Trang, zoom, tải, Escape/Back.</a:t>
            </a:r>
            <a:endParaRPr lang="en-US" sz="1600" dirty="0"/>
          </a:p>
        </p:txBody>
      </p:sp>
      <p:sp>
        <p:nvSpPr>
          <p:cNvPr id="25" name="Shape 22"/>
          <p:cNvSpPr/>
          <p:nvPr/>
        </p:nvSpPr>
        <p:spPr>
          <a:xfrm>
            <a:off x="8076998" y="4622800"/>
            <a:ext cx="3505112" cy="1092200"/>
          </a:xfrm>
          <a:prstGeom prst="roundRect">
            <a:avLst>
              <a:gd name="adj" fmla="val 8721"/>
            </a:avLst>
          </a:prstGeom>
          <a:solidFill>
            <a:srgbClr val="FFFFFF"/>
          </a:solidFill>
          <a:ln w="7620">
            <a:solidFill>
              <a:srgbClr val="D8E1EB"/>
            </a:solidFill>
            <a:prstDash val="solid"/>
          </a:ln>
        </p:spPr>
      </p:sp>
      <p:sp>
        <p:nvSpPr>
          <p:cNvPr id="26" name="Shape 23"/>
          <p:cNvSpPr/>
          <p:nvPr/>
        </p:nvSpPr>
        <p:spPr>
          <a:xfrm>
            <a:off x="8076998" y="4622800"/>
            <a:ext cx="38099" cy="1092200"/>
          </a:xfrm>
          <a:prstGeom prst="rect">
            <a:avLst/>
          </a:prstGeom>
          <a:solidFill>
            <a:srgbClr val="C62828"/>
          </a:solidFill>
          <a:ln w="12700">
            <a:solidFill>
              <a:srgbClr val="C62828">
                <a:alpha val="0"/>
              </a:srgbClr>
            </a:solidFill>
            <a:prstDash val="solid"/>
          </a:ln>
        </p:spPr>
      </p:sp>
      <p:sp>
        <p:nvSpPr>
          <p:cNvPr id="27" name="Text 24"/>
          <p:cNvSpPr txBox="1"/>
          <p:nvPr/>
        </p:nvSpPr>
        <p:spPr>
          <a:xfrm>
            <a:off x="8277018" y="4727575"/>
            <a:ext cx="3105072" cy="304800"/>
          </a:xfrm>
          <a:prstGeom prst="rect">
            <a:avLst/>
          </a:prstGeom>
          <a:noFill/>
          <a:ln/>
        </p:spPr>
        <p:txBody>
          <a:bodyPr wrap="square" lIns="0" tIns="0" rIns="0" bIns="0" rtlCol="0" anchor="t"/>
          <a:lstStyle/>
          <a:p>
            <a:pPr algn="l" indent="0" marL="0">
              <a:lnSpc>
                <a:spcPct val="114000"/>
              </a:lnSpc>
              <a:buNone/>
            </a:pPr>
            <a:r>
              <a:rPr lang="en-US" sz="1800" b="1" dirty="0">
                <a:solidFill>
                  <a:srgbClr val="C62828"/>
                </a:solidFill>
                <a:latin typeface="Arial" pitchFamily="34" charset="0"/>
                <a:ea typeface="Arial" pitchFamily="34" charset="-122"/>
                <a:cs typeface="Arial" pitchFamily="34" charset="-120"/>
              </a:rPr>
              <a:t>Giới hạn</a:t>
            </a:r>
            <a:endParaRPr lang="en-US" sz="1800" dirty="0"/>
          </a:p>
        </p:txBody>
      </p:sp>
      <p:sp>
        <p:nvSpPr>
          <p:cNvPr id="28" name="Text 25"/>
          <p:cNvSpPr txBox="1"/>
          <p:nvPr/>
        </p:nvSpPr>
        <p:spPr>
          <a:xfrm>
            <a:off x="8277018" y="5070475"/>
            <a:ext cx="3105072" cy="568325"/>
          </a:xfrm>
          <a:prstGeom prst="rect">
            <a:avLst/>
          </a:prstGeom>
          <a:noFill/>
          <a:ln/>
        </p:spPr>
        <p:txBody>
          <a:bodyPr wrap="square" lIns="0" tIns="0" rIns="0" bIns="0" rtlCol="0" anchor="t"/>
          <a:lstStyle/>
          <a:p>
            <a:pPr algn="l" indent="0" marL="0">
              <a:lnSpc>
                <a:spcPct val="114000"/>
              </a:lnSpc>
              <a:buNone/>
            </a:pPr>
            <a:r>
              <a:rPr lang="en-US" sz="1600" dirty="0">
                <a:solidFill>
                  <a:srgbClr val="24364A"/>
                </a:solidFill>
                <a:latin typeface="Arial" pitchFamily="34" charset="0"/>
                <a:ea typeface="Arial" pitchFamily="34" charset="-122"/>
                <a:cs typeface="Arial" pitchFamily="34" charset="-120"/>
              </a:rPr>
              <a:t>Chưa search, thumbnail,</a:t>
            </a:r>
            <a:endParaRPr lang="en-US" sz="1600" dirty="0"/>
          </a:p>
          <a:p>
            <a:pPr algn="l" indent="0" marL="0">
              <a:lnSpc>
                <a:spcPct val="114000"/>
              </a:lnSpc>
              <a:buNone/>
            </a:pPr>
            <a:r>
              <a:rPr lang="en-US" sz="1600" dirty="0">
                <a:solidFill>
                  <a:srgbClr val="24364A"/>
                </a:solidFill>
                <a:latin typeface="Arial" pitchFamily="34" charset="0"/>
                <a:ea typeface="Arial" pitchFamily="34" charset="-122"/>
                <a:cs typeface="Arial" pitchFamily="34" charset="-120"/>
              </a:rPr>
              <a:t>annotation.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KIẾN TRÚC VÀ TÍNH NĂNG</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GIF với phương án dự phòng</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Progressive enhancement: ảnh động khi phù hợp, ảnh tĩnh khi cần.</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Có fallback không đồng nghĩa mọi ảnh đã qua kiểm tra phát hành.</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16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5737268"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2571686" cy="3505200"/>
          </a:xfrm>
          <a:prstGeom prst="roundRect">
            <a:avLst>
              <a:gd name="adj" fmla="val 3704"/>
            </a:avLst>
          </a:prstGeom>
          <a:solidFill>
            <a:srgbClr val="FFFFFF"/>
          </a:solidFill>
          <a:ln w="7620">
            <a:solidFill>
              <a:srgbClr val="D8E1EB"/>
            </a:solidFill>
            <a:prstDash val="solid"/>
          </a:ln>
        </p:spPr>
      </p:sp>
      <p:sp>
        <p:nvSpPr>
          <p:cNvPr id="15" name="Shape 13"/>
          <p:cNvSpPr/>
          <p:nvPr/>
        </p:nvSpPr>
        <p:spPr>
          <a:xfrm>
            <a:off x="819130" y="2419350"/>
            <a:ext cx="419090" cy="419100"/>
          </a:xfrm>
          <a:prstGeom prst="ellipse">
            <a:avLst/>
          </a:prstGeom>
          <a:solidFill>
            <a:srgbClr val="0B2545"/>
          </a:solidFill>
          <a:ln w="12700">
            <a:solidFill>
              <a:srgbClr val="0B2545">
                <a:alpha val="0"/>
              </a:srgbClr>
            </a:solidFill>
            <a:prstDash val="solid"/>
          </a:ln>
        </p:spPr>
      </p:sp>
      <p:sp>
        <p:nvSpPr>
          <p:cNvPr id="16" name="Text 14"/>
          <p:cNvSpPr txBox="1"/>
          <p:nvPr/>
        </p:nvSpPr>
        <p:spPr>
          <a:xfrm>
            <a:off x="82865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01</a:t>
            </a:r>
            <a:endParaRPr lang="en-US" sz="1600" dirty="0"/>
          </a:p>
        </p:txBody>
      </p:sp>
      <p:sp>
        <p:nvSpPr>
          <p:cNvPr id="17" name="Text 15"/>
          <p:cNvSpPr txBox="1"/>
          <p:nvPr/>
        </p:nvSpPr>
        <p:spPr>
          <a:xfrm>
            <a:off x="819130"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20 GIF</a:t>
            </a:r>
            <a:endParaRPr lang="en-US" sz="2000" dirty="0"/>
          </a:p>
        </p:txBody>
      </p:sp>
      <p:sp>
        <p:nvSpPr>
          <p:cNvPr id="18" name="Text 16"/>
          <p:cNvSpPr txBox="1"/>
          <p:nvPr/>
        </p:nvSpPr>
        <p:spPr>
          <a:xfrm>
            <a:off x="819130"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Danh mục được</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kiểm soát bởi</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manifest.</a:t>
            </a:r>
            <a:endParaRPr lang="en-US" sz="1800" dirty="0"/>
          </a:p>
        </p:txBody>
      </p:sp>
      <p:sp>
        <p:nvSpPr>
          <p:cNvPr id="19" name="Shape 17"/>
          <p:cNvSpPr/>
          <p:nvPr/>
        </p:nvSpPr>
        <p:spPr>
          <a:xfrm>
            <a:off x="3209845" y="2647950"/>
            <a:ext cx="171446" cy="0"/>
          </a:xfrm>
          <a:prstGeom prst="line">
            <a:avLst/>
          </a:prstGeom>
          <a:noFill/>
          <a:ln w="19050">
            <a:solidFill>
              <a:srgbClr val="F77F00"/>
            </a:solidFill>
            <a:prstDash val="solid"/>
            <a:tailEnd type="triangle"/>
          </a:ln>
        </p:spPr>
      </p:sp>
      <p:sp>
        <p:nvSpPr>
          <p:cNvPr id="20" name="Shape 18"/>
          <p:cNvSpPr/>
          <p:nvPr/>
        </p:nvSpPr>
        <p:spPr>
          <a:xfrm>
            <a:off x="3409865" y="2209800"/>
            <a:ext cx="2571686" cy="3505200"/>
          </a:xfrm>
          <a:prstGeom prst="roundRect">
            <a:avLst>
              <a:gd name="adj" fmla="val 3704"/>
            </a:avLst>
          </a:prstGeom>
          <a:solidFill>
            <a:srgbClr val="FFFFFF"/>
          </a:solidFill>
          <a:ln w="7620">
            <a:solidFill>
              <a:srgbClr val="D8E1EB"/>
            </a:solidFill>
            <a:prstDash val="solid"/>
          </a:ln>
        </p:spPr>
      </p:sp>
      <p:sp>
        <p:nvSpPr>
          <p:cNvPr id="21" name="Shape 19"/>
          <p:cNvSpPr/>
          <p:nvPr/>
        </p:nvSpPr>
        <p:spPr>
          <a:xfrm>
            <a:off x="3619410" y="2419350"/>
            <a:ext cx="419090" cy="419100"/>
          </a:xfrm>
          <a:prstGeom prst="ellipse">
            <a:avLst/>
          </a:prstGeom>
          <a:solidFill>
            <a:srgbClr val="0B2545"/>
          </a:solidFill>
          <a:ln w="12700">
            <a:solidFill>
              <a:srgbClr val="0B2545">
                <a:alpha val="0"/>
              </a:srgbClr>
            </a:solidFill>
            <a:prstDash val="solid"/>
          </a:ln>
        </p:spPr>
      </p:sp>
      <p:sp>
        <p:nvSpPr>
          <p:cNvPr id="22" name="Text 20"/>
          <p:cNvSpPr txBox="1"/>
          <p:nvPr/>
        </p:nvSpPr>
        <p:spPr>
          <a:xfrm>
            <a:off x="362893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02</a:t>
            </a:r>
            <a:endParaRPr lang="en-US" sz="1600" dirty="0"/>
          </a:p>
        </p:txBody>
      </p:sp>
      <p:sp>
        <p:nvSpPr>
          <p:cNvPr id="23" name="Text 21"/>
          <p:cNvSpPr txBox="1"/>
          <p:nvPr/>
        </p:nvSpPr>
        <p:spPr>
          <a:xfrm>
            <a:off x="3619410"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PNG cơ sở</a:t>
            </a:r>
            <a:endParaRPr lang="en-US" sz="2000" dirty="0"/>
          </a:p>
        </p:txBody>
      </p:sp>
      <p:sp>
        <p:nvSpPr>
          <p:cNvPr id="24" name="Text 22"/>
          <p:cNvSpPr txBox="1"/>
          <p:nvPr/>
        </p:nvSpPr>
        <p:spPr>
          <a:xfrm>
            <a:off x="3619410"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Giữ hình tĩnh để đọc</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và đối chiếu.</a:t>
            </a:r>
            <a:endParaRPr lang="en-US" sz="1800" dirty="0"/>
          </a:p>
        </p:txBody>
      </p:sp>
      <p:sp>
        <p:nvSpPr>
          <p:cNvPr id="25" name="Shape 23"/>
          <p:cNvSpPr/>
          <p:nvPr/>
        </p:nvSpPr>
        <p:spPr>
          <a:xfrm>
            <a:off x="6010125" y="2647950"/>
            <a:ext cx="171446" cy="0"/>
          </a:xfrm>
          <a:prstGeom prst="line">
            <a:avLst/>
          </a:prstGeom>
          <a:noFill/>
          <a:ln w="19050">
            <a:solidFill>
              <a:srgbClr val="F77F00"/>
            </a:solidFill>
            <a:prstDash val="solid"/>
            <a:tailEnd type="triangle"/>
          </a:ln>
        </p:spPr>
      </p:sp>
      <p:sp>
        <p:nvSpPr>
          <p:cNvPr id="26" name="Shape 24"/>
          <p:cNvSpPr/>
          <p:nvPr/>
        </p:nvSpPr>
        <p:spPr>
          <a:xfrm>
            <a:off x="6210145" y="2209800"/>
            <a:ext cx="2571686" cy="3505200"/>
          </a:xfrm>
          <a:prstGeom prst="roundRect">
            <a:avLst>
              <a:gd name="adj" fmla="val 3704"/>
            </a:avLst>
          </a:prstGeom>
          <a:solidFill>
            <a:srgbClr val="FFFFFF"/>
          </a:solidFill>
          <a:ln w="7620">
            <a:solidFill>
              <a:srgbClr val="D8E1EB"/>
            </a:solidFill>
            <a:prstDash val="solid"/>
          </a:ln>
        </p:spPr>
      </p:sp>
      <p:sp>
        <p:nvSpPr>
          <p:cNvPr id="27" name="Shape 25"/>
          <p:cNvSpPr/>
          <p:nvPr/>
        </p:nvSpPr>
        <p:spPr>
          <a:xfrm>
            <a:off x="6419690" y="2419350"/>
            <a:ext cx="419090" cy="419100"/>
          </a:xfrm>
          <a:prstGeom prst="ellipse">
            <a:avLst/>
          </a:prstGeom>
          <a:solidFill>
            <a:srgbClr val="0B2545"/>
          </a:solidFill>
          <a:ln w="12700">
            <a:solidFill>
              <a:srgbClr val="0B2545">
                <a:alpha val="0"/>
              </a:srgbClr>
            </a:solidFill>
            <a:prstDash val="solid"/>
          </a:ln>
        </p:spPr>
      </p:sp>
      <p:sp>
        <p:nvSpPr>
          <p:cNvPr id="28" name="Text 26"/>
          <p:cNvSpPr txBox="1"/>
          <p:nvPr/>
        </p:nvSpPr>
        <p:spPr>
          <a:xfrm>
            <a:off x="642921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03</a:t>
            </a:r>
            <a:endParaRPr lang="en-US" sz="1600" dirty="0"/>
          </a:p>
        </p:txBody>
      </p:sp>
      <p:sp>
        <p:nvSpPr>
          <p:cNvPr id="29" name="Text 27"/>
          <p:cNvSpPr txBox="1"/>
          <p:nvPr/>
        </p:nvSpPr>
        <p:spPr>
          <a:xfrm>
            <a:off x="6419690"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Giảm chuyển</a:t>
            </a:r>
            <a:endParaRPr lang="en-US" sz="2000" dirty="0"/>
          </a:p>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động</a:t>
            </a:r>
            <a:endParaRPr lang="en-US" sz="2000" dirty="0"/>
          </a:p>
        </p:txBody>
      </p:sp>
      <p:sp>
        <p:nvSpPr>
          <p:cNvPr id="30" name="Text 28"/>
          <p:cNvSpPr txBox="1"/>
          <p:nvPr/>
        </p:nvSpPr>
        <p:spPr>
          <a:xfrm>
            <a:off x="6419690"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Ưu tiên PNG theo</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lựa chọn hệ điều</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hành.</a:t>
            </a:r>
            <a:endParaRPr lang="en-US" sz="1800" dirty="0"/>
          </a:p>
        </p:txBody>
      </p:sp>
      <p:sp>
        <p:nvSpPr>
          <p:cNvPr id="31" name="Shape 29"/>
          <p:cNvSpPr/>
          <p:nvPr/>
        </p:nvSpPr>
        <p:spPr>
          <a:xfrm>
            <a:off x="8810405" y="2647950"/>
            <a:ext cx="171446" cy="0"/>
          </a:xfrm>
          <a:prstGeom prst="line">
            <a:avLst/>
          </a:prstGeom>
          <a:noFill/>
          <a:ln w="19050">
            <a:solidFill>
              <a:srgbClr val="F77F00"/>
            </a:solidFill>
            <a:prstDash val="solid"/>
            <a:tailEnd type="triangle"/>
          </a:ln>
        </p:spPr>
      </p:sp>
      <p:sp>
        <p:nvSpPr>
          <p:cNvPr id="32" name="Shape 30"/>
          <p:cNvSpPr/>
          <p:nvPr/>
        </p:nvSpPr>
        <p:spPr>
          <a:xfrm>
            <a:off x="9010425" y="2209800"/>
            <a:ext cx="2571686" cy="3505200"/>
          </a:xfrm>
          <a:prstGeom prst="roundRect">
            <a:avLst>
              <a:gd name="adj" fmla="val 3704"/>
            </a:avLst>
          </a:prstGeom>
          <a:solidFill>
            <a:srgbClr val="FFFFFF"/>
          </a:solidFill>
          <a:ln w="7620">
            <a:solidFill>
              <a:srgbClr val="D8E1EB"/>
            </a:solidFill>
            <a:prstDash val="solid"/>
          </a:ln>
        </p:spPr>
      </p:sp>
      <p:sp>
        <p:nvSpPr>
          <p:cNvPr id="33" name="Shape 31"/>
          <p:cNvSpPr/>
          <p:nvPr/>
        </p:nvSpPr>
        <p:spPr>
          <a:xfrm>
            <a:off x="9219969" y="2419350"/>
            <a:ext cx="419090" cy="419100"/>
          </a:xfrm>
          <a:prstGeom prst="ellipse">
            <a:avLst/>
          </a:prstGeom>
          <a:solidFill>
            <a:srgbClr val="0B2545"/>
          </a:solidFill>
          <a:ln w="12700">
            <a:solidFill>
              <a:srgbClr val="0B2545">
                <a:alpha val="0"/>
              </a:srgbClr>
            </a:solidFill>
            <a:prstDash val="solid"/>
          </a:ln>
        </p:spPr>
      </p:sp>
      <p:sp>
        <p:nvSpPr>
          <p:cNvPr id="34" name="Text 32"/>
          <p:cNvSpPr txBox="1"/>
          <p:nvPr/>
        </p:nvSpPr>
        <p:spPr>
          <a:xfrm>
            <a:off x="922949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04</a:t>
            </a:r>
            <a:endParaRPr lang="en-US" sz="1600" dirty="0"/>
          </a:p>
        </p:txBody>
      </p:sp>
      <p:sp>
        <p:nvSpPr>
          <p:cNvPr id="35" name="Text 33"/>
          <p:cNvSpPr txBox="1"/>
          <p:nvPr/>
        </p:nvSpPr>
        <p:spPr>
          <a:xfrm>
            <a:off x="9219969"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Khi GIF lỗi</a:t>
            </a:r>
            <a:endParaRPr lang="en-US" sz="2000" dirty="0"/>
          </a:p>
        </p:txBody>
      </p:sp>
      <p:sp>
        <p:nvSpPr>
          <p:cNvPr id="36" name="Text 34"/>
          <p:cNvSpPr txBox="1"/>
          <p:nvPr/>
        </p:nvSpPr>
        <p:spPr>
          <a:xfrm>
            <a:off x="9219969"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Runtime có đường</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fallback ảnh tĩnh.</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KIẾN TRÚC VÀ TÍNH NĂNG</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Khả năng tiếp cận: nói đúng giới hạn</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Kiểm tự động là một phần; đánh giá thủ công độc lập là phần riêng.</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Có test không phải pass; pass tự động không thay đối chiếu WCAG đầy đủ.</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17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6095848"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3517812" cy="3505200"/>
          </a:xfrm>
          <a:prstGeom prst="roundRect">
            <a:avLst>
              <a:gd name="adj" fmla="val 2717"/>
            </a:avLst>
          </a:prstGeom>
          <a:solidFill>
            <a:srgbClr val="FFFFFF"/>
          </a:solidFill>
          <a:ln w="7620">
            <a:solidFill>
              <a:srgbClr val="D8E1EB"/>
            </a:solidFill>
            <a:prstDash val="solid"/>
          </a:ln>
        </p:spPr>
      </p:sp>
      <p:sp>
        <p:nvSpPr>
          <p:cNvPr id="15" name="Shape 13"/>
          <p:cNvSpPr/>
          <p:nvPr/>
        </p:nvSpPr>
        <p:spPr>
          <a:xfrm>
            <a:off x="781030" y="2400300"/>
            <a:ext cx="304792" cy="38100"/>
          </a:xfrm>
          <a:prstGeom prst="rect">
            <a:avLst/>
          </a:prstGeom>
          <a:solidFill>
            <a:srgbClr val="F77F00"/>
          </a:solidFill>
          <a:ln w="12700">
            <a:solidFill>
              <a:srgbClr val="F77F00">
                <a:alpha val="0"/>
              </a:srgbClr>
            </a:solidFill>
            <a:prstDash val="solid"/>
          </a:ln>
        </p:spPr>
      </p:sp>
      <p:sp>
        <p:nvSpPr>
          <p:cNvPr id="16" name="Text 14"/>
          <p:cNvSpPr txBox="1"/>
          <p:nvPr/>
        </p:nvSpPr>
        <p:spPr>
          <a:xfrm>
            <a:off x="819130"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Đã có cơ chế</a:t>
            </a:r>
            <a:endParaRPr lang="en-US" sz="2000" dirty="0"/>
          </a:p>
        </p:txBody>
      </p:sp>
      <p:sp>
        <p:nvSpPr>
          <p:cNvPr id="17" name="Text 15"/>
          <p:cNvSpPr txBox="1"/>
          <p:nvPr/>
        </p:nvSpPr>
        <p:spPr>
          <a:xfrm>
            <a:off x="819130"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Landmark, focus, bàn phím</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và reduced-motion.</a:t>
            </a:r>
            <a:endParaRPr lang="en-US" sz="1800" dirty="0"/>
          </a:p>
        </p:txBody>
      </p:sp>
      <p:sp>
        <p:nvSpPr>
          <p:cNvPr id="18" name="Shape 16"/>
          <p:cNvSpPr/>
          <p:nvPr/>
        </p:nvSpPr>
        <p:spPr>
          <a:xfrm>
            <a:off x="4336942" y="2209800"/>
            <a:ext cx="3517812" cy="3505200"/>
          </a:xfrm>
          <a:prstGeom prst="roundRect">
            <a:avLst>
              <a:gd name="adj" fmla="val 2717"/>
            </a:avLst>
          </a:prstGeom>
          <a:solidFill>
            <a:srgbClr val="FFFFFF"/>
          </a:solidFill>
          <a:ln w="7620">
            <a:solidFill>
              <a:srgbClr val="D8E1EB"/>
            </a:solidFill>
            <a:prstDash val="solid"/>
          </a:ln>
        </p:spPr>
      </p:sp>
      <p:sp>
        <p:nvSpPr>
          <p:cNvPr id="19" name="Shape 17"/>
          <p:cNvSpPr/>
          <p:nvPr/>
        </p:nvSpPr>
        <p:spPr>
          <a:xfrm>
            <a:off x="4508387" y="2400300"/>
            <a:ext cx="304792" cy="38100"/>
          </a:xfrm>
          <a:prstGeom prst="rect">
            <a:avLst/>
          </a:prstGeom>
          <a:solidFill>
            <a:srgbClr val="13315C"/>
          </a:solidFill>
          <a:ln w="12700">
            <a:solidFill>
              <a:srgbClr val="13315C">
                <a:alpha val="0"/>
              </a:srgbClr>
            </a:solidFill>
            <a:prstDash val="solid"/>
          </a:ln>
        </p:spPr>
      </p:sp>
      <p:sp>
        <p:nvSpPr>
          <p:cNvPr id="20" name="Text 18"/>
          <p:cNvSpPr txBox="1"/>
          <p:nvPr/>
        </p:nvSpPr>
        <p:spPr>
          <a:xfrm>
            <a:off x="4546486"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13315C"/>
                </a:solidFill>
                <a:latin typeface="Arial" pitchFamily="34" charset="0"/>
                <a:ea typeface="Arial" pitchFamily="34" charset="-122"/>
                <a:cs typeface="Arial" pitchFamily="34" charset="-120"/>
              </a:rPr>
              <a:t>Có bộ kiểm</a:t>
            </a:r>
            <a:endParaRPr lang="en-US" sz="2000" dirty="0"/>
          </a:p>
        </p:txBody>
      </p:sp>
      <p:sp>
        <p:nvSpPr>
          <p:cNvPr id="21" name="Text 19"/>
          <p:cNvSpPr txBox="1"/>
          <p:nvPr/>
        </p:nvSpPr>
        <p:spPr>
          <a:xfrm>
            <a:off x="4546486"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axe, tương phản và reflow</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tự động.</a:t>
            </a:r>
            <a:endParaRPr lang="en-US" sz="1800" dirty="0"/>
          </a:p>
        </p:txBody>
      </p:sp>
      <p:sp>
        <p:nvSpPr>
          <p:cNvPr id="22" name="Shape 20"/>
          <p:cNvSpPr/>
          <p:nvPr/>
        </p:nvSpPr>
        <p:spPr>
          <a:xfrm>
            <a:off x="8064298" y="2209800"/>
            <a:ext cx="3517812" cy="3505200"/>
          </a:xfrm>
          <a:prstGeom prst="roundRect">
            <a:avLst>
              <a:gd name="adj" fmla="val 2717"/>
            </a:avLst>
          </a:prstGeom>
          <a:solidFill>
            <a:srgbClr val="FFFFFF"/>
          </a:solidFill>
          <a:ln w="7620">
            <a:solidFill>
              <a:srgbClr val="D8E1EB"/>
            </a:solidFill>
            <a:prstDash val="solid"/>
          </a:ln>
        </p:spPr>
      </p:sp>
      <p:sp>
        <p:nvSpPr>
          <p:cNvPr id="23" name="Shape 21"/>
          <p:cNvSpPr/>
          <p:nvPr/>
        </p:nvSpPr>
        <p:spPr>
          <a:xfrm>
            <a:off x="8235744" y="2400300"/>
            <a:ext cx="304792" cy="38100"/>
          </a:xfrm>
          <a:prstGeom prst="rect">
            <a:avLst/>
          </a:prstGeom>
          <a:solidFill>
            <a:srgbClr val="C62828"/>
          </a:solidFill>
          <a:ln w="12700">
            <a:solidFill>
              <a:srgbClr val="C62828">
                <a:alpha val="0"/>
              </a:srgbClr>
            </a:solidFill>
            <a:prstDash val="solid"/>
          </a:ln>
        </p:spPr>
      </p:sp>
      <p:sp>
        <p:nvSpPr>
          <p:cNvPr id="24" name="Text 22"/>
          <p:cNvSpPr txBox="1"/>
          <p:nvPr/>
        </p:nvSpPr>
        <p:spPr>
          <a:xfrm>
            <a:off x="8273843"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C62828"/>
                </a:solidFill>
                <a:latin typeface="Arial" pitchFamily="34" charset="0"/>
                <a:ea typeface="Arial" pitchFamily="34" charset="-122"/>
                <a:cs typeface="Arial" pitchFamily="34" charset="-120"/>
              </a:rPr>
              <a:t>Chưa đủ kết luận</a:t>
            </a:r>
            <a:endParaRPr lang="en-US" sz="2000" dirty="0"/>
          </a:p>
        </p:txBody>
      </p:sp>
      <p:sp>
        <p:nvSpPr>
          <p:cNvPr id="25" name="Text 23"/>
          <p:cNvSpPr txBox="1"/>
          <p:nvPr/>
        </p:nvSpPr>
        <p:spPr>
          <a:xfrm>
            <a:off x="8273843"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Review độc lập bị chặn;</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không tuyên bố WCAG.</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CHẤT LƯỢNG VÀ BẰNG CHỨNG</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QA: tám nhóm, 24 cổng thực tế</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Khung nhóm để trình bày; không phải bảng tám cổng đã đạt.</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Sổ 2026-09-25: 11 pass / 9 fail / 4 blocked. Soak: yêu cầu ba lần liên tiếp, không tự coi đã hoàn tất.</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18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6454427" cy="38100"/>
          </a:xfrm>
          <a:prstGeom prst="rect">
            <a:avLst/>
          </a:prstGeom>
          <a:solidFill>
            <a:srgbClr val="F77F00"/>
          </a:solidFill>
          <a:ln w="12700">
            <a:solidFill>
              <a:srgbClr val="F77F00">
                <a:alpha val="0"/>
              </a:srgbClr>
            </a:solidFill>
            <a:prstDash val="solid"/>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3448508"/>
                <a:gridCol w="7524018"/>
              </a:tblGrid>
              <a:tr h="428625">
                <a:tc>
                  <a:txBody>
                    <a:bodyPr/>
                    <a:lstStyle/>
                    <a:p>
                      <a:pPr indent="0" marL="0">
                        <a:buNone/>
                      </a:pPr>
                      <a:r>
                        <a:rPr lang="en-US" sz="1600" b="1" dirty="0">
                          <a:solidFill>
                            <a:srgbClr val="FFFFFF"/>
                          </a:solidFill>
                          <a:latin typeface="Arial" pitchFamily="34" charset="0"/>
                          <a:ea typeface="Arial" pitchFamily="34" charset="-122"/>
                          <a:cs typeface="Arial" pitchFamily="34" charset="-120"/>
                        </a:rPr>
                        <a:t>Nhóm</a:t>
                      </a:r>
                      <a:endParaRPr lang="en-US" sz="16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Lệnh hoặc hướng kiểm</a:t>
                      </a:r>
                      <a:endParaRPr lang="en-US" sz="16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Nội dung</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test:content-manifest</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Học thuật</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validate:academic-review</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Mô phỏng</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test:sim:release</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Tiếp cận</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test:accessibility</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Media pilot</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validate:media-pilot</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LMS</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test:lms</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PDF</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test:pdf:release</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384572">
                <a:tc>
                  <a:txBody>
                    <a:bodyPr/>
                    <a:lstStyle/>
                    <a:p>
                      <a:pPr indent="0" marL="0">
                        <a:buNone/>
                      </a:pPr>
                      <a:r>
                        <a:rPr lang="en-US" sz="1600" dirty="0">
                          <a:solidFill>
                            <a:srgbClr val="24364A"/>
                          </a:solidFill>
                          <a:latin typeface="Arial" pitchFamily="34" charset="0"/>
                          <a:ea typeface="Arial" pitchFamily="34" charset="-122"/>
                          <a:cs typeface="Arial" pitchFamily="34" charset="-120"/>
                        </a:rPr>
                        <a:t>Phát hành</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600" dirty="0">
                          <a:solidFill>
                            <a:srgbClr val="24364A"/>
                          </a:solidFill>
                          <a:latin typeface="Arial" pitchFamily="34" charset="0"/>
                          <a:ea typeface="Arial" pitchFamily="34" charset="-122"/>
                          <a:cs typeface="Arial" pitchFamily="34" charset="-120"/>
                        </a:rPr>
                        <a:t>test:release</a:t>
                      </a:r>
                      <a:endParaRPr lang="en-US" sz="16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CHẤT LƯỢNG VÀ BẰNG CHỨNG</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Academic review: chuỗi truy vết</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Yêu cầu → mục tiêu học tập → học liệu → kiểm chứng → ký duyệt.</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Ledger 836.233 byte; 0 bản ký trong sổ — dữ liệu không thay phê duyệt.</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19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6813006"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2571686" cy="3505200"/>
          </a:xfrm>
          <a:prstGeom prst="roundRect">
            <a:avLst>
              <a:gd name="adj" fmla="val 3704"/>
            </a:avLst>
          </a:prstGeom>
          <a:solidFill>
            <a:srgbClr val="FFFFFF"/>
          </a:solidFill>
          <a:ln w="7620">
            <a:solidFill>
              <a:srgbClr val="D8E1EB"/>
            </a:solidFill>
            <a:prstDash val="solid"/>
          </a:ln>
        </p:spPr>
      </p:sp>
      <p:sp>
        <p:nvSpPr>
          <p:cNvPr id="15" name="Shape 13"/>
          <p:cNvSpPr/>
          <p:nvPr/>
        </p:nvSpPr>
        <p:spPr>
          <a:xfrm>
            <a:off x="819130" y="2419350"/>
            <a:ext cx="419090" cy="419100"/>
          </a:xfrm>
          <a:prstGeom prst="ellipse">
            <a:avLst/>
          </a:prstGeom>
          <a:solidFill>
            <a:srgbClr val="0B2545"/>
          </a:solidFill>
          <a:ln w="12700">
            <a:solidFill>
              <a:srgbClr val="0B2545">
                <a:alpha val="0"/>
              </a:srgbClr>
            </a:solidFill>
            <a:prstDash val="solid"/>
          </a:ln>
        </p:spPr>
      </p:sp>
      <p:sp>
        <p:nvSpPr>
          <p:cNvPr id="16" name="Text 14"/>
          <p:cNvSpPr txBox="1"/>
          <p:nvPr/>
        </p:nvSpPr>
        <p:spPr>
          <a:xfrm>
            <a:off x="82865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01</a:t>
            </a:r>
            <a:endParaRPr lang="en-US" sz="1600" dirty="0"/>
          </a:p>
        </p:txBody>
      </p:sp>
      <p:sp>
        <p:nvSpPr>
          <p:cNvPr id="17" name="Text 15"/>
          <p:cNvSpPr txBox="1"/>
          <p:nvPr/>
        </p:nvSpPr>
        <p:spPr>
          <a:xfrm>
            <a:off x="819130"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Yêu cầu</a:t>
            </a:r>
            <a:endParaRPr lang="en-US" sz="2000" dirty="0"/>
          </a:p>
        </p:txBody>
      </p:sp>
      <p:sp>
        <p:nvSpPr>
          <p:cNvPr id="18" name="Text 16"/>
          <p:cNvSpPr txBox="1"/>
          <p:nvPr/>
        </p:nvSpPr>
        <p:spPr>
          <a:xfrm>
            <a:off x="819130"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Nguồn quy cách và</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căn cứ đào tạo.</a:t>
            </a:r>
            <a:endParaRPr lang="en-US" sz="1800" dirty="0"/>
          </a:p>
        </p:txBody>
      </p:sp>
      <p:sp>
        <p:nvSpPr>
          <p:cNvPr id="19" name="Shape 17"/>
          <p:cNvSpPr/>
          <p:nvPr/>
        </p:nvSpPr>
        <p:spPr>
          <a:xfrm>
            <a:off x="3209845" y="2647950"/>
            <a:ext cx="171446" cy="0"/>
          </a:xfrm>
          <a:prstGeom prst="line">
            <a:avLst/>
          </a:prstGeom>
          <a:noFill/>
          <a:ln w="19050">
            <a:solidFill>
              <a:srgbClr val="F77F00"/>
            </a:solidFill>
            <a:prstDash val="solid"/>
            <a:tailEnd type="triangle"/>
          </a:ln>
        </p:spPr>
      </p:sp>
      <p:sp>
        <p:nvSpPr>
          <p:cNvPr id="20" name="Shape 18"/>
          <p:cNvSpPr/>
          <p:nvPr/>
        </p:nvSpPr>
        <p:spPr>
          <a:xfrm>
            <a:off x="3409865" y="2209800"/>
            <a:ext cx="2571686" cy="3505200"/>
          </a:xfrm>
          <a:prstGeom prst="roundRect">
            <a:avLst>
              <a:gd name="adj" fmla="val 3704"/>
            </a:avLst>
          </a:prstGeom>
          <a:solidFill>
            <a:srgbClr val="FFFFFF"/>
          </a:solidFill>
          <a:ln w="7620">
            <a:solidFill>
              <a:srgbClr val="D8E1EB"/>
            </a:solidFill>
            <a:prstDash val="solid"/>
          </a:ln>
        </p:spPr>
      </p:sp>
      <p:sp>
        <p:nvSpPr>
          <p:cNvPr id="21" name="Shape 19"/>
          <p:cNvSpPr/>
          <p:nvPr/>
        </p:nvSpPr>
        <p:spPr>
          <a:xfrm>
            <a:off x="3619410" y="2419350"/>
            <a:ext cx="419090" cy="419100"/>
          </a:xfrm>
          <a:prstGeom prst="ellipse">
            <a:avLst/>
          </a:prstGeom>
          <a:solidFill>
            <a:srgbClr val="0B2545"/>
          </a:solidFill>
          <a:ln w="12700">
            <a:solidFill>
              <a:srgbClr val="0B2545">
                <a:alpha val="0"/>
              </a:srgbClr>
            </a:solidFill>
            <a:prstDash val="solid"/>
          </a:ln>
        </p:spPr>
      </p:sp>
      <p:sp>
        <p:nvSpPr>
          <p:cNvPr id="22" name="Text 20"/>
          <p:cNvSpPr txBox="1"/>
          <p:nvPr/>
        </p:nvSpPr>
        <p:spPr>
          <a:xfrm>
            <a:off x="362893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02</a:t>
            </a:r>
            <a:endParaRPr lang="en-US" sz="1600" dirty="0"/>
          </a:p>
        </p:txBody>
      </p:sp>
      <p:sp>
        <p:nvSpPr>
          <p:cNvPr id="23" name="Text 21"/>
          <p:cNvSpPr txBox="1"/>
          <p:nvPr/>
        </p:nvSpPr>
        <p:spPr>
          <a:xfrm>
            <a:off x="3619410"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Learning</a:t>
            </a:r>
            <a:endParaRPr lang="en-US" sz="2000" dirty="0"/>
          </a:p>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outcome</a:t>
            </a:r>
            <a:endParaRPr lang="en-US" sz="2000" dirty="0"/>
          </a:p>
        </p:txBody>
      </p:sp>
      <p:sp>
        <p:nvSpPr>
          <p:cNvPr id="24" name="Text 22"/>
          <p:cNvSpPr txBox="1"/>
          <p:nvPr/>
        </p:nvSpPr>
        <p:spPr>
          <a:xfrm>
            <a:off x="3619410"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Mục tiêu có trạng</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thái thẩm định.</a:t>
            </a:r>
            <a:endParaRPr lang="en-US" sz="1800" dirty="0"/>
          </a:p>
        </p:txBody>
      </p:sp>
      <p:sp>
        <p:nvSpPr>
          <p:cNvPr id="25" name="Shape 23"/>
          <p:cNvSpPr/>
          <p:nvPr/>
        </p:nvSpPr>
        <p:spPr>
          <a:xfrm>
            <a:off x="6010125" y="2647950"/>
            <a:ext cx="171446" cy="0"/>
          </a:xfrm>
          <a:prstGeom prst="line">
            <a:avLst/>
          </a:prstGeom>
          <a:noFill/>
          <a:ln w="19050">
            <a:solidFill>
              <a:srgbClr val="F77F00"/>
            </a:solidFill>
            <a:prstDash val="solid"/>
            <a:tailEnd type="triangle"/>
          </a:ln>
        </p:spPr>
      </p:sp>
      <p:sp>
        <p:nvSpPr>
          <p:cNvPr id="26" name="Shape 24"/>
          <p:cNvSpPr/>
          <p:nvPr/>
        </p:nvSpPr>
        <p:spPr>
          <a:xfrm>
            <a:off x="6210145" y="2209800"/>
            <a:ext cx="2571686" cy="3505200"/>
          </a:xfrm>
          <a:prstGeom prst="roundRect">
            <a:avLst>
              <a:gd name="adj" fmla="val 3704"/>
            </a:avLst>
          </a:prstGeom>
          <a:solidFill>
            <a:srgbClr val="FFFFFF"/>
          </a:solidFill>
          <a:ln w="7620">
            <a:solidFill>
              <a:srgbClr val="D8E1EB"/>
            </a:solidFill>
            <a:prstDash val="solid"/>
          </a:ln>
        </p:spPr>
      </p:sp>
      <p:sp>
        <p:nvSpPr>
          <p:cNvPr id="27" name="Shape 25"/>
          <p:cNvSpPr/>
          <p:nvPr/>
        </p:nvSpPr>
        <p:spPr>
          <a:xfrm>
            <a:off x="6419690" y="2419350"/>
            <a:ext cx="419090" cy="419100"/>
          </a:xfrm>
          <a:prstGeom prst="ellipse">
            <a:avLst/>
          </a:prstGeom>
          <a:solidFill>
            <a:srgbClr val="0B2545"/>
          </a:solidFill>
          <a:ln w="12700">
            <a:solidFill>
              <a:srgbClr val="0B2545">
                <a:alpha val="0"/>
              </a:srgbClr>
            </a:solidFill>
            <a:prstDash val="solid"/>
          </a:ln>
        </p:spPr>
      </p:sp>
      <p:sp>
        <p:nvSpPr>
          <p:cNvPr id="28" name="Text 26"/>
          <p:cNvSpPr txBox="1"/>
          <p:nvPr/>
        </p:nvSpPr>
        <p:spPr>
          <a:xfrm>
            <a:off x="642921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03</a:t>
            </a:r>
            <a:endParaRPr lang="en-US" sz="1600" dirty="0"/>
          </a:p>
        </p:txBody>
      </p:sp>
      <p:sp>
        <p:nvSpPr>
          <p:cNvPr id="29" name="Text 27"/>
          <p:cNvSpPr txBox="1"/>
          <p:nvPr/>
        </p:nvSpPr>
        <p:spPr>
          <a:xfrm>
            <a:off x="6419690"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Hiện vật</a:t>
            </a:r>
            <a:endParaRPr lang="en-US" sz="2000" dirty="0"/>
          </a:p>
        </p:txBody>
      </p:sp>
      <p:sp>
        <p:nvSpPr>
          <p:cNvPr id="30" name="Text 28"/>
          <p:cNvSpPr txBox="1"/>
          <p:nvPr/>
        </p:nvSpPr>
        <p:spPr>
          <a:xfrm>
            <a:off x="6419690"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Content, quiz và</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mô phỏng.</a:t>
            </a:r>
            <a:endParaRPr lang="en-US" sz="1800" dirty="0"/>
          </a:p>
        </p:txBody>
      </p:sp>
      <p:sp>
        <p:nvSpPr>
          <p:cNvPr id="31" name="Shape 29"/>
          <p:cNvSpPr/>
          <p:nvPr/>
        </p:nvSpPr>
        <p:spPr>
          <a:xfrm>
            <a:off x="8810405" y="2647950"/>
            <a:ext cx="171446" cy="0"/>
          </a:xfrm>
          <a:prstGeom prst="line">
            <a:avLst/>
          </a:prstGeom>
          <a:noFill/>
          <a:ln w="19050">
            <a:solidFill>
              <a:srgbClr val="F77F00"/>
            </a:solidFill>
            <a:prstDash val="solid"/>
            <a:tailEnd type="triangle"/>
          </a:ln>
        </p:spPr>
      </p:sp>
      <p:sp>
        <p:nvSpPr>
          <p:cNvPr id="32" name="Shape 30"/>
          <p:cNvSpPr/>
          <p:nvPr/>
        </p:nvSpPr>
        <p:spPr>
          <a:xfrm>
            <a:off x="9010425" y="2209800"/>
            <a:ext cx="2571686" cy="3505200"/>
          </a:xfrm>
          <a:prstGeom prst="roundRect">
            <a:avLst>
              <a:gd name="adj" fmla="val 3704"/>
            </a:avLst>
          </a:prstGeom>
          <a:solidFill>
            <a:srgbClr val="FFFFFF"/>
          </a:solidFill>
          <a:ln w="7620">
            <a:solidFill>
              <a:srgbClr val="D8E1EB"/>
            </a:solidFill>
            <a:prstDash val="solid"/>
          </a:ln>
        </p:spPr>
      </p:sp>
      <p:sp>
        <p:nvSpPr>
          <p:cNvPr id="33" name="Shape 31"/>
          <p:cNvSpPr/>
          <p:nvPr/>
        </p:nvSpPr>
        <p:spPr>
          <a:xfrm>
            <a:off x="9219969" y="2419350"/>
            <a:ext cx="419090" cy="419100"/>
          </a:xfrm>
          <a:prstGeom prst="ellipse">
            <a:avLst/>
          </a:prstGeom>
          <a:solidFill>
            <a:srgbClr val="0B2545"/>
          </a:solidFill>
          <a:ln w="12700">
            <a:solidFill>
              <a:srgbClr val="0B2545">
                <a:alpha val="0"/>
              </a:srgbClr>
            </a:solidFill>
            <a:prstDash val="solid"/>
          </a:ln>
        </p:spPr>
      </p:sp>
      <p:sp>
        <p:nvSpPr>
          <p:cNvPr id="34" name="Text 32"/>
          <p:cNvSpPr txBox="1"/>
          <p:nvPr/>
        </p:nvSpPr>
        <p:spPr>
          <a:xfrm>
            <a:off x="9229494" y="2495550"/>
            <a:ext cx="400040" cy="257175"/>
          </a:xfrm>
          <a:prstGeom prst="rect">
            <a:avLst/>
          </a:prstGeom>
          <a:noFill/>
          <a:ln/>
        </p:spPr>
        <p:txBody>
          <a:bodyPr wrap="square" lIns="0" tIns="0" rIns="0" bIns="0" rtlCol="0" anchor="t"/>
          <a:lstStyle/>
          <a:p>
            <a:pPr algn="ctr" indent="0" marL="0">
              <a:lnSpc>
                <a:spcPct val="114000"/>
              </a:lnSpc>
              <a:buNone/>
            </a:pPr>
            <a:r>
              <a:rPr lang="en-US" sz="1600" b="1" dirty="0">
                <a:solidFill>
                  <a:srgbClr val="FFFFFF"/>
                </a:solidFill>
                <a:latin typeface="Arial" pitchFamily="34" charset="0"/>
                <a:ea typeface="Arial" pitchFamily="34" charset="-122"/>
                <a:cs typeface="Arial" pitchFamily="34" charset="-120"/>
              </a:rPr>
              <a:t>04</a:t>
            </a:r>
            <a:endParaRPr lang="en-US" sz="1600" dirty="0"/>
          </a:p>
        </p:txBody>
      </p:sp>
      <p:sp>
        <p:nvSpPr>
          <p:cNvPr id="35" name="Text 33"/>
          <p:cNvSpPr txBox="1"/>
          <p:nvPr/>
        </p:nvSpPr>
        <p:spPr>
          <a:xfrm>
            <a:off x="9219969" y="3076575"/>
            <a:ext cx="2152596" cy="714375"/>
          </a:xfrm>
          <a:prstGeom prst="rect">
            <a:avLst/>
          </a:prstGeom>
          <a:noFill/>
          <a:ln/>
        </p:spPr>
        <p:txBody>
          <a:bodyPr wrap="square" lIns="0" tIns="0" rIns="0" bIns="0" rtlCol="0" anchor="t"/>
          <a:lstStyle/>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Review và</a:t>
            </a:r>
            <a:endParaRPr lang="en-US" sz="2000" dirty="0"/>
          </a:p>
          <a:p>
            <a:pPr algn="l" indent="0" marL="0">
              <a:lnSpc>
                <a:spcPct val="114000"/>
              </a:lnSpc>
              <a:buNone/>
            </a:pPr>
            <a:r>
              <a:rPr lang="en-US" sz="2000" b="1" dirty="0">
                <a:solidFill>
                  <a:srgbClr val="0B2545"/>
                </a:solidFill>
                <a:latin typeface="Arial" pitchFamily="34" charset="0"/>
                <a:ea typeface="Arial" pitchFamily="34" charset="-122"/>
                <a:cs typeface="Arial" pitchFamily="34" charset="-120"/>
              </a:rPr>
              <a:t>signoff</a:t>
            </a:r>
            <a:endParaRPr lang="en-US" sz="2000" dirty="0"/>
          </a:p>
        </p:txBody>
      </p:sp>
      <p:sp>
        <p:nvSpPr>
          <p:cNvPr id="36" name="Text 34"/>
          <p:cNvSpPr txBox="1"/>
          <p:nvPr/>
        </p:nvSpPr>
        <p:spPr>
          <a:xfrm>
            <a:off x="9219969" y="3914775"/>
            <a:ext cx="2152596" cy="158115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Người có thẩm</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quyền xác nhận.</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CHẤT LƯỢNG VÀ BẰNG CHỨNG</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Release: tái tạo và xác minh</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Gói ứng viên lịch sử phải được phân biệt với mã nguồn đang thay đổi.</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Hash xác nhận đúng byte của gói, không xác nhận học thuật hoặc mã mới đã đạt.</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20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7171585"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3517812" cy="3505200"/>
          </a:xfrm>
          <a:prstGeom prst="roundRect">
            <a:avLst>
              <a:gd name="adj" fmla="val 2717"/>
            </a:avLst>
          </a:prstGeom>
          <a:solidFill>
            <a:srgbClr val="FFFFFF"/>
          </a:solidFill>
          <a:ln w="7620">
            <a:solidFill>
              <a:srgbClr val="D8E1EB"/>
            </a:solidFill>
            <a:prstDash val="solid"/>
          </a:ln>
        </p:spPr>
      </p:sp>
      <p:sp>
        <p:nvSpPr>
          <p:cNvPr id="15" name="Shape 13"/>
          <p:cNvSpPr/>
          <p:nvPr/>
        </p:nvSpPr>
        <p:spPr>
          <a:xfrm>
            <a:off x="781030" y="2400300"/>
            <a:ext cx="304792" cy="38100"/>
          </a:xfrm>
          <a:prstGeom prst="rect">
            <a:avLst/>
          </a:prstGeom>
          <a:solidFill>
            <a:srgbClr val="F77F00"/>
          </a:solidFill>
          <a:ln w="12700">
            <a:solidFill>
              <a:srgbClr val="F77F00">
                <a:alpha val="0"/>
              </a:srgbClr>
            </a:solidFill>
            <a:prstDash val="solid"/>
          </a:ln>
        </p:spPr>
      </p:sp>
      <p:sp>
        <p:nvSpPr>
          <p:cNvPr id="16" name="Text 14"/>
          <p:cNvSpPr txBox="1"/>
          <p:nvPr/>
        </p:nvSpPr>
        <p:spPr>
          <a:xfrm>
            <a:off x="819130"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2026.09.02-candidate</a:t>
            </a:r>
            <a:endParaRPr lang="en-US" sz="2000" dirty="0"/>
          </a:p>
        </p:txBody>
      </p:sp>
      <p:sp>
        <p:nvSpPr>
          <p:cNvPr id="17" name="Text 15"/>
          <p:cNvSpPr txBox="1"/>
          <p:nvPr/>
        </p:nvSpPr>
        <p:spPr>
          <a:xfrm>
            <a:off x="819130"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372 tệp; ZIP 78,74 MB.</a:t>
            </a:r>
            <a:endParaRPr lang="en-US" sz="1800" dirty="0"/>
          </a:p>
        </p:txBody>
      </p:sp>
      <p:sp>
        <p:nvSpPr>
          <p:cNvPr id="18" name="Shape 16"/>
          <p:cNvSpPr/>
          <p:nvPr/>
        </p:nvSpPr>
        <p:spPr>
          <a:xfrm>
            <a:off x="4336942" y="2209800"/>
            <a:ext cx="3517812" cy="3505200"/>
          </a:xfrm>
          <a:prstGeom prst="roundRect">
            <a:avLst>
              <a:gd name="adj" fmla="val 2717"/>
            </a:avLst>
          </a:prstGeom>
          <a:solidFill>
            <a:srgbClr val="FFFFFF"/>
          </a:solidFill>
          <a:ln w="7620">
            <a:solidFill>
              <a:srgbClr val="D8E1EB"/>
            </a:solidFill>
            <a:prstDash val="solid"/>
          </a:ln>
        </p:spPr>
      </p:sp>
      <p:sp>
        <p:nvSpPr>
          <p:cNvPr id="19" name="Shape 17"/>
          <p:cNvSpPr/>
          <p:nvPr/>
        </p:nvSpPr>
        <p:spPr>
          <a:xfrm>
            <a:off x="4508387" y="2400300"/>
            <a:ext cx="304792" cy="38100"/>
          </a:xfrm>
          <a:prstGeom prst="rect">
            <a:avLst/>
          </a:prstGeom>
          <a:solidFill>
            <a:srgbClr val="2E7D32"/>
          </a:solidFill>
          <a:ln w="12700">
            <a:solidFill>
              <a:srgbClr val="2E7D32">
                <a:alpha val="0"/>
              </a:srgbClr>
            </a:solidFill>
            <a:prstDash val="solid"/>
          </a:ln>
        </p:spPr>
      </p:sp>
      <p:sp>
        <p:nvSpPr>
          <p:cNvPr id="20" name="Text 18"/>
          <p:cNvSpPr txBox="1"/>
          <p:nvPr/>
        </p:nvSpPr>
        <p:spPr>
          <a:xfrm>
            <a:off x="4546486"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2E7D32"/>
                </a:solidFill>
                <a:latin typeface="Arial" pitchFamily="34" charset="0"/>
                <a:ea typeface="Arial" pitchFamily="34" charset="-122"/>
                <a:cs typeface="Arial" pitchFamily="34" charset="-120"/>
              </a:rPr>
              <a:t>SHA-256</a:t>
            </a:r>
            <a:endParaRPr lang="en-US" sz="2000" dirty="0"/>
          </a:p>
        </p:txBody>
      </p:sp>
      <p:sp>
        <p:nvSpPr>
          <p:cNvPr id="21" name="Text 19"/>
          <p:cNvSpPr txBox="1"/>
          <p:nvPr/>
        </p:nvSpPr>
        <p:spPr>
          <a:xfrm>
            <a:off x="4546486"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Đã đối chiếu hash ZIP với hồ</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sơ.</a:t>
            </a:r>
            <a:endParaRPr lang="en-US" sz="1800" dirty="0"/>
          </a:p>
        </p:txBody>
      </p:sp>
      <p:sp>
        <p:nvSpPr>
          <p:cNvPr id="22" name="Shape 20"/>
          <p:cNvSpPr/>
          <p:nvPr/>
        </p:nvSpPr>
        <p:spPr>
          <a:xfrm>
            <a:off x="8064298" y="2209800"/>
            <a:ext cx="3517812" cy="3505200"/>
          </a:xfrm>
          <a:prstGeom prst="roundRect">
            <a:avLst>
              <a:gd name="adj" fmla="val 2717"/>
            </a:avLst>
          </a:prstGeom>
          <a:solidFill>
            <a:srgbClr val="FFFFFF"/>
          </a:solidFill>
          <a:ln w="7620">
            <a:solidFill>
              <a:srgbClr val="D8E1EB"/>
            </a:solidFill>
            <a:prstDash val="solid"/>
          </a:ln>
        </p:spPr>
      </p:sp>
      <p:sp>
        <p:nvSpPr>
          <p:cNvPr id="23" name="Shape 21"/>
          <p:cNvSpPr/>
          <p:nvPr/>
        </p:nvSpPr>
        <p:spPr>
          <a:xfrm>
            <a:off x="8235744" y="2400300"/>
            <a:ext cx="304792" cy="38100"/>
          </a:xfrm>
          <a:prstGeom prst="rect">
            <a:avLst/>
          </a:prstGeom>
          <a:solidFill>
            <a:srgbClr val="C62828"/>
          </a:solidFill>
          <a:ln w="12700">
            <a:solidFill>
              <a:srgbClr val="C62828">
                <a:alpha val="0"/>
              </a:srgbClr>
            </a:solidFill>
            <a:prstDash val="solid"/>
          </a:ln>
        </p:spPr>
      </p:sp>
      <p:sp>
        <p:nvSpPr>
          <p:cNvPr id="24" name="Text 22"/>
          <p:cNvSpPr txBox="1"/>
          <p:nvPr/>
        </p:nvSpPr>
        <p:spPr>
          <a:xfrm>
            <a:off x="8273843"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C62828"/>
                </a:solidFill>
                <a:latin typeface="Arial" pitchFamily="34" charset="0"/>
                <a:ea typeface="Arial" pitchFamily="34" charset="-122"/>
                <a:cs typeface="Arial" pitchFamily="34" charset="-120"/>
              </a:rPr>
              <a:t>Chưa final</a:t>
            </a:r>
            <a:endParaRPr lang="en-US" sz="2000" dirty="0"/>
          </a:p>
        </p:txBody>
      </p:sp>
      <p:sp>
        <p:nvSpPr>
          <p:cNvPr id="25" name="Text 23"/>
          <p:cNvSpPr txBox="1"/>
          <p:nvPr/>
        </p:nvSpPr>
        <p:spPr>
          <a:xfrm>
            <a:off x="8273843"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Còn gate fail và review bị</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chặn.</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CHẤT LƯỢNG VÀ BẰNG CHỨNG</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Tuyên bố nào, bằng chứng đó</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Không dùng đường dẫn giả hoặc số đếm suy diễn.</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Lưu toàn bộ đường dẫn và hash trong Notes để hội đồng truy lại.</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21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7530165" cy="38100"/>
          </a:xfrm>
          <a:prstGeom prst="rect">
            <a:avLst/>
          </a:prstGeom>
          <a:solidFill>
            <a:srgbClr val="F77F00"/>
          </a:solidFill>
          <a:ln w="12700">
            <a:solidFill>
              <a:srgbClr val="F77F00">
                <a:alpha val="0"/>
              </a:srgbClr>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3882586"/>
                <a:gridCol w="7089940"/>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Tuyên bố</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Nguồn kiểm chứng</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436299">
                <a:tc>
                  <a:txBody>
                    <a:bodyPr/>
                    <a:lstStyle/>
                    <a:p>
                      <a:pPr indent="0" marL="0">
                        <a:buNone/>
                      </a:pPr>
                      <a:r>
                        <a:rPr lang="en-US" sz="1800" dirty="0">
                          <a:solidFill>
                            <a:srgbClr val="24364A"/>
                          </a:solidFill>
                          <a:latin typeface="Arial" pitchFamily="34" charset="0"/>
                          <a:ea typeface="Arial" pitchFamily="34" charset="-122"/>
                          <a:cs typeface="Arial" pitchFamily="34" charset="-120"/>
                        </a:rPr>
                        <a:t>372 tệp gói candidate</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release-summary.json → staging.fileCount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436299">
                <a:tc>
                  <a:txBody>
                    <a:bodyPr/>
                    <a:lstStyle/>
                    <a:p>
                      <a:pPr indent="0" marL="0">
                        <a:buNone/>
                      </a:pPr>
                      <a:r>
                        <a:rPr lang="en-US" sz="1800" dirty="0">
                          <a:solidFill>
                            <a:srgbClr val="24364A"/>
                          </a:solidFill>
                          <a:latin typeface="Arial" pitchFamily="34" charset="0"/>
                          <a:ea typeface="Arial" pitchFamily="34" charset="-122"/>
                          <a:cs typeface="Arial" pitchFamily="34" charset="-120"/>
                        </a:rPr>
                        <a:t>SHA-256 ZIP khớp</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Tính hash ZIP và so release-candidate.json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436299">
                <a:tc>
                  <a:txBody>
                    <a:bodyPr/>
                    <a:lstStyle/>
                    <a:p>
                      <a:pPr indent="0" marL="0">
                        <a:buNone/>
                      </a:pPr>
                      <a:r>
                        <a:rPr lang="en-US" sz="1800" dirty="0">
                          <a:solidFill>
                            <a:srgbClr val="24364A"/>
                          </a:solidFill>
                          <a:latin typeface="Arial" pitchFamily="34" charset="0"/>
                          <a:ea typeface="Arial" pitchFamily="34" charset="-122"/>
                          <a:cs typeface="Arial" pitchFamily="34" charset="-120"/>
                        </a:rPr>
                        <a:t>25 vị trí Sim2</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sim2-route-manifest.js</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436299">
                <a:tc>
                  <a:txBody>
                    <a:bodyPr/>
                    <a:lstStyle/>
                    <a:p>
                      <a:pPr indent="0" marL="0">
                        <a:buNone/>
                      </a:pPr>
                      <a:r>
                        <a:rPr lang="en-US" sz="1800" dirty="0">
                          <a:solidFill>
                            <a:srgbClr val="24364A"/>
                          </a:solidFill>
                          <a:latin typeface="Arial" pitchFamily="34" charset="0"/>
                          <a:ea typeface="Arial" pitchFamily="34" charset="-122"/>
                          <a:cs typeface="Arial" pitchFamily="34" charset="-120"/>
                        </a:rPr>
                        <a:t>10 bản Sim3 bổ sung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sim3-route-manifest.js</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436299">
                <a:tc>
                  <a:txBody>
                    <a:bodyPr/>
                    <a:lstStyle/>
                    <a:p>
                      <a:pPr indent="0" marL="0">
                        <a:buNone/>
                      </a:pPr>
                      <a:r>
                        <a:rPr lang="en-US" sz="1800" dirty="0">
                          <a:solidFill>
                            <a:srgbClr val="24364A"/>
                          </a:solidFill>
                          <a:latin typeface="Arial" pitchFamily="34" charset="0"/>
                          <a:ea typeface="Arial" pitchFamily="34" charset="-122"/>
                          <a:cs typeface="Arial" pitchFamily="34" charset="-120"/>
                        </a:rPr>
                        <a:t>24 cổng; 11/9/4</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acceptance-report.json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436299">
                <a:tc>
                  <a:txBody>
                    <a:bodyPr/>
                    <a:lstStyle/>
                    <a:p>
                      <a:pPr indent="0" marL="0">
                        <a:buNone/>
                      </a:pPr>
                      <a:r>
                        <a:rPr lang="en-US" sz="1800" dirty="0">
                          <a:solidFill>
                            <a:srgbClr val="24364A"/>
                          </a:solidFill>
                          <a:latin typeface="Arial" pitchFamily="34" charset="0"/>
                          <a:ea typeface="Arial" pitchFamily="34" charset="-122"/>
                          <a:cs typeface="Arial" pitchFamily="34" charset="-120"/>
                        </a:rPr>
                        <a:t>Nguồn mới chưa xác minh</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simulation-current-revalidation.json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436299">
                <a:tc>
                  <a:txBody>
                    <a:bodyPr/>
                    <a:lstStyle/>
                    <a:p>
                      <a:pPr indent="0" marL="0">
                        <a:buNone/>
                      </a:pPr>
                      <a:r>
                        <a:rPr lang="en-US" sz="1800" dirty="0">
                          <a:solidFill>
                            <a:srgbClr val="24364A"/>
                          </a:solidFill>
                          <a:latin typeface="Arial" pitchFamily="34" charset="0"/>
                          <a:ea typeface="Arial" pitchFamily="34" charset="-122"/>
                          <a:cs typeface="Arial" pitchFamily="34" charset="-120"/>
                        </a:rPr>
                        <a:t>Academic signoff</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academic_signoffs.json và gate review</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SO SÁNH VÀ ĐÁNH GIÁ</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So sánh theo điều kiện triển khai</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Các giải pháp phục vụ mục đích khác nhau; không có lựa chọn tốt nhất tuyệt đối.</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Lợi thế là phân phối cục bộ; không tuyên bố đối thủ không có offline hoặc QA.</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22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7888744" cy="38100"/>
          </a:xfrm>
          <a:prstGeom prst="rect">
            <a:avLst/>
          </a:prstGeom>
          <a:solidFill>
            <a:srgbClr val="F77F00"/>
          </a:solidFill>
          <a:ln w="12700">
            <a:solidFill>
              <a:srgbClr val="F77F00">
                <a:alpha val="0"/>
              </a:srgbClr>
            </a:solidFill>
            <a:prstDash val="solid"/>
          </a:ln>
        </p:spPr>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2110101"/>
                <a:gridCol w="1969428"/>
                <a:gridCol w="2391448"/>
                <a:gridCol w="2391448"/>
                <a:gridCol w="2110101"/>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Tiêu chí</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Giáo trình này</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Moodle</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Classroom</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Bản giấy</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Ngoại tuyến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Gói cục bộ</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App có điều kiện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Tệp tải trước</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Có</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Hạ tầng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Máy đọc</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Site / máy chủ</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Dịch vụ Google</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In, lưu trữ</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Danh tính, điểm</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Không server</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Có LMS</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Có nền tảng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Quản lý riêng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Mô phỏng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Có 2D / 3D</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Tích hợp học liệu</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Tích hợp/liên kết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Không trực tiếp</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Chi phí</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Cần bảo trì</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Cần vận hành</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Tùy dịch vụ</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Cần in ấn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SO SÁNH VÀ ĐÁNH GIÁ</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Mười điểm mạnh, ba nhóm</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Điểm mạnh thiết kế được phân biệt với kết quả thẩm định.</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Các cơ chế tạo nền tảng kiểm soát chất lượng, không thay kết quả kiểm tra.</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23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8247323"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3517812" cy="3505200"/>
          </a:xfrm>
          <a:prstGeom prst="roundRect">
            <a:avLst>
              <a:gd name="adj" fmla="val 2717"/>
            </a:avLst>
          </a:prstGeom>
          <a:solidFill>
            <a:srgbClr val="FFFFFF"/>
          </a:solidFill>
          <a:ln w="7620">
            <a:solidFill>
              <a:srgbClr val="D8E1EB"/>
            </a:solidFill>
            <a:prstDash val="solid"/>
          </a:ln>
        </p:spPr>
      </p:sp>
      <p:sp>
        <p:nvSpPr>
          <p:cNvPr id="15" name="Shape 13"/>
          <p:cNvSpPr/>
          <p:nvPr/>
        </p:nvSpPr>
        <p:spPr>
          <a:xfrm>
            <a:off x="781030" y="2400300"/>
            <a:ext cx="304792" cy="38100"/>
          </a:xfrm>
          <a:prstGeom prst="rect">
            <a:avLst/>
          </a:prstGeom>
          <a:solidFill>
            <a:srgbClr val="F77F00"/>
          </a:solidFill>
          <a:ln w="12700">
            <a:solidFill>
              <a:srgbClr val="F77F00">
                <a:alpha val="0"/>
              </a:srgbClr>
            </a:solidFill>
            <a:prstDash val="solid"/>
          </a:ln>
        </p:spPr>
      </p:sp>
      <p:sp>
        <p:nvSpPr>
          <p:cNvPr id="16" name="Text 14"/>
          <p:cNvSpPr txBox="1"/>
          <p:nvPr/>
        </p:nvSpPr>
        <p:spPr>
          <a:xfrm>
            <a:off x="819130"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Kỹ thuật — 4</a:t>
            </a:r>
            <a:endParaRPr lang="en-US" sz="2000" dirty="0"/>
          </a:p>
        </p:txBody>
      </p:sp>
      <p:sp>
        <p:nvSpPr>
          <p:cNvPr id="17" name="Text 15"/>
          <p:cNvSpPr txBox="1"/>
          <p:nvPr/>
        </p:nvSpPr>
        <p:spPr>
          <a:xfrm>
            <a:off x="819130"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Ngoại tuyến; phân lớp;</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pipeline; hai tầng mô phỏng.</a:t>
            </a:r>
            <a:endParaRPr lang="en-US" sz="1800" dirty="0"/>
          </a:p>
        </p:txBody>
      </p:sp>
      <p:sp>
        <p:nvSpPr>
          <p:cNvPr id="18" name="Shape 16"/>
          <p:cNvSpPr/>
          <p:nvPr/>
        </p:nvSpPr>
        <p:spPr>
          <a:xfrm>
            <a:off x="4336942" y="2209800"/>
            <a:ext cx="3517812" cy="3505200"/>
          </a:xfrm>
          <a:prstGeom prst="roundRect">
            <a:avLst>
              <a:gd name="adj" fmla="val 2717"/>
            </a:avLst>
          </a:prstGeom>
          <a:solidFill>
            <a:srgbClr val="FFFFFF"/>
          </a:solidFill>
          <a:ln w="7620">
            <a:solidFill>
              <a:srgbClr val="D8E1EB"/>
            </a:solidFill>
            <a:prstDash val="solid"/>
          </a:ln>
        </p:spPr>
      </p:sp>
      <p:sp>
        <p:nvSpPr>
          <p:cNvPr id="19" name="Shape 17"/>
          <p:cNvSpPr/>
          <p:nvPr/>
        </p:nvSpPr>
        <p:spPr>
          <a:xfrm>
            <a:off x="4508387" y="2400300"/>
            <a:ext cx="304792" cy="38100"/>
          </a:xfrm>
          <a:prstGeom prst="rect">
            <a:avLst/>
          </a:prstGeom>
          <a:solidFill>
            <a:srgbClr val="13315C"/>
          </a:solidFill>
          <a:ln w="12700">
            <a:solidFill>
              <a:srgbClr val="13315C">
                <a:alpha val="0"/>
              </a:srgbClr>
            </a:solidFill>
            <a:prstDash val="solid"/>
          </a:ln>
        </p:spPr>
      </p:sp>
      <p:sp>
        <p:nvSpPr>
          <p:cNvPr id="20" name="Text 18"/>
          <p:cNvSpPr txBox="1"/>
          <p:nvPr/>
        </p:nvSpPr>
        <p:spPr>
          <a:xfrm>
            <a:off x="4546486"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13315C"/>
                </a:solidFill>
                <a:latin typeface="Arial" pitchFamily="34" charset="0"/>
                <a:ea typeface="Arial" pitchFamily="34" charset="-122"/>
                <a:cs typeface="Arial" pitchFamily="34" charset="-120"/>
              </a:rPr>
              <a:t>Học thuật — 3</a:t>
            </a:r>
            <a:endParaRPr lang="en-US" sz="2000" dirty="0"/>
          </a:p>
        </p:txBody>
      </p:sp>
      <p:sp>
        <p:nvSpPr>
          <p:cNvPr id="21" name="Text 19"/>
          <p:cNvSpPr txBox="1"/>
          <p:nvPr/>
        </p:nvSpPr>
        <p:spPr>
          <a:xfrm>
            <a:off x="4546486"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Khung QA; truy vết; ledger</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review.</a:t>
            </a:r>
            <a:endParaRPr lang="en-US" sz="1800" dirty="0"/>
          </a:p>
        </p:txBody>
      </p:sp>
      <p:sp>
        <p:nvSpPr>
          <p:cNvPr id="22" name="Shape 20"/>
          <p:cNvSpPr/>
          <p:nvPr/>
        </p:nvSpPr>
        <p:spPr>
          <a:xfrm>
            <a:off x="8064298" y="2209800"/>
            <a:ext cx="3517812" cy="3505200"/>
          </a:xfrm>
          <a:prstGeom prst="roundRect">
            <a:avLst>
              <a:gd name="adj" fmla="val 2717"/>
            </a:avLst>
          </a:prstGeom>
          <a:solidFill>
            <a:srgbClr val="FFFFFF"/>
          </a:solidFill>
          <a:ln w="7620">
            <a:solidFill>
              <a:srgbClr val="D8E1EB"/>
            </a:solidFill>
            <a:prstDash val="solid"/>
          </a:ln>
        </p:spPr>
      </p:sp>
      <p:sp>
        <p:nvSpPr>
          <p:cNvPr id="23" name="Shape 21"/>
          <p:cNvSpPr/>
          <p:nvPr/>
        </p:nvSpPr>
        <p:spPr>
          <a:xfrm>
            <a:off x="8235744" y="2400300"/>
            <a:ext cx="304792" cy="38100"/>
          </a:xfrm>
          <a:prstGeom prst="rect">
            <a:avLst/>
          </a:prstGeom>
          <a:solidFill>
            <a:srgbClr val="2E7D32"/>
          </a:solidFill>
          <a:ln w="12700">
            <a:solidFill>
              <a:srgbClr val="2E7D32">
                <a:alpha val="0"/>
              </a:srgbClr>
            </a:solidFill>
            <a:prstDash val="solid"/>
          </a:ln>
        </p:spPr>
      </p:sp>
      <p:sp>
        <p:nvSpPr>
          <p:cNvPr id="24" name="Text 22"/>
          <p:cNvSpPr txBox="1"/>
          <p:nvPr/>
        </p:nvSpPr>
        <p:spPr>
          <a:xfrm>
            <a:off x="8273843"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2E7D32"/>
                </a:solidFill>
                <a:latin typeface="Arial" pitchFamily="34" charset="0"/>
                <a:ea typeface="Arial" pitchFamily="34" charset="-122"/>
                <a:cs typeface="Arial" pitchFamily="34" charset="-120"/>
              </a:rPr>
              <a:t>Người dùng — 3</a:t>
            </a:r>
            <a:endParaRPr lang="en-US" sz="2000" dirty="0"/>
          </a:p>
        </p:txBody>
      </p:sp>
      <p:sp>
        <p:nvSpPr>
          <p:cNvPr id="25" name="Text 23"/>
          <p:cNvSpPr txBox="1"/>
          <p:nvPr/>
        </p:nvSpPr>
        <p:spPr>
          <a:xfrm>
            <a:off x="8273843"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Tiếp cận; PDF giữ ngữ cảnh;</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GIF fallback.</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SO SÁNH VÀ ĐÁNH GIÁ</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Hạn chế theo mức ảnh hưởng</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Ưu tiên đề xuất: chấp nhận học thuật và tính đúng của bản nguồn trước mở rộng.</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Nguồn mô phỏng mới còn pending; mức ảnh hưởng là đánh giá đề xuất.</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24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8605902"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3517812" cy="3505200"/>
          </a:xfrm>
          <a:prstGeom prst="roundRect">
            <a:avLst>
              <a:gd name="adj" fmla="val 2717"/>
            </a:avLst>
          </a:prstGeom>
          <a:solidFill>
            <a:srgbClr val="FFFFFF"/>
          </a:solidFill>
          <a:ln w="7620">
            <a:solidFill>
              <a:srgbClr val="D8E1EB"/>
            </a:solidFill>
            <a:prstDash val="solid"/>
          </a:ln>
        </p:spPr>
      </p:sp>
      <p:sp>
        <p:nvSpPr>
          <p:cNvPr id="15" name="Shape 13"/>
          <p:cNvSpPr/>
          <p:nvPr/>
        </p:nvSpPr>
        <p:spPr>
          <a:xfrm>
            <a:off x="781030" y="2400300"/>
            <a:ext cx="304792" cy="38100"/>
          </a:xfrm>
          <a:prstGeom prst="rect">
            <a:avLst/>
          </a:prstGeom>
          <a:solidFill>
            <a:srgbClr val="C62828"/>
          </a:solidFill>
          <a:ln w="12700">
            <a:solidFill>
              <a:srgbClr val="C62828">
                <a:alpha val="0"/>
              </a:srgbClr>
            </a:solidFill>
            <a:prstDash val="solid"/>
          </a:ln>
        </p:spPr>
      </p:sp>
      <p:sp>
        <p:nvSpPr>
          <p:cNvPr id="16" name="Text 14"/>
          <p:cNvSpPr txBox="1"/>
          <p:nvPr/>
        </p:nvSpPr>
        <p:spPr>
          <a:xfrm>
            <a:off x="819130"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C62828"/>
                </a:solidFill>
                <a:latin typeface="Arial" pitchFamily="34" charset="0"/>
                <a:ea typeface="Arial" pitchFamily="34" charset="-122"/>
                <a:cs typeface="Arial" pitchFamily="34" charset="-120"/>
              </a:rPr>
              <a:t>Cao — 2</a:t>
            </a:r>
            <a:endParaRPr lang="en-US" sz="2000" dirty="0"/>
          </a:p>
        </p:txBody>
      </p:sp>
      <p:sp>
        <p:nvSpPr>
          <p:cNvPr id="17" name="Text 15"/>
          <p:cNvSpPr txBox="1"/>
          <p:nvPr/>
        </p:nvSpPr>
        <p:spPr>
          <a:xfrm>
            <a:off x="819130"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Chưa ký duyệt học thuật;</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chưa chạy LMS đích.</a:t>
            </a:r>
            <a:endParaRPr lang="en-US" sz="1800" dirty="0"/>
          </a:p>
        </p:txBody>
      </p:sp>
      <p:sp>
        <p:nvSpPr>
          <p:cNvPr id="18" name="Shape 16"/>
          <p:cNvSpPr/>
          <p:nvPr/>
        </p:nvSpPr>
        <p:spPr>
          <a:xfrm>
            <a:off x="4336942" y="2209800"/>
            <a:ext cx="3517812" cy="3505200"/>
          </a:xfrm>
          <a:prstGeom prst="roundRect">
            <a:avLst>
              <a:gd name="adj" fmla="val 2717"/>
            </a:avLst>
          </a:prstGeom>
          <a:solidFill>
            <a:srgbClr val="FFFFFF"/>
          </a:solidFill>
          <a:ln w="7620">
            <a:solidFill>
              <a:srgbClr val="D8E1EB"/>
            </a:solidFill>
            <a:prstDash val="solid"/>
          </a:ln>
        </p:spPr>
      </p:sp>
      <p:sp>
        <p:nvSpPr>
          <p:cNvPr id="19" name="Shape 17"/>
          <p:cNvSpPr/>
          <p:nvPr/>
        </p:nvSpPr>
        <p:spPr>
          <a:xfrm>
            <a:off x="4508387" y="2400300"/>
            <a:ext cx="304792" cy="38100"/>
          </a:xfrm>
          <a:prstGeom prst="rect">
            <a:avLst/>
          </a:prstGeom>
          <a:solidFill>
            <a:srgbClr val="13315C"/>
          </a:solidFill>
          <a:ln w="12700">
            <a:solidFill>
              <a:srgbClr val="13315C">
                <a:alpha val="0"/>
              </a:srgbClr>
            </a:solidFill>
            <a:prstDash val="solid"/>
          </a:ln>
        </p:spPr>
      </p:sp>
      <p:sp>
        <p:nvSpPr>
          <p:cNvPr id="20" name="Text 18"/>
          <p:cNvSpPr txBox="1"/>
          <p:nvPr/>
        </p:nvSpPr>
        <p:spPr>
          <a:xfrm>
            <a:off x="4546486"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13315C"/>
                </a:solidFill>
                <a:latin typeface="Arial" pitchFamily="34" charset="0"/>
                <a:ea typeface="Arial" pitchFamily="34" charset="-122"/>
                <a:cs typeface="Arial" pitchFamily="34" charset="-120"/>
              </a:rPr>
              <a:t>Trung bình — 4</a:t>
            </a:r>
            <a:endParaRPr lang="en-US" sz="2000" dirty="0"/>
          </a:p>
        </p:txBody>
      </p:sp>
      <p:sp>
        <p:nvSpPr>
          <p:cNvPr id="21" name="Text 19"/>
          <p:cNvSpPr txBox="1"/>
          <p:nvPr/>
        </p:nvSpPr>
        <p:spPr>
          <a:xfrm>
            <a:off x="4546486"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DOCX; môi trường QA; Sim3</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pilot; PDF giới hạn.</a:t>
            </a:r>
            <a:endParaRPr lang="en-US" sz="1800" dirty="0"/>
          </a:p>
        </p:txBody>
      </p:sp>
      <p:sp>
        <p:nvSpPr>
          <p:cNvPr id="22" name="Shape 20"/>
          <p:cNvSpPr/>
          <p:nvPr/>
        </p:nvSpPr>
        <p:spPr>
          <a:xfrm>
            <a:off x="8064298" y="2209800"/>
            <a:ext cx="3517812" cy="3505200"/>
          </a:xfrm>
          <a:prstGeom prst="roundRect">
            <a:avLst>
              <a:gd name="adj" fmla="val 2717"/>
            </a:avLst>
          </a:prstGeom>
          <a:solidFill>
            <a:srgbClr val="FFFFFF"/>
          </a:solidFill>
          <a:ln w="7620">
            <a:solidFill>
              <a:srgbClr val="D8E1EB"/>
            </a:solidFill>
            <a:prstDash val="solid"/>
          </a:ln>
        </p:spPr>
      </p:sp>
      <p:sp>
        <p:nvSpPr>
          <p:cNvPr id="23" name="Shape 21"/>
          <p:cNvSpPr/>
          <p:nvPr/>
        </p:nvSpPr>
        <p:spPr>
          <a:xfrm>
            <a:off x="8235744" y="2400300"/>
            <a:ext cx="304792" cy="38100"/>
          </a:xfrm>
          <a:prstGeom prst="rect">
            <a:avLst/>
          </a:prstGeom>
          <a:solidFill>
            <a:srgbClr val="2E7D32"/>
          </a:solidFill>
          <a:ln w="12700">
            <a:solidFill>
              <a:srgbClr val="2E7D32">
                <a:alpha val="0"/>
              </a:srgbClr>
            </a:solidFill>
            <a:prstDash val="solid"/>
          </a:ln>
        </p:spPr>
      </p:sp>
      <p:sp>
        <p:nvSpPr>
          <p:cNvPr id="24" name="Text 22"/>
          <p:cNvSpPr txBox="1"/>
          <p:nvPr/>
        </p:nvSpPr>
        <p:spPr>
          <a:xfrm>
            <a:off x="8273843"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2E7D32"/>
                </a:solidFill>
                <a:latin typeface="Arial" pitchFamily="34" charset="0"/>
                <a:ea typeface="Arial" pitchFamily="34" charset="-122"/>
                <a:cs typeface="Arial" pitchFamily="34" charset="-120"/>
              </a:rPr>
              <a:t>Thấp — 2</a:t>
            </a:r>
            <a:endParaRPr lang="en-US" sz="2000" dirty="0"/>
          </a:p>
        </p:txBody>
      </p:sp>
      <p:sp>
        <p:nvSpPr>
          <p:cNvPr id="25" name="Text 23"/>
          <p:cNvSpPr txBox="1"/>
          <p:nvPr/>
        </p:nvSpPr>
        <p:spPr>
          <a:xfrm>
            <a:off x="8273843"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Bundle 1.35 MiB; một số</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mục Chương 3 đã loại.</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SO SÁNH VÀ ĐÁNH GIÁ</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Năm rủi ro và cách xử lý</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Ước lượng định tính để ưu tiên; chưa có dữ liệu xác suất.</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Biện pháp dự kiến không phải tính năng đã có; không tự nhận export/import JSON.</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25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8964482" cy="38100"/>
          </a:xfrm>
          <a:prstGeom prst="rect">
            <a:avLst/>
          </a:prstGeom>
          <a:solidFill>
            <a:srgbClr val="F77F00"/>
          </a:solidFill>
          <a:ln w="12700">
            <a:solidFill>
              <a:srgbClr val="F77F00">
                <a:alpha val="0"/>
              </a:srgbClr>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2705554"/>
                <a:gridCol w="2705554"/>
                <a:gridCol w="5561417"/>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Rủi ro</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Ảnh hưởng</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Biện pháp</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DOCX thay đổi</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Lệch nguồn–đầu ra</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Tái tạo và kiểm nội dung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WebGL không hỗ trợ</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Không dùng được 3D</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Giữ Sim2 và kiểm fallback</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Nội dung lỗi thời</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Sai học thuật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Review, phiên bản, signoff</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Bundle lớn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Chậm tải ban đầu</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Đo trên máy đích rồi tối ưu</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Mất localStorage</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Mất dữ liệu tự học</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Hướng dẫn lưu/chuyển, thiết kế backup</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TÁC ĐỘNG VÀ KHUYẾN NGHỊ</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Tác động giáo dục cần kiểm chứng</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Giá trị kỳ vọng đối với ba nhóm, không phải hiệu quả đã đo.</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Cần nghiên cứu người học để kết luận hiệu quả, chi phí và khả năng nhân rộng.</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26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9323061"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3517812" cy="3505200"/>
          </a:xfrm>
          <a:prstGeom prst="roundRect">
            <a:avLst>
              <a:gd name="adj" fmla="val 2717"/>
            </a:avLst>
          </a:prstGeom>
          <a:solidFill>
            <a:srgbClr val="FFFFFF"/>
          </a:solidFill>
          <a:ln w="7620">
            <a:solidFill>
              <a:srgbClr val="D8E1EB"/>
            </a:solidFill>
            <a:prstDash val="solid"/>
          </a:ln>
        </p:spPr>
      </p:sp>
      <p:sp>
        <p:nvSpPr>
          <p:cNvPr id="15" name="Shape 13"/>
          <p:cNvSpPr/>
          <p:nvPr/>
        </p:nvSpPr>
        <p:spPr>
          <a:xfrm>
            <a:off x="781030" y="2400300"/>
            <a:ext cx="304792" cy="38100"/>
          </a:xfrm>
          <a:prstGeom prst="rect">
            <a:avLst/>
          </a:prstGeom>
          <a:solidFill>
            <a:srgbClr val="F77F00"/>
          </a:solidFill>
          <a:ln w="12700">
            <a:solidFill>
              <a:srgbClr val="F77F00">
                <a:alpha val="0"/>
              </a:srgbClr>
            </a:solidFill>
            <a:prstDash val="solid"/>
          </a:ln>
        </p:spPr>
      </p:sp>
      <p:sp>
        <p:nvSpPr>
          <p:cNvPr id="16" name="Text 14"/>
          <p:cNvSpPr txBox="1"/>
          <p:nvPr/>
        </p:nvSpPr>
        <p:spPr>
          <a:xfrm>
            <a:off x="819130"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Học viên</a:t>
            </a:r>
            <a:endParaRPr lang="en-US" sz="2000" dirty="0"/>
          </a:p>
        </p:txBody>
      </p:sp>
      <p:sp>
        <p:nvSpPr>
          <p:cNvPr id="17" name="Text 15"/>
          <p:cNvSpPr txBox="1"/>
          <p:nvPr/>
        </p:nvSpPr>
        <p:spPr>
          <a:xfrm>
            <a:off x="819130"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Đọc ngoại tuyến; quan sát</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mô hình; tự kiểm tra.</a:t>
            </a:r>
            <a:endParaRPr lang="en-US" sz="1800" dirty="0"/>
          </a:p>
        </p:txBody>
      </p:sp>
      <p:sp>
        <p:nvSpPr>
          <p:cNvPr id="18" name="Shape 16"/>
          <p:cNvSpPr/>
          <p:nvPr/>
        </p:nvSpPr>
        <p:spPr>
          <a:xfrm>
            <a:off x="4336942" y="2209800"/>
            <a:ext cx="3517812" cy="3505200"/>
          </a:xfrm>
          <a:prstGeom prst="roundRect">
            <a:avLst>
              <a:gd name="adj" fmla="val 2717"/>
            </a:avLst>
          </a:prstGeom>
          <a:solidFill>
            <a:srgbClr val="FFFFFF"/>
          </a:solidFill>
          <a:ln w="7620">
            <a:solidFill>
              <a:srgbClr val="D8E1EB"/>
            </a:solidFill>
            <a:prstDash val="solid"/>
          </a:ln>
        </p:spPr>
      </p:sp>
      <p:sp>
        <p:nvSpPr>
          <p:cNvPr id="19" name="Shape 17"/>
          <p:cNvSpPr/>
          <p:nvPr/>
        </p:nvSpPr>
        <p:spPr>
          <a:xfrm>
            <a:off x="4508387" y="2400300"/>
            <a:ext cx="304792" cy="38100"/>
          </a:xfrm>
          <a:prstGeom prst="rect">
            <a:avLst/>
          </a:prstGeom>
          <a:solidFill>
            <a:srgbClr val="13315C"/>
          </a:solidFill>
          <a:ln w="12700">
            <a:solidFill>
              <a:srgbClr val="13315C">
                <a:alpha val="0"/>
              </a:srgbClr>
            </a:solidFill>
            <a:prstDash val="solid"/>
          </a:ln>
        </p:spPr>
      </p:sp>
      <p:sp>
        <p:nvSpPr>
          <p:cNvPr id="20" name="Text 18"/>
          <p:cNvSpPr txBox="1"/>
          <p:nvPr/>
        </p:nvSpPr>
        <p:spPr>
          <a:xfrm>
            <a:off x="4546486"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13315C"/>
                </a:solidFill>
                <a:latin typeface="Arial" pitchFamily="34" charset="0"/>
                <a:ea typeface="Arial" pitchFamily="34" charset="-122"/>
                <a:cs typeface="Arial" pitchFamily="34" charset="-120"/>
              </a:rPr>
              <a:t>Giảng viên</a:t>
            </a:r>
            <a:endParaRPr lang="en-US" sz="2000" dirty="0"/>
          </a:p>
        </p:txBody>
      </p:sp>
      <p:sp>
        <p:nvSpPr>
          <p:cNvPr id="21" name="Text 19"/>
          <p:cNvSpPr txBox="1"/>
          <p:nvPr/>
        </p:nvSpPr>
        <p:spPr>
          <a:xfrm>
            <a:off x="4546486"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Sửa nguồn; đối chiếu học liệu</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và câu hỏi.</a:t>
            </a:r>
            <a:endParaRPr lang="en-US" sz="1800" dirty="0"/>
          </a:p>
        </p:txBody>
      </p:sp>
      <p:sp>
        <p:nvSpPr>
          <p:cNvPr id="22" name="Shape 20"/>
          <p:cNvSpPr/>
          <p:nvPr/>
        </p:nvSpPr>
        <p:spPr>
          <a:xfrm>
            <a:off x="8064298" y="2209800"/>
            <a:ext cx="3517812" cy="3505200"/>
          </a:xfrm>
          <a:prstGeom prst="roundRect">
            <a:avLst>
              <a:gd name="adj" fmla="val 2717"/>
            </a:avLst>
          </a:prstGeom>
          <a:solidFill>
            <a:srgbClr val="FFFFFF"/>
          </a:solidFill>
          <a:ln w="7620">
            <a:solidFill>
              <a:srgbClr val="D8E1EB"/>
            </a:solidFill>
            <a:prstDash val="solid"/>
          </a:ln>
        </p:spPr>
      </p:sp>
      <p:sp>
        <p:nvSpPr>
          <p:cNvPr id="23" name="Shape 21"/>
          <p:cNvSpPr/>
          <p:nvPr/>
        </p:nvSpPr>
        <p:spPr>
          <a:xfrm>
            <a:off x="8235744" y="2400300"/>
            <a:ext cx="304792" cy="38100"/>
          </a:xfrm>
          <a:prstGeom prst="rect">
            <a:avLst/>
          </a:prstGeom>
          <a:solidFill>
            <a:srgbClr val="2E7D32"/>
          </a:solidFill>
          <a:ln w="12700">
            <a:solidFill>
              <a:srgbClr val="2E7D32">
                <a:alpha val="0"/>
              </a:srgbClr>
            </a:solidFill>
            <a:prstDash val="solid"/>
          </a:ln>
        </p:spPr>
      </p:sp>
      <p:sp>
        <p:nvSpPr>
          <p:cNvPr id="24" name="Text 22"/>
          <p:cNvSpPr txBox="1"/>
          <p:nvPr/>
        </p:nvSpPr>
        <p:spPr>
          <a:xfrm>
            <a:off x="8273843"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2E7D32"/>
                </a:solidFill>
                <a:latin typeface="Arial" pitchFamily="34" charset="0"/>
                <a:ea typeface="Arial" pitchFamily="34" charset="-122"/>
                <a:cs typeface="Arial" pitchFamily="34" charset="-120"/>
              </a:rPr>
              <a:t>Nhà trường</a:t>
            </a:r>
            <a:endParaRPr lang="en-US" sz="2000" dirty="0"/>
          </a:p>
        </p:txBody>
      </p:sp>
      <p:sp>
        <p:nvSpPr>
          <p:cNvPr id="25" name="Text 23"/>
          <p:cNvSpPr txBox="1"/>
          <p:nvPr/>
        </p:nvSpPr>
        <p:spPr>
          <a:xfrm>
            <a:off x="8273843"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Thí điểm triển khai và tái sử</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dụng pipeline.</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TÁC ĐỘNG VÀ KHUYẾN NGHỊ</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Sáu bài học có thể chuyển giao</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Nguyên tắc thực hành, không phải kết luận tổng quát từ thử nghiệm giáo dục.</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Nhân rộng quy trình kiểm chứng trước khi nhân rộng số lượng tính năng.</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27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9681640"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3517812" cy="1647825"/>
          </a:xfrm>
          <a:prstGeom prst="roundRect">
            <a:avLst>
              <a:gd name="adj" fmla="val 5780"/>
            </a:avLst>
          </a:prstGeom>
          <a:solidFill>
            <a:srgbClr val="FFFFFF"/>
          </a:solidFill>
          <a:ln w="7620">
            <a:solidFill>
              <a:srgbClr val="D8E1EB"/>
            </a:solidFill>
            <a:prstDash val="solid"/>
          </a:ln>
        </p:spPr>
      </p:sp>
      <p:sp>
        <p:nvSpPr>
          <p:cNvPr id="15" name="Shape 13"/>
          <p:cNvSpPr/>
          <p:nvPr/>
        </p:nvSpPr>
        <p:spPr>
          <a:xfrm>
            <a:off x="781030" y="2400300"/>
            <a:ext cx="304792" cy="38100"/>
          </a:xfrm>
          <a:prstGeom prst="rect">
            <a:avLst/>
          </a:prstGeom>
          <a:solidFill>
            <a:srgbClr val="F77F00"/>
          </a:solidFill>
          <a:ln w="12700">
            <a:solidFill>
              <a:srgbClr val="F77F00">
                <a:alpha val="0"/>
              </a:srgbClr>
            </a:solidFill>
            <a:prstDash val="solid"/>
          </a:ln>
        </p:spPr>
      </p:sp>
      <p:sp>
        <p:nvSpPr>
          <p:cNvPr id="16" name="Text 14"/>
          <p:cNvSpPr txBox="1"/>
          <p:nvPr/>
        </p:nvSpPr>
        <p:spPr>
          <a:xfrm>
            <a:off x="819130"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01 · Offline</a:t>
            </a:r>
            <a:endParaRPr lang="en-US" sz="2000" dirty="0"/>
          </a:p>
        </p:txBody>
      </p:sp>
      <p:sp>
        <p:nvSpPr>
          <p:cNvPr id="17" name="Text 15"/>
          <p:cNvSpPr txBox="1"/>
          <p:nvPr/>
        </p:nvSpPr>
        <p:spPr>
          <a:xfrm>
            <a:off x="819130" y="2994660"/>
            <a:ext cx="3098723" cy="68199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Không đánh đổi chất lượng vì</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thiếu mạng.</a:t>
            </a:r>
            <a:endParaRPr lang="en-US" sz="1800" dirty="0"/>
          </a:p>
        </p:txBody>
      </p:sp>
      <p:sp>
        <p:nvSpPr>
          <p:cNvPr id="18" name="Shape 16"/>
          <p:cNvSpPr/>
          <p:nvPr/>
        </p:nvSpPr>
        <p:spPr>
          <a:xfrm>
            <a:off x="4336942" y="2209800"/>
            <a:ext cx="3517812" cy="1647825"/>
          </a:xfrm>
          <a:prstGeom prst="roundRect">
            <a:avLst>
              <a:gd name="adj" fmla="val 5780"/>
            </a:avLst>
          </a:prstGeom>
          <a:solidFill>
            <a:srgbClr val="FFFFFF"/>
          </a:solidFill>
          <a:ln w="7620">
            <a:solidFill>
              <a:srgbClr val="D8E1EB"/>
            </a:solidFill>
            <a:prstDash val="solid"/>
          </a:ln>
        </p:spPr>
      </p:sp>
      <p:sp>
        <p:nvSpPr>
          <p:cNvPr id="19" name="Shape 17"/>
          <p:cNvSpPr/>
          <p:nvPr/>
        </p:nvSpPr>
        <p:spPr>
          <a:xfrm>
            <a:off x="4508387" y="2400300"/>
            <a:ext cx="304792" cy="38100"/>
          </a:xfrm>
          <a:prstGeom prst="rect">
            <a:avLst/>
          </a:prstGeom>
          <a:solidFill>
            <a:srgbClr val="13315C"/>
          </a:solidFill>
          <a:ln w="12700">
            <a:solidFill>
              <a:srgbClr val="13315C">
                <a:alpha val="0"/>
              </a:srgbClr>
            </a:solidFill>
            <a:prstDash val="solid"/>
          </a:ln>
        </p:spPr>
      </p:sp>
      <p:sp>
        <p:nvSpPr>
          <p:cNvPr id="20" name="Text 18"/>
          <p:cNvSpPr txBox="1"/>
          <p:nvPr/>
        </p:nvSpPr>
        <p:spPr>
          <a:xfrm>
            <a:off x="4546486"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13315C"/>
                </a:solidFill>
                <a:latin typeface="Arial" pitchFamily="34" charset="0"/>
                <a:ea typeface="Arial" pitchFamily="34" charset="-122"/>
                <a:cs typeface="Arial" pitchFamily="34" charset="-120"/>
              </a:rPr>
              <a:t>02 · Pipeline</a:t>
            </a:r>
            <a:endParaRPr lang="en-US" sz="2000" dirty="0"/>
          </a:p>
        </p:txBody>
      </p:sp>
      <p:sp>
        <p:nvSpPr>
          <p:cNvPr id="21" name="Text 19"/>
          <p:cNvSpPr txBox="1"/>
          <p:nvPr/>
        </p:nvSpPr>
        <p:spPr>
          <a:xfrm>
            <a:off x="4546486" y="2994660"/>
            <a:ext cx="3098723" cy="68199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Sửa nguồn rồi tái tạo đầu</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ra.</a:t>
            </a:r>
            <a:endParaRPr lang="en-US" sz="1800" dirty="0"/>
          </a:p>
        </p:txBody>
      </p:sp>
      <p:sp>
        <p:nvSpPr>
          <p:cNvPr id="22" name="Shape 20"/>
          <p:cNvSpPr/>
          <p:nvPr/>
        </p:nvSpPr>
        <p:spPr>
          <a:xfrm>
            <a:off x="8064298" y="2209800"/>
            <a:ext cx="3517812" cy="1647825"/>
          </a:xfrm>
          <a:prstGeom prst="roundRect">
            <a:avLst>
              <a:gd name="adj" fmla="val 5780"/>
            </a:avLst>
          </a:prstGeom>
          <a:solidFill>
            <a:srgbClr val="FFFFFF"/>
          </a:solidFill>
          <a:ln w="7620">
            <a:solidFill>
              <a:srgbClr val="D8E1EB"/>
            </a:solidFill>
            <a:prstDash val="solid"/>
          </a:ln>
        </p:spPr>
      </p:sp>
      <p:sp>
        <p:nvSpPr>
          <p:cNvPr id="23" name="Shape 21"/>
          <p:cNvSpPr/>
          <p:nvPr/>
        </p:nvSpPr>
        <p:spPr>
          <a:xfrm>
            <a:off x="8235744" y="2400300"/>
            <a:ext cx="304792" cy="38100"/>
          </a:xfrm>
          <a:prstGeom prst="rect">
            <a:avLst/>
          </a:prstGeom>
          <a:solidFill>
            <a:srgbClr val="2E7D32"/>
          </a:solidFill>
          <a:ln w="12700">
            <a:solidFill>
              <a:srgbClr val="2E7D32">
                <a:alpha val="0"/>
              </a:srgbClr>
            </a:solidFill>
            <a:prstDash val="solid"/>
          </a:ln>
        </p:spPr>
      </p:sp>
      <p:sp>
        <p:nvSpPr>
          <p:cNvPr id="24" name="Text 22"/>
          <p:cNvSpPr txBox="1"/>
          <p:nvPr/>
        </p:nvSpPr>
        <p:spPr>
          <a:xfrm>
            <a:off x="8273843"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2E7D32"/>
                </a:solidFill>
                <a:latin typeface="Arial" pitchFamily="34" charset="0"/>
                <a:ea typeface="Arial" pitchFamily="34" charset="-122"/>
                <a:cs typeface="Arial" pitchFamily="34" charset="-120"/>
              </a:rPr>
              <a:t>03 · Truy vết</a:t>
            </a:r>
            <a:endParaRPr lang="en-US" sz="2000" dirty="0"/>
          </a:p>
        </p:txBody>
      </p:sp>
      <p:sp>
        <p:nvSpPr>
          <p:cNvPr id="25" name="Text 23"/>
          <p:cNvSpPr txBox="1"/>
          <p:nvPr/>
        </p:nvSpPr>
        <p:spPr>
          <a:xfrm>
            <a:off x="8273843" y="2994660"/>
            <a:ext cx="3098723" cy="68199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Thiết kế liên kết từ đầu.</a:t>
            </a:r>
            <a:endParaRPr lang="en-US" sz="1800" dirty="0"/>
          </a:p>
        </p:txBody>
      </p:sp>
      <p:sp>
        <p:nvSpPr>
          <p:cNvPr id="26" name="Shape 24"/>
          <p:cNvSpPr/>
          <p:nvPr/>
        </p:nvSpPr>
        <p:spPr>
          <a:xfrm>
            <a:off x="609585" y="4067175"/>
            <a:ext cx="3517812" cy="1647825"/>
          </a:xfrm>
          <a:prstGeom prst="roundRect">
            <a:avLst>
              <a:gd name="adj" fmla="val 5780"/>
            </a:avLst>
          </a:prstGeom>
          <a:solidFill>
            <a:srgbClr val="FFFFFF"/>
          </a:solidFill>
          <a:ln w="7620">
            <a:solidFill>
              <a:srgbClr val="D8E1EB"/>
            </a:solidFill>
            <a:prstDash val="solid"/>
          </a:ln>
        </p:spPr>
      </p:sp>
      <p:sp>
        <p:nvSpPr>
          <p:cNvPr id="27" name="Shape 25"/>
          <p:cNvSpPr/>
          <p:nvPr/>
        </p:nvSpPr>
        <p:spPr>
          <a:xfrm>
            <a:off x="781030" y="4257675"/>
            <a:ext cx="304792" cy="38100"/>
          </a:xfrm>
          <a:prstGeom prst="rect">
            <a:avLst/>
          </a:prstGeom>
          <a:solidFill>
            <a:srgbClr val="F77F00"/>
          </a:solidFill>
          <a:ln w="12700">
            <a:solidFill>
              <a:srgbClr val="F77F00">
                <a:alpha val="0"/>
              </a:srgbClr>
            </a:solidFill>
            <a:prstDash val="solid"/>
          </a:ln>
        </p:spPr>
      </p:sp>
      <p:sp>
        <p:nvSpPr>
          <p:cNvPr id="28" name="Text 26"/>
          <p:cNvSpPr txBox="1"/>
          <p:nvPr/>
        </p:nvSpPr>
        <p:spPr>
          <a:xfrm>
            <a:off x="819130" y="4429125"/>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04 · Tiếp cận</a:t>
            </a:r>
            <a:endParaRPr lang="en-US" sz="2000" dirty="0"/>
          </a:p>
        </p:txBody>
      </p:sp>
      <p:sp>
        <p:nvSpPr>
          <p:cNvPr id="29" name="Text 27"/>
          <p:cNvSpPr txBox="1"/>
          <p:nvPr/>
        </p:nvSpPr>
        <p:spPr>
          <a:xfrm>
            <a:off x="819130" y="4852035"/>
            <a:ext cx="3098723" cy="68199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Viết điều kiện kiểm rõ ràng.</a:t>
            </a:r>
            <a:endParaRPr lang="en-US" sz="1800" dirty="0"/>
          </a:p>
        </p:txBody>
      </p:sp>
      <p:sp>
        <p:nvSpPr>
          <p:cNvPr id="30" name="Shape 28"/>
          <p:cNvSpPr/>
          <p:nvPr/>
        </p:nvSpPr>
        <p:spPr>
          <a:xfrm>
            <a:off x="4336942" y="4067175"/>
            <a:ext cx="3517812" cy="1647825"/>
          </a:xfrm>
          <a:prstGeom prst="roundRect">
            <a:avLst>
              <a:gd name="adj" fmla="val 5780"/>
            </a:avLst>
          </a:prstGeom>
          <a:solidFill>
            <a:srgbClr val="FFFFFF"/>
          </a:solidFill>
          <a:ln w="7620">
            <a:solidFill>
              <a:srgbClr val="D8E1EB"/>
            </a:solidFill>
            <a:prstDash val="solid"/>
          </a:ln>
        </p:spPr>
      </p:sp>
      <p:sp>
        <p:nvSpPr>
          <p:cNvPr id="31" name="Shape 29"/>
          <p:cNvSpPr/>
          <p:nvPr/>
        </p:nvSpPr>
        <p:spPr>
          <a:xfrm>
            <a:off x="4508387" y="4257675"/>
            <a:ext cx="304792" cy="38100"/>
          </a:xfrm>
          <a:prstGeom prst="rect">
            <a:avLst/>
          </a:prstGeom>
          <a:solidFill>
            <a:srgbClr val="13315C"/>
          </a:solidFill>
          <a:ln w="12700">
            <a:solidFill>
              <a:srgbClr val="13315C">
                <a:alpha val="0"/>
              </a:srgbClr>
            </a:solidFill>
            <a:prstDash val="solid"/>
          </a:ln>
        </p:spPr>
      </p:sp>
      <p:sp>
        <p:nvSpPr>
          <p:cNvPr id="32" name="Text 30"/>
          <p:cNvSpPr txBox="1"/>
          <p:nvPr/>
        </p:nvSpPr>
        <p:spPr>
          <a:xfrm>
            <a:off x="4546486" y="4429125"/>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13315C"/>
                </a:solidFill>
                <a:latin typeface="Arial" pitchFamily="34" charset="0"/>
                <a:ea typeface="Arial" pitchFamily="34" charset="-122"/>
                <a:cs typeface="Arial" pitchFamily="34" charset="-120"/>
              </a:rPr>
              <a:t>05 · Release</a:t>
            </a:r>
            <a:endParaRPr lang="en-US" sz="2000" dirty="0"/>
          </a:p>
        </p:txBody>
      </p:sp>
      <p:sp>
        <p:nvSpPr>
          <p:cNvPr id="33" name="Text 31"/>
          <p:cNvSpPr txBox="1"/>
          <p:nvPr/>
        </p:nvSpPr>
        <p:spPr>
          <a:xfrm>
            <a:off x="4546486" y="4852035"/>
            <a:ext cx="3098723" cy="68199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Gắn phiên bản và hash.</a:t>
            </a:r>
            <a:endParaRPr lang="en-US" sz="1800" dirty="0"/>
          </a:p>
        </p:txBody>
      </p:sp>
      <p:sp>
        <p:nvSpPr>
          <p:cNvPr id="34" name="Shape 32"/>
          <p:cNvSpPr/>
          <p:nvPr/>
        </p:nvSpPr>
        <p:spPr>
          <a:xfrm>
            <a:off x="8064298" y="4067175"/>
            <a:ext cx="3517812" cy="1647825"/>
          </a:xfrm>
          <a:prstGeom prst="roundRect">
            <a:avLst>
              <a:gd name="adj" fmla="val 5780"/>
            </a:avLst>
          </a:prstGeom>
          <a:solidFill>
            <a:srgbClr val="FFFFFF"/>
          </a:solidFill>
          <a:ln w="7620">
            <a:solidFill>
              <a:srgbClr val="D8E1EB"/>
            </a:solidFill>
            <a:prstDash val="solid"/>
          </a:ln>
        </p:spPr>
      </p:sp>
      <p:sp>
        <p:nvSpPr>
          <p:cNvPr id="35" name="Shape 33"/>
          <p:cNvSpPr/>
          <p:nvPr/>
        </p:nvSpPr>
        <p:spPr>
          <a:xfrm>
            <a:off x="8235744" y="4257675"/>
            <a:ext cx="304792" cy="38100"/>
          </a:xfrm>
          <a:prstGeom prst="rect">
            <a:avLst/>
          </a:prstGeom>
          <a:solidFill>
            <a:srgbClr val="2E7D32"/>
          </a:solidFill>
          <a:ln w="12700">
            <a:solidFill>
              <a:srgbClr val="2E7D32">
                <a:alpha val="0"/>
              </a:srgbClr>
            </a:solidFill>
            <a:prstDash val="solid"/>
          </a:ln>
        </p:spPr>
      </p:sp>
      <p:sp>
        <p:nvSpPr>
          <p:cNvPr id="36" name="Text 34"/>
          <p:cNvSpPr txBox="1"/>
          <p:nvPr/>
        </p:nvSpPr>
        <p:spPr>
          <a:xfrm>
            <a:off x="8273843" y="4429125"/>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2E7D32"/>
                </a:solidFill>
                <a:latin typeface="Arial" pitchFamily="34" charset="0"/>
                <a:ea typeface="Arial" pitchFamily="34" charset="-122"/>
                <a:cs typeface="Arial" pitchFamily="34" charset="-120"/>
              </a:rPr>
              <a:t>06 · Trung thực</a:t>
            </a:r>
            <a:endParaRPr lang="en-US" sz="2000" dirty="0"/>
          </a:p>
        </p:txBody>
      </p:sp>
      <p:sp>
        <p:nvSpPr>
          <p:cNvPr id="37" name="Text 35"/>
          <p:cNvSpPr txBox="1"/>
          <p:nvPr/>
        </p:nvSpPr>
        <p:spPr>
          <a:xfrm>
            <a:off x="8273843" y="4852035"/>
            <a:ext cx="3098723" cy="681990"/>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Giữ nguyên fail, blocked và</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giới hạn.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TÁC ĐỘNG VÀ KHUYẾN NGHỊ</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Roadmap đề xuất: ba giai đoạn</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Mốc tương đối từ khi kế hoạch được đơn vị phê duyệt.</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Ưu tiên đóng điều kiện chấp nhận; không mở rộng 3D chỉ để tăng số lượng.</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28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10040220"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3517812" cy="3505200"/>
          </a:xfrm>
          <a:prstGeom prst="roundRect">
            <a:avLst>
              <a:gd name="adj" fmla="val 2717"/>
            </a:avLst>
          </a:prstGeom>
          <a:solidFill>
            <a:srgbClr val="FFFFFF"/>
          </a:solidFill>
          <a:ln w="7620">
            <a:solidFill>
              <a:srgbClr val="D8E1EB"/>
            </a:solidFill>
            <a:prstDash val="solid"/>
          </a:ln>
        </p:spPr>
      </p:sp>
      <p:sp>
        <p:nvSpPr>
          <p:cNvPr id="15" name="Shape 13"/>
          <p:cNvSpPr/>
          <p:nvPr/>
        </p:nvSpPr>
        <p:spPr>
          <a:xfrm>
            <a:off x="781030" y="2400300"/>
            <a:ext cx="304792" cy="38100"/>
          </a:xfrm>
          <a:prstGeom prst="rect">
            <a:avLst/>
          </a:prstGeom>
          <a:solidFill>
            <a:srgbClr val="F77F00"/>
          </a:solidFill>
          <a:ln w="12700">
            <a:solidFill>
              <a:srgbClr val="F77F00">
                <a:alpha val="0"/>
              </a:srgbClr>
            </a:solidFill>
            <a:prstDash val="solid"/>
          </a:ln>
        </p:spPr>
      </p:sp>
      <p:sp>
        <p:nvSpPr>
          <p:cNvPr id="16" name="Text 14"/>
          <p:cNvSpPr txBox="1"/>
          <p:nvPr/>
        </p:nvSpPr>
        <p:spPr>
          <a:xfrm>
            <a:off x="819130"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0–3 tháng</a:t>
            </a:r>
            <a:endParaRPr lang="en-US" sz="2000" dirty="0"/>
          </a:p>
        </p:txBody>
      </p:sp>
      <p:sp>
        <p:nvSpPr>
          <p:cNvPr id="17" name="Text 15"/>
          <p:cNvSpPr txBox="1"/>
          <p:nvPr/>
        </p:nvSpPr>
        <p:spPr>
          <a:xfrm>
            <a:off x="819130"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Sửa fail; revalidate; review</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học thuật, tiếp cận, smoke,</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Word.</a:t>
            </a:r>
            <a:endParaRPr lang="en-US" sz="1800" dirty="0"/>
          </a:p>
        </p:txBody>
      </p:sp>
      <p:sp>
        <p:nvSpPr>
          <p:cNvPr id="18" name="Shape 16"/>
          <p:cNvSpPr/>
          <p:nvPr/>
        </p:nvSpPr>
        <p:spPr>
          <a:xfrm>
            <a:off x="4336942" y="2209800"/>
            <a:ext cx="3517812" cy="3505200"/>
          </a:xfrm>
          <a:prstGeom prst="roundRect">
            <a:avLst>
              <a:gd name="adj" fmla="val 2717"/>
            </a:avLst>
          </a:prstGeom>
          <a:solidFill>
            <a:srgbClr val="FFFFFF"/>
          </a:solidFill>
          <a:ln w="7620">
            <a:solidFill>
              <a:srgbClr val="D8E1EB"/>
            </a:solidFill>
            <a:prstDash val="solid"/>
          </a:ln>
        </p:spPr>
      </p:sp>
      <p:sp>
        <p:nvSpPr>
          <p:cNvPr id="19" name="Shape 17"/>
          <p:cNvSpPr/>
          <p:nvPr/>
        </p:nvSpPr>
        <p:spPr>
          <a:xfrm>
            <a:off x="4508387" y="2400300"/>
            <a:ext cx="304792" cy="38100"/>
          </a:xfrm>
          <a:prstGeom prst="rect">
            <a:avLst/>
          </a:prstGeom>
          <a:solidFill>
            <a:srgbClr val="13315C"/>
          </a:solidFill>
          <a:ln w="12700">
            <a:solidFill>
              <a:srgbClr val="13315C">
                <a:alpha val="0"/>
              </a:srgbClr>
            </a:solidFill>
            <a:prstDash val="solid"/>
          </a:ln>
        </p:spPr>
      </p:sp>
      <p:sp>
        <p:nvSpPr>
          <p:cNvPr id="20" name="Text 18"/>
          <p:cNvSpPr txBox="1"/>
          <p:nvPr/>
        </p:nvSpPr>
        <p:spPr>
          <a:xfrm>
            <a:off x="4546486"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13315C"/>
                </a:solidFill>
                <a:latin typeface="Arial" pitchFamily="34" charset="0"/>
                <a:ea typeface="Arial" pitchFamily="34" charset="-122"/>
                <a:cs typeface="Arial" pitchFamily="34" charset="-120"/>
              </a:rPr>
              <a:t>3–6 tháng</a:t>
            </a:r>
            <a:endParaRPr lang="en-US" sz="2000" dirty="0"/>
          </a:p>
        </p:txBody>
      </p:sp>
      <p:sp>
        <p:nvSpPr>
          <p:cNvPr id="21" name="Text 19"/>
          <p:cNvSpPr txBox="1"/>
          <p:nvPr/>
        </p:nvSpPr>
        <p:spPr>
          <a:xfrm>
            <a:off x="4546486"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Thử Moodle/Canvas; mở 3D</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khi có giá trị sư phạm.</a:t>
            </a:r>
            <a:endParaRPr lang="en-US" sz="1800" dirty="0"/>
          </a:p>
        </p:txBody>
      </p:sp>
      <p:sp>
        <p:nvSpPr>
          <p:cNvPr id="22" name="Shape 20"/>
          <p:cNvSpPr/>
          <p:nvPr/>
        </p:nvSpPr>
        <p:spPr>
          <a:xfrm>
            <a:off x="8064298" y="2209800"/>
            <a:ext cx="3517812" cy="3505200"/>
          </a:xfrm>
          <a:prstGeom prst="roundRect">
            <a:avLst>
              <a:gd name="adj" fmla="val 2717"/>
            </a:avLst>
          </a:prstGeom>
          <a:solidFill>
            <a:srgbClr val="FFFFFF"/>
          </a:solidFill>
          <a:ln w="7620">
            <a:solidFill>
              <a:srgbClr val="D8E1EB"/>
            </a:solidFill>
            <a:prstDash val="solid"/>
          </a:ln>
        </p:spPr>
      </p:sp>
      <p:sp>
        <p:nvSpPr>
          <p:cNvPr id="23" name="Shape 21"/>
          <p:cNvSpPr/>
          <p:nvPr/>
        </p:nvSpPr>
        <p:spPr>
          <a:xfrm>
            <a:off x="8235744" y="2400300"/>
            <a:ext cx="304792" cy="38100"/>
          </a:xfrm>
          <a:prstGeom prst="rect">
            <a:avLst/>
          </a:prstGeom>
          <a:solidFill>
            <a:srgbClr val="2E7D32"/>
          </a:solidFill>
          <a:ln w="12700">
            <a:solidFill>
              <a:srgbClr val="2E7D32">
                <a:alpha val="0"/>
              </a:srgbClr>
            </a:solidFill>
            <a:prstDash val="solid"/>
          </a:ln>
        </p:spPr>
      </p:sp>
      <p:sp>
        <p:nvSpPr>
          <p:cNvPr id="24" name="Text 22"/>
          <p:cNvSpPr txBox="1"/>
          <p:nvPr/>
        </p:nvSpPr>
        <p:spPr>
          <a:xfrm>
            <a:off x="8273843"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2E7D32"/>
                </a:solidFill>
                <a:latin typeface="Arial" pitchFamily="34" charset="0"/>
                <a:ea typeface="Arial" pitchFamily="34" charset="-122"/>
                <a:cs typeface="Arial" pitchFamily="34" charset="-120"/>
              </a:rPr>
              <a:t>6–12 tháng</a:t>
            </a:r>
            <a:endParaRPr lang="en-US" sz="2000" dirty="0"/>
          </a:p>
        </p:txBody>
      </p:sp>
      <p:sp>
        <p:nvSpPr>
          <p:cNvPr id="25" name="Text 23"/>
          <p:cNvSpPr txBox="1"/>
          <p:nvPr/>
        </p:nvSpPr>
        <p:spPr>
          <a:xfrm>
            <a:off x="8273843"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Đo tải; nâng PDF; thí điểm</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học phần khác.</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TÁC ĐỘNG VÀ KHUYẾN NGHỊ</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KPI: baseline và mục tiêu đề xuất</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Mỗi mục tiêu cần định nghĩa cách đo, người xác nhận và bản nguồn.</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Mục tiêu không phải cam kết; 25 vị trí và 10 bản 3D không cộng thành 35 bài.</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29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10398799" cy="38100"/>
          </a:xfrm>
          <a:prstGeom prst="rect">
            <a:avLst/>
          </a:prstGeom>
          <a:solidFill>
            <a:srgbClr val="F77F00"/>
          </a:solidFill>
          <a:ln w="12700">
            <a:solidFill>
              <a:srgbClr val="F77F00">
                <a:alpha val="0"/>
              </a:srgbClr>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2743131"/>
                <a:gridCol w="2743131"/>
                <a:gridCol w="3771806"/>
                <a:gridCol w="1714457"/>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Chỉ số</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Baseline hồ sơ</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Mục tiêu đề xuất</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Mốc</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QA thực tế</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11/24 pass</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24/24, đủ evidence</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0–3 tháng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Review tiếp cận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Blocked</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Hoàn tất độc lập</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0–3 tháng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Academic signoff</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0 bản ghi</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Đủ phạm vi duyệt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0–3 tháng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Mô phỏng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25 vị trí; 10 3D</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Giữ đúng; mở có căn cứ</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3–6 tháng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LMS đích</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Chưa có run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2 đích có evidence</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3–6 tháng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Học phần áp dụng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1 hiện vật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Thí điểm tới 3 môn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6–12 tháng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TÁC ĐỘNG VÀ KHUYẾN NGHỊ</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Năm khuyến nghị cho hội đồng</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Đề nghị thống nhất ưu tiên và điều kiện chuyển bước.</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Đề nghị tiếp tục hoàn thiện có điều kiện, chưa đề nghị nghiệm thu cuối cùng.</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30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10757378" cy="38100"/>
          </a:xfrm>
          <a:prstGeom prst="rect">
            <a:avLst/>
          </a:prstGeom>
          <a:solidFill>
            <a:srgbClr val="F77F00"/>
          </a:solidFill>
          <a:ln w="12700">
            <a:solidFill>
              <a:srgbClr val="F77F00">
                <a:alpha val="0"/>
              </a:srgbClr>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2887507"/>
                <a:gridCol w="8085019"/>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Ưu tiên</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Khuyến nghị</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1 · Học thuật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Review độc lập và signoff đúng thẩm quyền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2 · Tiếp cận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Kiểm thủ công, thiết bị và người dùng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3 · Liên thông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Thử LMS đích, ghi bằng chứng nhập/chạy</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4 · Chuyển giao</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Thí điểm môn khác với nguồn lực rõ</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610819">
                <a:tc>
                  <a:txBody>
                    <a:bodyPr/>
                    <a:lstStyle/>
                    <a:p>
                      <a:pPr indent="0" marL="0">
                        <a:buNone/>
                      </a:pPr>
                      <a:r>
                        <a:rPr lang="en-US" sz="1800" dirty="0">
                          <a:solidFill>
                            <a:srgbClr val="24364A"/>
                          </a:solidFill>
                          <a:latin typeface="Arial" pitchFamily="34" charset="0"/>
                          <a:ea typeface="Arial" pitchFamily="34" charset="-122"/>
                          <a:cs typeface="Arial" pitchFamily="34" charset="-120"/>
                        </a:rPr>
                        <a:t>5 · Minh bạch</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Không nâng trạng thái bằng lời thuyết minh</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KẾT THÚC</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Kết luận: ba luận điểm</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Có hiện vật kỹ thuật; cần review độc lập; có hướng chuyển giao.</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Tiếp tục đầu tư vào bằng chứng và thẩm định trước khi mở rộng phạm vi.</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31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11115957"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209800"/>
            <a:ext cx="3517812" cy="3505200"/>
          </a:xfrm>
          <a:prstGeom prst="roundRect">
            <a:avLst>
              <a:gd name="adj" fmla="val 2717"/>
            </a:avLst>
          </a:prstGeom>
          <a:solidFill>
            <a:srgbClr val="FFFFFF"/>
          </a:solidFill>
          <a:ln w="7620">
            <a:solidFill>
              <a:srgbClr val="D8E1EB"/>
            </a:solidFill>
            <a:prstDash val="solid"/>
          </a:ln>
        </p:spPr>
      </p:sp>
      <p:sp>
        <p:nvSpPr>
          <p:cNvPr id="15" name="Shape 13"/>
          <p:cNvSpPr/>
          <p:nvPr/>
        </p:nvSpPr>
        <p:spPr>
          <a:xfrm>
            <a:off x="781030" y="2400300"/>
            <a:ext cx="304792" cy="38100"/>
          </a:xfrm>
          <a:prstGeom prst="rect">
            <a:avLst/>
          </a:prstGeom>
          <a:solidFill>
            <a:srgbClr val="2E7D32"/>
          </a:solidFill>
          <a:ln w="12700">
            <a:solidFill>
              <a:srgbClr val="2E7D32">
                <a:alpha val="0"/>
              </a:srgbClr>
            </a:solidFill>
            <a:prstDash val="solid"/>
          </a:ln>
        </p:spPr>
      </p:sp>
      <p:sp>
        <p:nvSpPr>
          <p:cNvPr id="16" name="Text 14"/>
          <p:cNvSpPr txBox="1"/>
          <p:nvPr/>
        </p:nvSpPr>
        <p:spPr>
          <a:xfrm>
            <a:off x="819130"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2E7D32"/>
                </a:solidFill>
                <a:latin typeface="Arial" pitchFamily="34" charset="0"/>
                <a:ea typeface="Arial" pitchFamily="34" charset="-122"/>
                <a:cs typeface="Arial" pitchFamily="34" charset="-120"/>
              </a:rPr>
              <a:t>Khả thi về thiết kế</a:t>
            </a:r>
            <a:endParaRPr lang="en-US" sz="2000" dirty="0"/>
          </a:p>
        </p:txBody>
      </p:sp>
      <p:sp>
        <p:nvSpPr>
          <p:cNvPr id="17" name="Text 15"/>
          <p:cNvSpPr txBox="1"/>
          <p:nvPr/>
        </p:nvSpPr>
        <p:spPr>
          <a:xfrm>
            <a:off x="819130"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Gói cục bộ và runtime tĩnh</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đã được xây dựng.</a:t>
            </a:r>
            <a:endParaRPr lang="en-US" sz="1800" dirty="0"/>
          </a:p>
        </p:txBody>
      </p:sp>
      <p:sp>
        <p:nvSpPr>
          <p:cNvPr id="18" name="Shape 16"/>
          <p:cNvSpPr/>
          <p:nvPr/>
        </p:nvSpPr>
        <p:spPr>
          <a:xfrm>
            <a:off x="4336942" y="2209800"/>
            <a:ext cx="3517812" cy="3505200"/>
          </a:xfrm>
          <a:prstGeom prst="roundRect">
            <a:avLst>
              <a:gd name="adj" fmla="val 2717"/>
            </a:avLst>
          </a:prstGeom>
          <a:solidFill>
            <a:srgbClr val="FFFFFF"/>
          </a:solidFill>
          <a:ln w="7620">
            <a:solidFill>
              <a:srgbClr val="D8E1EB"/>
            </a:solidFill>
            <a:prstDash val="solid"/>
          </a:ln>
        </p:spPr>
      </p:sp>
      <p:sp>
        <p:nvSpPr>
          <p:cNvPr id="19" name="Shape 17"/>
          <p:cNvSpPr/>
          <p:nvPr/>
        </p:nvSpPr>
        <p:spPr>
          <a:xfrm>
            <a:off x="4508387" y="2400300"/>
            <a:ext cx="304792" cy="38100"/>
          </a:xfrm>
          <a:prstGeom prst="rect">
            <a:avLst/>
          </a:prstGeom>
          <a:solidFill>
            <a:srgbClr val="C62828"/>
          </a:solidFill>
          <a:ln w="12700">
            <a:solidFill>
              <a:srgbClr val="C62828">
                <a:alpha val="0"/>
              </a:srgbClr>
            </a:solidFill>
            <a:prstDash val="solid"/>
          </a:ln>
        </p:spPr>
      </p:sp>
      <p:sp>
        <p:nvSpPr>
          <p:cNvPr id="20" name="Text 18"/>
          <p:cNvSpPr txBox="1"/>
          <p:nvPr/>
        </p:nvSpPr>
        <p:spPr>
          <a:xfrm>
            <a:off x="4546486"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C62828"/>
                </a:solidFill>
                <a:latin typeface="Arial" pitchFamily="34" charset="0"/>
                <a:ea typeface="Arial" pitchFamily="34" charset="-122"/>
                <a:cs typeface="Arial" pitchFamily="34" charset="-120"/>
              </a:rPr>
              <a:t>Chưa đủ chấp nhận</a:t>
            </a:r>
            <a:endParaRPr lang="en-US" sz="2000" dirty="0"/>
          </a:p>
        </p:txBody>
      </p:sp>
      <p:sp>
        <p:nvSpPr>
          <p:cNvPr id="21" name="Text 19"/>
          <p:cNvSpPr txBox="1"/>
          <p:nvPr/>
        </p:nvSpPr>
        <p:spPr>
          <a:xfrm>
            <a:off x="4546486"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QA còn fail; review vẫn bị</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chặn.</a:t>
            </a:r>
            <a:endParaRPr lang="en-US" sz="1800" dirty="0"/>
          </a:p>
        </p:txBody>
      </p:sp>
      <p:sp>
        <p:nvSpPr>
          <p:cNvPr id="22" name="Shape 20"/>
          <p:cNvSpPr/>
          <p:nvPr/>
        </p:nvSpPr>
        <p:spPr>
          <a:xfrm>
            <a:off x="8064298" y="2209800"/>
            <a:ext cx="3517812" cy="3505200"/>
          </a:xfrm>
          <a:prstGeom prst="roundRect">
            <a:avLst>
              <a:gd name="adj" fmla="val 2717"/>
            </a:avLst>
          </a:prstGeom>
          <a:solidFill>
            <a:srgbClr val="FFFFFF"/>
          </a:solidFill>
          <a:ln w="7620">
            <a:solidFill>
              <a:srgbClr val="D8E1EB"/>
            </a:solidFill>
            <a:prstDash val="solid"/>
          </a:ln>
        </p:spPr>
      </p:sp>
      <p:sp>
        <p:nvSpPr>
          <p:cNvPr id="23" name="Shape 21"/>
          <p:cNvSpPr/>
          <p:nvPr/>
        </p:nvSpPr>
        <p:spPr>
          <a:xfrm>
            <a:off x="8235744" y="2400300"/>
            <a:ext cx="304792" cy="38100"/>
          </a:xfrm>
          <a:prstGeom prst="rect">
            <a:avLst/>
          </a:prstGeom>
          <a:solidFill>
            <a:srgbClr val="2E7D32"/>
          </a:solidFill>
          <a:ln w="12700">
            <a:solidFill>
              <a:srgbClr val="2E7D32">
                <a:alpha val="0"/>
              </a:srgbClr>
            </a:solidFill>
            <a:prstDash val="solid"/>
          </a:ln>
        </p:spPr>
      </p:sp>
      <p:sp>
        <p:nvSpPr>
          <p:cNvPr id="24" name="Text 22"/>
          <p:cNvSpPr txBox="1"/>
          <p:nvPr/>
        </p:nvSpPr>
        <p:spPr>
          <a:xfrm>
            <a:off x="8273843" y="2571750"/>
            <a:ext cx="3098723" cy="318135"/>
          </a:xfrm>
          <a:prstGeom prst="rect">
            <a:avLst/>
          </a:prstGeom>
          <a:noFill/>
          <a:ln/>
        </p:spPr>
        <p:txBody>
          <a:bodyPr wrap="square" lIns="0" tIns="0" rIns="0" bIns="0" rtlCol="0" anchor="t"/>
          <a:lstStyle/>
          <a:p>
            <a:pPr algn="l" indent="0" marL="0">
              <a:lnSpc>
                <a:spcPct val="114000"/>
              </a:lnSpc>
              <a:buNone/>
            </a:pPr>
            <a:r>
              <a:rPr lang="en-US" sz="2000" b="1" dirty="0">
                <a:solidFill>
                  <a:srgbClr val="2E7D32"/>
                </a:solidFill>
                <a:latin typeface="Arial" pitchFamily="34" charset="0"/>
                <a:ea typeface="Arial" pitchFamily="34" charset="-122"/>
                <a:cs typeface="Arial" pitchFamily="34" charset="-120"/>
              </a:rPr>
              <a:t>Có hướng nhân rộng</a:t>
            </a:r>
            <a:endParaRPr lang="en-US" sz="2000" dirty="0"/>
          </a:p>
        </p:txBody>
      </p:sp>
      <p:sp>
        <p:nvSpPr>
          <p:cNvPr id="25" name="Text 23"/>
          <p:cNvSpPr txBox="1"/>
          <p:nvPr/>
        </p:nvSpPr>
        <p:spPr>
          <a:xfrm>
            <a:off x="8273843" y="2994660"/>
            <a:ext cx="3098723" cy="2539365"/>
          </a:xfrm>
          <a:prstGeom prst="rect">
            <a:avLst/>
          </a:prstGeom>
          <a:noFill/>
          <a:ln/>
        </p:spPr>
        <p:txBody>
          <a:bodyPr wrap="square" lIns="0" tIns="0" rIns="0" bIns="0" rtlCol="0" anchor="t"/>
          <a:lstStyle/>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Tái sử dụng quy trình qua</a:t>
            </a:r>
            <a:endParaRPr lang="en-US" sz="1800" dirty="0"/>
          </a:p>
          <a:p>
            <a:pPr algn="l" indent="0" marL="0">
              <a:lnSpc>
                <a:spcPct val="114000"/>
              </a:lnSpc>
              <a:buNone/>
            </a:pPr>
            <a:r>
              <a:rPr lang="en-US" sz="1800" dirty="0">
                <a:solidFill>
                  <a:srgbClr val="24364A"/>
                </a:solidFill>
                <a:latin typeface="Arial" pitchFamily="34" charset="0"/>
                <a:ea typeface="Arial" pitchFamily="34" charset="-122"/>
                <a:cs typeface="Arial" pitchFamily="34" charset="-120"/>
              </a:rPr>
              <a:t>thí điểm.</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BCCBDB"/>
                </a:solidFill>
                <a:latin typeface="Arial" pitchFamily="34" charset="0"/>
                <a:ea typeface="Arial" pitchFamily="34" charset="-122"/>
                <a:cs typeface="Arial" pitchFamily="34" charset="-120"/>
              </a:rPr>
              <a:t>KẾT THÚC</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FFFFFF"/>
                </a:solidFill>
                <a:latin typeface="Arial" pitchFamily="34" charset="0"/>
                <a:ea typeface="Arial" pitchFamily="34" charset="-122"/>
                <a:cs typeface="Arial" pitchFamily="34" charset="-120"/>
              </a:rPr>
              <a:t>HỌC VIỆN HẢI QUÂN</a:t>
            </a:r>
            <a:endParaRPr lang="en-US" sz="1050" dirty="0"/>
          </a:p>
        </p:txBody>
      </p:sp>
      <p:sp>
        <p:nvSpPr>
          <p:cNvPr id="5" name="Shape 3"/>
          <p:cNvSpPr/>
          <p:nvPr/>
        </p:nvSpPr>
        <p:spPr>
          <a:xfrm>
            <a:off x="609585" y="5886450"/>
            <a:ext cx="10972526" cy="533400"/>
          </a:xfrm>
          <a:prstGeom prst="rect">
            <a:avLst/>
          </a:prstGeom>
          <a:solidFill>
            <a:srgbClr val="13315C"/>
          </a:solidFill>
          <a:ln w="12700">
            <a:solidFill>
              <a:srgbClr val="13315C">
                <a:alpha val="0"/>
              </a:srgbClr>
            </a:solidFill>
            <a:prstDash val="solid"/>
          </a:ln>
        </p:spPr>
      </p:sp>
      <p:sp>
        <p:nvSpPr>
          <p:cNvPr id="6" name="Shape 4"/>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7" name="Text 5"/>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FFFFFF"/>
                </a:solidFill>
                <a:latin typeface="Arial" pitchFamily="34" charset="0"/>
                <a:ea typeface="Arial" pitchFamily="34" charset="-122"/>
                <a:cs typeface="Arial" pitchFamily="34" charset="-120"/>
              </a:rPr>
              <a:t>Sẵn sàng đối chiếu nguồn; không suy đoán thay bằng chứng còn thiếu.</a:t>
            </a:r>
            <a:endParaRPr lang="en-US" sz="1700" dirty="0"/>
          </a:p>
        </p:txBody>
      </p:sp>
      <p:sp>
        <p:nvSpPr>
          <p:cNvPr id="8" name="Shape 6"/>
          <p:cNvSpPr/>
          <p:nvPr/>
        </p:nvSpPr>
        <p:spPr>
          <a:xfrm>
            <a:off x="609585" y="6553200"/>
            <a:ext cx="10972526" cy="0"/>
          </a:xfrm>
          <a:prstGeom prst="line">
            <a:avLst/>
          </a:prstGeom>
          <a:noFill/>
          <a:ln w="7620">
            <a:solidFill>
              <a:srgbClr val="34516E"/>
            </a:solidFill>
            <a:prstDash val="solid"/>
          </a:ln>
        </p:spPr>
      </p:sp>
      <p:sp>
        <p:nvSpPr>
          <p:cNvPr id="9" name="Text 7"/>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BCCBDB"/>
                </a:solidFill>
                <a:latin typeface="Arial" pitchFamily="34" charset="0"/>
                <a:ea typeface="Arial" pitchFamily="34" charset="-122"/>
                <a:cs typeface="Arial" pitchFamily="34" charset="-120"/>
              </a:rPr>
              <a:t>32 / 34</a:t>
            </a:r>
            <a:endParaRPr lang="en-US" sz="900" dirty="0"/>
          </a:p>
        </p:txBody>
      </p:sp>
      <p:sp>
        <p:nvSpPr>
          <p:cNvPr id="10" name="Shape 8"/>
          <p:cNvSpPr/>
          <p:nvPr/>
        </p:nvSpPr>
        <p:spPr>
          <a:xfrm>
            <a:off x="0" y="6819900"/>
            <a:ext cx="12191695" cy="38100"/>
          </a:xfrm>
          <a:prstGeom prst="rect">
            <a:avLst/>
          </a:prstGeom>
          <a:solidFill>
            <a:srgbClr val="13315C"/>
          </a:solidFill>
          <a:ln w="12700">
            <a:solidFill>
              <a:srgbClr val="13315C">
                <a:alpha val="0"/>
              </a:srgbClr>
            </a:solidFill>
            <a:prstDash val="solid"/>
          </a:ln>
        </p:spPr>
      </p:sp>
      <p:sp>
        <p:nvSpPr>
          <p:cNvPr id="11" name="Shape 9"/>
          <p:cNvSpPr/>
          <p:nvPr/>
        </p:nvSpPr>
        <p:spPr>
          <a:xfrm>
            <a:off x="0" y="6819900"/>
            <a:ext cx="11474537" cy="38100"/>
          </a:xfrm>
          <a:prstGeom prst="rect">
            <a:avLst/>
          </a:prstGeom>
          <a:solidFill>
            <a:srgbClr val="F77F00"/>
          </a:solidFill>
          <a:ln w="12700">
            <a:solidFill>
              <a:srgbClr val="F77F00">
                <a:alpha val="0"/>
              </a:srgbClr>
            </a:solidFill>
            <a:prstDash val="solid"/>
          </a:ln>
        </p:spPr>
      </p:sp>
      <p:sp>
        <p:nvSpPr>
          <p:cNvPr id="12" name="Shape 10"/>
          <p:cNvSpPr/>
          <p:nvPr/>
        </p:nvSpPr>
        <p:spPr>
          <a:xfrm>
            <a:off x="7981750" y="1381125"/>
            <a:ext cx="0" cy="4076700"/>
          </a:xfrm>
          <a:prstGeom prst="line">
            <a:avLst/>
          </a:prstGeom>
          <a:noFill/>
          <a:ln w="5715">
            <a:solidFill>
              <a:srgbClr val="13315C"/>
            </a:solidFill>
            <a:prstDash val="solid"/>
          </a:ln>
        </p:spPr>
      </p:sp>
      <p:sp>
        <p:nvSpPr>
          <p:cNvPr id="13" name="Shape 11"/>
          <p:cNvSpPr/>
          <p:nvPr/>
        </p:nvSpPr>
        <p:spPr>
          <a:xfrm>
            <a:off x="8277018" y="1381125"/>
            <a:ext cx="0" cy="4076700"/>
          </a:xfrm>
          <a:prstGeom prst="line">
            <a:avLst/>
          </a:prstGeom>
          <a:noFill/>
          <a:ln w="5715">
            <a:solidFill>
              <a:srgbClr val="13315C"/>
            </a:solidFill>
            <a:prstDash val="solid"/>
          </a:ln>
        </p:spPr>
      </p:sp>
      <p:sp>
        <p:nvSpPr>
          <p:cNvPr id="14" name="Shape 12"/>
          <p:cNvSpPr/>
          <p:nvPr/>
        </p:nvSpPr>
        <p:spPr>
          <a:xfrm>
            <a:off x="8572286" y="1381125"/>
            <a:ext cx="0" cy="4076700"/>
          </a:xfrm>
          <a:prstGeom prst="line">
            <a:avLst/>
          </a:prstGeom>
          <a:noFill/>
          <a:ln w="5715">
            <a:solidFill>
              <a:srgbClr val="13315C"/>
            </a:solidFill>
            <a:prstDash val="solid"/>
          </a:ln>
        </p:spPr>
      </p:sp>
      <p:sp>
        <p:nvSpPr>
          <p:cNvPr id="15" name="Shape 13"/>
          <p:cNvSpPr/>
          <p:nvPr/>
        </p:nvSpPr>
        <p:spPr>
          <a:xfrm>
            <a:off x="8867553" y="1381125"/>
            <a:ext cx="0" cy="4076700"/>
          </a:xfrm>
          <a:prstGeom prst="line">
            <a:avLst/>
          </a:prstGeom>
          <a:noFill/>
          <a:ln w="5715">
            <a:solidFill>
              <a:srgbClr val="13315C"/>
            </a:solidFill>
            <a:prstDash val="solid"/>
          </a:ln>
        </p:spPr>
      </p:sp>
      <p:sp>
        <p:nvSpPr>
          <p:cNvPr id="16" name="Shape 14"/>
          <p:cNvSpPr/>
          <p:nvPr/>
        </p:nvSpPr>
        <p:spPr>
          <a:xfrm>
            <a:off x="9162821" y="1381125"/>
            <a:ext cx="0" cy="4076700"/>
          </a:xfrm>
          <a:prstGeom prst="line">
            <a:avLst/>
          </a:prstGeom>
          <a:noFill/>
          <a:ln w="5715">
            <a:solidFill>
              <a:srgbClr val="13315C"/>
            </a:solidFill>
            <a:prstDash val="solid"/>
          </a:ln>
        </p:spPr>
      </p:sp>
      <p:sp>
        <p:nvSpPr>
          <p:cNvPr id="17" name="Shape 15"/>
          <p:cNvSpPr/>
          <p:nvPr/>
        </p:nvSpPr>
        <p:spPr>
          <a:xfrm>
            <a:off x="9458089" y="1381125"/>
            <a:ext cx="0" cy="4076700"/>
          </a:xfrm>
          <a:prstGeom prst="line">
            <a:avLst/>
          </a:prstGeom>
          <a:noFill/>
          <a:ln w="5715">
            <a:solidFill>
              <a:srgbClr val="13315C"/>
            </a:solidFill>
            <a:prstDash val="solid"/>
          </a:ln>
        </p:spPr>
      </p:sp>
      <p:sp>
        <p:nvSpPr>
          <p:cNvPr id="18" name="Shape 16"/>
          <p:cNvSpPr/>
          <p:nvPr/>
        </p:nvSpPr>
        <p:spPr>
          <a:xfrm>
            <a:off x="9753356" y="1381125"/>
            <a:ext cx="0" cy="4076700"/>
          </a:xfrm>
          <a:prstGeom prst="line">
            <a:avLst/>
          </a:prstGeom>
          <a:noFill/>
          <a:ln w="5715">
            <a:solidFill>
              <a:srgbClr val="13315C"/>
            </a:solidFill>
            <a:prstDash val="solid"/>
          </a:ln>
        </p:spPr>
      </p:sp>
      <p:sp>
        <p:nvSpPr>
          <p:cNvPr id="19" name="Shape 17"/>
          <p:cNvSpPr/>
          <p:nvPr/>
        </p:nvSpPr>
        <p:spPr>
          <a:xfrm>
            <a:off x="10048624" y="1381125"/>
            <a:ext cx="0" cy="4076700"/>
          </a:xfrm>
          <a:prstGeom prst="line">
            <a:avLst/>
          </a:prstGeom>
          <a:noFill/>
          <a:ln w="5715">
            <a:solidFill>
              <a:srgbClr val="13315C"/>
            </a:solidFill>
            <a:prstDash val="solid"/>
          </a:ln>
        </p:spPr>
      </p:sp>
      <p:sp>
        <p:nvSpPr>
          <p:cNvPr id="20" name="Shape 18"/>
          <p:cNvSpPr/>
          <p:nvPr/>
        </p:nvSpPr>
        <p:spPr>
          <a:xfrm>
            <a:off x="10343891" y="1381125"/>
            <a:ext cx="0" cy="4076700"/>
          </a:xfrm>
          <a:prstGeom prst="line">
            <a:avLst/>
          </a:prstGeom>
          <a:noFill/>
          <a:ln w="5715">
            <a:solidFill>
              <a:srgbClr val="13315C"/>
            </a:solidFill>
            <a:prstDash val="solid"/>
          </a:ln>
        </p:spPr>
      </p:sp>
      <p:sp>
        <p:nvSpPr>
          <p:cNvPr id="21" name="Shape 19"/>
          <p:cNvSpPr/>
          <p:nvPr/>
        </p:nvSpPr>
        <p:spPr>
          <a:xfrm>
            <a:off x="10639159" y="1381125"/>
            <a:ext cx="0" cy="4076700"/>
          </a:xfrm>
          <a:prstGeom prst="line">
            <a:avLst/>
          </a:prstGeom>
          <a:noFill/>
          <a:ln w="5715">
            <a:solidFill>
              <a:srgbClr val="13315C"/>
            </a:solidFill>
            <a:prstDash val="solid"/>
          </a:ln>
        </p:spPr>
      </p:sp>
      <p:sp>
        <p:nvSpPr>
          <p:cNvPr id="22" name="Shape 20"/>
          <p:cNvSpPr/>
          <p:nvPr/>
        </p:nvSpPr>
        <p:spPr>
          <a:xfrm>
            <a:off x="10934427" y="1381125"/>
            <a:ext cx="0" cy="4076700"/>
          </a:xfrm>
          <a:prstGeom prst="line">
            <a:avLst/>
          </a:prstGeom>
          <a:noFill/>
          <a:ln w="5715">
            <a:solidFill>
              <a:srgbClr val="13315C"/>
            </a:solidFill>
            <a:prstDash val="solid"/>
          </a:ln>
        </p:spPr>
      </p:sp>
      <p:sp>
        <p:nvSpPr>
          <p:cNvPr id="23" name="Shape 21"/>
          <p:cNvSpPr/>
          <p:nvPr/>
        </p:nvSpPr>
        <p:spPr>
          <a:xfrm>
            <a:off x="11229694" y="1381125"/>
            <a:ext cx="0" cy="4076700"/>
          </a:xfrm>
          <a:prstGeom prst="line">
            <a:avLst/>
          </a:prstGeom>
          <a:noFill/>
          <a:ln w="5715">
            <a:solidFill>
              <a:srgbClr val="13315C"/>
            </a:solidFill>
            <a:prstDash val="solid"/>
          </a:ln>
        </p:spPr>
      </p:sp>
      <p:sp>
        <p:nvSpPr>
          <p:cNvPr id="24" name="Shape 22"/>
          <p:cNvSpPr/>
          <p:nvPr/>
        </p:nvSpPr>
        <p:spPr>
          <a:xfrm>
            <a:off x="11524962" y="1381125"/>
            <a:ext cx="0" cy="4076700"/>
          </a:xfrm>
          <a:prstGeom prst="line">
            <a:avLst/>
          </a:prstGeom>
          <a:noFill/>
          <a:ln w="5715">
            <a:solidFill>
              <a:srgbClr val="13315C"/>
            </a:solidFill>
            <a:prstDash val="solid"/>
          </a:ln>
        </p:spPr>
      </p:sp>
      <p:sp>
        <p:nvSpPr>
          <p:cNvPr id="25" name="Shape 23"/>
          <p:cNvSpPr/>
          <p:nvPr/>
        </p:nvSpPr>
        <p:spPr>
          <a:xfrm>
            <a:off x="7981750" y="1381125"/>
            <a:ext cx="3543211" cy="0"/>
          </a:xfrm>
          <a:prstGeom prst="line">
            <a:avLst/>
          </a:prstGeom>
          <a:noFill/>
          <a:ln w="5715">
            <a:solidFill>
              <a:srgbClr val="13315C"/>
            </a:solidFill>
            <a:prstDash val="solid"/>
          </a:ln>
        </p:spPr>
      </p:sp>
      <p:sp>
        <p:nvSpPr>
          <p:cNvPr id="26" name="Shape 24"/>
          <p:cNvSpPr/>
          <p:nvPr/>
        </p:nvSpPr>
        <p:spPr>
          <a:xfrm>
            <a:off x="7981750" y="1676400"/>
            <a:ext cx="3543211" cy="0"/>
          </a:xfrm>
          <a:prstGeom prst="line">
            <a:avLst/>
          </a:prstGeom>
          <a:noFill/>
          <a:ln w="5715">
            <a:solidFill>
              <a:srgbClr val="13315C"/>
            </a:solidFill>
            <a:prstDash val="solid"/>
          </a:ln>
        </p:spPr>
      </p:sp>
      <p:sp>
        <p:nvSpPr>
          <p:cNvPr id="27" name="Shape 25"/>
          <p:cNvSpPr/>
          <p:nvPr/>
        </p:nvSpPr>
        <p:spPr>
          <a:xfrm>
            <a:off x="7981750" y="1971675"/>
            <a:ext cx="3543211" cy="0"/>
          </a:xfrm>
          <a:prstGeom prst="line">
            <a:avLst/>
          </a:prstGeom>
          <a:noFill/>
          <a:ln w="5715">
            <a:solidFill>
              <a:srgbClr val="13315C"/>
            </a:solidFill>
            <a:prstDash val="solid"/>
          </a:ln>
        </p:spPr>
      </p:sp>
      <p:sp>
        <p:nvSpPr>
          <p:cNvPr id="28" name="Shape 26"/>
          <p:cNvSpPr/>
          <p:nvPr/>
        </p:nvSpPr>
        <p:spPr>
          <a:xfrm>
            <a:off x="7981750" y="2266950"/>
            <a:ext cx="3543211" cy="0"/>
          </a:xfrm>
          <a:prstGeom prst="line">
            <a:avLst/>
          </a:prstGeom>
          <a:noFill/>
          <a:ln w="5715">
            <a:solidFill>
              <a:srgbClr val="13315C"/>
            </a:solidFill>
            <a:prstDash val="solid"/>
          </a:ln>
        </p:spPr>
      </p:sp>
      <p:sp>
        <p:nvSpPr>
          <p:cNvPr id="29" name="Shape 27"/>
          <p:cNvSpPr/>
          <p:nvPr/>
        </p:nvSpPr>
        <p:spPr>
          <a:xfrm>
            <a:off x="7981750" y="2562225"/>
            <a:ext cx="3543211" cy="0"/>
          </a:xfrm>
          <a:prstGeom prst="line">
            <a:avLst/>
          </a:prstGeom>
          <a:noFill/>
          <a:ln w="5715">
            <a:solidFill>
              <a:srgbClr val="13315C"/>
            </a:solidFill>
            <a:prstDash val="solid"/>
          </a:ln>
        </p:spPr>
      </p:sp>
      <p:sp>
        <p:nvSpPr>
          <p:cNvPr id="30" name="Shape 28"/>
          <p:cNvSpPr/>
          <p:nvPr/>
        </p:nvSpPr>
        <p:spPr>
          <a:xfrm>
            <a:off x="7981750" y="2857500"/>
            <a:ext cx="3543211" cy="0"/>
          </a:xfrm>
          <a:prstGeom prst="line">
            <a:avLst/>
          </a:prstGeom>
          <a:noFill/>
          <a:ln w="5715">
            <a:solidFill>
              <a:srgbClr val="13315C"/>
            </a:solidFill>
            <a:prstDash val="solid"/>
          </a:ln>
        </p:spPr>
      </p:sp>
      <p:sp>
        <p:nvSpPr>
          <p:cNvPr id="31" name="Shape 29"/>
          <p:cNvSpPr/>
          <p:nvPr/>
        </p:nvSpPr>
        <p:spPr>
          <a:xfrm>
            <a:off x="7981750" y="3152775"/>
            <a:ext cx="3543211" cy="0"/>
          </a:xfrm>
          <a:prstGeom prst="line">
            <a:avLst/>
          </a:prstGeom>
          <a:noFill/>
          <a:ln w="5715">
            <a:solidFill>
              <a:srgbClr val="13315C"/>
            </a:solidFill>
            <a:prstDash val="solid"/>
          </a:ln>
        </p:spPr>
      </p:sp>
      <p:sp>
        <p:nvSpPr>
          <p:cNvPr id="32" name="Shape 30"/>
          <p:cNvSpPr/>
          <p:nvPr/>
        </p:nvSpPr>
        <p:spPr>
          <a:xfrm>
            <a:off x="7981750" y="3448050"/>
            <a:ext cx="3543211" cy="0"/>
          </a:xfrm>
          <a:prstGeom prst="line">
            <a:avLst/>
          </a:prstGeom>
          <a:noFill/>
          <a:ln w="5715">
            <a:solidFill>
              <a:srgbClr val="13315C"/>
            </a:solidFill>
            <a:prstDash val="solid"/>
          </a:ln>
        </p:spPr>
      </p:sp>
      <p:sp>
        <p:nvSpPr>
          <p:cNvPr id="33" name="Shape 31"/>
          <p:cNvSpPr/>
          <p:nvPr/>
        </p:nvSpPr>
        <p:spPr>
          <a:xfrm>
            <a:off x="7981750" y="3743325"/>
            <a:ext cx="3543211" cy="0"/>
          </a:xfrm>
          <a:prstGeom prst="line">
            <a:avLst/>
          </a:prstGeom>
          <a:noFill/>
          <a:ln w="5715">
            <a:solidFill>
              <a:srgbClr val="13315C"/>
            </a:solidFill>
            <a:prstDash val="solid"/>
          </a:ln>
        </p:spPr>
      </p:sp>
      <p:sp>
        <p:nvSpPr>
          <p:cNvPr id="34" name="Shape 32"/>
          <p:cNvSpPr/>
          <p:nvPr/>
        </p:nvSpPr>
        <p:spPr>
          <a:xfrm>
            <a:off x="7981750" y="4038600"/>
            <a:ext cx="3543211" cy="0"/>
          </a:xfrm>
          <a:prstGeom prst="line">
            <a:avLst/>
          </a:prstGeom>
          <a:noFill/>
          <a:ln w="5715">
            <a:solidFill>
              <a:srgbClr val="13315C"/>
            </a:solidFill>
            <a:prstDash val="solid"/>
          </a:ln>
        </p:spPr>
      </p:sp>
      <p:sp>
        <p:nvSpPr>
          <p:cNvPr id="35" name="Shape 33"/>
          <p:cNvSpPr/>
          <p:nvPr/>
        </p:nvSpPr>
        <p:spPr>
          <a:xfrm>
            <a:off x="7981750" y="4333875"/>
            <a:ext cx="3543211" cy="0"/>
          </a:xfrm>
          <a:prstGeom prst="line">
            <a:avLst/>
          </a:prstGeom>
          <a:noFill/>
          <a:ln w="5715">
            <a:solidFill>
              <a:srgbClr val="13315C"/>
            </a:solidFill>
            <a:prstDash val="solid"/>
          </a:ln>
        </p:spPr>
      </p:sp>
      <p:sp>
        <p:nvSpPr>
          <p:cNvPr id="36" name="Shape 34"/>
          <p:cNvSpPr/>
          <p:nvPr/>
        </p:nvSpPr>
        <p:spPr>
          <a:xfrm>
            <a:off x="7981750" y="4629150"/>
            <a:ext cx="3543211" cy="0"/>
          </a:xfrm>
          <a:prstGeom prst="line">
            <a:avLst/>
          </a:prstGeom>
          <a:noFill/>
          <a:ln w="5715">
            <a:solidFill>
              <a:srgbClr val="13315C"/>
            </a:solidFill>
            <a:prstDash val="solid"/>
          </a:ln>
        </p:spPr>
      </p:sp>
      <p:sp>
        <p:nvSpPr>
          <p:cNvPr id="37" name="Shape 35"/>
          <p:cNvSpPr/>
          <p:nvPr/>
        </p:nvSpPr>
        <p:spPr>
          <a:xfrm>
            <a:off x="7981750" y="4924425"/>
            <a:ext cx="3543211" cy="0"/>
          </a:xfrm>
          <a:prstGeom prst="line">
            <a:avLst/>
          </a:prstGeom>
          <a:noFill/>
          <a:ln w="5715">
            <a:solidFill>
              <a:srgbClr val="13315C"/>
            </a:solidFill>
            <a:prstDash val="solid"/>
          </a:ln>
        </p:spPr>
      </p:sp>
      <p:sp>
        <p:nvSpPr>
          <p:cNvPr id="38" name="Shape 36"/>
          <p:cNvSpPr/>
          <p:nvPr/>
        </p:nvSpPr>
        <p:spPr>
          <a:xfrm>
            <a:off x="7981750" y="5219700"/>
            <a:ext cx="3543211" cy="0"/>
          </a:xfrm>
          <a:prstGeom prst="line">
            <a:avLst/>
          </a:prstGeom>
          <a:noFill/>
          <a:ln w="5715">
            <a:solidFill>
              <a:srgbClr val="13315C"/>
            </a:solidFill>
            <a:prstDash val="solid"/>
          </a:ln>
        </p:spPr>
      </p:sp>
      <p:sp>
        <p:nvSpPr>
          <p:cNvPr id="39" name="Shape 37"/>
          <p:cNvSpPr/>
          <p:nvPr/>
        </p:nvSpPr>
        <p:spPr>
          <a:xfrm>
            <a:off x="8600860" y="2743200"/>
            <a:ext cx="2190695" cy="2190750"/>
          </a:xfrm>
          <a:prstGeom prst="ellipse">
            <a:avLst/>
          </a:prstGeom>
          <a:solidFill>
            <a:srgbClr val="FFFFFF">
              <a:alpha val="0"/>
            </a:srgbClr>
          </a:solidFill>
          <a:ln w="7620">
            <a:solidFill>
              <a:srgbClr val="345B7B"/>
            </a:solidFill>
            <a:prstDash val="solid"/>
          </a:ln>
        </p:spPr>
      </p:sp>
      <p:sp>
        <p:nvSpPr>
          <p:cNvPr id="40" name="Shape 38"/>
          <p:cNvSpPr/>
          <p:nvPr/>
        </p:nvSpPr>
        <p:spPr>
          <a:xfrm>
            <a:off x="8981850" y="3124200"/>
            <a:ext cx="1428714" cy="1428750"/>
          </a:xfrm>
          <a:prstGeom prst="ellipse">
            <a:avLst/>
          </a:prstGeom>
          <a:solidFill>
            <a:srgbClr val="FFFFFF">
              <a:alpha val="0"/>
            </a:srgbClr>
          </a:solidFill>
          <a:ln w="7620">
            <a:solidFill>
              <a:srgbClr val="345B7B"/>
            </a:solidFill>
            <a:prstDash val="solid"/>
          </a:ln>
        </p:spPr>
      </p:sp>
      <p:sp>
        <p:nvSpPr>
          <p:cNvPr id="41" name="Shape 39"/>
          <p:cNvSpPr/>
          <p:nvPr/>
        </p:nvSpPr>
        <p:spPr>
          <a:xfrm>
            <a:off x="9696208" y="3838575"/>
            <a:ext cx="1543011" cy="0"/>
          </a:xfrm>
          <a:prstGeom prst="line">
            <a:avLst/>
          </a:prstGeom>
          <a:noFill/>
          <a:ln w="17145">
            <a:solidFill>
              <a:srgbClr val="87A8C6"/>
            </a:solidFill>
            <a:prstDash val="solid"/>
            <a:tailEnd type="triangle"/>
          </a:ln>
        </p:spPr>
      </p:sp>
      <p:sp>
        <p:nvSpPr>
          <p:cNvPr id="42" name="Shape 40"/>
          <p:cNvSpPr/>
          <p:nvPr/>
        </p:nvSpPr>
        <p:spPr>
          <a:xfrm>
            <a:off x="9696208" y="1971675"/>
            <a:ext cx="0" cy="1866900"/>
          </a:xfrm>
          <a:prstGeom prst="line">
            <a:avLst/>
          </a:prstGeom>
          <a:noFill/>
          <a:ln w="17145">
            <a:solidFill>
              <a:srgbClr val="87A8C6"/>
            </a:solidFill>
            <a:prstDash val="solid"/>
            <a:tailEnd type="triangle"/>
          </a:ln>
        </p:spPr>
      </p:sp>
      <p:sp>
        <p:nvSpPr>
          <p:cNvPr id="43" name="Shape 41"/>
          <p:cNvSpPr/>
          <p:nvPr/>
        </p:nvSpPr>
        <p:spPr>
          <a:xfrm flipV="1">
            <a:off x="8638959" y="3838575"/>
            <a:ext cx="1057249" cy="981075"/>
          </a:xfrm>
          <a:prstGeom prst="line">
            <a:avLst/>
          </a:prstGeom>
          <a:noFill/>
          <a:ln w="17145">
            <a:solidFill>
              <a:srgbClr val="87A8C6"/>
            </a:solidFill>
            <a:prstDash val="solid"/>
            <a:tailEnd type="triangle"/>
          </a:ln>
        </p:spPr>
      </p:sp>
      <p:sp>
        <p:nvSpPr>
          <p:cNvPr id="44" name="Shape 42"/>
          <p:cNvSpPr/>
          <p:nvPr/>
        </p:nvSpPr>
        <p:spPr>
          <a:xfrm flipV="1">
            <a:off x="9696208" y="2571750"/>
            <a:ext cx="1114397" cy="1266825"/>
          </a:xfrm>
          <a:prstGeom prst="line">
            <a:avLst/>
          </a:prstGeom>
          <a:noFill/>
          <a:ln w="47625">
            <a:solidFill>
              <a:srgbClr val="F77F00"/>
            </a:solidFill>
            <a:prstDash val="solid"/>
            <a:tailEnd type="triangle"/>
          </a:ln>
        </p:spPr>
      </p:sp>
      <p:sp>
        <p:nvSpPr>
          <p:cNvPr id="45" name="Shape 43"/>
          <p:cNvSpPr/>
          <p:nvPr/>
        </p:nvSpPr>
        <p:spPr>
          <a:xfrm>
            <a:off x="10810605" y="2571750"/>
            <a:ext cx="0" cy="1266825"/>
          </a:xfrm>
          <a:prstGeom prst="line">
            <a:avLst/>
          </a:prstGeom>
          <a:noFill/>
          <a:ln w="11430">
            <a:solidFill>
              <a:srgbClr val="526F8F"/>
            </a:solidFill>
            <a:prstDash val="solid"/>
          </a:ln>
        </p:spPr>
      </p:sp>
      <p:sp>
        <p:nvSpPr>
          <p:cNvPr id="46" name="Shape 44"/>
          <p:cNvSpPr/>
          <p:nvPr/>
        </p:nvSpPr>
        <p:spPr>
          <a:xfrm>
            <a:off x="9696208" y="2571750"/>
            <a:ext cx="1114397" cy="0"/>
          </a:xfrm>
          <a:prstGeom prst="line">
            <a:avLst/>
          </a:prstGeom>
          <a:noFill/>
          <a:ln w="11430">
            <a:solidFill>
              <a:srgbClr val="526F8F"/>
            </a:solidFill>
            <a:prstDash val="solid"/>
          </a:ln>
        </p:spPr>
      </p:sp>
      <p:sp>
        <p:nvSpPr>
          <p:cNvPr id="47" name="Shape 45"/>
          <p:cNvSpPr/>
          <p:nvPr/>
        </p:nvSpPr>
        <p:spPr>
          <a:xfrm>
            <a:off x="9648584" y="3790950"/>
            <a:ext cx="95248" cy="95250"/>
          </a:xfrm>
          <a:prstGeom prst="ellipse">
            <a:avLst/>
          </a:prstGeom>
          <a:solidFill>
            <a:srgbClr val="F77F00"/>
          </a:solidFill>
          <a:ln w="12700">
            <a:solidFill>
              <a:srgbClr val="F77F00">
                <a:alpha val="0"/>
              </a:srgbClr>
            </a:solidFill>
            <a:prstDash val="solid"/>
          </a:ln>
        </p:spPr>
      </p:sp>
      <p:sp>
        <p:nvSpPr>
          <p:cNvPr id="48" name="Text 46"/>
          <p:cNvSpPr txBox="1"/>
          <p:nvPr/>
        </p:nvSpPr>
        <p:spPr>
          <a:xfrm>
            <a:off x="11277318" y="3733800"/>
            <a:ext cx="228594" cy="257175"/>
          </a:xfrm>
          <a:prstGeom prst="rect">
            <a:avLst/>
          </a:prstGeom>
          <a:noFill/>
          <a:ln/>
        </p:spPr>
        <p:txBody>
          <a:bodyPr wrap="square" lIns="0" tIns="0" rIns="0" bIns="0" rtlCol="0" anchor="t"/>
          <a:lstStyle/>
          <a:p>
            <a:pPr algn="l" indent="0" marL="0">
              <a:lnSpc>
                <a:spcPct val="114000"/>
              </a:lnSpc>
              <a:buNone/>
            </a:pPr>
            <a:r>
              <a:rPr lang="en-US" sz="1600" dirty="0">
                <a:solidFill>
                  <a:srgbClr val="BCCBDB"/>
                </a:solidFill>
                <a:latin typeface="Arial" pitchFamily="34" charset="0"/>
                <a:ea typeface="Arial" pitchFamily="34" charset="-122"/>
                <a:cs typeface="Arial" pitchFamily="34" charset="-120"/>
              </a:rPr>
              <a:t>x</a:t>
            </a:r>
            <a:endParaRPr lang="en-US" sz="1600" dirty="0"/>
          </a:p>
        </p:txBody>
      </p:sp>
      <p:sp>
        <p:nvSpPr>
          <p:cNvPr id="49" name="Text 47"/>
          <p:cNvSpPr txBox="1"/>
          <p:nvPr/>
        </p:nvSpPr>
        <p:spPr>
          <a:xfrm>
            <a:off x="9600960" y="1685925"/>
            <a:ext cx="228594" cy="257175"/>
          </a:xfrm>
          <a:prstGeom prst="rect">
            <a:avLst/>
          </a:prstGeom>
          <a:noFill/>
          <a:ln/>
        </p:spPr>
        <p:txBody>
          <a:bodyPr wrap="square" lIns="0" tIns="0" rIns="0" bIns="0" rtlCol="0" anchor="t"/>
          <a:lstStyle/>
          <a:p>
            <a:pPr algn="l" indent="0" marL="0">
              <a:lnSpc>
                <a:spcPct val="114000"/>
              </a:lnSpc>
              <a:buNone/>
            </a:pPr>
            <a:r>
              <a:rPr lang="en-US" sz="1600" dirty="0">
                <a:solidFill>
                  <a:srgbClr val="BCCBDB"/>
                </a:solidFill>
                <a:latin typeface="Arial" pitchFamily="34" charset="0"/>
                <a:ea typeface="Arial" pitchFamily="34" charset="-122"/>
                <a:cs typeface="Arial" pitchFamily="34" charset="-120"/>
              </a:rPr>
              <a:t>y</a:t>
            </a:r>
            <a:endParaRPr lang="en-US" sz="1600" dirty="0"/>
          </a:p>
        </p:txBody>
      </p:sp>
      <p:sp>
        <p:nvSpPr>
          <p:cNvPr id="50" name="Text 48"/>
          <p:cNvSpPr txBox="1"/>
          <p:nvPr/>
        </p:nvSpPr>
        <p:spPr>
          <a:xfrm>
            <a:off x="8419889" y="4819650"/>
            <a:ext cx="228594" cy="257175"/>
          </a:xfrm>
          <a:prstGeom prst="rect">
            <a:avLst/>
          </a:prstGeom>
          <a:noFill/>
          <a:ln/>
        </p:spPr>
        <p:txBody>
          <a:bodyPr wrap="square" lIns="0" tIns="0" rIns="0" bIns="0" rtlCol="0" anchor="t"/>
          <a:lstStyle/>
          <a:p>
            <a:pPr algn="l" indent="0" marL="0">
              <a:lnSpc>
                <a:spcPct val="114000"/>
              </a:lnSpc>
              <a:buNone/>
            </a:pPr>
            <a:r>
              <a:rPr lang="en-US" sz="1600" dirty="0">
                <a:solidFill>
                  <a:srgbClr val="BCCBDB"/>
                </a:solidFill>
                <a:latin typeface="Arial" pitchFamily="34" charset="0"/>
                <a:ea typeface="Arial" pitchFamily="34" charset="-122"/>
                <a:cs typeface="Arial" pitchFamily="34" charset="-120"/>
              </a:rPr>
              <a:t>z</a:t>
            </a:r>
            <a:endParaRPr lang="en-US" sz="1600" dirty="0"/>
          </a:p>
        </p:txBody>
      </p:sp>
      <p:sp>
        <p:nvSpPr>
          <p:cNvPr id="51" name="Text 49"/>
          <p:cNvSpPr txBox="1"/>
          <p:nvPr/>
        </p:nvSpPr>
        <p:spPr>
          <a:xfrm>
            <a:off x="10915377" y="2381250"/>
            <a:ext cx="304792" cy="342900"/>
          </a:xfrm>
          <a:prstGeom prst="rect">
            <a:avLst/>
          </a:prstGeom>
          <a:noFill/>
          <a:ln/>
        </p:spPr>
        <p:txBody>
          <a:bodyPr wrap="square" lIns="0" tIns="0" rIns="0" bIns="0" rtlCol="0" anchor="t"/>
          <a:lstStyle/>
          <a:p>
            <a:pPr algn="l" indent="0" marL="0">
              <a:lnSpc>
                <a:spcPct val="114000"/>
              </a:lnSpc>
              <a:buNone/>
            </a:pPr>
            <a:r>
              <a:rPr lang="en-US" sz="2000" b="1" dirty="0">
                <a:solidFill>
                  <a:srgbClr val="F77F00"/>
                </a:solidFill>
                <a:latin typeface="Arial" pitchFamily="34" charset="0"/>
                <a:ea typeface="Arial" pitchFamily="34" charset="-122"/>
                <a:cs typeface="Arial" pitchFamily="34" charset="-120"/>
              </a:rPr>
              <a:t>F</a:t>
            </a:r>
            <a:endParaRPr lang="en-US" sz="2000" dirty="0"/>
          </a:p>
        </p:txBody>
      </p:sp>
      <p:sp>
        <p:nvSpPr>
          <p:cNvPr id="52" name="Text 50"/>
          <p:cNvSpPr txBox="1"/>
          <p:nvPr/>
        </p:nvSpPr>
        <p:spPr>
          <a:xfrm>
            <a:off x="609585" y="1362075"/>
            <a:ext cx="7029274" cy="1695450"/>
          </a:xfrm>
          <a:prstGeom prst="rect">
            <a:avLst/>
          </a:prstGeom>
          <a:noFill/>
          <a:ln/>
        </p:spPr>
        <p:txBody>
          <a:bodyPr wrap="square" lIns="0" tIns="0" rIns="0" bIns="0" rtlCol="0" anchor="t"/>
          <a:lstStyle/>
          <a:p>
            <a:pPr algn="l" indent="0" marL="0">
              <a:lnSpc>
                <a:spcPct val="114000"/>
              </a:lnSpc>
              <a:buNone/>
            </a:pPr>
            <a:r>
              <a:rPr lang="en-US" sz="3600" b="1" dirty="0">
                <a:solidFill>
                  <a:srgbClr val="FFFFFF"/>
                </a:solidFill>
                <a:latin typeface="Arial" pitchFamily="34" charset="0"/>
                <a:ea typeface="Arial" pitchFamily="34" charset="-122"/>
                <a:cs typeface="Arial" pitchFamily="34" charset="-120"/>
              </a:rPr>
              <a:t>CẢM ƠN HỘI ĐỒNG</a:t>
            </a:r>
            <a:endParaRPr lang="en-US" sz="3600" dirty="0"/>
          </a:p>
          <a:p>
            <a:pPr algn="l" indent="0" marL="0">
              <a:lnSpc>
                <a:spcPct val="114000"/>
              </a:lnSpc>
              <a:buNone/>
            </a:pPr>
            <a:r>
              <a:rPr lang="en-US" sz="3600" b="1" dirty="0">
                <a:solidFill>
                  <a:srgbClr val="FFFFFF"/>
                </a:solidFill>
                <a:latin typeface="Arial" pitchFamily="34" charset="0"/>
                <a:ea typeface="Arial" pitchFamily="34" charset="-122"/>
                <a:cs typeface="Arial" pitchFamily="34" charset="-120"/>
              </a:rPr>
              <a:t>Q &amp; A</a:t>
            </a:r>
            <a:endParaRPr lang="en-US" sz="3600" dirty="0"/>
          </a:p>
        </p:txBody>
      </p:sp>
      <p:sp>
        <p:nvSpPr>
          <p:cNvPr id="53" name="Text 51"/>
          <p:cNvSpPr txBox="1"/>
          <p:nvPr/>
        </p:nvSpPr>
        <p:spPr>
          <a:xfrm>
            <a:off x="609585" y="3238500"/>
            <a:ext cx="6953076" cy="800100"/>
          </a:xfrm>
          <a:prstGeom prst="rect">
            <a:avLst/>
          </a:prstGeom>
          <a:noFill/>
          <a:ln/>
        </p:spPr>
        <p:txBody>
          <a:bodyPr wrap="square" lIns="0" tIns="0" rIns="0" bIns="0" rtlCol="0" anchor="t"/>
          <a:lstStyle/>
          <a:p>
            <a:pPr algn="l" indent="0" marL="0">
              <a:lnSpc>
                <a:spcPct val="114000"/>
              </a:lnSpc>
              <a:buNone/>
            </a:pPr>
            <a:r>
              <a:rPr lang="en-US" sz="2000" dirty="0">
                <a:solidFill>
                  <a:srgbClr val="CCD8E5"/>
                </a:solidFill>
                <a:latin typeface="Arial" pitchFamily="34" charset="0"/>
                <a:ea typeface="Arial" pitchFamily="34" charset="-122"/>
                <a:cs typeface="Arial" pitchFamily="34" charset="-120"/>
              </a:rPr>
              <a:t>Trao đổi về bằng chứng, phạm vi sử dụng và ưu tiên hoàn</a:t>
            </a:r>
            <a:endParaRPr lang="en-US" sz="2000" dirty="0"/>
          </a:p>
          <a:p>
            <a:pPr algn="l" indent="0" marL="0">
              <a:lnSpc>
                <a:spcPct val="114000"/>
              </a:lnSpc>
              <a:buNone/>
            </a:pPr>
            <a:r>
              <a:rPr lang="en-US" sz="2000" dirty="0">
                <a:solidFill>
                  <a:srgbClr val="CCD8E5"/>
                </a:solidFill>
                <a:latin typeface="Arial" pitchFamily="34" charset="0"/>
                <a:ea typeface="Arial" pitchFamily="34" charset="-122"/>
                <a:cs typeface="Arial" pitchFamily="34" charset="-120"/>
              </a:rPr>
              <a:t>thiện.</a:t>
            </a:r>
            <a:endParaRPr lang="en-US" sz="2000" dirty="0"/>
          </a:p>
        </p:txBody>
      </p:sp>
      <p:sp>
        <p:nvSpPr>
          <p:cNvPr id="54" name="Text 52"/>
          <p:cNvSpPr txBox="1"/>
          <p:nvPr/>
        </p:nvSpPr>
        <p:spPr>
          <a:xfrm>
            <a:off x="609585" y="4229100"/>
            <a:ext cx="7029274" cy="1438275"/>
          </a:xfrm>
          <a:prstGeom prst="rect">
            <a:avLst/>
          </a:prstGeom>
          <a:noFill/>
          <a:ln/>
        </p:spPr>
        <p:txBody>
          <a:bodyPr wrap="square" lIns="0" tIns="0" rIns="0" bIns="0" rtlCol="0" anchor="t"/>
          <a:lstStyle/>
          <a:p>
            <a:pPr algn="l" indent="0" marL="0">
              <a:lnSpc>
                <a:spcPct val="114000"/>
              </a:lnSpc>
              <a:buNone/>
            </a:pPr>
            <a:r>
              <a:rPr lang="en-US" sz="1800" dirty="0">
                <a:solidFill>
                  <a:srgbClr val="CCD8E5"/>
                </a:solidFill>
                <a:latin typeface="Arial" pitchFamily="34" charset="0"/>
                <a:ea typeface="Arial" pitchFamily="34" charset="-122"/>
                <a:cs typeface="Arial" pitchFamily="34" charset="-120"/>
              </a:rPr>
              <a:t>Kho mã nguồn — github.com/xuan2261/</a:t>
            </a:r>
            <a:endParaRPr lang="en-US" sz="1800" dirty="0"/>
          </a:p>
          <a:p>
            <a:pPr algn="l" indent="0" marL="0">
              <a:lnSpc>
                <a:spcPct val="114000"/>
              </a:lnSpc>
              <a:buNone/>
            </a:pPr>
            <a:r>
              <a:rPr lang="en-US" sz="1800" dirty="0">
                <a:solidFill>
                  <a:srgbClr val="CCD8E5"/>
                </a:solidFill>
                <a:latin typeface="Arial" pitchFamily="34" charset="0"/>
                <a:ea typeface="Arial" pitchFamily="34" charset="-122"/>
                <a:cs typeface="Arial" pitchFamily="34" charset="-120"/>
              </a:rPr>
              <a:t>GiaoTrinhDienTu_CoHocLyThuyet</a:t>
            </a:r>
            <a:endParaRPr lang="en-US" sz="1800" dirty="0"/>
          </a:p>
          <a:p>
            <a:pPr algn="l" indent="0" marL="0">
              <a:lnSpc>
                <a:spcPct val="114000"/>
              </a:lnSpc>
              <a:buNone/>
            </a:pPr>
            <a:r>
              <a:rPr lang="en-US" sz="1800" dirty="0">
                <a:solidFill>
                  <a:srgbClr val="CCD8E5"/>
                </a:solidFill>
                <a:latin typeface="Arial" pitchFamily="34" charset="0"/>
                <a:ea typeface="Arial" pitchFamily="34" charset="-122"/>
                <a:cs typeface="Arial" pitchFamily="34" charset="-120"/>
              </a:rPr>
              <a:t>Trang dự phòng — 33 · Vòng đời tải bài</a:t>
            </a:r>
            <a:endParaRPr lang="en-US" sz="1800" dirty="0"/>
          </a:p>
          <a:p>
            <a:pPr algn="l" indent="0" marL="0">
              <a:lnSpc>
                <a:spcPct val="114000"/>
              </a:lnSpc>
              <a:buNone/>
            </a:pPr>
            <a:r>
              <a:rPr lang="en-US" sz="1800" dirty="0">
                <a:solidFill>
                  <a:srgbClr val="CCD8E5"/>
                </a:solidFill>
                <a:latin typeface="Arial" pitchFamily="34" charset="0"/>
                <a:ea typeface="Arial" pitchFamily="34" charset="-122"/>
                <a:cs typeface="Arial" pitchFamily="34" charset="-120"/>
              </a:rPr>
              <a:t>34 · Danh mục mô phỏng</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DỰ PHÒNG CHO Q&amp;A</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Chi tiết kiến trúc và vòng đời bài</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PAGE_MAP, fragment, render toán, mount và dispose.</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Vòng đời phải chống listener, RAF và DOM còn sót khi đổi route.</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33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11833116" cy="38100"/>
          </a:xfrm>
          <a:prstGeom prst="rect">
            <a:avLst/>
          </a:prstGeom>
          <a:solidFill>
            <a:srgbClr val="F77F00"/>
          </a:solidFill>
          <a:ln w="12700">
            <a:solidFill>
              <a:srgbClr val="F77F00">
                <a:alpha val="0"/>
              </a:srgbClr>
            </a:solidFill>
            <a:prstDash val="solid"/>
          </a:ln>
        </p:spPr>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09585" y="2209800"/>
          <a:ext cx="10972526" cy="3505200"/>
        </p:xfrm>
        <a:graphic>
          <a:graphicData uri="http://schemas.openxmlformats.org/drawingml/2006/table">
            <a:tbl>
              <a:tblPr/>
              <a:tblGrid>
                <a:gridCol w="3339464"/>
                <a:gridCol w="7633061"/>
              </a:tblGrid>
              <a:tr h="451104">
                <a:tc>
                  <a:txBody>
                    <a:bodyPr/>
                    <a:lstStyle/>
                    <a:p>
                      <a:pPr indent="0" marL="0">
                        <a:buNone/>
                      </a:pPr>
                      <a:r>
                        <a:rPr lang="en-US" sz="1800" b="1" dirty="0">
                          <a:solidFill>
                            <a:srgbClr val="FFFFFF"/>
                          </a:solidFill>
                          <a:latin typeface="Arial" pitchFamily="34" charset="0"/>
                          <a:ea typeface="Arial" pitchFamily="34" charset="-122"/>
                          <a:cs typeface="Arial" pitchFamily="34" charset="-120"/>
                        </a:rPr>
                        <a:t>Bước</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Cơ chế và điều kiện</a:t>
                      </a:r>
                      <a:endParaRPr lang="en-US" sz="1800" dirty="0">
                        <a:latin typeface="Arial" charset="0"/>
                        <a:ea typeface="Arial" charset="0"/>
                        <a:cs typeface="Arial" charset="0"/>
                      </a:endParaRPr>
                    </a:p>
                  </a:txBody>
                  <a:tcPr marL="114300" marR="114300" marT="95250" marB="9525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13315C"/>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Nhận route</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Chuẩn hóa pageId; tra ánh xạ bài</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Tải fragment</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Dùng bundle cục bộ hoặc tải HTML</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Cập nhật bài</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Gắn nội dung vào vùng đọc</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Render toán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KaTeX và nội dung công thức</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Mount mô phỏng</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Tra SIM_MAP theo base route</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FFFFF"/>
                    </a:solidFill>
                  </a:tcPr>
                </a:tc>
              </a:tr>
              <a:tr h="509016">
                <a:tc>
                  <a:txBody>
                    <a:bodyPr/>
                    <a:lstStyle/>
                    <a:p>
                      <a:pPr indent="0" marL="0">
                        <a:buNone/>
                      </a:pPr>
                      <a:r>
                        <a:rPr lang="en-US" sz="1800" dirty="0">
                          <a:solidFill>
                            <a:srgbClr val="24364A"/>
                          </a:solidFill>
                          <a:latin typeface="Arial" pitchFamily="34" charset="0"/>
                          <a:ea typeface="Arial" pitchFamily="34" charset="-122"/>
                          <a:cs typeface="Arial" pitchFamily="34" charset="-120"/>
                        </a:rPr>
                        <a:t>Rời bài</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c>
                  <a:txBody>
                    <a:bodyPr/>
                    <a:lstStyle/>
                    <a:p>
                      <a:pPr indent="0" marL="0">
                        <a:buNone/>
                      </a:pPr>
                      <a:r>
                        <a:rPr lang="en-US" sz="1800" dirty="0">
                          <a:solidFill>
                            <a:srgbClr val="24364A"/>
                          </a:solidFill>
                          <a:latin typeface="Arial" pitchFamily="34" charset="0"/>
                          <a:ea typeface="Arial" pitchFamily="34" charset="-122"/>
                          <a:cs typeface="Arial" pitchFamily="34" charset="-120"/>
                        </a:rPr>
                        <a:t>Dispose để giải phóng tài nguyên</a:t>
                      </a:r>
                      <a:endParaRPr lang="en-US" sz="1800" dirty="0">
                        <a:latin typeface="Arial" charset="0"/>
                        <a:ea typeface="Arial" charset="0"/>
                        <a:cs typeface="Arial" charset="0"/>
                      </a:endParaRPr>
                    </a:p>
                  </a:txBody>
                  <a:tcPr marL="114300" marR="114300" marT="76200" marB="76200" anchor="ctr">
                    <a:lnL w="8255" cap="flat" cmpd="sng" algn="ctr">
                      <a:solidFill>
                        <a:srgbClr val="D8E1EB"/>
                      </a:solidFill>
                      <a:prstDash val="solid"/>
                      <a:round/>
                      <a:headEnd type="none" w="med" len="med"/>
                      <a:tailEnd type="none" w="med" len="med"/>
                    </a:lnL>
                    <a:lnR w="8255" cap="flat" cmpd="sng" algn="ctr">
                      <a:solidFill>
                        <a:srgbClr val="D8E1EB"/>
                      </a:solidFill>
                      <a:prstDash val="solid"/>
                      <a:round/>
                      <a:headEnd type="none" w="med" len="med"/>
                      <a:tailEnd type="none" w="med" len="med"/>
                    </a:lnR>
                    <a:lnT w="8255" cap="flat" cmpd="sng" algn="ctr">
                      <a:solidFill>
                        <a:srgbClr val="D8E1EB"/>
                      </a:solidFill>
                      <a:prstDash val="solid"/>
                      <a:round/>
                      <a:headEnd type="none" w="med" len="med"/>
                      <a:tailEnd type="none" w="med" len="med"/>
                    </a:lnT>
                    <a:lnB w="8255" cap="flat" cmpd="sng" algn="ctr">
                      <a:solidFill>
                        <a:srgbClr val="D8E1EB"/>
                      </a:solidFill>
                      <a:prstDash val="solid"/>
                      <a:round/>
                      <a:headEnd type="none" w="med" len="med"/>
                      <a:tailEnd type="none" w="med" len="med"/>
                    </a:lnB>
                    <a:solidFill>
                      <a:srgbClr val="F5F7FA"/>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609585" y="428625"/>
            <a:ext cx="304792" cy="0"/>
          </a:xfrm>
          <a:prstGeom prst="line">
            <a:avLst/>
          </a:prstGeom>
          <a:noFill/>
          <a:ln w="28575">
            <a:solidFill>
              <a:srgbClr val="F77F00"/>
            </a:solidFill>
            <a:prstDash val="solid"/>
          </a:ln>
        </p:spPr>
      </p:sp>
      <p:sp>
        <p:nvSpPr>
          <p:cNvPr id="3" name="Text 1"/>
          <p:cNvSpPr txBox="1"/>
          <p:nvPr/>
        </p:nvSpPr>
        <p:spPr>
          <a:xfrm>
            <a:off x="1028674" y="323850"/>
            <a:ext cx="5981550" cy="209550"/>
          </a:xfrm>
          <a:prstGeom prst="rect">
            <a:avLst/>
          </a:prstGeom>
          <a:noFill/>
          <a:ln/>
        </p:spPr>
        <p:txBody>
          <a:bodyPr wrap="square" lIns="0" tIns="0" rIns="0" bIns="0" rtlCol="0" anchor="ctr"/>
          <a:lstStyle/>
          <a:p>
            <a:pPr algn="l" indent="0" marL="0">
              <a:lnSpc>
                <a:spcPct val="114000"/>
              </a:lnSpc>
              <a:buNone/>
            </a:pPr>
            <a:r>
              <a:rPr lang="en-US" sz="1050" b="1" dirty="0">
                <a:solidFill>
                  <a:srgbClr val="586B81"/>
                </a:solidFill>
                <a:latin typeface="Arial" pitchFamily="34" charset="0"/>
                <a:ea typeface="Arial" pitchFamily="34" charset="-122"/>
                <a:cs typeface="Arial" pitchFamily="34" charset="-120"/>
              </a:rPr>
              <a:t>DỰ PHÒNG CHO Q&amp;A</a:t>
            </a:r>
            <a:endParaRPr lang="en-US" sz="1050" dirty="0"/>
          </a:p>
        </p:txBody>
      </p:sp>
      <p:sp>
        <p:nvSpPr>
          <p:cNvPr id="4" name="Text 2"/>
          <p:cNvSpPr txBox="1"/>
          <p:nvPr/>
        </p:nvSpPr>
        <p:spPr>
          <a:xfrm>
            <a:off x="7295968" y="276225"/>
            <a:ext cx="4286143" cy="381000"/>
          </a:xfrm>
          <a:prstGeom prst="rect">
            <a:avLst/>
          </a:prstGeom>
          <a:noFill/>
          <a:ln/>
        </p:spPr>
        <p:txBody>
          <a:bodyPr wrap="square" lIns="0" tIns="0" rIns="0" bIns="0" rtlCol="0" anchor="ctr"/>
          <a:lstStyle/>
          <a:p>
            <a:pPr algn="r" indent="0" marL="0">
              <a:lnSpc>
                <a:spcPct val="114000"/>
              </a:lnSpc>
              <a:buNone/>
            </a:pPr>
            <a:r>
              <a:rPr lang="en-US" sz="1050" b="1" dirty="0">
                <a:solidFill>
                  <a:srgbClr val="0B2545"/>
                </a:solidFill>
                <a:latin typeface="Arial" pitchFamily="34" charset="0"/>
                <a:ea typeface="Arial" pitchFamily="34" charset="-122"/>
                <a:cs typeface="Arial" pitchFamily="34" charset="-120"/>
              </a:rPr>
              <a:t>HỌC VIỆN HẢI QUÂN</a:t>
            </a:r>
            <a:endParaRPr lang="en-US" sz="1050" dirty="0"/>
          </a:p>
        </p:txBody>
      </p:sp>
      <p:sp>
        <p:nvSpPr>
          <p:cNvPr id="5" name="Text 3"/>
          <p:cNvSpPr txBox="1"/>
          <p:nvPr/>
        </p:nvSpPr>
        <p:spPr>
          <a:xfrm>
            <a:off x="609585" y="733425"/>
            <a:ext cx="10972526" cy="895350"/>
          </a:xfrm>
          <a:prstGeom prst="rect">
            <a:avLst/>
          </a:prstGeom>
          <a:noFill/>
          <a:ln/>
        </p:spPr>
        <p:txBody>
          <a:bodyPr wrap="square" lIns="0" tIns="0" rIns="0" bIns="0" rtlCol="0" anchor="t"/>
          <a:lstStyle/>
          <a:p>
            <a:pPr algn="l" indent="0" marL="0">
              <a:lnSpc>
                <a:spcPct val="114000"/>
              </a:lnSpc>
              <a:buNone/>
            </a:pPr>
            <a:r>
              <a:rPr lang="en-US" sz="3400" b="1" dirty="0">
                <a:solidFill>
                  <a:srgbClr val="0B2545"/>
                </a:solidFill>
                <a:latin typeface="Arial" pitchFamily="34" charset="0"/>
                <a:ea typeface="Arial" pitchFamily="34" charset="-122"/>
                <a:cs typeface="Arial" pitchFamily="34" charset="-120"/>
              </a:rPr>
              <a:t>Danh mục đầy đủ mô phỏng</a:t>
            </a:r>
            <a:endParaRPr lang="en-US" sz="3400" dirty="0"/>
          </a:p>
        </p:txBody>
      </p:sp>
      <p:sp>
        <p:nvSpPr>
          <p:cNvPr id="6" name="Text 4"/>
          <p:cNvSpPr txBox="1"/>
          <p:nvPr/>
        </p:nvSpPr>
        <p:spPr>
          <a:xfrm>
            <a:off x="609585" y="1685925"/>
            <a:ext cx="10972526" cy="428625"/>
          </a:xfrm>
          <a:prstGeom prst="rect">
            <a:avLst/>
          </a:prstGeom>
          <a:noFill/>
          <a:ln/>
        </p:spPr>
        <p:txBody>
          <a:bodyPr wrap="square" lIns="0" tIns="0" rIns="0" bIns="0" rtlCol="0" anchor="t"/>
          <a:lstStyle/>
          <a:p>
            <a:pPr algn="l" indent="0" marL="0">
              <a:lnSpc>
                <a:spcPct val="114000"/>
              </a:lnSpc>
              <a:buNone/>
            </a:pPr>
            <a:r>
              <a:rPr lang="en-US" sz="1600" dirty="0">
                <a:solidFill>
                  <a:srgbClr val="586B81"/>
                </a:solidFill>
                <a:latin typeface="Arial" pitchFamily="34" charset="0"/>
                <a:ea typeface="Arial" pitchFamily="34" charset="-122"/>
                <a:cs typeface="Arial" pitchFamily="34" charset="-120"/>
              </a:rPr>
              <a:t>25 vị trí Sim2 · ký hiệu 3D đánh dấu 10 bản tăng cường trên cùng bài.</a:t>
            </a:r>
            <a:endParaRPr lang="en-US" sz="1600" dirty="0"/>
          </a:p>
        </p:txBody>
      </p:sp>
      <p:sp>
        <p:nvSpPr>
          <p:cNvPr id="7" name="Shape 5"/>
          <p:cNvSpPr/>
          <p:nvPr/>
        </p:nvSpPr>
        <p:spPr>
          <a:xfrm>
            <a:off x="609585" y="5886450"/>
            <a:ext cx="10972526" cy="533400"/>
          </a:xfrm>
          <a:prstGeom prst="rect">
            <a:avLst/>
          </a:prstGeom>
          <a:solidFill>
            <a:srgbClr val="FFF1E1"/>
          </a:solidFill>
          <a:ln w="12700">
            <a:solidFill>
              <a:srgbClr val="FFF1E1">
                <a:alpha val="0"/>
              </a:srgbClr>
            </a:solidFill>
            <a:prstDash val="solid"/>
          </a:ln>
        </p:spPr>
      </p:sp>
      <p:sp>
        <p:nvSpPr>
          <p:cNvPr id="8" name="Shape 6"/>
          <p:cNvSpPr/>
          <p:nvPr/>
        </p:nvSpPr>
        <p:spPr>
          <a:xfrm>
            <a:off x="609585" y="5886450"/>
            <a:ext cx="47624" cy="533400"/>
          </a:xfrm>
          <a:prstGeom prst="rect">
            <a:avLst/>
          </a:prstGeom>
          <a:solidFill>
            <a:srgbClr val="F77F00"/>
          </a:solidFill>
          <a:ln w="12700">
            <a:solidFill>
              <a:srgbClr val="F77F00">
                <a:alpha val="0"/>
              </a:srgbClr>
            </a:solidFill>
            <a:prstDash val="solid"/>
          </a:ln>
        </p:spPr>
      </p:sp>
      <p:sp>
        <p:nvSpPr>
          <p:cNvPr id="9" name="Text 7"/>
          <p:cNvSpPr txBox="1"/>
          <p:nvPr/>
        </p:nvSpPr>
        <p:spPr>
          <a:xfrm>
            <a:off x="819130" y="5972175"/>
            <a:ext cx="10553436" cy="381000"/>
          </a:xfrm>
          <a:prstGeom prst="rect">
            <a:avLst/>
          </a:prstGeom>
          <a:noFill/>
          <a:ln/>
        </p:spPr>
        <p:txBody>
          <a:bodyPr wrap="square" lIns="0" tIns="0" rIns="0" bIns="0" rtlCol="0" anchor="ctr"/>
          <a:lstStyle/>
          <a:p>
            <a:pPr algn="l" indent="0" marL="0">
              <a:lnSpc>
                <a:spcPct val="114000"/>
              </a:lnSpc>
              <a:buNone/>
            </a:pPr>
            <a:r>
              <a:rPr lang="en-US" sz="1700" b="1" dirty="0">
                <a:solidFill>
                  <a:srgbClr val="0B2545"/>
                </a:solidFill>
                <a:latin typeface="Arial" pitchFamily="34" charset="0"/>
                <a:ea typeface="Arial" pitchFamily="34" charset="-122"/>
                <a:cs typeface="Arial" pitchFamily="34" charset="-120"/>
              </a:rPr>
              <a:t>Bản 3D nằm trong tập 25 vị trí; danh mục không chứng minh đạt chất lượng mô hình.</a:t>
            </a:r>
            <a:endParaRPr lang="en-US" sz="1700" dirty="0"/>
          </a:p>
        </p:txBody>
      </p:sp>
      <p:sp>
        <p:nvSpPr>
          <p:cNvPr id="10" name="Shape 8"/>
          <p:cNvSpPr/>
          <p:nvPr/>
        </p:nvSpPr>
        <p:spPr>
          <a:xfrm>
            <a:off x="609585" y="6553200"/>
            <a:ext cx="10972526" cy="0"/>
          </a:xfrm>
          <a:prstGeom prst="line">
            <a:avLst/>
          </a:prstGeom>
          <a:noFill/>
          <a:ln w="7620">
            <a:solidFill>
              <a:srgbClr val="D8E1EB"/>
            </a:solidFill>
            <a:prstDash val="solid"/>
          </a:ln>
        </p:spPr>
      </p:sp>
      <p:sp>
        <p:nvSpPr>
          <p:cNvPr id="11" name="Text 9"/>
          <p:cNvSpPr txBox="1"/>
          <p:nvPr/>
        </p:nvSpPr>
        <p:spPr>
          <a:xfrm>
            <a:off x="10610585" y="6610350"/>
            <a:ext cx="971526" cy="161925"/>
          </a:xfrm>
          <a:prstGeom prst="rect">
            <a:avLst/>
          </a:prstGeom>
          <a:noFill/>
          <a:ln/>
        </p:spPr>
        <p:txBody>
          <a:bodyPr wrap="square" lIns="0" tIns="0" rIns="0" bIns="0" rtlCol="0" anchor="t"/>
          <a:lstStyle/>
          <a:p>
            <a:pPr algn="r" indent="0" marL="0">
              <a:lnSpc>
                <a:spcPct val="114000"/>
              </a:lnSpc>
              <a:buNone/>
            </a:pPr>
            <a:r>
              <a:rPr lang="en-US" sz="900" b="1" dirty="0">
                <a:solidFill>
                  <a:srgbClr val="586B81"/>
                </a:solidFill>
                <a:latin typeface="Arial" pitchFamily="34" charset="0"/>
                <a:ea typeface="Arial" pitchFamily="34" charset="-122"/>
                <a:cs typeface="Arial" pitchFamily="34" charset="-120"/>
              </a:rPr>
              <a:t>34 / 34</a:t>
            </a:r>
            <a:endParaRPr lang="en-US" sz="900" dirty="0"/>
          </a:p>
        </p:txBody>
      </p:sp>
      <p:sp>
        <p:nvSpPr>
          <p:cNvPr id="12" name="Shape 10"/>
          <p:cNvSpPr/>
          <p:nvPr/>
        </p:nvSpPr>
        <p:spPr>
          <a:xfrm>
            <a:off x="0" y="6819900"/>
            <a:ext cx="12191695" cy="38100"/>
          </a:xfrm>
          <a:prstGeom prst="rect">
            <a:avLst/>
          </a:prstGeom>
          <a:solidFill>
            <a:srgbClr val="D8E1EB"/>
          </a:solidFill>
          <a:ln w="12700">
            <a:solidFill>
              <a:srgbClr val="D8E1EB">
                <a:alpha val="0"/>
              </a:srgbClr>
            </a:solidFill>
            <a:prstDash val="solid"/>
          </a:ln>
        </p:spPr>
      </p:sp>
      <p:sp>
        <p:nvSpPr>
          <p:cNvPr id="13" name="Shape 11"/>
          <p:cNvSpPr/>
          <p:nvPr/>
        </p:nvSpPr>
        <p:spPr>
          <a:xfrm>
            <a:off x="0" y="6819900"/>
            <a:ext cx="12191695" cy="38100"/>
          </a:xfrm>
          <a:prstGeom prst="rect">
            <a:avLst/>
          </a:prstGeom>
          <a:solidFill>
            <a:srgbClr val="F77F00"/>
          </a:solidFill>
          <a:ln w="12700">
            <a:solidFill>
              <a:srgbClr val="F77F00">
                <a:alpha val="0"/>
              </a:srgbClr>
            </a:solidFill>
            <a:prstDash val="solid"/>
          </a:ln>
        </p:spPr>
      </p:sp>
      <p:sp>
        <p:nvSpPr>
          <p:cNvPr id="14" name="Shape 12"/>
          <p:cNvSpPr/>
          <p:nvPr/>
        </p:nvSpPr>
        <p:spPr>
          <a:xfrm>
            <a:off x="609585" y="2171700"/>
            <a:ext cx="3517812" cy="3600450"/>
          </a:xfrm>
          <a:prstGeom prst="roundRect">
            <a:avLst>
              <a:gd name="adj" fmla="val 2166"/>
            </a:avLst>
          </a:prstGeom>
          <a:solidFill>
            <a:srgbClr val="FFFFFF"/>
          </a:solidFill>
          <a:ln w="7620">
            <a:solidFill>
              <a:srgbClr val="D8E1EB"/>
            </a:solidFill>
            <a:prstDash val="solid"/>
          </a:ln>
        </p:spPr>
      </p:sp>
      <p:sp>
        <p:nvSpPr>
          <p:cNvPr id="15" name="Shape 13"/>
          <p:cNvSpPr/>
          <p:nvPr/>
        </p:nvSpPr>
        <p:spPr>
          <a:xfrm>
            <a:off x="609585" y="2171700"/>
            <a:ext cx="3517812" cy="390525"/>
          </a:xfrm>
          <a:prstGeom prst="rect">
            <a:avLst/>
          </a:prstGeom>
          <a:solidFill>
            <a:srgbClr val="13315C"/>
          </a:solidFill>
          <a:ln w="12700">
            <a:solidFill>
              <a:srgbClr val="13315C">
                <a:alpha val="0"/>
              </a:srgbClr>
            </a:solidFill>
            <a:prstDash val="solid"/>
          </a:ln>
        </p:spPr>
      </p:sp>
      <p:sp>
        <p:nvSpPr>
          <p:cNvPr id="16" name="Text 14"/>
          <p:cNvSpPr txBox="1"/>
          <p:nvPr/>
        </p:nvSpPr>
        <p:spPr>
          <a:xfrm>
            <a:off x="742931" y="2257425"/>
            <a:ext cx="3251119" cy="247650"/>
          </a:xfrm>
          <a:prstGeom prst="rect">
            <a:avLst/>
          </a:prstGeom>
          <a:noFill/>
          <a:ln/>
        </p:spPr>
        <p:txBody>
          <a:bodyPr wrap="square" lIns="0" tIns="0" rIns="0" bIns="0" rtlCol="0" anchor="t"/>
          <a:lstStyle/>
          <a:p>
            <a:pPr algn="l" indent="0" marL="0">
              <a:lnSpc>
                <a:spcPct val="114000"/>
              </a:lnSpc>
              <a:buNone/>
            </a:pPr>
            <a:r>
              <a:rPr lang="en-US" sz="1600" b="1" dirty="0">
                <a:solidFill>
                  <a:srgbClr val="FFFFFF"/>
                </a:solidFill>
                <a:latin typeface="Arial" pitchFamily="34" charset="0"/>
                <a:ea typeface="Arial" pitchFamily="34" charset="-122"/>
                <a:cs typeface="Arial" pitchFamily="34" charset="-120"/>
              </a:rPr>
              <a:t>Chương 1 · Tĩnh học (10)</a:t>
            </a:r>
            <a:endParaRPr lang="en-US" sz="1600" dirty="0"/>
          </a:p>
        </p:txBody>
      </p:sp>
      <p:sp>
        <p:nvSpPr>
          <p:cNvPr id="17" name="Text 15"/>
          <p:cNvSpPr txBox="1"/>
          <p:nvPr/>
        </p:nvSpPr>
        <p:spPr>
          <a:xfrm>
            <a:off x="742931" y="2609850"/>
            <a:ext cx="3251119" cy="276225"/>
          </a:xfrm>
          <a:prstGeom prst="rect">
            <a:avLst/>
          </a:prstGeom>
          <a:noFill/>
          <a:ln/>
        </p:spPr>
        <p:txBody>
          <a:bodyPr wrap="square" lIns="0" tIns="0" rIns="0" bIns="0" rtlCol="0" anchor="ctr"/>
          <a:lstStyle/>
          <a:p>
            <a:pPr algn="l" indent="0" marL="0">
              <a:lnSpc>
                <a:spcPct val="114000"/>
              </a:lnSpc>
              <a:buNone/>
            </a:pPr>
            <a:r>
              <a:rPr lang="en-US" sz="1100" dirty="0">
                <a:solidFill>
                  <a:srgbClr val="24364A"/>
                </a:solidFill>
                <a:latin typeface="Arial" pitchFamily="34" charset="0"/>
                <a:ea typeface="Arial" pitchFamily="34" charset="-122"/>
                <a:cs typeface="Arial" pitchFamily="34" charset="-120"/>
              </a:rPr>
              <a:t>ch1-1-3 · Véc tơ lực: điểm đặt / phương / độ lớn</a:t>
            </a:r>
            <a:endParaRPr lang="en-US" sz="1100" dirty="0"/>
          </a:p>
        </p:txBody>
      </p:sp>
      <p:sp>
        <p:nvSpPr>
          <p:cNvPr id="18" name="Shape 16"/>
          <p:cNvSpPr/>
          <p:nvPr/>
        </p:nvSpPr>
        <p:spPr>
          <a:xfrm>
            <a:off x="619110" y="2905125"/>
            <a:ext cx="3498763" cy="314325"/>
          </a:xfrm>
          <a:prstGeom prst="rect">
            <a:avLst/>
          </a:prstGeom>
          <a:solidFill>
            <a:srgbClr val="F5F7FA"/>
          </a:solidFill>
          <a:ln w="12700">
            <a:solidFill>
              <a:srgbClr val="F5F7FA">
                <a:alpha val="0"/>
              </a:srgbClr>
            </a:solidFill>
            <a:prstDash val="solid"/>
          </a:ln>
        </p:spPr>
      </p:sp>
      <p:sp>
        <p:nvSpPr>
          <p:cNvPr id="19" name="Text 17"/>
          <p:cNvSpPr txBox="1"/>
          <p:nvPr/>
        </p:nvSpPr>
        <p:spPr>
          <a:xfrm>
            <a:off x="742931" y="2924175"/>
            <a:ext cx="3251119" cy="276225"/>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ch1-1-4 · Mô men lực &amp; cánh tay đòn</a:t>
            </a:r>
            <a:endParaRPr lang="en-US" sz="1150" dirty="0"/>
          </a:p>
        </p:txBody>
      </p:sp>
      <p:sp>
        <p:nvSpPr>
          <p:cNvPr id="20" name="Text 18"/>
          <p:cNvSpPr txBox="1"/>
          <p:nvPr/>
        </p:nvSpPr>
        <p:spPr>
          <a:xfrm>
            <a:off x="742931" y="3238500"/>
            <a:ext cx="2889178" cy="276225"/>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ch1-1-5 · Thu gọn hệ lực phẳng → R + Mo</a:t>
            </a:r>
            <a:endParaRPr lang="en-US" sz="1150" dirty="0"/>
          </a:p>
        </p:txBody>
      </p:sp>
      <p:sp>
        <p:nvSpPr>
          <p:cNvPr id="21" name="Shape 19"/>
          <p:cNvSpPr/>
          <p:nvPr/>
        </p:nvSpPr>
        <p:spPr>
          <a:xfrm>
            <a:off x="3698783" y="3271838"/>
            <a:ext cx="314317" cy="209550"/>
          </a:xfrm>
          <a:prstGeom prst="roundRect">
            <a:avLst>
              <a:gd name="adj" fmla="val 18181"/>
            </a:avLst>
          </a:prstGeom>
          <a:solidFill>
            <a:srgbClr val="FFF1E1"/>
          </a:solidFill>
          <a:ln w="12700">
            <a:solidFill>
              <a:srgbClr val="FFF1E1">
                <a:alpha val="0"/>
              </a:srgbClr>
            </a:solidFill>
            <a:prstDash val="solid"/>
          </a:ln>
        </p:spPr>
      </p:sp>
      <p:sp>
        <p:nvSpPr>
          <p:cNvPr id="22" name="Text 20"/>
          <p:cNvSpPr txBox="1"/>
          <p:nvPr/>
        </p:nvSpPr>
        <p:spPr>
          <a:xfrm>
            <a:off x="3708307" y="3300413"/>
            <a:ext cx="295268" cy="171450"/>
          </a:xfrm>
          <a:prstGeom prst="rect">
            <a:avLst/>
          </a:prstGeom>
          <a:noFill/>
          <a:ln/>
        </p:spPr>
        <p:txBody>
          <a:bodyPr wrap="square" lIns="0" tIns="0" rIns="0" bIns="0" rtlCol="0" anchor="t"/>
          <a:lstStyle/>
          <a:p>
            <a:pPr algn="ctr" indent="0" marL="0">
              <a:lnSpc>
                <a:spcPct val="114000"/>
              </a:lnSpc>
              <a:buNone/>
            </a:pPr>
            <a:r>
              <a:rPr lang="en-US" sz="1000" b="1" dirty="0">
                <a:solidFill>
                  <a:srgbClr val="F77F00"/>
                </a:solidFill>
                <a:latin typeface="Arial" pitchFamily="34" charset="0"/>
                <a:ea typeface="Arial" pitchFamily="34" charset="-122"/>
                <a:cs typeface="Arial" pitchFamily="34" charset="-120"/>
              </a:rPr>
              <a:t>3D</a:t>
            </a:r>
            <a:endParaRPr lang="en-US" sz="1000" dirty="0"/>
          </a:p>
        </p:txBody>
      </p:sp>
      <p:sp>
        <p:nvSpPr>
          <p:cNvPr id="23" name="Shape 21"/>
          <p:cNvSpPr/>
          <p:nvPr/>
        </p:nvSpPr>
        <p:spPr>
          <a:xfrm>
            <a:off x="619110" y="3533775"/>
            <a:ext cx="3498763" cy="314325"/>
          </a:xfrm>
          <a:prstGeom prst="rect">
            <a:avLst/>
          </a:prstGeom>
          <a:solidFill>
            <a:srgbClr val="F5F7FA"/>
          </a:solidFill>
          <a:ln w="12700">
            <a:solidFill>
              <a:srgbClr val="F5F7FA">
                <a:alpha val="0"/>
              </a:srgbClr>
            </a:solidFill>
            <a:prstDash val="solid"/>
          </a:ln>
        </p:spPr>
      </p:sp>
      <p:sp>
        <p:nvSpPr>
          <p:cNvPr id="24" name="Text 22"/>
          <p:cNvSpPr txBox="1"/>
          <p:nvPr/>
        </p:nvSpPr>
        <p:spPr>
          <a:xfrm>
            <a:off x="742931" y="3552825"/>
            <a:ext cx="3251119" cy="276225"/>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ch1-1-6 · Ngẫu lực &amp; mô men ngẫu</a:t>
            </a:r>
            <a:endParaRPr lang="en-US" sz="1150" dirty="0"/>
          </a:p>
        </p:txBody>
      </p:sp>
      <p:sp>
        <p:nvSpPr>
          <p:cNvPr id="25" name="Text 23"/>
          <p:cNvSpPr txBox="1"/>
          <p:nvPr/>
        </p:nvSpPr>
        <p:spPr>
          <a:xfrm>
            <a:off x="742931" y="3867150"/>
            <a:ext cx="3251119" cy="276225"/>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ch1-2-3 · Hình bình hành lực (2 đồng quy)</a:t>
            </a:r>
            <a:endParaRPr lang="en-US" sz="1150" dirty="0"/>
          </a:p>
        </p:txBody>
      </p:sp>
      <p:sp>
        <p:nvSpPr>
          <p:cNvPr id="26" name="Shape 24"/>
          <p:cNvSpPr/>
          <p:nvPr/>
        </p:nvSpPr>
        <p:spPr>
          <a:xfrm>
            <a:off x="619110" y="4162425"/>
            <a:ext cx="3498763" cy="314325"/>
          </a:xfrm>
          <a:prstGeom prst="rect">
            <a:avLst/>
          </a:prstGeom>
          <a:solidFill>
            <a:srgbClr val="F5F7FA"/>
          </a:solidFill>
          <a:ln w="12700">
            <a:solidFill>
              <a:srgbClr val="F5F7FA">
                <a:alpha val="0"/>
              </a:srgbClr>
            </a:solidFill>
            <a:prstDash val="solid"/>
          </a:ln>
        </p:spPr>
      </p:sp>
      <p:sp>
        <p:nvSpPr>
          <p:cNvPr id="27" name="Text 25"/>
          <p:cNvSpPr txBox="1"/>
          <p:nvPr/>
        </p:nvSpPr>
        <p:spPr>
          <a:xfrm>
            <a:off x="742931" y="4181475"/>
            <a:ext cx="3251119" cy="276225"/>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ch1-1-8 · Phản lực liên kết + dựng FBD</a:t>
            </a:r>
            <a:endParaRPr lang="en-US" sz="1150" dirty="0"/>
          </a:p>
        </p:txBody>
      </p:sp>
      <p:sp>
        <p:nvSpPr>
          <p:cNvPr id="28" name="Text 26"/>
          <p:cNvSpPr txBox="1"/>
          <p:nvPr/>
        </p:nvSpPr>
        <p:spPr>
          <a:xfrm>
            <a:off x="742931" y="4495800"/>
            <a:ext cx="3251119" cy="276225"/>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ch1-3-2 · Lực căng dây (ràng buộc 1 chiều)</a:t>
            </a:r>
            <a:endParaRPr lang="en-US" sz="1150" dirty="0"/>
          </a:p>
        </p:txBody>
      </p:sp>
      <p:sp>
        <p:nvSpPr>
          <p:cNvPr id="29" name="Shape 27"/>
          <p:cNvSpPr/>
          <p:nvPr/>
        </p:nvSpPr>
        <p:spPr>
          <a:xfrm>
            <a:off x="619110" y="4791075"/>
            <a:ext cx="3498763" cy="314325"/>
          </a:xfrm>
          <a:prstGeom prst="rect">
            <a:avLst/>
          </a:prstGeom>
          <a:solidFill>
            <a:srgbClr val="F5F7FA"/>
          </a:solidFill>
          <a:ln w="12700">
            <a:solidFill>
              <a:srgbClr val="F5F7FA">
                <a:alpha val="0"/>
              </a:srgbClr>
            </a:solidFill>
            <a:prstDash val="solid"/>
          </a:ln>
        </p:spPr>
      </p:sp>
      <p:sp>
        <p:nvSpPr>
          <p:cNvPr id="30" name="Text 28"/>
          <p:cNvSpPr txBox="1"/>
          <p:nvPr/>
        </p:nvSpPr>
        <p:spPr>
          <a:xfrm>
            <a:off x="742931" y="4810125"/>
            <a:ext cx="3251119" cy="276225"/>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ch1-3-6 · Phản lực &amp; mô men ngàm</a:t>
            </a:r>
            <a:endParaRPr lang="en-US" sz="1150" dirty="0"/>
          </a:p>
        </p:txBody>
      </p:sp>
      <p:sp>
        <p:nvSpPr>
          <p:cNvPr id="31" name="Text 29"/>
          <p:cNvSpPr txBox="1"/>
          <p:nvPr/>
        </p:nvSpPr>
        <p:spPr>
          <a:xfrm>
            <a:off x="742931" y="5124450"/>
            <a:ext cx="2889178" cy="276225"/>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ch1-5-3 · Nón ma sát trên mặt nghiêng</a:t>
            </a:r>
            <a:endParaRPr lang="en-US" sz="1150" dirty="0"/>
          </a:p>
        </p:txBody>
      </p:sp>
      <p:sp>
        <p:nvSpPr>
          <p:cNvPr id="32" name="Shape 30"/>
          <p:cNvSpPr/>
          <p:nvPr/>
        </p:nvSpPr>
        <p:spPr>
          <a:xfrm>
            <a:off x="3698783" y="5157788"/>
            <a:ext cx="314317" cy="209550"/>
          </a:xfrm>
          <a:prstGeom prst="roundRect">
            <a:avLst>
              <a:gd name="adj" fmla="val 18181"/>
            </a:avLst>
          </a:prstGeom>
          <a:solidFill>
            <a:srgbClr val="FFF1E1"/>
          </a:solidFill>
          <a:ln w="12700">
            <a:solidFill>
              <a:srgbClr val="FFF1E1">
                <a:alpha val="0"/>
              </a:srgbClr>
            </a:solidFill>
            <a:prstDash val="solid"/>
          </a:ln>
        </p:spPr>
      </p:sp>
      <p:sp>
        <p:nvSpPr>
          <p:cNvPr id="33" name="Text 31"/>
          <p:cNvSpPr txBox="1"/>
          <p:nvPr/>
        </p:nvSpPr>
        <p:spPr>
          <a:xfrm>
            <a:off x="3708307" y="5186363"/>
            <a:ext cx="295268" cy="171450"/>
          </a:xfrm>
          <a:prstGeom prst="rect">
            <a:avLst/>
          </a:prstGeom>
          <a:noFill/>
          <a:ln/>
        </p:spPr>
        <p:txBody>
          <a:bodyPr wrap="square" lIns="0" tIns="0" rIns="0" bIns="0" rtlCol="0" anchor="t"/>
          <a:lstStyle/>
          <a:p>
            <a:pPr algn="ctr" indent="0" marL="0">
              <a:lnSpc>
                <a:spcPct val="114000"/>
              </a:lnSpc>
              <a:buNone/>
            </a:pPr>
            <a:r>
              <a:rPr lang="en-US" sz="1000" b="1" dirty="0">
                <a:solidFill>
                  <a:srgbClr val="F77F00"/>
                </a:solidFill>
                <a:latin typeface="Arial" pitchFamily="34" charset="0"/>
                <a:ea typeface="Arial" pitchFamily="34" charset="-122"/>
                <a:cs typeface="Arial" pitchFamily="34" charset="-120"/>
              </a:rPr>
              <a:t>3D</a:t>
            </a:r>
            <a:endParaRPr lang="en-US" sz="1000" dirty="0"/>
          </a:p>
        </p:txBody>
      </p:sp>
      <p:sp>
        <p:nvSpPr>
          <p:cNvPr id="34" name="Shape 32"/>
          <p:cNvSpPr/>
          <p:nvPr/>
        </p:nvSpPr>
        <p:spPr>
          <a:xfrm>
            <a:off x="619110" y="5419725"/>
            <a:ext cx="3498763" cy="314325"/>
          </a:xfrm>
          <a:prstGeom prst="rect">
            <a:avLst/>
          </a:prstGeom>
          <a:solidFill>
            <a:srgbClr val="F5F7FA"/>
          </a:solidFill>
          <a:ln w="12700">
            <a:solidFill>
              <a:srgbClr val="F5F7FA">
                <a:alpha val="0"/>
              </a:srgbClr>
            </a:solidFill>
            <a:prstDash val="solid"/>
          </a:ln>
        </p:spPr>
      </p:sp>
      <p:sp>
        <p:nvSpPr>
          <p:cNvPr id="35" name="Text 33"/>
          <p:cNvSpPr txBox="1"/>
          <p:nvPr/>
        </p:nvSpPr>
        <p:spPr>
          <a:xfrm>
            <a:off x="742931" y="5438775"/>
            <a:ext cx="3251119" cy="276225"/>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ch1-6-3 · Trọng tâm hình ghép / khoét</a:t>
            </a:r>
            <a:endParaRPr lang="en-US" sz="1150" dirty="0"/>
          </a:p>
        </p:txBody>
      </p:sp>
      <p:sp>
        <p:nvSpPr>
          <p:cNvPr id="36" name="Shape 34"/>
          <p:cNvSpPr/>
          <p:nvPr/>
        </p:nvSpPr>
        <p:spPr>
          <a:xfrm>
            <a:off x="4336942" y="2171700"/>
            <a:ext cx="3517812" cy="3600450"/>
          </a:xfrm>
          <a:prstGeom prst="roundRect">
            <a:avLst>
              <a:gd name="adj" fmla="val 2166"/>
            </a:avLst>
          </a:prstGeom>
          <a:solidFill>
            <a:srgbClr val="FFFFFF"/>
          </a:solidFill>
          <a:ln w="7620">
            <a:solidFill>
              <a:srgbClr val="D8E1EB"/>
            </a:solidFill>
            <a:prstDash val="solid"/>
          </a:ln>
        </p:spPr>
      </p:sp>
      <p:sp>
        <p:nvSpPr>
          <p:cNvPr id="37" name="Shape 35"/>
          <p:cNvSpPr/>
          <p:nvPr/>
        </p:nvSpPr>
        <p:spPr>
          <a:xfrm>
            <a:off x="4336942" y="2171700"/>
            <a:ext cx="3517812" cy="390525"/>
          </a:xfrm>
          <a:prstGeom prst="rect">
            <a:avLst/>
          </a:prstGeom>
          <a:solidFill>
            <a:srgbClr val="13315C"/>
          </a:solidFill>
          <a:ln w="12700">
            <a:solidFill>
              <a:srgbClr val="13315C">
                <a:alpha val="0"/>
              </a:srgbClr>
            </a:solidFill>
            <a:prstDash val="solid"/>
          </a:ln>
        </p:spPr>
      </p:sp>
      <p:sp>
        <p:nvSpPr>
          <p:cNvPr id="38" name="Text 36"/>
          <p:cNvSpPr txBox="1"/>
          <p:nvPr/>
        </p:nvSpPr>
        <p:spPr>
          <a:xfrm>
            <a:off x="4470288" y="2257425"/>
            <a:ext cx="3251119" cy="247650"/>
          </a:xfrm>
          <a:prstGeom prst="rect">
            <a:avLst/>
          </a:prstGeom>
          <a:noFill/>
          <a:ln/>
        </p:spPr>
        <p:txBody>
          <a:bodyPr wrap="square" lIns="0" tIns="0" rIns="0" bIns="0" rtlCol="0" anchor="t"/>
          <a:lstStyle/>
          <a:p>
            <a:pPr algn="l" indent="0" marL="0">
              <a:lnSpc>
                <a:spcPct val="114000"/>
              </a:lnSpc>
              <a:buNone/>
            </a:pPr>
            <a:r>
              <a:rPr lang="en-US" sz="1600" b="1" dirty="0">
                <a:solidFill>
                  <a:srgbClr val="FFFFFF"/>
                </a:solidFill>
                <a:latin typeface="Arial" pitchFamily="34" charset="0"/>
                <a:ea typeface="Arial" pitchFamily="34" charset="-122"/>
                <a:cs typeface="Arial" pitchFamily="34" charset="-120"/>
              </a:rPr>
              <a:t>Chương 2 · Động học (7)</a:t>
            </a:r>
            <a:endParaRPr lang="en-US" sz="1600" dirty="0"/>
          </a:p>
        </p:txBody>
      </p:sp>
      <p:sp>
        <p:nvSpPr>
          <p:cNvPr id="39" name="Text 37"/>
          <p:cNvSpPr txBox="1"/>
          <p:nvPr/>
        </p:nvSpPr>
        <p:spPr>
          <a:xfrm>
            <a:off x="4470288" y="2609850"/>
            <a:ext cx="3251119" cy="41093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ch2-1-1 · Quỹ đạo chất điểm + v, a</a:t>
            </a:r>
            <a:endParaRPr lang="en-US" sz="1150" dirty="0"/>
          </a:p>
        </p:txBody>
      </p:sp>
      <p:sp>
        <p:nvSpPr>
          <p:cNvPr id="40" name="Shape 38"/>
          <p:cNvSpPr/>
          <p:nvPr/>
        </p:nvSpPr>
        <p:spPr>
          <a:xfrm>
            <a:off x="4346466" y="3039836"/>
            <a:ext cx="3498763" cy="449036"/>
          </a:xfrm>
          <a:prstGeom prst="rect">
            <a:avLst/>
          </a:prstGeom>
          <a:solidFill>
            <a:srgbClr val="F5F7FA"/>
          </a:solidFill>
          <a:ln w="12700">
            <a:solidFill>
              <a:srgbClr val="F5F7FA">
                <a:alpha val="0"/>
              </a:srgbClr>
            </a:solidFill>
            <a:prstDash val="solid"/>
          </a:ln>
        </p:spPr>
      </p:sp>
      <p:sp>
        <p:nvSpPr>
          <p:cNvPr id="41" name="Text 39"/>
          <p:cNvSpPr txBox="1"/>
          <p:nvPr/>
        </p:nvSpPr>
        <p:spPr>
          <a:xfrm>
            <a:off x="4470288" y="3058886"/>
            <a:ext cx="2889178" cy="41093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ch2-1-3 · Tiếp/pháp tuyến + bán kính</a:t>
            </a:r>
            <a:endParaRPr lang="en-US" sz="1150" dirty="0"/>
          </a:p>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cong</a:t>
            </a:r>
            <a:endParaRPr lang="en-US" sz="1150" dirty="0"/>
          </a:p>
        </p:txBody>
      </p:sp>
      <p:sp>
        <p:nvSpPr>
          <p:cNvPr id="42" name="Shape 40"/>
          <p:cNvSpPr/>
          <p:nvPr/>
        </p:nvSpPr>
        <p:spPr>
          <a:xfrm>
            <a:off x="7426139" y="3159579"/>
            <a:ext cx="314317" cy="209550"/>
          </a:xfrm>
          <a:prstGeom prst="roundRect">
            <a:avLst>
              <a:gd name="adj" fmla="val 18181"/>
            </a:avLst>
          </a:prstGeom>
          <a:solidFill>
            <a:srgbClr val="FFF1E1"/>
          </a:solidFill>
          <a:ln w="12700">
            <a:solidFill>
              <a:srgbClr val="FFF1E1">
                <a:alpha val="0"/>
              </a:srgbClr>
            </a:solidFill>
            <a:prstDash val="solid"/>
          </a:ln>
        </p:spPr>
      </p:sp>
      <p:sp>
        <p:nvSpPr>
          <p:cNvPr id="43" name="Text 41"/>
          <p:cNvSpPr txBox="1"/>
          <p:nvPr/>
        </p:nvSpPr>
        <p:spPr>
          <a:xfrm>
            <a:off x="7435664" y="3188154"/>
            <a:ext cx="295268" cy="171450"/>
          </a:xfrm>
          <a:prstGeom prst="rect">
            <a:avLst/>
          </a:prstGeom>
          <a:noFill/>
          <a:ln/>
        </p:spPr>
        <p:txBody>
          <a:bodyPr wrap="square" lIns="0" tIns="0" rIns="0" bIns="0" rtlCol="0" anchor="t"/>
          <a:lstStyle/>
          <a:p>
            <a:pPr algn="ctr" indent="0" marL="0">
              <a:lnSpc>
                <a:spcPct val="114000"/>
              </a:lnSpc>
              <a:buNone/>
            </a:pPr>
            <a:r>
              <a:rPr lang="en-US" sz="1000" b="1" dirty="0">
                <a:solidFill>
                  <a:srgbClr val="F77F00"/>
                </a:solidFill>
                <a:latin typeface="Arial" pitchFamily="34" charset="0"/>
                <a:ea typeface="Arial" pitchFamily="34" charset="-122"/>
                <a:cs typeface="Arial" pitchFamily="34" charset="-120"/>
              </a:rPr>
              <a:t>3D</a:t>
            </a:r>
            <a:endParaRPr lang="en-US" sz="1000" dirty="0"/>
          </a:p>
        </p:txBody>
      </p:sp>
      <p:sp>
        <p:nvSpPr>
          <p:cNvPr id="44" name="Text 42"/>
          <p:cNvSpPr txBox="1"/>
          <p:nvPr/>
        </p:nvSpPr>
        <p:spPr>
          <a:xfrm>
            <a:off x="4470288" y="3507921"/>
            <a:ext cx="2889178" cy="41093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ch2-2-2 · Quay quanh trục cố định (ω, α)</a:t>
            </a:r>
            <a:endParaRPr lang="en-US" sz="1150" dirty="0"/>
          </a:p>
        </p:txBody>
      </p:sp>
      <p:sp>
        <p:nvSpPr>
          <p:cNvPr id="45" name="Shape 43"/>
          <p:cNvSpPr/>
          <p:nvPr/>
        </p:nvSpPr>
        <p:spPr>
          <a:xfrm>
            <a:off x="7426139" y="3608614"/>
            <a:ext cx="314317" cy="209550"/>
          </a:xfrm>
          <a:prstGeom prst="roundRect">
            <a:avLst>
              <a:gd name="adj" fmla="val 18181"/>
            </a:avLst>
          </a:prstGeom>
          <a:solidFill>
            <a:srgbClr val="FFF1E1"/>
          </a:solidFill>
          <a:ln w="12700">
            <a:solidFill>
              <a:srgbClr val="FFF1E1">
                <a:alpha val="0"/>
              </a:srgbClr>
            </a:solidFill>
            <a:prstDash val="solid"/>
          </a:ln>
        </p:spPr>
      </p:sp>
      <p:sp>
        <p:nvSpPr>
          <p:cNvPr id="46" name="Text 44"/>
          <p:cNvSpPr txBox="1"/>
          <p:nvPr/>
        </p:nvSpPr>
        <p:spPr>
          <a:xfrm>
            <a:off x="7435664" y="3637189"/>
            <a:ext cx="295268" cy="171450"/>
          </a:xfrm>
          <a:prstGeom prst="rect">
            <a:avLst/>
          </a:prstGeom>
          <a:noFill/>
          <a:ln/>
        </p:spPr>
        <p:txBody>
          <a:bodyPr wrap="square" lIns="0" tIns="0" rIns="0" bIns="0" rtlCol="0" anchor="t"/>
          <a:lstStyle/>
          <a:p>
            <a:pPr algn="ctr" indent="0" marL="0">
              <a:lnSpc>
                <a:spcPct val="114000"/>
              </a:lnSpc>
              <a:buNone/>
            </a:pPr>
            <a:r>
              <a:rPr lang="en-US" sz="1000" b="1" dirty="0">
                <a:solidFill>
                  <a:srgbClr val="F77F00"/>
                </a:solidFill>
                <a:latin typeface="Arial" pitchFamily="34" charset="0"/>
                <a:ea typeface="Arial" pitchFamily="34" charset="-122"/>
                <a:cs typeface="Arial" pitchFamily="34" charset="-120"/>
              </a:rPr>
              <a:t>3D</a:t>
            </a:r>
            <a:endParaRPr lang="en-US" sz="1000" dirty="0"/>
          </a:p>
        </p:txBody>
      </p:sp>
      <p:sp>
        <p:nvSpPr>
          <p:cNvPr id="47" name="Shape 45"/>
          <p:cNvSpPr/>
          <p:nvPr/>
        </p:nvSpPr>
        <p:spPr>
          <a:xfrm>
            <a:off x="4346466" y="3937907"/>
            <a:ext cx="3498763" cy="449036"/>
          </a:xfrm>
          <a:prstGeom prst="rect">
            <a:avLst/>
          </a:prstGeom>
          <a:solidFill>
            <a:srgbClr val="F5F7FA"/>
          </a:solidFill>
          <a:ln w="12700">
            <a:solidFill>
              <a:srgbClr val="F5F7FA">
                <a:alpha val="0"/>
              </a:srgbClr>
            </a:solidFill>
            <a:prstDash val="solid"/>
          </a:ln>
        </p:spPr>
      </p:sp>
      <p:sp>
        <p:nvSpPr>
          <p:cNvPr id="48" name="Text 46"/>
          <p:cNvSpPr txBox="1"/>
          <p:nvPr/>
        </p:nvSpPr>
        <p:spPr>
          <a:xfrm>
            <a:off x="4470288" y="3956957"/>
            <a:ext cx="2889178" cy="41093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ch2-3-2 · Truyền động bánh răng–đai–puli</a:t>
            </a:r>
            <a:endParaRPr lang="en-US" sz="1150" dirty="0"/>
          </a:p>
        </p:txBody>
      </p:sp>
      <p:sp>
        <p:nvSpPr>
          <p:cNvPr id="49" name="Shape 47"/>
          <p:cNvSpPr/>
          <p:nvPr/>
        </p:nvSpPr>
        <p:spPr>
          <a:xfrm>
            <a:off x="7426139" y="4057650"/>
            <a:ext cx="314317" cy="209550"/>
          </a:xfrm>
          <a:prstGeom prst="roundRect">
            <a:avLst>
              <a:gd name="adj" fmla="val 18181"/>
            </a:avLst>
          </a:prstGeom>
          <a:solidFill>
            <a:srgbClr val="FFF1E1"/>
          </a:solidFill>
          <a:ln w="12700">
            <a:solidFill>
              <a:srgbClr val="FFF1E1">
                <a:alpha val="0"/>
              </a:srgbClr>
            </a:solidFill>
            <a:prstDash val="solid"/>
          </a:ln>
        </p:spPr>
      </p:sp>
      <p:sp>
        <p:nvSpPr>
          <p:cNvPr id="50" name="Text 48"/>
          <p:cNvSpPr txBox="1"/>
          <p:nvPr/>
        </p:nvSpPr>
        <p:spPr>
          <a:xfrm>
            <a:off x="7435664" y="4086225"/>
            <a:ext cx="295268" cy="171450"/>
          </a:xfrm>
          <a:prstGeom prst="rect">
            <a:avLst/>
          </a:prstGeom>
          <a:noFill/>
          <a:ln/>
        </p:spPr>
        <p:txBody>
          <a:bodyPr wrap="square" lIns="0" tIns="0" rIns="0" bIns="0" rtlCol="0" anchor="t"/>
          <a:lstStyle/>
          <a:p>
            <a:pPr algn="ctr" indent="0" marL="0">
              <a:lnSpc>
                <a:spcPct val="114000"/>
              </a:lnSpc>
              <a:buNone/>
            </a:pPr>
            <a:r>
              <a:rPr lang="en-US" sz="1000" b="1" dirty="0">
                <a:solidFill>
                  <a:srgbClr val="F77F00"/>
                </a:solidFill>
                <a:latin typeface="Arial" pitchFamily="34" charset="0"/>
                <a:ea typeface="Arial" pitchFamily="34" charset="-122"/>
                <a:cs typeface="Arial" pitchFamily="34" charset="-120"/>
              </a:rPr>
              <a:t>3D</a:t>
            </a:r>
            <a:endParaRPr lang="en-US" sz="1000" dirty="0"/>
          </a:p>
        </p:txBody>
      </p:sp>
      <p:sp>
        <p:nvSpPr>
          <p:cNvPr id="51" name="Text 49"/>
          <p:cNvSpPr txBox="1"/>
          <p:nvPr/>
        </p:nvSpPr>
        <p:spPr>
          <a:xfrm>
            <a:off x="4470288" y="4405993"/>
            <a:ext cx="2889178" cy="41093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ch2-4-4 · Hợp chuyển động &amp; Coriolis</a:t>
            </a:r>
            <a:endParaRPr lang="en-US" sz="1150" dirty="0"/>
          </a:p>
        </p:txBody>
      </p:sp>
      <p:sp>
        <p:nvSpPr>
          <p:cNvPr id="52" name="Shape 50"/>
          <p:cNvSpPr/>
          <p:nvPr/>
        </p:nvSpPr>
        <p:spPr>
          <a:xfrm>
            <a:off x="7426139" y="4506686"/>
            <a:ext cx="314317" cy="209550"/>
          </a:xfrm>
          <a:prstGeom prst="roundRect">
            <a:avLst>
              <a:gd name="adj" fmla="val 18181"/>
            </a:avLst>
          </a:prstGeom>
          <a:solidFill>
            <a:srgbClr val="FFF1E1"/>
          </a:solidFill>
          <a:ln w="12700">
            <a:solidFill>
              <a:srgbClr val="FFF1E1">
                <a:alpha val="0"/>
              </a:srgbClr>
            </a:solidFill>
            <a:prstDash val="solid"/>
          </a:ln>
        </p:spPr>
      </p:sp>
      <p:sp>
        <p:nvSpPr>
          <p:cNvPr id="53" name="Text 51"/>
          <p:cNvSpPr txBox="1"/>
          <p:nvPr/>
        </p:nvSpPr>
        <p:spPr>
          <a:xfrm>
            <a:off x="7435664" y="4535261"/>
            <a:ext cx="295268" cy="171450"/>
          </a:xfrm>
          <a:prstGeom prst="rect">
            <a:avLst/>
          </a:prstGeom>
          <a:noFill/>
          <a:ln/>
        </p:spPr>
        <p:txBody>
          <a:bodyPr wrap="square" lIns="0" tIns="0" rIns="0" bIns="0" rtlCol="0" anchor="t"/>
          <a:lstStyle/>
          <a:p>
            <a:pPr algn="ctr" indent="0" marL="0">
              <a:lnSpc>
                <a:spcPct val="114000"/>
              </a:lnSpc>
              <a:buNone/>
            </a:pPr>
            <a:r>
              <a:rPr lang="en-US" sz="1000" b="1" dirty="0">
                <a:solidFill>
                  <a:srgbClr val="F77F00"/>
                </a:solidFill>
                <a:latin typeface="Arial" pitchFamily="34" charset="0"/>
                <a:ea typeface="Arial" pitchFamily="34" charset="-122"/>
                <a:cs typeface="Arial" pitchFamily="34" charset="-120"/>
              </a:rPr>
              <a:t>3D</a:t>
            </a:r>
            <a:endParaRPr lang="en-US" sz="1000" dirty="0"/>
          </a:p>
        </p:txBody>
      </p:sp>
      <p:sp>
        <p:nvSpPr>
          <p:cNvPr id="54" name="Shape 52"/>
          <p:cNvSpPr/>
          <p:nvPr/>
        </p:nvSpPr>
        <p:spPr>
          <a:xfrm>
            <a:off x="4346466" y="4835979"/>
            <a:ext cx="3498763" cy="449036"/>
          </a:xfrm>
          <a:prstGeom prst="rect">
            <a:avLst/>
          </a:prstGeom>
          <a:solidFill>
            <a:srgbClr val="F5F7FA"/>
          </a:solidFill>
          <a:ln w="12700">
            <a:solidFill>
              <a:srgbClr val="F5F7FA">
                <a:alpha val="0"/>
              </a:srgbClr>
            </a:solidFill>
            <a:prstDash val="solid"/>
          </a:ln>
        </p:spPr>
      </p:sp>
      <p:sp>
        <p:nvSpPr>
          <p:cNvPr id="55" name="Text 53"/>
          <p:cNvSpPr txBox="1"/>
          <p:nvPr/>
        </p:nvSpPr>
        <p:spPr>
          <a:xfrm>
            <a:off x="4470288" y="4855029"/>
            <a:ext cx="3251119" cy="41093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ch2-5-2 · Tâm vận tốc tức thời (IC)</a:t>
            </a:r>
            <a:endParaRPr lang="en-US" sz="1150" dirty="0"/>
          </a:p>
        </p:txBody>
      </p:sp>
      <p:sp>
        <p:nvSpPr>
          <p:cNvPr id="56" name="Text 54"/>
          <p:cNvSpPr txBox="1"/>
          <p:nvPr/>
        </p:nvSpPr>
        <p:spPr>
          <a:xfrm>
            <a:off x="4470288" y="5304064"/>
            <a:ext cx="2889178" cy="41093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ch2-5-3 · Phân bố vận tốc điểm trên vật</a:t>
            </a:r>
            <a:endParaRPr lang="en-US" sz="1150" dirty="0"/>
          </a:p>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rắn</a:t>
            </a:r>
            <a:endParaRPr lang="en-US" sz="1150" dirty="0"/>
          </a:p>
        </p:txBody>
      </p:sp>
      <p:sp>
        <p:nvSpPr>
          <p:cNvPr id="57" name="Shape 55"/>
          <p:cNvSpPr/>
          <p:nvPr/>
        </p:nvSpPr>
        <p:spPr>
          <a:xfrm>
            <a:off x="7426139" y="5404757"/>
            <a:ext cx="314317" cy="209550"/>
          </a:xfrm>
          <a:prstGeom prst="roundRect">
            <a:avLst>
              <a:gd name="adj" fmla="val 18181"/>
            </a:avLst>
          </a:prstGeom>
          <a:solidFill>
            <a:srgbClr val="FFF1E1"/>
          </a:solidFill>
          <a:ln w="12700">
            <a:solidFill>
              <a:srgbClr val="FFF1E1">
                <a:alpha val="0"/>
              </a:srgbClr>
            </a:solidFill>
            <a:prstDash val="solid"/>
          </a:ln>
        </p:spPr>
      </p:sp>
      <p:sp>
        <p:nvSpPr>
          <p:cNvPr id="58" name="Text 56"/>
          <p:cNvSpPr txBox="1"/>
          <p:nvPr/>
        </p:nvSpPr>
        <p:spPr>
          <a:xfrm>
            <a:off x="7435664" y="5433332"/>
            <a:ext cx="295268" cy="171450"/>
          </a:xfrm>
          <a:prstGeom prst="rect">
            <a:avLst/>
          </a:prstGeom>
          <a:noFill/>
          <a:ln/>
        </p:spPr>
        <p:txBody>
          <a:bodyPr wrap="square" lIns="0" tIns="0" rIns="0" bIns="0" rtlCol="0" anchor="t"/>
          <a:lstStyle/>
          <a:p>
            <a:pPr algn="ctr" indent="0" marL="0">
              <a:lnSpc>
                <a:spcPct val="114000"/>
              </a:lnSpc>
              <a:buNone/>
            </a:pPr>
            <a:r>
              <a:rPr lang="en-US" sz="1000" b="1" dirty="0">
                <a:solidFill>
                  <a:srgbClr val="F77F00"/>
                </a:solidFill>
                <a:latin typeface="Arial" pitchFamily="34" charset="0"/>
                <a:ea typeface="Arial" pitchFamily="34" charset="-122"/>
                <a:cs typeface="Arial" pitchFamily="34" charset="-120"/>
              </a:rPr>
              <a:t>3D</a:t>
            </a:r>
            <a:endParaRPr lang="en-US" sz="1000" dirty="0"/>
          </a:p>
        </p:txBody>
      </p:sp>
      <p:sp>
        <p:nvSpPr>
          <p:cNvPr id="59" name="Shape 57"/>
          <p:cNvSpPr/>
          <p:nvPr/>
        </p:nvSpPr>
        <p:spPr>
          <a:xfrm>
            <a:off x="8064298" y="2171700"/>
            <a:ext cx="3517812" cy="3600450"/>
          </a:xfrm>
          <a:prstGeom prst="roundRect">
            <a:avLst>
              <a:gd name="adj" fmla="val 2166"/>
            </a:avLst>
          </a:prstGeom>
          <a:solidFill>
            <a:srgbClr val="FFFFFF"/>
          </a:solidFill>
          <a:ln w="7620">
            <a:solidFill>
              <a:srgbClr val="D8E1EB"/>
            </a:solidFill>
            <a:prstDash val="solid"/>
          </a:ln>
        </p:spPr>
      </p:sp>
      <p:sp>
        <p:nvSpPr>
          <p:cNvPr id="60" name="Shape 58"/>
          <p:cNvSpPr/>
          <p:nvPr/>
        </p:nvSpPr>
        <p:spPr>
          <a:xfrm>
            <a:off x="8064298" y="2171700"/>
            <a:ext cx="3517812" cy="390525"/>
          </a:xfrm>
          <a:prstGeom prst="rect">
            <a:avLst/>
          </a:prstGeom>
          <a:solidFill>
            <a:srgbClr val="13315C"/>
          </a:solidFill>
          <a:ln w="12700">
            <a:solidFill>
              <a:srgbClr val="13315C">
                <a:alpha val="0"/>
              </a:srgbClr>
            </a:solidFill>
            <a:prstDash val="solid"/>
          </a:ln>
        </p:spPr>
      </p:sp>
      <p:sp>
        <p:nvSpPr>
          <p:cNvPr id="61" name="Text 59"/>
          <p:cNvSpPr txBox="1"/>
          <p:nvPr/>
        </p:nvSpPr>
        <p:spPr>
          <a:xfrm>
            <a:off x="8197645" y="2257425"/>
            <a:ext cx="3251119" cy="247650"/>
          </a:xfrm>
          <a:prstGeom prst="rect">
            <a:avLst/>
          </a:prstGeom>
          <a:noFill/>
          <a:ln/>
        </p:spPr>
        <p:txBody>
          <a:bodyPr wrap="square" lIns="0" tIns="0" rIns="0" bIns="0" rtlCol="0" anchor="t"/>
          <a:lstStyle/>
          <a:p>
            <a:pPr algn="l" indent="0" marL="0">
              <a:lnSpc>
                <a:spcPct val="114000"/>
              </a:lnSpc>
              <a:buNone/>
            </a:pPr>
            <a:r>
              <a:rPr lang="en-US" sz="1600" b="1" dirty="0">
                <a:solidFill>
                  <a:srgbClr val="FFFFFF"/>
                </a:solidFill>
                <a:latin typeface="Arial" pitchFamily="34" charset="0"/>
                <a:ea typeface="Arial" pitchFamily="34" charset="-122"/>
                <a:cs typeface="Arial" pitchFamily="34" charset="-120"/>
              </a:rPr>
              <a:t>Chương 3 · Động lực học (8)</a:t>
            </a:r>
            <a:endParaRPr lang="en-US" sz="1600" dirty="0"/>
          </a:p>
        </p:txBody>
      </p:sp>
      <p:sp>
        <p:nvSpPr>
          <p:cNvPr id="62" name="Text 60"/>
          <p:cNvSpPr txBox="1"/>
          <p:nvPr/>
        </p:nvSpPr>
        <p:spPr>
          <a:xfrm>
            <a:off x="8197645" y="2609850"/>
            <a:ext cx="3251119" cy="35480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ch3-2-2 · Định luật II Newton F = m·a</a:t>
            </a:r>
            <a:endParaRPr lang="en-US" sz="1150" dirty="0"/>
          </a:p>
        </p:txBody>
      </p:sp>
      <p:sp>
        <p:nvSpPr>
          <p:cNvPr id="63" name="Shape 61"/>
          <p:cNvSpPr/>
          <p:nvPr/>
        </p:nvSpPr>
        <p:spPr>
          <a:xfrm>
            <a:off x="8073823" y="2983706"/>
            <a:ext cx="3498763" cy="392906"/>
          </a:xfrm>
          <a:prstGeom prst="rect">
            <a:avLst/>
          </a:prstGeom>
          <a:solidFill>
            <a:srgbClr val="F5F7FA"/>
          </a:solidFill>
          <a:ln w="12700">
            <a:solidFill>
              <a:srgbClr val="F5F7FA">
                <a:alpha val="0"/>
              </a:srgbClr>
            </a:solidFill>
            <a:prstDash val="solid"/>
          </a:ln>
        </p:spPr>
      </p:sp>
      <p:sp>
        <p:nvSpPr>
          <p:cNvPr id="64" name="Text 62"/>
          <p:cNvSpPr txBox="1"/>
          <p:nvPr/>
        </p:nvSpPr>
        <p:spPr>
          <a:xfrm>
            <a:off x="8197645" y="3002756"/>
            <a:ext cx="3251119" cy="35480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ch3-2-3 · Định luật III: lực &amp; phản lực</a:t>
            </a:r>
            <a:endParaRPr lang="en-US" sz="1150" dirty="0"/>
          </a:p>
        </p:txBody>
      </p:sp>
      <p:sp>
        <p:nvSpPr>
          <p:cNvPr id="65" name="Text 63"/>
          <p:cNvSpPr txBox="1"/>
          <p:nvPr/>
        </p:nvSpPr>
        <p:spPr>
          <a:xfrm>
            <a:off x="8197645" y="3395663"/>
            <a:ext cx="2889178" cy="35480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ch3-1-3 · HQC quán tính vs phi quán tính</a:t>
            </a:r>
            <a:endParaRPr lang="en-US" sz="1150" dirty="0"/>
          </a:p>
        </p:txBody>
      </p:sp>
      <p:sp>
        <p:nvSpPr>
          <p:cNvPr id="66" name="Shape 64"/>
          <p:cNvSpPr/>
          <p:nvPr/>
        </p:nvSpPr>
        <p:spPr>
          <a:xfrm>
            <a:off x="11153496" y="3468291"/>
            <a:ext cx="314317" cy="209550"/>
          </a:xfrm>
          <a:prstGeom prst="roundRect">
            <a:avLst>
              <a:gd name="adj" fmla="val 18181"/>
            </a:avLst>
          </a:prstGeom>
          <a:solidFill>
            <a:srgbClr val="FFF1E1"/>
          </a:solidFill>
          <a:ln w="12700">
            <a:solidFill>
              <a:srgbClr val="FFF1E1">
                <a:alpha val="0"/>
              </a:srgbClr>
            </a:solidFill>
            <a:prstDash val="solid"/>
          </a:ln>
        </p:spPr>
      </p:sp>
      <p:sp>
        <p:nvSpPr>
          <p:cNvPr id="67" name="Text 65"/>
          <p:cNvSpPr txBox="1"/>
          <p:nvPr/>
        </p:nvSpPr>
        <p:spPr>
          <a:xfrm>
            <a:off x="11163021" y="3496866"/>
            <a:ext cx="295268" cy="171450"/>
          </a:xfrm>
          <a:prstGeom prst="rect">
            <a:avLst/>
          </a:prstGeom>
          <a:noFill/>
          <a:ln/>
        </p:spPr>
        <p:txBody>
          <a:bodyPr wrap="square" lIns="0" tIns="0" rIns="0" bIns="0" rtlCol="0" anchor="t"/>
          <a:lstStyle/>
          <a:p>
            <a:pPr algn="ctr" indent="0" marL="0">
              <a:lnSpc>
                <a:spcPct val="114000"/>
              </a:lnSpc>
              <a:buNone/>
            </a:pPr>
            <a:r>
              <a:rPr lang="en-US" sz="1000" b="1" dirty="0">
                <a:solidFill>
                  <a:srgbClr val="F77F00"/>
                </a:solidFill>
                <a:latin typeface="Arial" pitchFamily="34" charset="0"/>
                <a:ea typeface="Arial" pitchFamily="34" charset="-122"/>
                <a:cs typeface="Arial" pitchFamily="34" charset="-120"/>
              </a:rPr>
              <a:t>3D</a:t>
            </a:r>
            <a:endParaRPr lang="en-US" sz="1000" dirty="0"/>
          </a:p>
        </p:txBody>
      </p:sp>
      <p:sp>
        <p:nvSpPr>
          <p:cNvPr id="68" name="Shape 66"/>
          <p:cNvSpPr/>
          <p:nvPr/>
        </p:nvSpPr>
        <p:spPr>
          <a:xfrm>
            <a:off x="8073823" y="3769519"/>
            <a:ext cx="3498763" cy="392906"/>
          </a:xfrm>
          <a:prstGeom prst="rect">
            <a:avLst/>
          </a:prstGeom>
          <a:solidFill>
            <a:srgbClr val="F5F7FA"/>
          </a:solidFill>
          <a:ln w="12700">
            <a:solidFill>
              <a:srgbClr val="F5F7FA">
                <a:alpha val="0"/>
              </a:srgbClr>
            </a:solidFill>
            <a:prstDash val="solid"/>
          </a:ln>
        </p:spPr>
      </p:sp>
      <p:sp>
        <p:nvSpPr>
          <p:cNvPr id="69" name="Text 67"/>
          <p:cNvSpPr txBox="1"/>
          <p:nvPr/>
        </p:nvSpPr>
        <p:spPr>
          <a:xfrm>
            <a:off x="8197645" y="3788569"/>
            <a:ext cx="3251119" cy="35480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ch3-3-1 · Giải ODE chuyển động (RK4)</a:t>
            </a:r>
            <a:endParaRPr lang="en-US" sz="1150" dirty="0"/>
          </a:p>
        </p:txBody>
      </p:sp>
      <p:sp>
        <p:nvSpPr>
          <p:cNvPr id="70" name="Text 68"/>
          <p:cNvSpPr txBox="1"/>
          <p:nvPr/>
        </p:nvSpPr>
        <p:spPr>
          <a:xfrm>
            <a:off x="8197645" y="4181475"/>
            <a:ext cx="3251119" cy="35480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ch3-5-2 · Định lý động lượng &amp; xung lượng</a:t>
            </a:r>
            <a:endParaRPr lang="en-US" sz="1150" dirty="0"/>
          </a:p>
        </p:txBody>
      </p:sp>
      <p:sp>
        <p:nvSpPr>
          <p:cNvPr id="71" name="Shape 69"/>
          <p:cNvSpPr/>
          <p:nvPr/>
        </p:nvSpPr>
        <p:spPr>
          <a:xfrm>
            <a:off x="8073823" y="4555331"/>
            <a:ext cx="3498763" cy="392906"/>
          </a:xfrm>
          <a:prstGeom prst="rect">
            <a:avLst/>
          </a:prstGeom>
          <a:solidFill>
            <a:srgbClr val="F5F7FA"/>
          </a:solidFill>
          <a:ln w="12700">
            <a:solidFill>
              <a:srgbClr val="F5F7FA">
                <a:alpha val="0"/>
              </a:srgbClr>
            </a:solidFill>
            <a:prstDash val="solid"/>
          </a:ln>
        </p:spPr>
      </p:sp>
      <p:sp>
        <p:nvSpPr>
          <p:cNvPr id="72" name="Text 70"/>
          <p:cNvSpPr txBox="1"/>
          <p:nvPr/>
        </p:nvSpPr>
        <p:spPr>
          <a:xfrm>
            <a:off x="8197645" y="4574381"/>
            <a:ext cx="2889178" cy="35480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ch3-5-3 · Bảo toàn mô men động lượng</a:t>
            </a:r>
            <a:endParaRPr lang="en-US" sz="1150" dirty="0"/>
          </a:p>
        </p:txBody>
      </p:sp>
      <p:sp>
        <p:nvSpPr>
          <p:cNvPr id="73" name="Shape 71"/>
          <p:cNvSpPr/>
          <p:nvPr/>
        </p:nvSpPr>
        <p:spPr>
          <a:xfrm>
            <a:off x="11153496" y="4647009"/>
            <a:ext cx="314317" cy="209550"/>
          </a:xfrm>
          <a:prstGeom prst="roundRect">
            <a:avLst>
              <a:gd name="adj" fmla="val 18181"/>
            </a:avLst>
          </a:prstGeom>
          <a:solidFill>
            <a:srgbClr val="FFF1E1"/>
          </a:solidFill>
          <a:ln w="12700">
            <a:solidFill>
              <a:srgbClr val="FFF1E1">
                <a:alpha val="0"/>
              </a:srgbClr>
            </a:solidFill>
            <a:prstDash val="solid"/>
          </a:ln>
        </p:spPr>
      </p:sp>
      <p:sp>
        <p:nvSpPr>
          <p:cNvPr id="74" name="Text 72"/>
          <p:cNvSpPr txBox="1"/>
          <p:nvPr/>
        </p:nvSpPr>
        <p:spPr>
          <a:xfrm>
            <a:off x="11163021" y="4675584"/>
            <a:ext cx="295268" cy="171450"/>
          </a:xfrm>
          <a:prstGeom prst="rect">
            <a:avLst/>
          </a:prstGeom>
          <a:noFill/>
          <a:ln/>
        </p:spPr>
        <p:txBody>
          <a:bodyPr wrap="square" lIns="0" tIns="0" rIns="0" bIns="0" rtlCol="0" anchor="t"/>
          <a:lstStyle/>
          <a:p>
            <a:pPr algn="ctr" indent="0" marL="0">
              <a:lnSpc>
                <a:spcPct val="114000"/>
              </a:lnSpc>
              <a:buNone/>
            </a:pPr>
            <a:r>
              <a:rPr lang="en-US" sz="1000" b="1" dirty="0">
                <a:solidFill>
                  <a:srgbClr val="F77F00"/>
                </a:solidFill>
                <a:latin typeface="Arial" pitchFamily="34" charset="0"/>
                <a:ea typeface="Arial" pitchFamily="34" charset="-122"/>
                <a:cs typeface="Arial" pitchFamily="34" charset="-120"/>
              </a:rPr>
              <a:t>3D</a:t>
            </a:r>
            <a:endParaRPr lang="en-US" sz="1000" dirty="0"/>
          </a:p>
        </p:txBody>
      </p:sp>
      <p:sp>
        <p:nvSpPr>
          <p:cNvPr id="75" name="Text 73"/>
          <p:cNvSpPr txBox="1"/>
          <p:nvPr/>
        </p:nvSpPr>
        <p:spPr>
          <a:xfrm>
            <a:off x="8197645" y="4967287"/>
            <a:ext cx="3251119" cy="35480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ch3-5-4 · Định lý động năng (công–năng)</a:t>
            </a:r>
            <a:endParaRPr lang="en-US" sz="1150" dirty="0"/>
          </a:p>
        </p:txBody>
      </p:sp>
      <p:sp>
        <p:nvSpPr>
          <p:cNvPr id="76" name="Shape 74"/>
          <p:cNvSpPr/>
          <p:nvPr/>
        </p:nvSpPr>
        <p:spPr>
          <a:xfrm>
            <a:off x="8073823" y="5341144"/>
            <a:ext cx="3498763" cy="392906"/>
          </a:xfrm>
          <a:prstGeom prst="rect">
            <a:avLst/>
          </a:prstGeom>
          <a:solidFill>
            <a:srgbClr val="F5F7FA"/>
          </a:solidFill>
          <a:ln w="12700">
            <a:solidFill>
              <a:srgbClr val="F5F7FA">
                <a:alpha val="0"/>
              </a:srgbClr>
            </a:solidFill>
            <a:prstDash val="solid"/>
          </a:ln>
        </p:spPr>
      </p:sp>
      <p:sp>
        <p:nvSpPr>
          <p:cNvPr id="77" name="Text 75"/>
          <p:cNvSpPr txBox="1"/>
          <p:nvPr/>
        </p:nvSpPr>
        <p:spPr>
          <a:xfrm>
            <a:off x="8197645" y="5360194"/>
            <a:ext cx="2889178" cy="354806"/>
          </a:xfrm>
          <a:prstGeom prst="rect">
            <a:avLst/>
          </a:prstGeom>
          <a:noFill/>
          <a:ln/>
        </p:spPr>
        <p:txBody>
          <a:bodyPr wrap="square" lIns="0" tIns="0" rIns="0" bIns="0" rtlCol="0" anchor="ctr"/>
          <a:lstStyle/>
          <a:p>
            <a:pPr algn="l" indent="0" marL="0">
              <a:lnSpc>
                <a:spcPct val="114000"/>
              </a:lnSpc>
              <a:buNone/>
            </a:pPr>
            <a:r>
              <a:rPr lang="en-US" sz="1150" dirty="0">
                <a:solidFill>
                  <a:srgbClr val="24364A"/>
                </a:solidFill>
                <a:latin typeface="Arial" pitchFamily="34" charset="0"/>
                <a:ea typeface="Arial" pitchFamily="34" charset="-122"/>
                <a:cs typeface="Arial" pitchFamily="34" charset="-120"/>
              </a:rPr>
              <a:t>ch3-6-2 · Va chạm với hệ số phục hồi e</a:t>
            </a:r>
            <a:endParaRPr lang="en-US" sz="1150" dirty="0"/>
          </a:p>
        </p:txBody>
      </p:sp>
      <p:sp>
        <p:nvSpPr>
          <p:cNvPr id="78" name="Shape 76"/>
          <p:cNvSpPr/>
          <p:nvPr/>
        </p:nvSpPr>
        <p:spPr>
          <a:xfrm>
            <a:off x="11153496" y="5432822"/>
            <a:ext cx="314317" cy="209550"/>
          </a:xfrm>
          <a:prstGeom prst="roundRect">
            <a:avLst>
              <a:gd name="adj" fmla="val 18181"/>
            </a:avLst>
          </a:prstGeom>
          <a:solidFill>
            <a:srgbClr val="FFF1E1"/>
          </a:solidFill>
          <a:ln w="12700">
            <a:solidFill>
              <a:srgbClr val="FFF1E1">
                <a:alpha val="0"/>
              </a:srgbClr>
            </a:solidFill>
            <a:prstDash val="solid"/>
          </a:ln>
        </p:spPr>
      </p:sp>
      <p:sp>
        <p:nvSpPr>
          <p:cNvPr id="79" name="Text 77"/>
          <p:cNvSpPr txBox="1"/>
          <p:nvPr/>
        </p:nvSpPr>
        <p:spPr>
          <a:xfrm>
            <a:off x="11163021" y="5461397"/>
            <a:ext cx="295268" cy="171450"/>
          </a:xfrm>
          <a:prstGeom prst="rect">
            <a:avLst/>
          </a:prstGeom>
          <a:noFill/>
          <a:ln/>
        </p:spPr>
        <p:txBody>
          <a:bodyPr wrap="square" lIns="0" tIns="0" rIns="0" bIns="0" rtlCol="0" anchor="t"/>
          <a:lstStyle/>
          <a:p>
            <a:pPr algn="ctr" indent="0" marL="0">
              <a:lnSpc>
                <a:spcPct val="114000"/>
              </a:lnSpc>
              <a:buNone/>
            </a:pPr>
            <a:r>
              <a:rPr lang="en-US" sz="1000" b="1" dirty="0">
                <a:solidFill>
                  <a:srgbClr val="F77F00"/>
                </a:solidFill>
                <a:latin typeface="Arial" pitchFamily="34" charset="0"/>
                <a:ea typeface="Arial" pitchFamily="34" charset="-122"/>
                <a:cs typeface="Arial" pitchFamily="34" charset="-120"/>
              </a:rPr>
              <a:t>3D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Học viện Hải quân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Giáo trình điện tử Cơ học lý thuyết</dc:title>
  <dc:subject>Kiến trúc · Chất lượng · Tác động</dc:subject>
  <dc:creator>TS Nguyễn Lê Văn — Chủ biên; ThS Đinh Văn Tứ — Biên soạn; ThS Bùi Thanh Xuân — Biên soạn</dc:creator>
  <cp:lastModifiedBy>TS Nguyễn Lê Văn — Chủ biên; ThS Đinh Văn Tứ — Biên soạn; ThS Bùi Thanh Xuân — Biên soạn</cp:lastModifiedBy>
  <cp:revision>1</cp:revision>
  <dcterms:created xsi:type="dcterms:W3CDTF">2026-10-05T06:19:52Z</dcterms:created>
  <dcterms:modified xsi:type="dcterms:W3CDTF">2026-10-05T06:19:52Z</dcterms:modified>
</cp:coreProperties>
</file>