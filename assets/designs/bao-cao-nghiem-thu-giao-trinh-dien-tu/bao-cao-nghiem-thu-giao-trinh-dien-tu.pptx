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0:35 · Nguyễn Lê Văn
Kính thưa Hội đồng. Nhóm tác giả báo cáo kết quả xây dựng Giáo trình điện tử Cơ học lý thuyết.
Đề nghị hôm nay là thông qua có điều kiện về mặt khoa học–sư phạm; không xin xác nhận bản ứng viên hiện tại là bản phát hành cuối.
Nguồn:
- DeCuongChiTietNop.docx:1-53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0:45 · Nguyễn Lê Văn
Giáo trình phục vụ ba mạch kiến thức của học phần và phải giữ logic khoa học–sư phạm của nguồn chuẩn.
Công nghệ chỉ có giá trị khi làm rõ hình, công thức, biến thiên đại lượng và khả năng tự học.
Nguồn:
- DeCuongChiTietNop.docx:1-53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0:55 · Nguyễn Lê Văn
Ba tác giả chịu trách nhiệm theo phần công bố trong đề cương.
Nguồn chuẩn là DOCX; các đầu ra HTML, PDF và gói phát hành phải truy vết ngược về nguồn này.
Nguồn:
- DeCuongChiTietNop.docx:45-53
- README.md:117-127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1:05 · Đinh Văn Tứ
Hành trình học là trục tổ chức chức năng, không phải danh sách nút.
Một số chức năng còn finding; chúng tôi trình bày riêng ở phần điều kiện đóng.
Nguồn:
- README.md:114-118
- assets/designs/bao-cao-nghiem-thu-giao-trinh-dien-tu/assets/img-01-trang-chu-desktop-1440x1000.png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1:05 · Bùi Thanh Xuân
Kiến trúc tĩnh giảm phụ thuộc hạ tầng và phù hợp khai thác qua USB hoặc mạng nội bộ.
Công cụ phát triển chỉ dùng khi biên soạn và kiểm thử, không nằm trong yêu cầu máy học viên.
Nguồn:
- README.md:3-13
- docs/system-architecture.md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1:10 · Đinh Văn Tứ
Slide này minh họa một bài học đại diện, không suy rộng thành thẩm định toàn bộ ba chương.
Xác nhận học thuật độc lập vẫn là một điều kiện mở.
Nguồn:
- assets/designs/bao-cao-nghiem-thu-giao-trinh-dien-tu/assets/img-03-hoc-lieu-ch1-2-3-1440x1000.png
- data/quiz-ch1.json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1:10 · Đinh Văn Tứ
Mô phỏng 2D là đường chạy chuẩn trên toàn bộ các route đã công bố.
Sim3 không thay Sim2 và không được dùng để tuyên bố 4D hoặc yêu cầu phần cứng bắt buộc.
Nguồn:
- js/sim2/sim2-route-manifest.js
- js/sim3/sim3-route-manifest.js
- assets/designs/bao-cao-nghiem-thu-giao-trinh-dien-tu/assets/img-04-mo-men-ch1-1-4-1440x1000.png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1:05 · Đinh Văn Tứ
QA tự động tạo bằng chứng tái lập cho cấu trúc và hành vi kỹ thuật.
Không dùng kết quả test để thay chữ ký thẩm định học thuật.
Nguồn:
- data/qa-gates.json
- plans/260820-0639-vit-li-phn-quy-cch-thnh-bo-co-np-chnh-thc/independent-final-review.md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1:05 · Bùi Thanh Xuân
Có bằng chứng tự động và responsive, nhưng review độc lập chưa hoàn tất.
Vì vậy slide này không nói “đã đạt WCAG”.
Nguồn:
- data/acceptance-report.json
- assets/designs/bao-cao-nghiem-thu-giao-trinh-dien-tu/assets/img-02-trang-chu-mobile-390x844.png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1:20 · Bùi Thanh Xuân
Đây là finding mới: bytes ZIP hiện tại không khớp summary và acceptance evidence.
Do đó chúng tôi không phân phối gói như một hash-locked RC; tái tạo và smoke lại là điều kiện đóng.
Nguồn:
- release/2026.08.25-candidate/release-summary.json
- repo-scout.md:45-58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1:25 · Bùi Thanh Xuân
Không dùng 83,3% như điểm chất lượng.
Policy yêu cầu không còn blocked hoặc not-run; vì vậy trạng thái tổng thể vẫn blocked.
Nguồn:
- data/acceptance-report.json:3-11,236-255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1:15 · Nguyễn Lê Văn
Bốn cổng là chính sách hiện hành; sai lệch hash là phát hiện cần xử lý cùng lần đóng gói.
Không tự điền người rà soát hoặc đổi trạng thái bằng tay.
Nguồn:
- data/acceptance-report.json
- plans/260827-0817-slides-nghiem-thu-giao-trinh-dien-tu/research/repo-scout.md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2:05 · Nguyễn Lê Văn
Kính đề nghị Hội đồng xem xét thông qua có điều kiện theo nội dung trên.
Nhóm tác giả cam kết chỉ trình xác nhận bản cuối khi toàn bộ bằng chứng và hash đã được tái lập.
Nguồn:
- story-research.md:50-54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backup · Bùi Thanh Xuân
Chỉ demo khi Hội đồng yêu cầu.
Không demo search/quiz như luồng đã đạt; hai mục đó là finding mở.
Nguồn:
- release/2026.08.25-candidate/package/index.html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backup · Nhóm tác giả
Dùng khi Hội đồng hỏi nguyên nhân từng gate.
Mọi gate phải do đúng owner đóng.
Nguồn:
- data/acceptance-report.json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backup · Nhóm tác giả
Trả lời ngắn, không suy diễn.
Các source chính: DOCX, acceptance report, route manifests, candidate package và independent review.
Nguồn:
- plans/260827-0817-slides-nghiem-thu-giao-trinh-dien-tu/research/story-research.md:56-82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LANK">
    <p:bg>
      <p:bgPr>
        <a:solidFill>
          <a:srgbClr val="F7F5E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182F"/>
        </a:solidFill>
      </p:bgPr>
    </p:bg>
    <p:spTree>
      <p:nvGrpSpPr>
        <p:cNvPr id="1" name=""/>
        <p:cNvGrpSpPr/>
        <p:nvPr/>
      </p:nvGrpSpPr>
      <p:grpSpPr>
        <a:xfrm>
          <a:off x="0" y="0"/>
          <a:ext cx="0" cy="0"/>
          <a:chOff x="0" y="0"/>
          <a:chExt cx="0" cy="0"/>
        </a:xfrm>
      </p:grpSpPr>
      <p:sp>
        <p:nvSpPr>
          <p:cNvPr id="2" name="Shape 0"/>
          <p:cNvSpPr/>
          <p:nvPr/>
        </p:nvSpPr>
        <p:spPr>
          <a:xfrm>
            <a:off x="658368" y="640080"/>
            <a:ext cx="960120" cy="0"/>
          </a:xfrm>
          <a:prstGeom prst="line">
            <a:avLst/>
          </a:prstGeom>
          <a:noFill/>
          <a:ln w="12700">
            <a:solidFill>
              <a:srgbClr val="C9963A"/>
            </a:solidFill>
            <a:prstDash val="solid"/>
          </a:ln>
        </p:spPr>
      </p:sp>
      <p:sp>
        <p:nvSpPr>
          <p:cNvPr id="3" name="Text 1"/>
          <p:cNvSpPr txBox="1"/>
          <p:nvPr/>
        </p:nvSpPr>
        <p:spPr>
          <a:xfrm>
            <a:off x="1783080" y="502920"/>
            <a:ext cx="8138160" cy="228600"/>
          </a:xfrm>
          <a:prstGeom prst="rect">
            <a:avLst/>
          </a:prstGeom>
          <a:noFill/>
          <a:ln/>
        </p:spPr>
        <p:txBody>
          <a:bodyPr wrap="square" lIns="0" tIns="0" rIns="0" bIns="0" rtlCol="0" anchor="t">
            <a:normAutofit/>
          </a:bodyPr>
          <a:lstStyle/>
          <a:p>
            <a:pPr algn="l" indent="0" marL="0">
              <a:buNone/>
            </a:pPr>
            <a:r>
              <a:rPr lang="en-US" sz="1000" b="1" dirty="0">
                <a:solidFill>
                  <a:srgbClr val="DBB36A"/>
                </a:solidFill>
                <a:latin typeface="Arial" pitchFamily="34" charset="0"/>
                <a:ea typeface="Arial" pitchFamily="34" charset="-122"/>
                <a:cs typeface="Arial" pitchFamily="34" charset="-120"/>
              </a:rPr>
              <a:t>BÁO CÁO TRƯỚC HỘI ĐỒNG KHOA HỌC KHOA KỸ THUẬT CƠ SỞ</a:t>
            </a:r>
            <a:endParaRPr lang="en-US" sz="1000" dirty="0"/>
          </a:p>
        </p:txBody>
      </p:sp>
      <p:sp>
        <p:nvSpPr>
          <p:cNvPr id="4" name="Text 2"/>
          <p:cNvSpPr txBox="1"/>
          <p:nvPr/>
        </p:nvSpPr>
        <p:spPr>
          <a:xfrm>
            <a:off x="658368" y="1417320"/>
            <a:ext cx="7863840" cy="1463040"/>
          </a:xfrm>
          <a:prstGeom prst="rect">
            <a:avLst/>
          </a:prstGeom>
          <a:noFill/>
          <a:ln/>
        </p:spPr>
        <p:txBody>
          <a:bodyPr wrap="square" lIns="0" tIns="0" rIns="0" bIns="0" rtlCol="0" anchor="ctr">
            <a:normAutofit/>
          </a:bodyPr>
          <a:lstStyle/>
          <a:p>
            <a:pPr algn="l" indent="0" marL="0">
              <a:buNone/>
            </a:pPr>
            <a:r>
              <a:rPr lang="en-US" sz="3100" b="1" dirty="0">
                <a:solidFill>
                  <a:srgbClr val="FFFFFF"/>
                </a:solidFill>
                <a:latin typeface="Georgia" pitchFamily="34" charset="0"/>
                <a:ea typeface="Georgia" pitchFamily="34" charset="-122"/>
                <a:cs typeface="Georgia" pitchFamily="34" charset="-120"/>
              </a:rPr>
              <a:t>Giáo trình điện tử</a:t>
            </a:r>
            <a:endParaRPr lang="en-US" sz="3100" dirty="0"/>
          </a:p>
          <a:p>
            <a:pPr algn="l" indent="0" marL="0">
              <a:buNone/>
            </a:pPr>
            <a:r>
              <a:rPr lang="en-US" sz="3100" b="1" dirty="0">
                <a:solidFill>
                  <a:srgbClr val="FFFFFF"/>
                </a:solidFill>
                <a:latin typeface="Georgia" pitchFamily="34" charset="0"/>
                <a:ea typeface="Georgia" pitchFamily="34" charset="-122"/>
                <a:cs typeface="Georgia" pitchFamily="34" charset="-120"/>
              </a:rPr>
              <a:t>Cơ học lý thuyết</a:t>
            </a:r>
            <a:endParaRPr lang="en-US" sz="3100" dirty="0"/>
          </a:p>
        </p:txBody>
      </p:sp>
      <p:sp>
        <p:nvSpPr>
          <p:cNvPr id="5" name="Text 3"/>
          <p:cNvSpPr txBox="1"/>
          <p:nvPr/>
        </p:nvSpPr>
        <p:spPr>
          <a:xfrm>
            <a:off x="713232" y="3182112"/>
            <a:ext cx="8046720" cy="621792"/>
          </a:xfrm>
          <a:prstGeom prst="rect">
            <a:avLst/>
          </a:prstGeom>
          <a:noFill/>
          <a:ln/>
        </p:spPr>
        <p:txBody>
          <a:bodyPr wrap="square" lIns="0" tIns="0" rIns="0" bIns="0" rtlCol="0" anchor="t">
            <a:normAutofit/>
          </a:bodyPr>
          <a:lstStyle/>
          <a:p>
            <a:pPr algn="l" indent="0" marL="0">
              <a:buNone/>
            </a:pPr>
            <a:r>
              <a:rPr lang="en-US" sz="1700" b="1" dirty="0">
                <a:solidFill>
                  <a:srgbClr val="DBB36A"/>
                </a:solidFill>
                <a:latin typeface="Arial" pitchFamily="34" charset="0"/>
                <a:ea typeface="Arial" pitchFamily="34" charset="-122"/>
                <a:cs typeface="Arial" pitchFamily="34" charset="-120"/>
              </a:rPr>
              <a:t>Đề nghị thông qua có điều kiện về mặt khoa học–sư phạm</a:t>
            </a:r>
            <a:endParaRPr lang="en-US" sz="1700" dirty="0"/>
          </a:p>
        </p:txBody>
      </p:sp>
      <p:sp>
        <p:nvSpPr>
          <p:cNvPr id="6" name="Shape 4"/>
          <p:cNvSpPr/>
          <p:nvPr/>
        </p:nvSpPr>
        <p:spPr>
          <a:xfrm>
            <a:off x="8915400" y="1143000"/>
            <a:ext cx="2606040" cy="4206240"/>
          </a:xfrm>
          <a:prstGeom prst="roundRect">
            <a:avLst>
              <a:gd name="adj" fmla="val 1404"/>
            </a:avLst>
          </a:prstGeom>
          <a:solidFill>
            <a:srgbClr val="0D2447"/>
          </a:solidFill>
          <a:ln w="12700">
            <a:solidFill>
              <a:srgbClr val="15355F"/>
            </a:solidFill>
            <a:prstDash val="solid"/>
          </a:ln>
        </p:spPr>
      </p:sp>
      <p:sp>
        <p:nvSpPr>
          <p:cNvPr id="7" name="Text 5"/>
          <p:cNvSpPr txBox="1"/>
          <p:nvPr/>
        </p:nvSpPr>
        <p:spPr>
          <a:xfrm>
            <a:off x="9189720" y="1444752"/>
            <a:ext cx="2057400" cy="228600"/>
          </a:xfrm>
          <a:prstGeom prst="rect">
            <a:avLst/>
          </a:prstGeom>
          <a:noFill/>
          <a:ln/>
        </p:spPr>
        <p:txBody>
          <a:bodyPr wrap="square" lIns="0" tIns="0" rIns="0" bIns="0" rtlCol="0" anchor="t">
            <a:normAutofit/>
          </a:bodyPr>
          <a:lstStyle/>
          <a:p>
            <a:pPr algn="ctr" indent="0" marL="0">
              <a:buNone/>
            </a:pPr>
            <a:r>
              <a:rPr lang="en-US" sz="1000" b="1" dirty="0">
                <a:solidFill>
                  <a:srgbClr val="DBB36A"/>
                </a:solidFill>
                <a:latin typeface="Arial" pitchFamily="34" charset="0"/>
                <a:ea typeface="Arial" pitchFamily="34" charset="-122"/>
                <a:cs typeface="Arial" pitchFamily="34" charset="-120"/>
              </a:rPr>
              <a:t>NHÓM TÁC GIẢ</a:t>
            </a:r>
            <a:endParaRPr lang="en-US" sz="1000" dirty="0"/>
          </a:p>
        </p:txBody>
      </p:sp>
      <p:sp>
        <p:nvSpPr>
          <p:cNvPr id="8" name="Text 6"/>
          <p:cNvSpPr txBox="1"/>
          <p:nvPr/>
        </p:nvSpPr>
        <p:spPr>
          <a:xfrm>
            <a:off x="9217152" y="1993392"/>
            <a:ext cx="2011680" cy="566928"/>
          </a:xfrm>
          <a:prstGeom prst="rect">
            <a:avLst/>
          </a:prstGeom>
          <a:noFill/>
          <a:ln/>
        </p:spPr>
        <p:txBody>
          <a:bodyPr wrap="square" lIns="0" tIns="0" rIns="0" bIns="0" rtlCol="0" anchor="ctr">
            <a:normAutofit/>
          </a:bodyPr>
          <a:lstStyle/>
          <a:p>
            <a:pPr algn="ctr" indent="0" marL="0">
              <a:buNone/>
            </a:pPr>
            <a:r>
              <a:rPr lang="en-US" sz="1220" dirty="0">
                <a:solidFill>
                  <a:srgbClr val="FFFFFF"/>
                </a:solidFill>
                <a:latin typeface="Arial" pitchFamily="34" charset="0"/>
                <a:ea typeface="Arial" pitchFamily="34" charset="-122"/>
                <a:cs typeface="Arial" pitchFamily="34" charset="-120"/>
              </a:rPr>
              <a:t>Đại tá, TS Nguyễn Lê Văn — Chủ biên</a:t>
            </a:r>
            <a:endParaRPr lang="en-US" sz="1220" dirty="0"/>
          </a:p>
        </p:txBody>
      </p:sp>
      <p:sp>
        <p:nvSpPr>
          <p:cNvPr id="9" name="Text 7"/>
          <p:cNvSpPr txBox="1"/>
          <p:nvPr/>
        </p:nvSpPr>
        <p:spPr>
          <a:xfrm>
            <a:off x="9217152" y="2862072"/>
            <a:ext cx="2011680" cy="566928"/>
          </a:xfrm>
          <a:prstGeom prst="rect">
            <a:avLst/>
          </a:prstGeom>
          <a:noFill/>
          <a:ln/>
        </p:spPr>
        <p:txBody>
          <a:bodyPr wrap="square" lIns="0" tIns="0" rIns="0" bIns="0" rtlCol="0" anchor="ctr">
            <a:normAutofit/>
          </a:bodyPr>
          <a:lstStyle/>
          <a:p>
            <a:pPr algn="ctr" indent="0" marL="0">
              <a:buNone/>
            </a:pPr>
            <a:r>
              <a:rPr lang="en-US" sz="1220" dirty="0">
                <a:solidFill>
                  <a:srgbClr val="FFFFFF"/>
                </a:solidFill>
                <a:latin typeface="Arial" pitchFamily="34" charset="0"/>
                <a:ea typeface="Arial" pitchFamily="34" charset="-122"/>
                <a:cs typeface="Arial" pitchFamily="34" charset="-120"/>
              </a:rPr>
              <a:t>Thiếu tá, ThS Đinh Văn Tứ — Tham gia biên soạn</a:t>
            </a:r>
            <a:endParaRPr lang="en-US" sz="1220" dirty="0"/>
          </a:p>
        </p:txBody>
      </p:sp>
      <p:sp>
        <p:nvSpPr>
          <p:cNvPr id="10" name="Text 8"/>
          <p:cNvSpPr txBox="1"/>
          <p:nvPr/>
        </p:nvSpPr>
        <p:spPr>
          <a:xfrm>
            <a:off x="9217152" y="3730752"/>
            <a:ext cx="2011680" cy="566928"/>
          </a:xfrm>
          <a:prstGeom prst="rect">
            <a:avLst/>
          </a:prstGeom>
          <a:noFill/>
          <a:ln/>
        </p:spPr>
        <p:txBody>
          <a:bodyPr wrap="square" lIns="0" tIns="0" rIns="0" bIns="0" rtlCol="0" anchor="ctr">
            <a:normAutofit/>
          </a:bodyPr>
          <a:lstStyle/>
          <a:p>
            <a:pPr algn="ctr" indent="0" marL="0">
              <a:buNone/>
            </a:pPr>
            <a:r>
              <a:rPr lang="en-US" sz="1220" dirty="0">
                <a:solidFill>
                  <a:srgbClr val="FFFFFF"/>
                </a:solidFill>
                <a:latin typeface="Arial" pitchFamily="34" charset="0"/>
                <a:ea typeface="Arial" pitchFamily="34" charset="-122"/>
                <a:cs typeface="Arial" pitchFamily="34" charset="-120"/>
              </a:rPr>
              <a:t>Đại úy, ThS Bùi Thanh Xuân — Tham gia biên soạn</a:t>
            </a:r>
            <a:endParaRPr lang="en-US" sz="1220" dirty="0"/>
          </a:p>
        </p:txBody>
      </p:sp>
      <p:sp>
        <p:nvSpPr>
          <p:cNvPr id="11" name="Text 9"/>
          <p:cNvSpPr txBox="1"/>
          <p:nvPr/>
        </p:nvSpPr>
        <p:spPr>
          <a:xfrm>
            <a:off x="713232" y="6144768"/>
            <a:ext cx="2743200" cy="219456"/>
          </a:xfrm>
          <a:prstGeom prst="rect">
            <a:avLst/>
          </a:prstGeom>
          <a:noFill/>
          <a:ln/>
        </p:spPr>
        <p:txBody>
          <a:bodyPr wrap="square" lIns="0" tIns="0" rIns="0" bIns="0" rtlCol="0" anchor="t">
            <a:normAutofit/>
          </a:bodyPr>
          <a:lstStyle/>
          <a:p>
            <a:pPr algn="l" indent="0" marL="0">
              <a:buNone/>
            </a:pPr>
            <a:r>
              <a:rPr lang="en-US" sz="1000" b="1" dirty="0">
                <a:solidFill>
                  <a:srgbClr val="DBB36A"/>
                </a:solidFill>
                <a:latin typeface="Arial" pitchFamily="34" charset="0"/>
                <a:ea typeface="Arial" pitchFamily="34" charset="-122"/>
                <a:cs typeface="Arial" pitchFamily="34" charset="-120"/>
              </a:rPr>
              <a:t>KHÁNH HÒA · 2026</a:t>
            </a:r>
            <a:endParaRPr lang="en-US" sz="1000" dirty="0"/>
          </a:p>
        </p:txBody>
      </p:sp>
      <p:sp>
        <p:nvSpPr>
          <p:cNvPr id="12" name="Text 10"/>
          <p:cNvSpPr txBox="1"/>
          <p:nvPr/>
        </p:nvSpPr>
        <p:spPr>
          <a:xfrm>
            <a:off x="10789920" y="6144768"/>
            <a:ext cx="502920" cy="219456"/>
          </a:xfrm>
          <a:prstGeom prst="rect">
            <a:avLst/>
          </a:prstGeom>
          <a:noFill/>
          <a:ln/>
        </p:spPr>
        <p:txBody>
          <a:bodyPr wrap="square" lIns="0" tIns="0" rIns="0" bIns="0" rtlCol="0" anchor="t">
            <a:normAutofit/>
          </a:bodyPr>
          <a:lstStyle/>
          <a:p>
            <a:pPr algn="r" indent="0" marL="0">
              <a:buNone/>
            </a:pPr>
            <a:r>
              <a:rPr lang="en-US" sz="1000" b="1" dirty="0">
                <a:solidFill>
                  <a:srgbClr val="DBB36A"/>
                </a:solidFill>
                <a:latin typeface="Arial" pitchFamily="34" charset="0"/>
                <a:ea typeface="Arial" pitchFamily="34" charset="-122"/>
                <a:cs typeface="Arial" pitchFamily="34" charset="-120"/>
              </a:rPr>
              <a:t>15:00</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algn="l" indent="0" marL="0">
              <a:buNone/>
            </a:pPr>
            <a:r>
              <a:rPr lang="en-US" sz="950" b="1" dirty="0">
                <a:solidFill>
                  <a:srgbClr val="5B6B80"/>
                </a:solidFill>
                <a:latin typeface="Arial" pitchFamily="34" charset="0"/>
                <a:ea typeface="Arial" pitchFamily="34" charset="-122"/>
                <a:cs typeface="Arial" pitchFamily="34" charset="-120"/>
              </a:rPr>
              <a:t>BÁO CÁO NGHIỆM THU</a:t>
            </a:r>
            <a:endParaRPr lang="en-US" sz="950" dirty="0"/>
          </a:p>
        </p:txBody>
      </p:sp>
      <p:sp>
        <p:nvSpPr>
          <p:cNvPr id="4" name="Text 2"/>
          <p:cNvSpPr txBox="1"/>
          <p:nvPr/>
        </p:nvSpPr>
        <p:spPr>
          <a:xfrm>
            <a:off x="612648" y="658368"/>
            <a:ext cx="10972800" cy="603504"/>
          </a:xfrm>
          <a:prstGeom prst="rect">
            <a:avLst/>
          </a:prstGeom>
          <a:noFill/>
          <a:ln/>
        </p:spPr>
        <p:txBody>
          <a:bodyPr wrap="square" lIns="0" tIns="0" rIns="0" bIns="0" rtlCol="0" anchor="ctr">
            <a:normAutofit/>
          </a:bodyPr>
          <a:lstStyle/>
          <a:p>
            <a:pPr algn="l" indent="0" marL="0">
              <a:buNone/>
            </a:pPr>
            <a:r>
              <a:rPr lang="en-US" sz="2350" b="1" dirty="0">
                <a:solidFill>
                  <a:srgbClr val="07182F"/>
                </a:solidFill>
                <a:latin typeface="Georgia" pitchFamily="34" charset="0"/>
                <a:ea typeface="Georgia" pitchFamily="34" charset="-122"/>
                <a:cs typeface="Georgia" pitchFamily="34" charset="-120"/>
              </a:rPr>
              <a:t>Bài toán là hỗ trợ học Cơ học lý thuyết, không phải trình diễn công nghệ</a:t>
            </a:r>
            <a:endParaRPr lang="en-US" sz="235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algn="r" indent="0" marL="0">
              <a:buNone/>
            </a:pPr>
            <a:r>
              <a:rPr lang="en-US" sz="1000" b="1" dirty="0">
                <a:solidFill>
                  <a:srgbClr val="C9963A"/>
                </a:solidFill>
                <a:latin typeface="Arial" pitchFamily="34" charset="0"/>
                <a:ea typeface="Arial" pitchFamily="34" charset="-122"/>
                <a:cs typeface="Arial" pitchFamily="34" charset="-120"/>
              </a:rPr>
              <a:t>02</a:t>
            </a:r>
            <a:endParaRPr lang="en-US" sz="1000" dirty="0"/>
          </a:p>
        </p:txBody>
      </p:sp>
      <p:sp>
        <p:nvSpPr>
          <p:cNvPr id="6" name="Shape 4"/>
          <p:cNvSpPr/>
          <p:nvPr/>
        </p:nvSpPr>
        <p:spPr>
          <a:xfrm>
            <a:off x="612648" y="1335024"/>
            <a:ext cx="10972800" cy="438912"/>
          </a:xfrm>
          <a:prstGeom prst="rect">
            <a:avLst/>
          </a:prstGeom>
          <a:solidFill>
            <a:srgbClr val="EEF2F7"/>
          </a:solidFill>
          <a:ln w="12700">
            <a:solidFill>
              <a:srgbClr val="D7DEE8"/>
            </a:solidFill>
            <a:prstDash val="solid"/>
          </a:ln>
        </p:spPr>
      </p:sp>
      <p:sp>
        <p:nvSpPr>
          <p:cNvPr id="7" name="Text 5"/>
          <p:cNvSpPr txBox="1"/>
          <p:nvPr/>
        </p:nvSpPr>
        <p:spPr>
          <a:xfrm>
            <a:off x="822960" y="1426464"/>
            <a:ext cx="10561320" cy="237744"/>
          </a:xfrm>
          <a:prstGeom prst="rect">
            <a:avLst/>
          </a:prstGeom>
          <a:noFill/>
          <a:ln/>
        </p:spPr>
        <p:txBody>
          <a:bodyPr wrap="square" lIns="0" tIns="0" rIns="0" bIns="0" rtlCol="0" anchor="ctr">
            <a:normAutofit/>
          </a:bodyPr>
          <a:lstStyle/>
          <a:p>
            <a:pPr algn="l" indent="0" marL="0">
              <a:buNone/>
            </a:pPr>
            <a:r>
              <a:rPr lang="en-US" sz="1320" b="1" dirty="0">
                <a:solidFill>
                  <a:srgbClr val="0D2447"/>
                </a:solidFill>
                <a:latin typeface="Arial" pitchFamily="34" charset="0"/>
                <a:ea typeface="Arial" pitchFamily="34" charset="-122"/>
                <a:cs typeface="Arial" pitchFamily="34" charset="-120"/>
              </a:rPr>
              <a:t>Đối tượng: học viên sĩ quan cấp phân đội, trình độ đại học.</a:t>
            </a:r>
            <a:endParaRPr lang="en-US" sz="132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algn="l" indent="0" marL="0">
              <a:buNone/>
            </a:pPr>
            <a:r>
              <a:rPr lang="en-US" sz="820" dirty="0">
                <a:solidFill>
                  <a:srgbClr val="5B6B80"/>
                </a:solidFill>
                <a:latin typeface="Arial" pitchFamily="34" charset="0"/>
                <a:ea typeface="Arial" pitchFamily="34" charset="-122"/>
                <a:cs typeface="Arial" pitchFamily="34" charset="-120"/>
              </a:rPr>
              <a:t>HỘI ĐỒNG KHOA HỌC KHOA KTCS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algn="ctr" indent="0" marL="0">
              <a:buNone/>
            </a:pPr>
            <a:r>
              <a:rPr lang="en-US" sz="760" dirty="0">
                <a:solidFill>
                  <a:srgbClr val="5B6B80"/>
                </a:solidFill>
                <a:latin typeface="Arial" pitchFamily="34" charset="0"/>
                <a:ea typeface="Arial" pitchFamily="34" charset="-122"/>
                <a:cs typeface="Arial" pitchFamily="34" charset="-120"/>
              </a:rPr>
              <a:t>DeCuongChiTietNop.docx:1-53</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algn="r" indent="0" marL="0">
              <a:buNone/>
            </a:pPr>
            <a:r>
              <a:rPr lang="en-US" sz="820" dirty="0">
                <a:solidFill>
                  <a:srgbClr val="5B6B80"/>
                </a:solidFill>
                <a:latin typeface="Arial" pitchFamily="34" charset="0"/>
                <a:ea typeface="Arial" pitchFamily="34" charset="-122"/>
                <a:cs typeface="Arial" pitchFamily="34" charset="-120"/>
              </a:rPr>
              <a:t>2</a:t>
            </a:r>
            <a:endParaRPr lang="en-US" sz="820" dirty="0"/>
          </a:p>
        </p:txBody>
      </p:sp>
      <p:sp>
        <p:nvSpPr>
          <p:cNvPr id="13" name="Shape 10"/>
          <p:cNvSpPr/>
          <p:nvPr/>
        </p:nvSpPr>
        <p:spPr>
          <a:xfrm>
            <a:off x="658368" y="2011680"/>
            <a:ext cx="6537960" cy="932688"/>
          </a:xfrm>
          <a:prstGeom prst="roundRect">
            <a:avLst>
              <a:gd name="adj" fmla="val 3922"/>
            </a:avLst>
          </a:prstGeom>
          <a:solidFill>
            <a:srgbClr val="FFFFFF"/>
          </a:solidFill>
          <a:ln w="12700">
            <a:solidFill>
              <a:srgbClr val="D7DEE8"/>
            </a:solidFill>
            <a:prstDash val="solid"/>
          </a:ln>
        </p:spPr>
      </p:sp>
      <p:sp>
        <p:nvSpPr>
          <p:cNvPr id="14" name="Text 11"/>
          <p:cNvSpPr txBox="1"/>
          <p:nvPr/>
        </p:nvSpPr>
        <p:spPr>
          <a:xfrm>
            <a:off x="868680" y="2176272"/>
            <a:ext cx="548640" cy="411480"/>
          </a:xfrm>
          <a:prstGeom prst="rect">
            <a:avLst/>
          </a:prstGeom>
          <a:noFill/>
          <a:ln/>
        </p:spPr>
        <p:txBody>
          <a:bodyPr wrap="square" lIns="0" tIns="0" rIns="0" bIns="0" rtlCol="0" anchor="t">
            <a:normAutofit/>
          </a:bodyPr>
          <a:lstStyle/>
          <a:p>
            <a:pPr algn="ctr" indent="0" marL="0">
              <a:buNone/>
            </a:pPr>
            <a:r>
              <a:rPr lang="en-US" sz="2500" b="1" dirty="0">
                <a:solidFill>
                  <a:srgbClr val="2980B9"/>
                </a:solidFill>
                <a:latin typeface="Arial" pitchFamily="34" charset="0"/>
                <a:ea typeface="Arial" pitchFamily="34" charset="-122"/>
                <a:cs typeface="Arial" pitchFamily="34" charset="-120"/>
              </a:rPr>
              <a:t>01</a:t>
            </a:r>
            <a:endParaRPr lang="en-US" sz="2500" dirty="0"/>
          </a:p>
        </p:txBody>
      </p:sp>
      <p:sp>
        <p:nvSpPr>
          <p:cNvPr id="15" name="Text 12"/>
          <p:cNvSpPr txBox="1"/>
          <p:nvPr/>
        </p:nvSpPr>
        <p:spPr>
          <a:xfrm>
            <a:off x="1627632" y="2139696"/>
            <a:ext cx="1965960" cy="292608"/>
          </a:xfrm>
          <a:prstGeom prst="rect">
            <a:avLst/>
          </a:prstGeom>
          <a:noFill/>
          <a:ln/>
        </p:spPr>
        <p:txBody>
          <a:bodyPr wrap="square" lIns="0" tIns="0" rIns="0" bIns="0" rtlCol="0" anchor="t">
            <a:normAutofit/>
          </a:bodyPr>
          <a:lstStyle/>
          <a:p>
            <a:pPr algn="l" indent="0" marL="0">
              <a:buNone/>
            </a:pPr>
            <a:r>
              <a:rPr lang="en-US" sz="1700" b="1" dirty="0">
                <a:solidFill>
                  <a:srgbClr val="07182F"/>
                </a:solidFill>
                <a:latin typeface="Georgia" pitchFamily="34" charset="0"/>
                <a:ea typeface="Georgia" pitchFamily="34" charset="-122"/>
                <a:cs typeface="Georgia" pitchFamily="34" charset="-120"/>
              </a:rPr>
              <a:t>Tĩnh học</a:t>
            </a:r>
            <a:endParaRPr lang="en-US" sz="1700" dirty="0"/>
          </a:p>
        </p:txBody>
      </p:sp>
      <p:sp>
        <p:nvSpPr>
          <p:cNvPr id="16" name="Text 13"/>
          <p:cNvSpPr txBox="1"/>
          <p:nvPr/>
        </p:nvSpPr>
        <p:spPr>
          <a:xfrm>
            <a:off x="1627632" y="2523744"/>
            <a:ext cx="4480560" cy="201168"/>
          </a:xfrm>
          <a:prstGeom prst="rect">
            <a:avLst/>
          </a:prstGeom>
          <a:noFill/>
          <a:ln/>
        </p:spPr>
        <p:txBody>
          <a:bodyPr wrap="square" lIns="0" tIns="0" rIns="0" bIns="0" rtlCol="0" anchor="t">
            <a:normAutofit/>
          </a:bodyPr>
          <a:lstStyle/>
          <a:p>
            <a:pPr algn="l" indent="0" marL="0">
              <a:buNone/>
            </a:pPr>
            <a:r>
              <a:rPr lang="en-US" sz="1150" dirty="0">
                <a:solidFill>
                  <a:srgbClr val="5B6B80"/>
                </a:solidFill>
                <a:latin typeface="Arial" pitchFamily="34" charset="0"/>
                <a:ea typeface="Arial" pitchFamily="34" charset="-122"/>
                <a:cs typeface="Arial" pitchFamily="34" charset="-120"/>
              </a:rPr>
              <a:t>Lực · liên kết · cân bằng</a:t>
            </a:r>
            <a:endParaRPr lang="en-US" sz="1150" dirty="0"/>
          </a:p>
        </p:txBody>
      </p:sp>
      <p:sp>
        <p:nvSpPr>
          <p:cNvPr id="17" name="Shape 14"/>
          <p:cNvSpPr/>
          <p:nvPr/>
        </p:nvSpPr>
        <p:spPr>
          <a:xfrm>
            <a:off x="658368" y="3182112"/>
            <a:ext cx="6537960" cy="932688"/>
          </a:xfrm>
          <a:prstGeom prst="roundRect">
            <a:avLst>
              <a:gd name="adj" fmla="val 3922"/>
            </a:avLst>
          </a:prstGeom>
          <a:solidFill>
            <a:srgbClr val="FFFFFF"/>
          </a:solidFill>
          <a:ln w="12700">
            <a:solidFill>
              <a:srgbClr val="D7DEE8"/>
            </a:solidFill>
            <a:prstDash val="solid"/>
          </a:ln>
        </p:spPr>
      </p:sp>
      <p:sp>
        <p:nvSpPr>
          <p:cNvPr id="18" name="Text 15"/>
          <p:cNvSpPr txBox="1"/>
          <p:nvPr/>
        </p:nvSpPr>
        <p:spPr>
          <a:xfrm>
            <a:off x="868680" y="3346704"/>
            <a:ext cx="548640" cy="411480"/>
          </a:xfrm>
          <a:prstGeom prst="rect">
            <a:avLst/>
          </a:prstGeom>
          <a:noFill/>
          <a:ln/>
        </p:spPr>
        <p:txBody>
          <a:bodyPr wrap="square" lIns="0" tIns="0" rIns="0" bIns="0" rtlCol="0" anchor="t">
            <a:normAutofit/>
          </a:bodyPr>
          <a:lstStyle/>
          <a:p>
            <a:pPr algn="ctr" indent="0" marL="0">
              <a:buNone/>
            </a:pPr>
            <a:r>
              <a:rPr lang="en-US" sz="2500" b="1" dirty="0">
                <a:solidFill>
                  <a:srgbClr val="27AE60"/>
                </a:solidFill>
                <a:latin typeface="Arial" pitchFamily="34" charset="0"/>
                <a:ea typeface="Arial" pitchFamily="34" charset="-122"/>
                <a:cs typeface="Arial" pitchFamily="34" charset="-120"/>
              </a:rPr>
              <a:t>02</a:t>
            </a:r>
            <a:endParaRPr lang="en-US" sz="2500" dirty="0"/>
          </a:p>
        </p:txBody>
      </p:sp>
      <p:sp>
        <p:nvSpPr>
          <p:cNvPr id="19" name="Text 16"/>
          <p:cNvSpPr txBox="1"/>
          <p:nvPr/>
        </p:nvSpPr>
        <p:spPr>
          <a:xfrm>
            <a:off x="1627632" y="3310128"/>
            <a:ext cx="1965960" cy="292608"/>
          </a:xfrm>
          <a:prstGeom prst="rect">
            <a:avLst/>
          </a:prstGeom>
          <a:noFill/>
          <a:ln/>
        </p:spPr>
        <p:txBody>
          <a:bodyPr wrap="square" lIns="0" tIns="0" rIns="0" bIns="0" rtlCol="0" anchor="t">
            <a:normAutofit/>
          </a:bodyPr>
          <a:lstStyle/>
          <a:p>
            <a:pPr algn="l" indent="0" marL="0">
              <a:buNone/>
            </a:pPr>
            <a:r>
              <a:rPr lang="en-US" sz="1700" b="1" dirty="0">
                <a:solidFill>
                  <a:srgbClr val="07182F"/>
                </a:solidFill>
                <a:latin typeface="Georgia" pitchFamily="34" charset="0"/>
                <a:ea typeface="Georgia" pitchFamily="34" charset="-122"/>
                <a:cs typeface="Georgia" pitchFamily="34" charset="-120"/>
              </a:rPr>
              <a:t>Động học</a:t>
            </a:r>
            <a:endParaRPr lang="en-US" sz="1700" dirty="0"/>
          </a:p>
        </p:txBody>
      </p:sp>
      <p:sp>
        <p:nvSpPr>
          <p:cNvPr id="20" name="Text 17"/>
          <p:cNvSpPr txBox="1"/>
          <p:nvPr/>
        </p:nvSpPr>
        <p:spPr>
          <a:xfrm>
            <a:off x="1627632" y="3694176"/>
            <a:ext cx="4480560" cy="201168"/>
          </a:xfrm>
          <a:prstGeom prst="rect">
            <a:avLst/>
          </a:prstGeom>
          <a:noFill/>
          <a:ln/>
        </p:spPr>
        <p:txBody>
          <a:bodyPr wrap="square" lIns="0" tIns="0" rIns="0" bIns="0" rtlCol="0" anchor="t">
            <a:normAutofit/>
          </a:bodyPr>
          <a:lstStyle/>
          <a:p>
            <a:pPr algn="l" indent="0" marL="0">
              <a:buNone/>
            </a:pPr>
            <a:r>
              <a:rPr lang="en-US" sz="1150" dirty="0">
                <a:solidFill>
                  <a:srgbClr val="5B6B80"/>
                </a:solidFill>
                <a:latin typeface="Arial" pitchFamily="34" charset="0"/>
                <a:ea typeface="Arial" pitchFamily="34" charset="-122"/>
                <a:cs typeface="Arial" pitchFamily="34" charset="-120"/>
              </a:rPr>
              <a:t>Chuyển động điểm · vật rắn</a:t>
            </a:r>
            <a:endParaRPr lang="en-US" sz="1150" dirty="0"/>
          </a:p>
        </p:txBody>
      </p:sp>
      <p:sp>
        <p:nvSpPr>
          <p:cNvPr id="21" name="Shape 18"/>
          <p:cNvSpPr/>
          <p:nvPr/>
        </p:nvSpPr>
        <p:spPr>
          <a:xfrm>
            <a:off x="658368" y="4352544"/>
            <a:ext cx="6537960" cy="932688"/>
          </a:xfrm>
          <a:prstGeom prst="roundRect">
            <a:avLst>
              <a:gd name="adj" fmla="val 3922"/>
            </a:avLst>
          </a:prstGeom>
          <a:solidFill>
            <a:srgbClr val="FFFFFF"/>
          </a:solidFill>
          <a:ln w="12700">
            <a:solidFill>
              <a:srgbClr val="D7DEE8"/>
            </a:solidFill>
            <a:prstDash val="solid"/>
          </a:ln>
        </p:spPr>
      </p:sp>
      <p:sp>
        <p:nvSpPr>
          <p:cNvPr id="22" name="Text 19"/>
          <p:cNvSpPr txBox="1"/>
          <p:nvPr/>
        </p:nvSpPr>
        <p:spPr>
          <a:xfrm>
            <a:off x="868680" y="4517136"/>
            <a:ext cx="548640" cy="411480"/>
          </a:xfrm>
          <a:prstGeom prst="rect">
            <a:avLst/>
          </a:prstGeom>
          <a:noFill/>
          <a:ln/>
        </p:spPr>
        <p:txBody>
          <a:bodyPr wrap="square" lIns="0" tIns="0" rIns="0" bIns="0" rtlCol="0" anchor="t">
            <a:normAutofit/>
          </a:bodyPr>
          <a:lstStyle/>
          <a:p>
            <a:pPr algn="ctr" indent="0" marL="0">
              <a:buNone/>
            </a:pPr>
            <a:r>
              <a:rPr lang="en-US" sz="2500" b="1" dirty="0">
                <a:solidFill>
                  <a:srgbClr val="8E44AD"/>
                </a:solidFill>
                <a:latin typeface="Arial" pitchFamily="34" charset="0"/>
                <a:ea typeface="Arial" pitchFamily="34" charset="-122"/>
                <a:cs typeface="Arial" pitchFamily="34" charset="-120"/>
              </a:rPr>
              <a:t>03</a:t>
            </a:r>
            <a:endParaRPr lang="en-US" sz="2500" dirty="0"/>
          </a:p>
        </p:txBody>
      </p:sp>
      <p:sp>
        <p:nvSpPr>
          <p:cNvPr id="23" name="Text 20"/>
          <p:cNvSpPr txBox="1"/>
          <p:nvPr/>
        </p:nvSpPr>
        <p:spPr>
          <a:xfrm>
            <a:off x="1627632" y="4480560"/>
            <a:ext cx="1965960" cy="292608"/>
          </a:xfrm>
          <a:prstGeom prst="rect">
            <a:avLst/>
          </a:prstGeom>
          <a:noFill/>
          <a:ln/>
        </p:spPr>
        <p:txBody>
          <a:bodyPr wrap="square" lIns="0" tIns="0" rIns="0" bIns="0" rtlCol="0" anchor="t">
            <a:normAutofit/>
          </a:bodyPr>
          <a:lstStyle/>
          <a:p>
            <a:pPr algn="l" indent="0" marL="0">
              <a:buNone/>
            </a:pPr>
            <a:r>
              <a:rPr lang="en-US" sz="1700" b="1" dirty="0">
                <a:solidFill>
                  <a:srgbClr val="07182F"/>
                </a:solidFill>
                <a:latin typeface="Georgia" pitchFamily="34" charset="0"/>
                <a:ea typeface="Georgia" pitchFamily="34" charset="-122"/>
                <a:cs typeface="Georgia" pitchFamily="34" charset="-120"/>
              </a:rPr>
              <a:t>Động lực học</a:t>
            </a:r>
            <a:endParaRPr lang="en-US" sz="1700" dirty="0"/>
          </a:p>
        </p:txBody>
      </p:sp>
      <p:sp>
        <p:nvSpPr>
          <p:cNvPr id="24" name="Text 21"/>
          <p:cNvSpPr txBox="1"/>
          <p:nvPr/>
        </p:nvSpPr>
        <p:spPr>
          <a:xfrm>
            <a:off x="1627632" y="4864608"/>
            <a:ext cx="4480560" cy="201168"/>
          </a:xfrm>
          <a:prstGeom prst="rect">
            <a:avLst/>
          </a:prstGeom>
          <a:noFill/>
          <a:ln/>
        </p:spPr>
        <p:txBody>
          <a:bodyPr wrap="square" lIns="0" tIns="0" rIns="0" bIns="0" rtlCol="0" anchor="t">
            <a:normAutofit/>
          </a:bodyPr>
          <a:lstStyle/>
          <a:p>
            <a:pPr algn="l" indent="0" marL="0">
              <a:buNone/>
            </a:pPr>
            <a:r>
              <a:rPr lang="en-US" sz="1150" dirty="0">
                <a:solidFill>
                  <a:srgbClr val="5B6B80"/>
                </a:solidFill>
                <a:latin typeface="Arial" pitchFamily="34" charset="0"/>
                <a:ea typeface="Arial" pitchFamily="34" charset="-122"/>
                <a:cs typeface="Arial" pitchFamily="34" charset="-120"/>
              </a:rPr>
              <a:t>Lực · chuyển động · định lý tổng quát</a:t>
            </a:r>
            <a:endParaRPr lang="en-US" sz="1150" dirty="0"/>
          </a:p>
        </p:txBody>
      </p:sp>
      <p:sp>
        <p:nvSpPr>
          <p:cNvPr id="25" name="Shape 22"/>
          <p:cNvSpPr/>
          <p:nvPr/>
        </p:nvSpPr>
        <p:spPr>
          <a:xfrm>
            <a:off x="7543800" y="1993392"/>
            <a:ext cx="3977640" cy="3639312"/>
          </a:xfrm>
          <a:prstGeom prst="roundRect">
            <a:avLst>
              <a:gd name="adj" fmla="val 1005"/>
            </a:avLst>
          </a:prstGeom>
          <a:solidFill>
            <a:srgbClr val="FFFFFF"/>
          </a:solidFill>
          <a:ln w="12700">
            <a:solidFill>
              <a:srgbClr val="0D2447"/>
            </a:solidFill>
            <a:prstDash val="solid"/>
          </a:ln>
        </p:spPr>
      </p:sp>
      <p:pic>
        <p:nvPicPr>
          <p:cNvPr id="26" name="Image 0" descr="Hệ lực không gian · hình canonical Chương 1">    </p:cNvPr>
          <p:cNvPicPr>
            <a:picLocks noChangeAspect="1"/>
          </p:cNvPicPr>
          <p:nvPr/>
        </p:nvPicPr>
        <p:blipFill>
          <a:blip r:embed="rId1"/>
          <a:stretch>
            <a:fillRect/>
          </a:stretch>
        </p:blipFill>
        <p:spPr>
          <a:xfrm>
            <a:off x="8147665" y="2066544"/>
            <a:ext cx="2769909" cy="3236976"/>
          </a:xfrm>
          <a:prstGeom prst="rect">
            <a:avLst/>
          </a:prstGeom>
        </p:spPr>
      </p:pic>
      <p:sp>
        <p:nvSpPr>
          <p:cNvPr id="27" name="Text 23"/>
          <p:cNvSpPr txBox="1"/>
          <p:nvPr/>
        </p:nvSpPr>
        <p:spPr>
          <a:xfrm>
            <a:off x="7653528" y="5413248"/>
            <a:ext cx="3758184" cy="128016"/>
          </a:xfrm>
          <a:prstGeom prst="rect">
            <a:avLst/>
          </a:prstGeom>
          <a:noFill/>
          <a:ln/>
        </p:spPr>
        <p:txBody>
          <a:bodyPr wrap="square" lIns="0" tIns="0" rIns="0" bIns="0" rtlCol="0" anchor="t">
            <a:normAutofit/>
          </a:bodyPr>
          <a:lstStyle/>
          <a:p>
            <a:pPr algn="ctr" indent="0" marL="0">
              <a:buNone/>
            </a:pPr>
            <a:r>
              <a:rPr lang="en-US" sz="850" dirty="0">
                <a:solidFill>
                  <a:srgbClr val="5B6B80"/>
                </a:solidFill>
                <a:latin typeface="Arial" pitchFamily="34" charset="0"/>
                <a:ea typeface="Arial" pitchFamily="34" charset="-122"/>
                <a:cs typeface="Arial" pitchFamily="34" charset="-120"/>
              </a:rPr>
              <a:t>Hệ lực không gian · hình canonical Chương 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algn="l" indent="0" marL="0">
              <a:buNone/>
            </a:pPr>
            <a:r>
              <a:rPr lang="en-US" sz="950" b="1" dirty="0">
                <a:solidFill>
                  <a:srgbClr val="5B6B80"/>
                </a:solidFill>
                <a:latin typeface="Arial" pitchFamily="34" charset="0"/>
                <a:ea typeface="Arial" pitchFamily="34" charset="-122"/>
                <a:cs typeface="Arial" pitchFamily="34" charset="-120"/>
              </a:rPr>
              <a:t>BÁO CÁO NGHIỆM THU</a:t>
            </a:r>
            <a:endParaRPr lang="en-US" sz="950" dirty="0"/>
          </a:p>
        </p:txBody>
      </p:sp>
      <p:sp>
        <p:nvSpPr>
          <p:cNvPr id="4" name="Text 2"/>
          <p:cNvSpPr txBox="1"/>
          <p:nvPr/>
        </p:nvSpPr>
        <p:spPr>
          <a:xfrm>
            <a:off x="612648" y="658368"/>
            <a:ext cx="10972800" cy="603504"/>
          </a:xfrm>
          <a:prstGeom prst="rect">
            <a:avLst/>
          </a:prstGeom>
          <a:noFill/>
          <a:ln/>
        </p:spPr>
        <p:txBody>
          <a:bodyPr wrap="square" lIns="0" tIns="0" rIns="0" bIns="0" rtlCol="0" anchor="ctr">
            <a:normAutofit/>
          </a:bodyPr>
          <a:lstStyle/>
          <a:p>
            <a:pPr algn="l" indent="0" marL="0">
              <a:buNone/>
            </a:pPr>
            <a:r>
              <a:rPr lang="en-US" sz="2350" b="1" dirty="0">
                <a:solidFill>
                  <a:srgbClr val="07182F"/>
                </a:solidFill>
                <a:latin typeface="Georgia" pitchFamily="34" charset="0"/>
                <a:ea typeface="Georgia" pitchFamily="34" charset="-122"/>
                <a:cs typeface="Georgia" pitchFamily="34" charset="-120"/>
              </a:rPr>
              <a:t>Một nguồn chuẩn, ba tác giả, trách nhiệm công bố rõ</a:t>
            </a:r>
            <a:endParaRPr lang="en-US" sz="235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algn="r" indent="0" marL="0">
              <a:buNone/>
            </a:pPr>
            <a:r>
              <a:rPr lang="en-US" sz="1000" b="1" dirty="0">
                <a:solidFill>
                  <a:srgbClr val="C9963A"/>
                </a:solidFill>
                <a:latin typeface="Arial" pitchFamily="34" charset="0"/>
                <a:ea typeface="Arial" pitchFamily="34" charset="-122"/>
                <a:cs typeface="Arial" pitchFamily="34" charset="-120"/>
              </a:rPr>
              <a:t>03</a:t>
            </a:r>
            <a:endParaRPr lang="en-US" sz="1000" dirty="0"/>
          </a:p>
        </p:txBody>
      </p:sp>
      <p:sp>
        <p:nvSpPr>
          <p:cNvPr id="6" name="Shape 4"/>
          <p:cNvSpPr/>
          <p:nvPr/>
        </p:nvSpPr>
        <p:spPr>
          <a:xfrm>
            <a:off x="612648" y="1335024"/>
            <a:ext cx="10972800" cy="438912"/>
          </a:xfrm>
          <a:prstGeom prst="rect">
            <a:avLst/>
          </a:prstGeom>
          <a:solidFill>
            <a:srgbClr val="EEF2F7"/>
          </a:solidFill>
          <a:ln w="12700">
            <a:solidFill>
              <a:srgbClr val="D7DEE8"/>
            </a:solidFill>
            <a:prstDash val="solid"/>
          </a:ln>
        </p:spPr>
      </p:sp>
      <p:sp>
        <p:nvSpPr>
          <p:cNvPr id="7" name="Text 5"/>
          <p:cNvSpPr txBox="1"/>
          <p:nvPr/>
        </p:nvSpPr>
        <p:spPr>
          <a:xfrm>
            <a:off x="822960" y="1426464"/>
            <a:ext cx="10561320" cy="237744"/>
          </a:xfrm>
          <a:prstGeom prst="rect">
            <a:avLst/>
          </a:prstGeom>
          <a:noFill/>
          <a:ln/>
        </p:spPr>
        <p:txBody>
          <a:bodyPr wrap="square" lIns="0" tIns="0" rIns="0" bIns="0" rtlCol="0" anchor="ctr">
            <a:normAutofit/>
          </a:bodyPr>
          <a:lstStyle/>
          <a:p>
            <a:pPr algn="l" indent="0" marL="0">
              <a:buNone/>
            </a:pPr>
            <a:r>
              <a:rPr lang="en-US" sz="1320" b="1" dirty="0">
                <a:solidFill>
                  <a:srgbClr val="0D2447"/>
                </a:solidFill>
                <a:latin typeface="Arial" pitchFamily="34" charset="0"/>
                <a:ea typeface="Arial" pitchFamily="34" charset="-122"/>
                <a:cs typeface="Arial" pitchFamily="34" charset="-120"/>
              </a:rPr>
              <a:t>DOCX là nguồn chuẩn; website là đầu ra điện tử được sinh và kiểm soát.</a:t>
            </a:r>
            <a:endParaRPr lang="en-US" sz="132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algn="l" indent="0" marL="0">
              <a:buNone/>
            </a:pPr>
            <a:r>
              <a:rPr lang="en-US" sz="820" dirty="0">
                <a:solidFill>
                  <a:srgbClr val="5B6B80"/>
                </a:solidFill>
                <a:latin typeface="Arial" pitchFamily="34" charset="0"/>
                <a:ea typeface="Arial" pitchFamily="34" charset="-122"/>
                <a:cs typeface="Arial" pitchFamily="34" charset="-120"/>
              </a:rPr>
              <a:t>HỘI ĐỒNG KHOA HỌC KHOA KTCS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algn="ctr" indent="0" marL="0">
              <a:buNone/>
            </a:pPr>
            <a:r>
              <a:rPr lang="en-US" sz="760" dirty="0">
                <a:solidFill>
                  <a:srgbClr val="5B6B80"/>
                </a:solidFill>
                <a:latin typeface="Arial" pitchFamily="34" charset="0"/>
                <a:ea typeface="Arial" pitchFamily="34" charset="-122"/>
                <a:cs typeface="Arial" pitchFamily="34" charset="-120"/>
              </a:rPr>
              <a:t>DeCuongChiTietNop.docx:45-53</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algn="r" indent="0" marL="0">
              <a:buNone/>
            </a:pPr>
            <a:r>
              <a:rPr lang="en-US" sz="820" dirty="0">
                <a:solidFill>
                  <a:srgbClr val="5B6B80"/>
                </a:solidFill>
                <a:latin typeface="Arial" pitchFamily="34" charset="0"/>
                <a:ea typeface="Arial" pitchFamily="34" charset="-122"/>
                <a:cs typeface="Arial" pitchFamily="34" charset="-120"/>
              </a:rPr>
              <a:t>3</a:t>
            </a:r>
            <a:endParaRPr lang="en-US" sz="820" dirty="0"/>
          </a:p>
        </p:txBody>
      </p:sp>
      <p:sp>
        <p:nvSpPr>
          <p:cNvPr id="13" name="Shape 10"/>
          <p:cNvSpPr/>
          <p:nvPr/>
        </p:nvSpPr>
        <p:spPr>
          <a:xfrm>
            <a:off x="658368" y="1975104"/>
            <a:ext cx="10972800" cy="859536"/>
          </a:xfrm>
          <a:prstGeom prst="roundRect">
            <a:avLst>
              <a:gd name="adj" fmla="val 4255"/>
            </a:avLst>
          </a:prstGeom>
          <a:solidFill>
            <a:srgbClr val="EEF2F7"/>
          </a:solidFill>
          <a:ln w="12700">
            <a:solidFill>
              <a:srgbClr val="D7DEE8"/>
            </a:solidFill>
            <a:prstDash val="solid"/>
          </a:ln>
        </p:spPr>
      </p:sp>
      <p:sp>
        <p:nvSpPr>
          <p:cNvPr id="14" name="Text 11"/>
          <p:cNvSpPr txBox="1"/>
          <p:nvPr/>
        </p:nvSpPr>
        <p:spPr>
          <a:xfrm>
            <a:off x="868680" y="2203704"/>
            <a:ext cx="457200" cy="274320"/>
          </a:xfrm>
          <a:prstGeom prst="rect">
            <a:avLst/>
          </a:prstGeom>
          <a:noFill/>
          <a:ln/>
        </p:spPr>
        <p:txBody>
          <a:bodyPr wrap="square" lIns="0" tIns="0" rIns="0" bIns="0" rtlCol="0" anchor="t">
            <a:normAutofit/>
          </a:bodyPr>
          <a:lstStyle/>
          <a:p>
            <a:pPr algn="ctr" indent="0" marL="0">
              <a:buNone/>
            </a:pPr>
            <a:r>
              <a:rPr lang="en-US" sz="1800" b="1" dirty="0">
                <a:solidFill>
                  <a:srgbClr val="C9963A"/>
                </a:solidFill>
                <a:latin typeface="Arial" pitchFamily="34" charset="0"/>
                <a:ea typeface="Arial" pitchFamily="34" charset="-122"/>
                <a:cs typeface="Arial" pitchFamily="34" charset="-120"/>
              </a:rPr>
              <a:t>01</a:t>
            </a:r>
            <a:endParaRPr lang="en-US" sz="1800" dirty="0"/>
          </a:p>
        </p:txBody>
      </p:sp>
      <p:sp>
        <p:nvSpPr>
          <p:cNvPr id="15" name="Text 12"/>
          <p:cNvSpPr txBox="1"/>
          <p:nvPr/>
        </p:nvSpPr>
        <p:spPr>
          <a:xfrm>
            <a:off x="1572768" y="2157984"/>
            <a:ext cx="4754880" cy="310896"/>
          </a:xfrm>
          <a:prstGeom prst="rect">
            <a:avLst/>
          </a:prstGeom>
          <a:noFill/>
          <a:ln/>
        </p:spPr>
        <p:txBody>
          <a:bodyPr wrap="square" lIns="0" tIns="0" rIns="0" bIns="0" rtlCol="0" anchor="t">
            <a:normAutofit/>
          </a:bodyPr>
          <a:lstStyle/>
          <a:p>
            <a:pPr algn="l" indent="0" marL="0">
              <a:buNone/>
            </a:pPr>
            <a:r>
              <a:rPr lang="en-US" sz="1500" b="1" dirty="0">
                <a:solidFill>
                  <a:srgbClr val="07182F"/>
                </a:solidFill>
                <a:latin typeface="Arial" pitchFamily="34" charset="0"/>
                <a:ea typeface="Arial" pitchFamily="34" charset="-122"/>
                <a:cs typeface="Arial" pitchFamily="34" charset="-120"/>
              </a:rPr>
              <a:t>Đại tá, TS Nguyễn Lê Văn — Chủ biên</a:t>
            </a:r>
            <a:endParaRPr lang="en-US" sz="1500" dirty="0"/>
          </a:p>
        </p:txBody>
      </p:sp>
      <p:sp>
        <p:nvSpPr>
          <p:cNvPr id="16" name="Text 13"/>
          <p:cNvSpPr txBox="1"/>
          <p:nvPr/>
        </p:nvSpPr>
        <p:spPr>
          <a:xfrm>
            <a:off x="6720840" y="2157984"/>
            <a:ext cx="4434840" cy="310896"/>
          </a:xfrm>
          <a:prstGeom prst="rect">
            <a:avLst/>
          </a:prstGeom>
          <a:noFill/>
          <a:ln/>
        </p:spPr>
        <p:txBody>
          <a:bodyPr wrap="square" lIns="0" tIns="0" rIns="0" bIns="0" rtlCol="0" anchor="t">
            <a:normAutofit/>
          </a:bodyPr>
          <a:lstStyle/>
          <a:p>
            <a:pPr algn="r" indent="0" marL="0">
              <a:buNone/>
            </a:pPr>
            <a:r>
              <a:rPr lang="en-US" sz="1300" dirty="0">
                <a:solidFill>
                  <a:srgbClr val="243247"/>
                </a:solidFill>
                <a:latin typeface="Arial" pitchFamily="34" charset="0"/>
                <a:ea typeface="Arial" pitchFamily="34" charset="-122"/>
                <a:cs typeface="Arial" pitchFamily="34" charset="-120"/>
              </a:rPr>
              <a:t>Chương 2, 3; chủ biên</a:t>
            </a:r>
            <a:endParaRPr lang="en-US" sz="1300" dirty="0"/>
          </a:p>
        </p:txBody>
      </p:sp>
      <p:sp>
        <p:nvSpPr>
          <p:cNvPr id="17" name="Shape 14"/>
          <p:cNvSpPr/>
          <p:nvPr/>
        </p:nvSpPr>
        <p:spPr>
          <a:xfrm>
            <a:off x="658368" y="3054096"/>
            <a:ext cx="10972800" cy="859536"/>
          </a:xfrm>
          <a:prstGeom prst="roundRect">
            <a:avLst>
              <a:gd name="adj" fmla="val 4255"/>
            </a:avLst>
          </a:prstGeom>
          <a:solidFill>
            <a:srgbClr val="FFFFFF"/>
          </a:solidFill>
          <a:ln w="12700">
            <a:solidFill>
              <a:srgbClr val="D7DEE8"/>
            </a:solidFill>
            <a:prstDash val="solid"/>
          </a:ln>
        </p:spPr>
      </p:sp>
      <p:sp>
        <p:nvSpPr>
          <p:cNvPr id="18" name="Text 15"/>
          <p:cNvSpPr txBox="1"/>
          <p:nvPr/>
        </p:nvSpPr>
        <p:spPr>
          <a:xfrm>
            <a:off x="868680" y="3282696"/>
            <a:ext cx="457200" cy="274320"/>
          </a:xfrm>
          <a:prstGeom prst="rect">
            <a:avLst/>
          </a:prstGeom>
          <a:noFill/>
          <a:ln/>
        </p:spPr>
        <p:txBody>
          <a:bodyPr wrap="square" lIns="0" tIns="0" rIns="0" bIns="0" rtlCol="0" anchor="t">
            <a:normAutofit/>
          </a:bodyPr>
          <a:lstStyle/>
          <a:p>
            <a:pPr algn="ctr" indent="0" marL="0">
              <a:buNone/>
            </a:pPr>
            <a:r>
              <a:rPr lang="en-US" sz="1800" b="1" dirty="0">
                <a:solidFill>
                  <a:srgbClr val="C9963A"/>
                </a:solidFill>
                <a:latin typeface="Arial" pitchFamily="34" charset="0"/>
                <a:ea typeface="Arial" pitchFamily="34" charset="-122"/>
                <a:cs typeface="Arial" pitchFamily="34" charset="-120"/>
              </a:rPr>
              <a:t>02</a:t>
            </a:r>
            <a:endParaRPr lang="en-US" sz="1800" dirty="0"/>
          </a:p>
        </p:txBody>
      </p:sp>
      <p:sp>
        <p:nvSpPr>
          <p:cNvPr id="19" name="Text 16"/>
          <p:cNvSpPr txBox="1"/>
          <p:nvPr/>
        </p:nvSpPr>
        <p:spPr>
          <a:xfrm>
            <a:off x="1572768" y="3236976"/>
            <a:ext cx="4754880" cy="310896"/>
          </a:xfrm>
          <a:prstGeom prst="rect">
            <a:avLst/>
          </a:prstGeom>
          <a:noFill/>
          <a:ln/>
        </p:spPr>
        <p:txBody>
          <a:bodyPr wrap="square" lIns="0" tIns="0" rIns="0" bIns="0" rtlCol="0" anchor="t">
            <a:normAutofit/>
          </a:bodyPr>
          <a:lstStyle/>
          <a:p>
            <a:pPr algn="l" indent="0" marL="0">
              <a:buNone/>
            </a:pPr>
            <a:r>
              <a:rPr lang="en-US" sz="1500" b="1" dirty="0">
                <a:solidFill>
                  <a:srgbClr val="07182F"/>
                </a:solidFill>
                <a:latin typeface="Arial" pitchFamily="34" charset="0"/>
                <a:ea typeface="Arial" pitchFamily="34" charset="-122"/>
                <a:cs typeface="Arial" pitchFamily="34" charset="-120"/>
              </a:rPr>
              <a:t>Thiếu tá, ThS Đinh Văn Tứ — Tham gia biên soạn</a:t>
            </a:r>
            <a:endParaRPr lang="en-US" sz="1500" dirty="0"/>
          </a:p>
        </p:txBody>
      </p:sp>
      <p:sp>
        <p:nvSpPr>
          <p:cNvPr id="20" name="Text 17"/>
          <p:cNvSpPr txBox="1"/>
          <p:nvPr/>
        </p:nvSpPr>
        <p:spPr>
          <a:xfrm>
            <a:off x="6720840" y="3236976"/>
            <a:ext cx="4434840" cy="310896"/>
          </a:xfrm>
          <a:prstGeom prst="rect">
            <a:avLst/>
          </a:prstGeom>
          <a:noFill/>
          <a:ln/>
        </p:spPr>
        <p:txBody>
          <a:bodyPr wrap="square" lIns="0" tIns="0" rIns="0" bIns="0" rtlCol="0" anchor="t">
            <a:normAutofit/>
          </a:bodyPr>
          <a:lstStyle/>
          <a:p>
            <a:pPr algn="r" indent="0" marL="0">
              <a:buNone/>
            </a:pPr>
            <a:r>
              <a:rPr lang="en-US" sz="1300" dirty="0">
                <a:solidFill>
                  <a:srgbClr val="243247"/>
                </a:solidFill>
                <a:latin typeface="Arial" pitchFamily="34" charset="0"/>
                <a:ea typeface="Arial" pitchFamily="34" charset="-122"/>
                <a:cs typeface="Arial" pitchFamily="34" charset="-120"/>
              </a:rPr>
              <a:t>Chương 1; mô phỏng minh họa</a:t>
            </a:r>
            <a:endParaRPr lang="en-US" sz="1300" dirty="0"/>
          </a:p>
        </p:txBody>
      </p:sp>
      <p:sp>
        <p:nvSpPr>
          <p:cNvPr id="21" name="Shape 18"/>
          <p:cNvSpPr/>
          <p:nvPr/>
        </p:nvSpPr>
        <p:spPr>
          <a:xfrm>
            <a:off x="658368" y="4133088"/>
            <a:ext cx="10972800" cy="859536"/>
          </a:xfrm>
          <a:prstGeom prst="roundRect">
            <a:avLst>
              <a:gd name="adj" fmla="val 4255"/>
            </a:avLst>
          </a:prstGeom>
          <a:solidFill>
            <a:srgbClr val="FFFFFF"/>
          </a:solidFill>
          <a:ln w="12700">
            <a:solidFill>
              <a:srgbClr val="D7DEE8"/>
            </a:solidFill>
            <a:prstDash val="solid"/>
          </a:ln>
        </p:spPr>
      </p:sp>
      <p:sp>
        <p:nvSpPr>
          <p:cNvPr id="22" name="Text 19"/>
          <p:cNvSpPr txBox="1"/>
          <p:nvPr/>
        </p:nvSpPr>
        <p:spPr>
          <a:xfrm>
            <a:off x="868680" y="4361688"/>
            <a:ext cx="457200" cy="274320"/>
          </a:xfrm>
          <a:prstGeom prst="rect">
            <a:avLst/>
          </a:prstGeom>
          <a:noFill/>
          <a:ln/>
        </p:spPr>
        <p:txBody>
          <a:bodyPr wrap="square" lIns="0" tIns="0" rIns="0" bIns="0" rtlCol="0" anchor="t">
            <a:normAutofit/>
          </a:bodyPr>
          <a:lstStyle/>
          <a:p>
            <a:pPr algn="ctr" indent="0" marL="0">
              <a:buNone/>
            </a:pPr>
            <a:r>
              <a:rPr lang="en-US" sz="1800" b="1" dirty="0">
                <a:solidFill>
                  <a:srgbClr val="C9963A"/>
                </a:solidFill>
                <a:latin typeface="Arial" pitchFamily="34" charset="0"/>
                <a:ea typeface="Arial" pitchFamily="34" charset="-122"/>
                <a:cs typeface="Arial" pitchFamily="34" charset="-120"/>
              </a:rPr>
              <a:t>03</a:t>
            </a:r>
            <a:endParaRPr lang="en-US" sz="1800" dirty="0"/>
          </a:p>
        </p:txBody>
      </p:sp>
      <p:sp>
        <p:nvSpPr>
          <p:cNvPr id="23" name="Text 20"/>
          <p:cNvSpPr txBox="1"/>
          <p:nvPr/>
        </p:nvSpPr>
        <p:spPr>
          <a:xfrm>
            <a:off x="1572768" y="4315968"/>
            <a:ext cx="4754880" cy="310896"/>
          </a:xfrm>
          <a:prstGeom prst="rect">
            <a:avLst/>
          </a:prstGeom>
          <a:noFill/>
          <a:ln/>
        </p:spPr>
        <p:txBody>
          <a:bodyPr wrap="square" lIns="0" tIns="0" rIns="0" bIns="0" rtlCol="0" anchor="t">
            <a:normAutofit/>
          </a:bodyPr>
          <a:lstStyle/>
          <a:p>
            <a:pPr algn="l" indent="0" marL="0">
              <a:buNone/>
            </a:pPr>
            <a:r>
              <a:rPr lang="en-US" sz="1500" b="1" dirty="0">
                <a:solidFill>
                  <a:srgbClr val="07182F"/>
                </a:solidFill>
                <a:latin typeface="Arial" pitchFamily="34" charset="0"/>
                <a:ea typeface="Arial" pitchFamily="34" charset="-122"/>
                <a:cs typeface="Arial" pitchFamily="34" charset="-120"/>
              </a:rPr>
              <a:t>Đại úy, ThS Bùi Thanh Xuân — Tham gia biên soạn</a:t>
            </a:r>
            <a:endParaRPr lang="en-US" sz="1500" dirty="0"/>
          </a:p>
        </p:txBody>
      </p:sp>
      <p:sp>
        <p:nvSpPr>
          <p:cNvPr id="24" name="Text 21"/>
          <p:cNvSpPr txBox="1"/>
          <p:nvPr/>
        </p:nvSpPr>
        <p:spPr>
          <a:xfrm>
            <a:off x="6720840" y="4315968"/>
            <a:ext cx="4434840" cy="310896"/>
          </a:xfrm>
          <a:prstGeom prst="rect">
            <a:avLst/>
          </a:prstGeom>
          <a:noFill/>
          <a:ln/>
        </p:spPr>
        <p:txBody>
          <a:bodyPr wrap="square" lIns="0" tIns="0" rIns="0" bIns="0" rtlCol="0" anchor="t">
            <a:normAutofit/>
          </a:bodyPr>
          <a:lstStyle/>
          <a:p>
            <a:pPr algn="r" indent="0" marL="0">
              <a:buNone/>
            </a:pPr>
            <a:r>
              <a:rPr lang="en-US" sz="1300" dirty="0">
                <a:solidFill>
                  <a:srgbClr val="243247"/>
                </a:solidFill>
                <a:latin typeface="Arial" pitchFamily="34" charset="0"/>
                <a:ea typeface="Arial" pitchFamily="34" charset="-122"/>
                <a:cs typeface="Arial" pitchFamily="34" charset="-120"/>
              </a:rPr>
              <a:t>Mô phỏng; code; ôn tập trắc nghiệm</a:t>
            </a:r>
            <a:endParaRPr lang="en-US" sz="1300" dirty="0"/>
          </a:p>
        </p:txBody>
      </p:sp>
      <p:sp>
        <p:nvSpPr>
          <p:cNvPr id="25" name="Shape 22"/>
          <p:cNvSpPr/>
          <p:nvPr/>
        </p:nvSpPr>
        <p:spPr>
          <a:xfrm>
            <a:off x="658368" y="5468112"/>
            <a:ext cx="10972800" cy="576072"/>
          </a:xfrm>
          <a:prstGeom prst="roundRect">
            <a:avLst>
              <a:gd name="adj" fmla="val 6349"/>
            </a:avLst>
          </a:prstGeom>
          <a:solidFill>
            <a:srgbClr val="07182F"/>
          </a:solidFill>
          <a:ln w="12700">
            <a:solidFill>
              <a:srgbClr val="07182F"/>
            </a:solidFill>
            <a:prstDash val="solid"/>
          </a:ln>
        </p:spPr>
      </p:sp>
      <p:sp>
        <p:nvSpPr>
          <p:cNvPr id="26" name="Text 23"/>
          <p:cNvSpPr txBox="1"/>
          <p:nvPr/>
        </p:nvSpPr>
        <p:spPr>
          <a:xfrm>
            <a:off x="914400" y="5650992"/>
            <a:ext cx="1234440" cy="182880"/>
          </a:xfrm>
          <a:prstGeom prst="rect">
            <a:avLst/>
          </a:prstGeom>
          <a:noFill/>
          <a:ln/>
        </p:spPr>
        <p:txBody>
          <a:bodyPr wrap="square" lIns="0" tIns="0" rIns="0" bIns="0" rtlCol="0" anchor="t">
            <a:normAutofit/>
          </a:bodyPr>
          <a:lstStyle/>
          <a:p>
            <a:pPr algn="l" indent="0" marL="0">
              <a:buNone/>
            </a:pPr>
            <a:r>
              <a:rPr lang="en-US" sz="1000" b="1" dirty="0">
                <a:solidFill>
                  <a:srgbClr val="DBB36A"/>
                </a:solidFill>
                <a:latin typeface="Arial" pitchFamily="34" charset="0"/>
                <a:ea typeface="Arial" pitchFamily="34" charset="-122"/>
                <a:cs typeface="Arial" pitchFamily="34" charset="-120"/>
              </a:rPr>
              <a:t>Nguồn chuẩn</a:t>
            </a:r>
            <a:endParaRPr lang="en-US" sz="1000" dirty="0"/>
          </a:p>
        </p:txBody>
      </p:sp>
      <p:sp>
        <p:nvSpPr>
          <p:cNvPr id="27" name="Text 24"/>
          <p:cNvSpPr txBox="1"/>
          <p:nvPr/>
        </p:nvSpPr>
        <p:spPr>
          <a:xfrm>
            <a:off x="2331720" y="5605272"/>
            <a:ext cx="7955280" cy="256032"/>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Arial" pitchFamily="34" charset="0"/>
                <a:ea typeface="Arial" pitchFamily="34" charset="-122"/>
                <a:cs typeface="Arial" pitchFamily="34" charset="-120"/>
              </a:rPr>
              <a:t>CoHocLyThuyet_Full_New.docx  →  HTML / PDF / package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algn="l" indent="0" marL="0">
              <a:buNone/>
            </a:pPr>
            <a:r>
              <a:rPr lang="en-US" sz="950" b="1" dirty="0">
                <a:solidFill>
                  <a:srgbClr val="5B6B80"/>
                </a:solidFill>
                <a:latin typeface="Arial" pitchFamily="34" charset="0"/>
                <a:ea typeface="Arial" pitchFamily="34" charset="-122"/>
                <a:cs typeface="Arial" pitchFamily="34" charset="-120"/>
              </a:rPr>
              <a:t>BÁO CÁO NGHIỆM THU</a:t>
            </a:r>
            <a:endParaRPr lang="en-US" sz="950" dirty="0"/>
          </a:p>
        </p:txBody>
      </p:sp>
      <p:sp>
        <p:nvSpPr>
          <p:cNvPr id="4" name="Text 2"/>
          <p:cNvSpPr txBox="1"/>
          <p:nvPr/>
        </p:nvSpPr>
        <p:spPr>
          <a:xfrm>
            <a:off x="612648" y="658368"/>
            <a:ext cx="10972800" cy="603504"/>
          </a:xfrm>
          <a:prstGeom prst="rect">
            <a:avLst/>
          </a:prstGeom>
          <a:noFill/>
          <a:ln/>
        </p:spPr>
        <p:txBody>
          <a:bodyPr wrap="square" lIns="0" tIns="0" rIns="0" bIns="0" rtlCol="0" anchor="ctr">
            <a:normAutofit/>
          </a:bodyPr>
          <a:lstStyle/>
          <a:p>
            <a:pPr algn="l" indent="0" marL="0">
              <a:buNone/>
            </a:pPr>
            <a:r>
              <a:rPr lang="en-US" sz="2350" b="1" dirty="0">
                <a:solidFill>
                  <a:srgbClr val="07182F"/>
                </a:solidFill>
                <a:latin typeface="Georgia" pitchFamily="34" charset="0"/>
                <a:ea typeface="Georgia" pitchFamily="34" charset="-122"/>
                <a:cs typeface="Georgia" pitchFamily="34" charset="-120"/>
              </a:rPr>
              <a:t>Điện tử hóa tạo một hành trình học có thể lặp lại</a:t>
            </a:r>
            <a:endParaRPr lang="en-US" sz="235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algn="r" indent="0" marL="0">
              <a:buNone/>
            </a:pPr>
            <a:r>
              <a:rPr lang="en-US" sz="1000" b="1" dirty="0">
                <a:solidFill>
                  <a:srgbClr val="C9963A"/>
                </a:solidFill>
                <a:latin typeface="Arial" pitchFamily="34" charset="0"/>
                <a:ea typeface="Arial" pitchFamily="34" charset="-122"/>
                <a:cs typeface="Arial" pitchFamily="34" charset="-120"/>
              </a:rPr>
              <a:t>04</a:t>
            </a:r>
            <a:endParaRPr lang="en-US" sz="1000" dirty="0"/>
          </a:p>
        </p:txBody>
      </p:sp>
      <p:sp>
        <p:nvSpPr>
          <p:cNvPr id="6" name="Shape 4"/>
          <p:cNvSpPr/>
          <p:nvPr/>
        </p:nvSpPr>
        <p:spPr>
          <a:xfrm>
            <a:off x="612648" y="1335024"/>
            <a:ext cx="10972800" cy="438912"/>
          </a:xfrm>
          <a:prstGeom prst="rect">
            <a:avLst/>
          </a:prstGeom>
          <a:solidFill>
            <a:srgbClr val="EEF2F7"/>
          </a:solidFill>
          <a:ln w="12700">
            <a:solidFill>
              <a:srgbClr val="D7DEE8"/>
            </a:solidFill>
            <a:prstDash val="solid"/>
          </a:ln>
        </p:spPr>
      </p:sp>
      <p:sp>
        <p:nvSpPr>
          <p:cNvPr id="7" name="Text 5"/>
          <p:cNvSpPr txBox="1"/>
          <p:nvPr/>
        </p:nvSpPr>
        <p:spPr>
          <a:xfrm>
            <a:off x="822960" y="1426464"/>
            <a:ext cx="10561320" cy="237744"/>
          </a:xfrm>
          <a:prstGeom prst="rect">
            <a:avLst/>
          </a:prstGeom>
          <a:noFill/>
          <a:ln/>
        </p:spPr>
        <p:txBody>
          <a:bodyPr wrap="square" lIns="0" tIns="0" rIns="0" bIns="0" rtlCol="0" anchor="ctr">
            <a:normAutofit/>
          </a:bodyPr>
          <a:lstStyle/>
          <a:p>
            <a:pPr algn="l" indent="0" marL="0">
              <a:buNone/>
            </a:pPr>
            <a:r>
              <a:rPr lang="en-US" sz="1320" b="1" dirty="0">
                <a:solidFill>
                  <a:srgbClr val="0D2447"/>
                </a:solidFill>
                <a:latin typeface="Arial" pitchFamily="34" charset="0"/>
                <a:ea typeface="Arial" pitchFamily="34" charset="-122"/>
                <a:cs typeface="Arial" pitchFamily="34" charset="-120"/>
              </a:rPr>
              <a:t>Tìm → học → quan sát → luyện tập → ghi nhớ.</a:t>
            </a:r>
            <a:endParaRPr lang="en-US" sz="132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algn="l" indent="0" marL="0">
              <a:buNone/>
            </a:pPr>
            <a:r>
              <a:rPr lang="en-US" sz="820" dirty="0">
                <a:solidFill>
                  <a:srgbClr val="5B6B80"/>
                </a:solidFill>
                <a:latin typeface="Arial" pitchFamily="34" charset="0"/>
                <a:ea typeface="Arial" pitchFamily="34" charset="-122"/>
                <a:cs typeface="Arial" pitchFamily="34" charset="-120"/>
              </a:rPr>
              <a:t>HỘI ĐỒNG KHOA HỌC KHOA KTCS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algn="ctr" indent="0" marL="0">
              <a:buNone/>
            </a:pPr>
            <a:r>
              <a:rPr lang="en-US" sz="760" dirty="0">
                <a:solidFill>
                  <a:srgbClr val="5B6B80"/>
                </a:solidFill>
                <a:latin typeface="Arial" pitchFamily="34" charset="0"/>
                <a:ea typeface="Arial" pitchFamily="34" charset="-122"/>
                <a:cs typeface="Arial" pitchFamily="34" charset="-120"/>
              </a:rPr>
              <a:t>README.md:114-118</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algn="r" indent="0" marL="0">
              <a:buNone/>
            </a:pPr>
            <a:r>
              <a:rPr lang="en-US" sz="820" dirty="0">
                <a:solidFill>
                  <a:srgbClr val="5B6B80"/>
                </a:solidFill>
                <a:latin typeface="Arial" pitchFamily="34" charset="0"/>
                <a:ea typeface="Arial" pitchFamily="34" charset="-122"/>
                <a:cs typeface="Arial" pitchFamily="34" charset="-120"/>
              </a:rPr>
              <a:t>4</a:t>
            </a:r>
            <a:endParaRPr lang="en-US" sz="820" dirty="0"/>
          </a:p>
        </p:txBody>
      </p:sp>
      <p:sp>
        <p:nvSpPr>
          <p:cNvPr id="13" name="Text 10"/>
          <p:cNvSpPr txBox="1"/>
          <p:nvPr/>
        </p:nvSpPr>
        <p:spPr>
          <a:xfrm>
            <a:off x="713232" y="2103120"/>
            <a:ext cx="411480" cy="237744"/>
          </a:xfrm>
          <a:prstGeom prst="rect">
            <a:avLst/>
          </a:prstGeom>
          <a:noFill/>
          <a:ln/>
        </p:spPr>
        <p:txBody>
          <a:bodyPr wrap="square" lIns="0" tIns="0" rIns="0" bIns="0" rtlCol="0" anchor="t">
            <a:normAutofit/>
          </a:bodyPr>
          <a:lstStyle/>
          <a:p>
            <a:pPr algn="ctr" indent="0" marL="0">
              <a:buNone/>
            </a:pPr>
            <a:r>
              <a:rPr lang="en-US" sz="1400" b="1" dirty="0">
                <a:solidFill>
                  <a:srgbClr val="C9963A"/>
                </a:solidFill>
                <a:latin typeface="Arial" pitchFamily="34" charset="0"/>
                <a:ea typeface="Arial" pitchFamily="34" charset="-122"/>
                <a:cs typeface="Arial" pitchFamily="34" charset="-120"/>
              </a:rPr>
              <a:t>01</a:t>
            </a:r>
            <a:endParaRPr lang="en-US" sz="1400" dirty="0"/>
          </a:p>
        </p:txBody>
      </p:sp>
      <p:sp>
        <p:nvSpPr>
          <p:cNvPr id="14" name="Text 11"/>
          <p:cNvSpPr txBox="1"/>
          <p:nvPr/>
        </p:nvSpPr>
        <p:spPr>
          <a:xfrm>
            <a:off x="1298448" y="2039112"/>
            <a:ext cx="1097280" cy="256032"/>
          </a:xfrm>
          <a:prstGeom prst="rect">
            <a:avLst/>
          </a:prstGeom>
          <a:noFill/>
          <a:ln/>
        </p:spPr>
        <p:txBody>
          <a:bodyPr wrap="square" lIns="0" tIns="0" rIns="0" bIns="0" rtlCol="0" anchor="t">
            <a:normAutofit/>
          </a:bodyPr>
          <a:lstStyle/>
          <a:p>
            <a:pPr algn="l" indent="0" marL="0">
              <a:buNone/>
            </a:pPr>
            <a:r>
              <a:rPr lang="en-US" sz="1500" b="1" dirty="0">
                <a:solidFill>
                  <a:srgbClr val="07182F"/>
                </a:solidFill>
                <a:latin typeface="Arial" pitchFamily="34" charset="0"/>
                <a:ea typeface="Arial" pitchFamily="34" charset="-122"/>
                <a:cs typeface="Arial" pitchFamily="34" charset="-120"/>
              </a:rPr>
              <a:t>Tìm</a:t>
            </a:r>
            <a:endParaRPr lang="en-US" sz="1500" dirty="0"/>
          </a:p>
        </p:txBody>
      </p:sp>
      <p:sp>
        <p:nvSpPr>
          <p:cNvPr id="15" name="Text 12"/>
          <p:cNvSpPr txBox="1"/>
          <p:nvPr/>
        </p:nvSpPr>
        <p:spPr>
          <a:xfrm>
            <a:off x="2423160" y="2057400"/>
            <a:ext cx="2377440" cy="256032"/>
          </a:xfrm>
          <a:prstGeom prst="rect">
            <a:avLst/>
          </a:prstGeom>
          <a:noFill/>
          <a:ln/>
        </p:spPr>
        <p:txBody>
          <a:bodyPr wrap="square" lIns="0" tIns="0" rIns="0" bIns="0" rtlCol="0" anchor="t">
            <a:normAutofit/>
          </a:bodyPr>
          <a:lstStyle/>
          <a:p>
            <a:pPr algn="l" indent="0" marL="0">
              <a:buNone/>
            </a:pPr>
            <a:r>
              <a:rPr lang="en-US" sz="1140" dirty="0">
                <a:solidFill>
                  <a:srgbClr val="5B6B80"/>
                </a:solidFill>
                <a:latin typeface="Arial" pitchFamily="34" charset="0"/>
                <a:ea typeface="Arial" pitchFamily="34" charset="-122"/>
                <a:cs typeface="Arial" pitchFamily="34" charset="-120"/>
              </a:rPr>
              <a:t>Mục lục, điều hướng</a:t>
            </a:r>
            <a:endParaRPr lang="en-US" sz="1140" dirty="0"/>
          </a:p>
        </p:txBody>
      </p:sp>
      <p:sp>
        <p:nvSpPr>
          <p:cNvPr id="16" name="Shape 13"/>
          <p:cNvSpPr/>
          <p:nvPr/>
        </p:nvSpPr>
        <p:spPr>
          <a:xfrm>
            <a:off x="896112" y="2432304"/>
            <a:ext cx="45720" cy="0"/>
          </a:xfrm>
          <a:prstGeom prst="line">
            <a:avLst/>
          </a:prstGeom>
          <a:noFill/>
          <a:ln w="12700">
            <a:solidFill>
              <a:srgbClr val="C9963A"/>
            </a:solidFill>
            <a:prstDash val="solid"/>
          </a:ln>
        </p:spPr>
      </p:sp>
      <p:sp>
        <p:nvSpPr>
          <p:cNvPr id="17" name="Text 14"/>
          <p:cNvSpPr txBox="1"/>
          <p:nvPr/>
        </p:nvSpPr>
        <p:spPr>
          <a:xfrm>
            <a:off x="713232" y="2816352"/>
            <a:ext cx="411480" cy="237744"/>
          </a:xfrm>
          <a:prstGeom prst="rect">
            <a:avLst/>
          </a:prstGeom>
          <a:noFill/>
          <a:ln/>
        </p:spPr>
        <p:txBody>
          <a:bodyPr wrap="square" lIns="0" tIns="0" rIns="0" bIns="0" rtlCol="0" anchor="t">
            <a:normAutofit/>
          </a:bodyPr>
          <a:lstStyle/>
          <a:p>
            <a:pPr algn="ctr" indent="0" marL="0">
              <a:buNone/>
            </a:pPr>
            <a:r>
              <a:rPr lang="en-US" sz="1400" b="1" dirty="0">
                <a:solidFill>
                  <a:srgbClr val="C9963A"/>
                </a:solidFill>
                <a:latin typeface="Arial" pitchFamily="34" charset="0"/>
                <a:ea typeface="Arial" pitchFamily="34" charset="-122"/>
                <a:cs typeface="Arial" pitchFamily="34" charset="-120"/>
              </a:rPr>
              <a:t>02</a:t>
            </a:r>
            <a:endParaRPr lang="en-US" sz="1400" dirty="0"/>
          </a:p>
        </p:txBody>
      </p:sp>
      <p:sp>
        <p:nvSpPr>
          <p:cNvPr id="18" name="Text 15"/>
          <p:cNvSpPr txBox="1"/>
          <p:nvPr/>
        </p:nvSpPr>
        <p:spPr>
          <a:xfrm>
            <a:off x="1298448" y="2752344"/>
            <a:ext cx="1097280" cy="256032"/>
          </a:xfrm>
          <a:prstGeom prst="rect">
            <a:avLst/>
          </a:prstGeom>
          <a:noFill/>
          <a:ln/>
        </p:spPr>
        <p:txBody>
          <a:bodyPr wrap="square" lIns="0" tIns="0" rIns="0" bIns="0" rtlCol="0" anchor="t">
            <a:normAutofit/>
          </a:bodyPr>
          <a:lstStyle/>
          <a:p>
            <a:pPr algn="l" indent="0" marL="0">
              <a:buNone/>
            </a:pPr>
            <a:r>
              <a:rPr lang="en-US" sz="1500" b="1" dirty="0">
                <a:solidFill>
                  <a:srgbClr val="07182F"/>
                </a:solidFill>
                <a:latin typeface="Arial" pitchFamily="34" charset="0"/>
                <a:ea typeface="Arial" pitchFamily="34" charset="-122"/>
                <a:cs typeface="Arial" pitchFamily="34" charset="-120"/>
              </a:rPr>
              <a:t>Học</a:t>
            </a:r>
            <a:endParaRPr lang="en-US" sz="1500" dirty="0"/>
          </a:p>
        </p:txBody>
      </p:sp>
      <p:sp>
        <p:nvSpPr>
          <p:cNvPr id="19" name="Text 16"/>
          <p:cNvSpPr txBox="1"/>
          <p:nvPr/>
        </p:nvSpPr>
        <p:spPr>
          <a:xfrm>
            <a:off x="2423160" y="2770632"/>
            <a:ext cx="2377440" cy="256032"/>
          </a:xfrm>
          <a:prstGeom prst="rect">
            <a:avLst/>
          </a:prstGeom>
          <a:noFill/>
          <a:ln/>
        </p:spPr>
        <p:txBody>
          <a:bodyPr wrap="square" lIns="0" tIns="0" rIns="0" bIns="0" rtlCol="0" anchor="t">
            <a:normAutofit/>
          </a:bodyPr>
          <a:lstStyle/>
          <a:p>
            <a:pPr algn="l" indent="0" marL="0">
              <a:buNone/>
            </a:pPr>
            <a:r>
              <a:rPr lang="en-US" sz="1140" dirty="0">
                <a:solidFill>
                  <a:srgbClr val="5B6B80"/>
                </a:solidFill>
                <a:latin typeface="Arial" pitchFamily="34" charset="0"/>
                <a:ea typeface="Arial" pitchFamily="34" charset="-122"/>
                <a:cs typeface="Arial" pitchFamily="34" charset="-120"/>
              </a:rPr>
              <a:t>Văn bản, hình, công thức</a:t>
            </a:r>
            <a:endParaRPr lang="en-US" sz="1140" dirty="0"/>
          </a:p>
        </p:txBody>
      </p:sp>
      <p:sp>
        <p:nvSpPr>
          <p:cNvPr id="20" name="Shape 17"/>
          <p:cNvSpPr/>
          <p:nvPr/>
        </p:nvSpPr>
        <p:spPr>
          <a:xfrm>
            <a:off x="896112" y="3145536"/>
            <a:ext cx="45720" cy="0"/>
          </a:xfrm>
          <a:prstGeom prst="line">
            <a:avLst/>
          </a:prstGeom>
          <a:noFill/>
          <a:ln w="12700">
            <a:solidFill>
              <a:srgbClr val="C9963A"/>
            </a:solidFill>
            <a:prstDash val="solid"/>
          </a:ln>
        </p:spPr>
      </p:sp>
      <p:sp>
        <p:nvSpPr>
          <p:cNvPr id="21" name="Text 18"/>
          <p:cNvSpPr txBox="1"/>
          <p:nvPr/>
        </p:nvSpPr>
        <p:spPr>
          <a:xfrm>
            <a:off x="713232" y="3529584"/>
            <a:ext cx="411480" cy="237744"/>
          </a:xfrm>
          <a:prstGeom prst="rect">
            <a:avLst/>
          </a:prstGeom>
          <a:noFill/>
          <a:ln/>
        </p:spPr>
        <p:txBody>
          <a:bodyPr wrap="square" lIns="0" tIns="0" rIns="0" bIns="0" rtlCol="0" anchor="t">
            <a:normAutofit/>
          </a:bodyPr>
          <a:lstStyle/>
          <a:p>
            <a:pPr algn="ctr" indent="0" marL="0">
              <a:buNone/>
            </a:pPr>
            <a:r>
              <a:rPr lang="en-US" sz="1400" b="1" dirty="0">
                <a:solidFill>
                  <a:srgbClr val="C9963A"/>
                </a:solidFill>
                <a:latin typeface="Arial" pitchFamily="34" charset="0"/>
                <a:ea typeface="Arial" pitchFamily="34" charset="-122"/>
                <a:cs typeface="Arial" pitchFamily="34" charset="-120"/>
              </a:rPr>
              <a:t>03</a:t>
            </a:r>
            <a:endParaRPr lang="en-US" sz="1400" dirty="0"/>
          </a:p>
        </p:txBody>
      </p:sp>
      <p:sp>
        <p:nvSpPr>
          <p:cNvPr id="22" name="Text 19"/>
          <p:cNvSpPr txBox="1"/>
          <p:nvPr/>
        </p:nvSpPr>
        <p:spPr>
          <a:xfrm>
            <a:off x="1298448" y="3465576"/>
            <a:ext cx="1097280" cy="256032"/>
          </a:xfrm>
          <a:prstGeom prst="rect">
            <a:avLst/>
          </a:prstGeom>
          <a:noFill/>
          <a:ln/>
        </p:spPr>
        <p:txBody>
          <a:bodyPr wrap="square" lIns="0" tIns="0" rIns="0" bIns="0" rtlCol="0" anchor="t">
            <a:normAutofit/>
          </a:bodyPr>
          <a:lstStyle/>
          <a:p>
            <a:pPr algn="l" indent="0" marL="0">
              <a:buNone/>
            </a:pPr>
            <a:r>
              <a:rPr lang="en-US" sz="1500" b="1" dirty="0">
                <a:solidFill>
                  <a:srgbClr val="07182F"/>
                </a:solidFill>
                <a:latin typeface="Arial" pitchFamily="34" charset="0"/>
                <a:ea typeface="Arial" pitchFamily="34" charset="-122"/>
                <a:cs typeface="Arial" pitchFamily="34" charset="-120"/>
              </a:rPr>
              <a:t>Quan sát</a:t>
            </a:r>
            <a:endParaRPr lang="en-US" sz="1500" dirty="0"/>
          </a:p>
        </p:txBody>
      </p:sp>
      <p:sp>
        <p:nvSpPr>
          <p:cNvPr id="23" name="Text 20"/>
          <p:cNvSpPr txBox="1"/>
          <p:nvPr/>
        </p:nvSpPr>
        <p:spPr>
          <a:xfrm>
            <a:off x="2423160" y="3483864"/>
            <a:ext cx="2377440" cy="256032"/>
          </a:xfrm>
          <a:prstGeom prst="rect">
            <a:avLst/>
          </a:prstGeom>
          <a:noFill/>
          <a:ln/>
        </p:spPr>
        <p:txBody>
          <a:bodyPr wrap="square" lIns="0" tIns="0" rIns="0" bIns="0" rtlCol="0" anchor="t">
            <a:normAutofit/>
          </a:bodyPr>
          <a:lstStyle/>
          <a:p>
            <a:pPr algn="l" indent="0" marL="0">
              <a:buNone/>
            </a:pPr>
            <a:r>
              <a:rPr lang="en-US" sz="1140" dirty="0">
                <a:solidFill>
                  <a:srgbClr val="5B6B80"/>
                </a:solidFill>
                <a:latin typeface="Arial" pitchFamily="34" charset="0"/>
                <a:ea typeface="Arial" pitchFamily="34" charset="-122"/>
                <a:cs typeface="Arial" pitchFamily="34" charset="-120"/>
              </a:rPr>
              <a:t>Sim2; Sim3 tùy chọn</a:t>
            </a:r>
            <a:endParaRPr lang="en-US" sz="1140" dirty="0"/>
          </a:p>
        </p:txBody>
      </p:sp>
      <p:sp>
        <p:nvSpPr>
          <p:cNvPr id="24" name="Shape 21"/>
          <p:cNvSpPr/>
          <p:nvPr/>
        </p:nvSpPr>
        <p:spPr>
          <a:xfrm>
            <a:off x="896112" y="3858768"/>
            <a:ext cx="45720" cy="0"/>
          </a:xfrm>
          <a:prstGeom prst="line">
            <a:avLst/>
          </a:prstGeom>
          <a:noFill/>
          <a:ln w="12700">
            <a:solidFill>
              <a:srgbClr val="C9963A"/>
            </a:solidFill>
            <a:prstDash val="solid"/>
          </a:ln>
        </p:spPr>
      </p:sp>
      <p:sp>
        <p:nvSpPr>
          <p:cNvPr id="25" name="Text 22"/>
          <p:cNvSpPr txBox="1"/>
          <p:nvPr/>
        </p:nvSpPr>
        <p:spPr>
          <a:xfrm>
            <a:off x="713232" y="4242816"/>
            <a:ext cx="411480" cy="237744"/>
          </a:xfrm>
          <a:prstGeom prst="rect">
            <a:avLst/>
          </a:prstGeom>
          <a:noFill/>
          <a:ln/>
        </p:spPr>
        <p:txBody>
          <a:bodyPr wrap="square" lIns="0" tIns="0" rIns="0" bIns="0" rtlCol="0" anchor="t">
            <a:normAutofit/>
          </a:bodyPr>
          <a:lstStyle/>
          <a:p>
            <a:pPr algn="ctr" indent="0" marL="0">
              <a:buNone/>
            </a:pPr>
            <a:r>
              <a:rPr lang="en-US" sz="1400" b="1" dirty="0">
                <a:solidFill>
                  <a:srgbClr val="C9963A"/>
                </a:solidFill>
                <a:latin typeface="Arial" pitchFamily="34" charset="0"/>
                <a:ea typeface="Arial" pitchFamily="34" charset="-122"/>
                <a:cs typeface="Arial" pitchFamily="34" charset="-120"/>
              </a:rPr>
              <a:t>04</a:t>
            </a:r>
            <a:endParaRPr lang="en-US" sz="1400" dirty="0"/>
          </a:p>
        </p:txBody>
      </p:sp>
      <p:sp>
        <p:nvSpPr>
          <p:cNvPr id="26" name="Text 23"/>
          <p:cNvSpPr txBox="1"/>
          <p:nvPr/>
        </p:nvSpPr>
        <p:spPr>
          <a:xfrm>
            <a:off x="1298448" y="4178808"/>
            <a:ext cx="1097280" cy="256032"/>
          </a:xfrm>
          <a:prstGeom prst="rect">
            <a:avLst/>
          </a:prstGeom>
          <a:noFill/>
          <a:ln/>
        </p:spPr>
        <p:txBody>
          <a:bodyPr wrap="square" lIns="0" tIns="0" rIns="0" bIns="0" rtlCol="0" anchor="t">
            <a:normAutofit/>
          </a:bodyPr>
          <a:lstStyle/>
          <a:p>
            <a:pPr algn="l" indent="0" marL="0">
              <a:buNone/>
            </a:pPr>
            <a:r>
              <a:rPr lang="en-US" sz="1500" b="1" dirty="0">
                <a:solidFill>
                  <a:srgbClr val="07182F"/>
                </a:solidFill>
                <a:latin typeface="Arial" pitchFamily="34" charset="0"/>
                <a:ea typeface="Arial" pitchFamily="34" charset="-122"/>
                <a:cs typeface="Arial" pitchFamily="34" charset="-120"/>
              </a:rPr>
              <a:t>Luyện</a:t>
            </a:r>
            <a:endParaRPr lang="en-US" sz="1500" dirty="0"/>
          </a:p>
        </p:txBody>
      </p:sp>
      <p:sp>
        <p:nvSpPr>
          <p:cNvPr id="27" name="Text 24"/>
          <p:cNvSpPr txBox="1"/>
          <p:nvPr/>
        </p:nvSpPr>
        <p:spPr>
          <a:xfrm>
            <a:off x="2423160" y="4197096"/>
            <a:ext cx="2377440" cy="256032"/>
          </a:xfrm>
          <a:prstGeom prst="rect">
            <a:avLst/>
          </a:prstGeom>
          <a:noFill/>
          <a:ln/>
        </p:spPr>
        <p:txBody>
          <a:bodyPr wrap="square" lIns="0" tIns="0" rIns="0" bIns="0" rtlCol="0" anchor="t">
            <a:normAutofit/>
          </a:bodyPr>
          <a:lstStyle/>
          <a:p>
            <a:pPr algn="l" indent="0" marL="0">
              <a:buNone/>
            </a:pPr>
            <a:r>
              <a:rPr lang="en-US" sz="1140" dirty="0">
                <a:solidFill>
                  <a:srgbClr val="5B6B80"/>
                </a:solidFill>
                <a:latin typeface="Arial" pitchFamily="34" charset="0"/>
                <a:ea typeface="Arial" pitchFamily="34" charset="-122"/>
                <a:cs typeface="Arial" pitchFamily="34" charset="-120"/>
              </a:rPr>
              <a:t>300 câu hỏi</a:t>
            </a:r>
            <a:endParaRPr lang="en-US" sz="1140" dirty="0"/>
          </a:p>
        </p:txBody>
      </p:sp>
      <p:sp>
        <p:nvSpPr>
          <p:cNvPr id="28" name="Shape 25"/>
          <p:cNvSpPr/>
          <p:nvPr/>
        </p:nvSpPr>
        <p:spPr>
          <a:xfrm>
            <a:off x="896112" y="4572000"/>
            <a:ext cx="45720" cy="0"/>
          </a:xfrm>
          <a:prstGeom prst="line">
            <a:avLst/>
          </a:prstGeom>
          <a:noFill/>
          <a:ln w="12700">
            <a:solidFill>
              <a:srgbClr val="C9963A"/>
            </a:solidFill>
            <a:prstDash val="solid"/>
          </a:ln>
        </p:spPr>
      </p:sp>
      <p:sp>
        <p:nvSpPr>
          <p:cNvPr id="29" name="Text 26"/>
          <p:cNvSpPr txBox="1"/>
          <p:nvPr/>
        </p:nvSpPr>
        <p:spPr>
          <a:xfrm>
            <a:off x="713232" y="4956048"/>
            <a:ext cx="411480" cy="237744"/>
          </a:xfrm>
          <a:prstGeom prst="rect">
            <a:avLst/>
          </a:prstGeom>
          <a:noFill/>
          <a:ln/>
        </p:spPr>
        <p:txBody>
          <a:bodyPr wrap="square" lIns="0" tIns="0" rIns="0" bIns="0" rtlCol="0" anchor="t">
            <a:normAutofit/>
          </a:bodyPr>
          <a:lstStyle/>
          <a:p>
            <a:pPr algn="ctr" indent="0" marL="0">
              <a:buNone/>
            </a:pPr>
            <a:r>
              <a:rPr lang="en-US" sz="1400" b="1" dirty="0">
                <a:solidFill>
                  <a:srgbClr val="C9963A"/>
                </a:solidFill>
                <a:latin typeface="Arial" pitchFamily="34" charset="0"/>
                <a:ea typeface="Arial" pitchFamily="34" charset="-122"/>
                <a:cs typeface="Arial" pitchFamily="34" charset="-120"/>
              </a:rPr>
              <a:t>05</a:t>
            </a:r>
            <a:endParaRPr lang="en-US" sz="1400" dirty="0"/>
          </a:p>
        </p:txBody>
      </p:sp>
      <p:sp>
        <p:nvSpPr>
          <p:cNvPr id="30" name="Text 27"/>
          <p:cNvSpPr txBox="1"/>
          <p:nvPr/>
        </p:nvSpPr>
        <p:spPr>
          <a:xfrm>
            <a:off x="1298448" y="4892040"/>
            <a:ext cx="1097280" cy="256032"/>
          </a:xfrm>
          <a:prstGeom prst="rect">
            <a:avLst/>
          </a:prstGeom>
          <a:noFill/>
          <a:ln/>
        </p:spPr>
        <p:txBody>
          <a:bodyPr wrap="square" lIns="0" tIns="0" rIns="0" bIns="0" rtlCol="0" anchor="t">
            <a:normAutofit/>
          </a:bodyPr>
          <a:lstStyle/>
          <a:p>
            <a:pPr algn="l" indent="0" marL="0">
              <a:buNone/>
            </a:pPr>
            <a:r>
              <a:rPr lang="en-US" sz="1500" b="1" dirty="0">
                <a:solidFill>
                  <a:srgbClr val="07182F"/>
                </a:solidFill>
                <a:latin typeface="Arial" pitchFamily="34" charset="0"/>
                <a:ea typeface="Arial" pitchFamily="34" charset="-122"/>
                <a:cs typeface="Arial" pitchFamily="34" charset="-120"/>
              </a:rPr>
              <a:t>Ghi nhớ</a:t>
            </a:r>
            <a:endParaRPr lang="en-US" sz="1500" dirty="0"/>
          </a:p>
        </p:txBody>
      </p:sp>
      <p:sp>
        <p:nvSpPr>
          <p:cNvPr id="31" name="Text 28"/>
          <p:cNvSpPr txBox="1"/>
          <p:nvPr/>
        </p:nvSpPr>
        <p:spPr>
          <a:xfrm>
            <a:off x="2423160" y="4910328"/>
            <a:ext cx="2377440" cy="256032"/>
          </a:xfrm>
          <a:prstGeom prst="rect">
            <a:avLst/>
          </a:prstGeom>
          <a:noFill/>
          <a:ln/>
        </p:spPr>
        <p:txBody>
          <a:bodyPr wrap="square" lIns="0" tIns="0" rIns="0" bIns="0" rtlCol="0" anchor="t">
            <a:normAutofit/>
          </a:bodyPr>
          <a:lstStyle/>
          <a:p>
            <a:pPr algn="l" indent="0" marL="0">
              <a:buNone/>
            </a:pPr>
            <a:r>
              <a:rPr lang="en-US" sz="1140" dirty="0">
                <a:solidFill>
                  <a:srgbClr val="5B6B80"/>
                </a:solidFill>
                <a:latin typeface="Arial" pitchFamily="34" charset="0"/>
                <a:ea typeface="Arial" pitchFamily="34" charset="-122"/>
                <a:cs typeface="Arial" pitchFamily="34" charset="-120"/>
              </a:rPr>
              <a:t>Tiến độ, dấu trang, ghi chú</a:t>
            </a:r>
            <a:endParaRPr lang="en-US" sz="1140" dirty="0"/>
          </a:p>
        </p:txBody>
      </p:sp>
      <p:sp>
        <p:nvSpPr>
          <p:cNvPr id="32" name="Shape 29"/>
          <p:cNvSpPr/>
          <p:nvPr/>
        </p:nvSpPr>
        <p:spPr>
          <a:xfrm>
            <a:off x="4983480" y="1993392"/>
            <a:ext cx="6565392" cy="4005072"/>
          </a:xfrm>
          <a:prstGeom prst="roundRect">
            <a:avLst>
              <a:gd name="adj" fmla="val 913"/>
            </a:avLst>
          </a:prstGeom>
          <a:solidFill>
            <a:srgbClr val="FFFFFF"/>
          </a:solidFill>
          <a:ln w="12700">
            <a:solidFill>
              <a:srgbClr val="0D2447"/>
            </a:solidFill>
            <a:prstDash val="solid"/>
          </a:ln>
        </p:spPr>
      </p:sp>
      <p:pic>
        <p:nvPicPr>
          <p:cNvPr id="33" name="Image 0" descr="IMG-01 · trang chủ candidate qua HTTP">    </p:cNvPr>
          <p:cNvPicPr>
            <a:picLocks noChangeAspect="1"/>
          </p:cNvPicPr>
          <p:nvPr/>
        </p:nvPicPr>
        <p:blipFill>
          <a:blip r:embed="rId1"/>
          <a:stretch>
            <a:fillRect/>
          </a:stretch>
        </p:blipFill>
        <p:spPr>
          <a:xfrm>
            <a:off x="5671801" y="2066544"/>
            <a:ext cx="5188751" cy="3602736"/>
          </a:xfrm>
          <a:prstGeom prst="rect">
            <a:avLst/>
          </a:prstGeom>
        </p:spPr>
      </p:pic>
      <p:sp>
        <p:nvSpPr>
          <p:cNvPr id="34" name="Text 30"/>
          <p:cNvSpPr txBox="1"/>
          <p:nvPr/>
        </p:nvSpPr>
        <p:spPr>
          <a:xfrm>
            <a:off x="5093208" y="5779008"/>
            <a:ext cx="6345936" cy="128016"/>
          </a:xfrm>
          <a:prstGeom prst="rect">
            <a:avLst/>
          </a:prstGeom>
          <a:noFill/>
          <a:ln/>
        </p:spPr>
        <p:txBody>
          <a:bodyPr wrap="square" lIns="0" tIns="0" rIns="0" bIns="0" rtlCol="0" anchor="t">
            <a:normAutofit/>
          </a:bodyPr>
          <a:lstStyle/>
          <a:p>
            <a:pPr algn="ctr" indent="0" marL="0">
              <a:buNone/>
            </a:pPr>
            <a:r>
              <a:rPr lang="en-US" sz="850" dirty="0">
                <a:solidFill>
                  <a:srgbClr val="5B6B80"/>
                </a:solidFill>
                <a:latin typeface="Arial" pitchFamily="34" charset="0"/>
                <a:ea typeface="Arial" pitchFamily="34" charset="-122"/>
                <a:cs typeface="Arial" pitchFamily="34" charset="-120"/>
              </a:rPr>
              <a:t>IMG-01 · trang chủ candidate qua HTTP</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algn="l" indent="0" marL="0">
              <a:buNone/>
            </a:pPr>
            <a:r>
              <a:rPr lang="en-US" sz="950" b="1" dirty="0">
                <a:solidFill>
                  <a:srgbClr val="5B6B80"/>
                </a:solidFill>
                <a:latin typeface="Arial" pitchFamily="34" charset="0"/>
                <a:ea typeface="Arial" pitchFamily="34" charset="-122"/>
                <a:cs typeface="Arial" pitchFamily="34" charset="-120"/>
              </a:rPr>
              <a:t>BÁO CÁO NGHIỆM THU</a:t>
            </a:r>
            <a:endParaRPr lang="en-US" sz="950" dirty="0"/>
          </a:p>
        </p:txBody>
      </p:sp>
      <p:sp>
        <p:nvSpPr>
          <p:cNvPr id="4" name="Text 2"/>
          <p:cNvSpPr txBox="1"/>
          <p:nvPr/>
        </p:nvSpPr>
        <p:spPr>
          <a:xfrm>
            <a:off x="612648" y="658368"/>
            <a:ext cx="10972800" cy="603504"/>
          </a:xfrm>
          <a:prstGeom prst="rect">
            <a:avLst/>
          </a:prstGeom>
          <a:noFill/>
          <a:ln/>
        </p:spPr>
        <p:txBody>
          <a:bodyPr wrap="square" lIns="0" tIns="0" rIns="0" bIns="0" rtlCol="0" anchor="ctr">
            <a:normAutofit/>
          </a:bodyPr>
          <a:lstStyle/>
          <a:p>
            <a:pPr algn="l" indent="0" marL="0">
              <a:buNone/>
            </a:pPr>
            <a:r>
              <a:rPr lang="en-US" sz="2350" b="1" dirty="0">
                <a:solidFill>
                  <a:srgbClr val="07182F"/>
                </a:solidFill>
                <a:latin typeface="Georgia" pitchFamily="34" charset="0"/>
                <a:ea typeface="Georgia" pitchFamily="34" charset="-122"/>
                <a:cs typeface="Georgia" pitchFamily="34" charset="-120"/>
              </a:rPr>
              <a:t>Gói học chạy ngoại tuyến, không cần backend</a:t>
            </a:r>
            <a:endParaRPr lang="en-US" sz="235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algn="r" indent="0" marL="0">
              <a:buNone/>
            </a:pPr>
            <a:r>
              <a:rPr lang="en-US" sz="1000" b="1" dirty="0">
                <a:solidFill>
                  <a:srgbClr val="C9963A"/>
                </a:solidFill>
                <a:latin typeface="Arial" pitchFamily="34" charset="0"/>
                <a:ea typeface="Arial" pitchFamily="34" charset="-122"/>
                <a:cs typeface="Arial" pitchFamily="34" charset="-120"/>
              </a:rPr>
              <a:t>05</a:t>
            </a:r>
            <a:endParaRPr lang="en-US" sz="1000" dirty="0"/>
          </a:p>
        </p:txBody>
      </p:sp>
      <p:sp>
        <p:nvSpPr>
          <p:cNvPr id="6" name="Shape 4"/>
          <p:cNvSpPr/>
          <p:nvPr/>
        </p:nvSpPr>
        <p:spPr>
          <a:xfrm>
            <a:off x="612648" y="1335024"/>
            <a:ext cx="10972800" cy="438912"/>
          </a:xfrm>
          <a:prstGeom prst="rect">
            <a:avLst/>
          </a:prstGeom>
          <a:solidFill>
            <a:srgbClr val="EEF2F7"/>
          </a:solidFill>
          <a:ln w="12700">
            <a:solidFill>
              <a:srgbClr val="D7DEE8"/>
            </a:solidFill>
            <a:prstDash val="solid"/>
          </a:ln>
        </p:spPr>
      </p:sp>
      <p:sp>
        <p:nvSpPr>
          <p:cNvPr id="7" name="Text 5"/>
          <p:cNvSpPr txBox="1"/>
          <p:nvPr/>
        </p:nvSpPr>
        <p:spPr>
          <a:xfrm>
            <a:off x="822960" y="1426464"/>
            <a:ext cx="10561320" cy="237744"/>
          </a:xfrm>
          <a:prstGeom prst="rect">
            <a:avLst/>
          </a:prstGeom>
          <a:noFill/>
          <a:ln/>
        </p:spPr>
        <p:txBody>
          <a:bodyPr wrap="square" lIns="0" tIns="0" rIns="0" bIns="0" rtlCol="0" anchor="ctr">
            <a:normAutofit/>
          </a:bodyPr>
          <a:lstStyle/>
          <a:p>
            <a:pPr algn="l" indent="0" marL="0">
              <a:buNone/>
            </a:pPr>
            <a:r>
              <a:rPr lang="en-US" sz="1320" b="1" dirty="0">
                <a:solidFill>
                  <a:srgbClr val="0D2447"/>
                </a:solidFill>
                <a:latin typeface="Arial" pitchFamily="34" charset="0"/>
                <a:ea typeface="Arial" pitchFamily="34" charset="-122"/>
                <a:cs typeface="Arial" pitchFamily="34" charset="-120"/>
              </a:rPr>
              <a:t>DOCX → chuyển đổi → QA → gói tĩnh → file:// hoặc HTTP.</a:t>
            </a:r>
            <a:endParaRPr lang="en-US" sz="132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algn="l" indent="0" marL="0">
              <a:buNone/>
            </a:pPr>
            <a:r>
              <a:rPr lang="en-US" sz="820" dirty="0">
                <a:solidFill>
                  <a:srgbClr val="5B6B80"/>
                </a:solidFill>
                <a:latin typeface="Arial" pitchFamily="34" charset="0"/>
                <a:ea typeface="Arial" pitchFamily="34" charset="-122"/>
                <a:cs typeface="Arial" pitchFamily="34" charset="-120"/>
              </a:rPr>
              <a:t>HỘI ĐỒNG KHOA HỌC KHOA KTCS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algn="ctr" indent="0" marL="0">
              <a:buNone/>
            </a:pPr>
            <a:r>
              <a:rPr lang="en-US" sz="760" dirty="0">
                <a:solidFill>
                  <a:srgbClr val="5B6B80"/>
                </a:solidFill>
                <a:latin typeface="Arial" pitchFamily="34" charset="0"/>
                <a:ea typeface="Arial" pitchFamily="34" charset="-122"/>
                <a:cs typeface="Arial" pitchFamily="34" charset="-120"/>
              </a:rPr>
              <a:t>README.md:3-13</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algn="r" indent="0" marL="0">
              <a:buNone/>
            </a:pPr>
            <a:r>
              <a:rPr lang="en-US" sz="820" dirty="0">
                <a:solidFill>
                  <a:srgbClr val="5B6B80"/>
                </a:solidFill>
                <a:latin typeface="Arial" pitchFamily="34" charset="0"/>
                <a:ea typeface="Arial" pitchFamily="34" charset="-122"/>
                <a:cs typeface="Arial" pitchFamily="34" charset="-120"/>
              </a:rPr>
              <a:t>5</a:t>
            </a:r>
            <a:endParaRPr lang="en-US" sz="820" dirty="0"/>
          </a:p>
        </p:txBody>
      </p:sp>
      <p:sp>
        <p:nvSpPr>
          <p:cNvPr id="13" name="Shape 10"/>
          <p:cNvSpPr/>
          <p:nvPr/>
        </p:nvSpPr>
        <p:spPr>
          <a:xfrm>
            <a:off x="658368" y="2148840"/>
            <a:ext cx="1664208" cy="987552"/>
          </a:xfrm>
          <a:prstGeom prst="roundRect">
            <a:avLst>
              <a:gd name="adj" fmla="val 3704"/>
            </a:avLst>
          </a:prstGeom>
          <a:solidFill>
            <a:srgbClr val="FFFFFF"/>
          </a:solidFill>
          <a:ln w="12700">
            <a:solidFill>
              <a:srgbClr val="15355F"/>
            </a:solidFill>
            <a:prstDash val="solid"/>
          </a:ln>
        </p:spPr>
      </p:sp>
      <p:sp>
        <p:nvSpPr>
          <p:cNvPr id="14" name="Text 11"/>
          <p:cNvSpPr txBox="1"/>
          <p:nvPr/>
        </p:nvSpPr>
        <p:spPr>
          <a:xfrm>
            <a:off x="768096" y="2450592"/>
            <a:ext cx="1444752" cy="310896"/>
          </a:xfrm>
          <a:prstGeom prst="rect">
            <a:avLst/>
          </a:prstGeom>
          <a:noFill/>
          <a:ln/>
        </p:spPr>
        <p:txBody>
          <a:bodyPr wrap="square" lIns="0" tIns="0" rIns="0" bIns="0" rtlCol="0" anchor="ctr">
            <a:normAutofit/>
          </a:bodyPr>
          <a:lstStyle/>
          <a:p>
            <a:pPr algn="ctr" indent="0" marL="0">
              <a:buNone/>
            </a:pPr>
            <a:r>
              <a:rPr lang="en-US" sz="1320" b="1" dirty="0">
                <a:solidFill>
                  <a:srgbClr val="07182F"/>
                </a:solidFill>
                <a:latin typeface="Arial" pitchFamily="34" charset="0"/>
                <a:ea typeface="Arial" pitchFamily="34" charset="-122"/>
                <a:cs typeface="Arial" pitchFamily="34" charset="-120"/>
              </a:rPr>
              <a:t>DOCX chuẩn</a:t>
            </a:r>
            <a:endParaRPr lang="en-US" sz="1320" dirty="0"/>
          </a:p>
        </p:txBody>
      </p:sp>
      <p:sp>
        <p:nvSpPr>
          <p:cNvPr id="15" name="Shape 12"/>
          <p:cNvSpPr/>
          <p:nvPr/>
        </p:nvSpPr>
        <p:spPr>
          <a:xfrm>
            <a:off x="2359152" y="2642616"/>
            <a:ext cx="457200" cy="0"/>
          </a:xfrm>
          <a:prstGeom prst="line">
            <a:avLst/>
          </a:prstGeom>
          <a:noFill/>
          <a:ln w="12700">
            <a:solidFill>
              <a:srgbClr val="C9963A"/>
            </a:solidFill>
            <a:prstDash val="solid"/>
          </a:ln>
        </p:spPr>
      </p:sp>
      <p:sp>
        <p:nvSpPr>
          <p:cNvPr id="16" name="Shape 13"/>
          <p:cNvSpPr/>
          <p:nvPr/>
        </p:nvSpPr>
        <p:spPr>
          <a:xfrm>
            <a:off x="2697480" y="2532888"/>
            <a:ext cx="164592" cy="219456"/>
          </a:xfrm>
          <a:prstGeom prst="chevron">
            <a:avLst/>
          </a:prstGeom>
          <a:solidFill>
            <a:srgbClr val="C9963A"/>
          </a:solidFill>
          <a:ln w="12700">
            <a:solidFill>
              <a:srgbClr val="C9963A"/>
            </a:solidFill>
            <a:prstDash val="solid"/>
          </a:ln>
        </p:spPr>
      </p:sp>
      <p:sp>
        <p:nvSpPr>
          <p:cNvPr id="17" name="Shape 14"/>
          <p:cNvSpPr/>
          <p:nvPr/>
        </p:nvSpPr>
        <p:spPr>
          <a:xfrm>
            <a:off x="2871216" y="2148840"/>
            <a:ext cx="1664208" cy="987552"/>
          </a:xfrm>
          <a:prstGeom prst="roundRect">
            <a:avLst>
              <a:gd name="adj" fmla="val 3704"/>
            </a:avLst>
          </a:prstGeom>
          <a:solidFill>
            <a:srgbClr val="FFFFFF"/>
          </a:solidFill>
          <a:ln w="12700">
            <a:solidFill>
              <a:srgbClr val="15355F"/>
            </a:solidFill>
            <a:prstDash val="solid"/>
          </a:ln>
        </p:spPr>
      </p:sp>
      <p:sp>
        <p:nvSpPr>
          <p:cNvPr id="18" name="Text 15"/>
          <p:cNvSpPr txBox="1"/>
          <p:nvPr/>
        </p:nvSpPr>
        <p:spPr>
          <a:xfrm>
            <a:off x="2980944" y="2450592"/>
            <a:ext cx="1444752" cy="310896"/>
          </a:xfrm>
          <a:prstGeom prst="rect">
            <a:avLst/>
          </a:prstGeom>
          <a:noFill/>
          <a:ln/>
        </p:spPr>
        <p:txBody>
          <a:bodyPr wrap="square" lIns="0" tIns="0" rIns="0" bIns="0" rtlCol="0" anchor="ctr">
            <a:normAutofit/>
          </a:bodyPr>
          <a:lstStyle/>
          <a:p>
            <a:pPr algn="ctr" indent="0" marL="0">
              <a:buNone/>
            </a:pPr>
            <a:r>
              <a:rPr lang="en-US" sz="1320" b="1" dirty="0">
                <a:solidFill>
                  <a:srgbClr val="07182F"/>
                </a:solidFill>
                <a:latin typeface="Arial" pitchFamily="34" charset="0"/>
                <a:ea typeface="Arial" pitchFamily="34" charset="-122"/>
                <a:cs typeface="Arial" pitchFamily="34" charset="-120"/>
              </a:rPr>
              <a:t>Trang + dữ liệu</a:t>
            </a:r>
            <a:endParaRPr lang="en-US" sz="1320" dirty="0"/>
          </a:p>
        </p:txBody>
      </p:sp>
      <p:sp>
        <p:nvSpPr>
          <p:cNvPr id="19" name="Shape 16"/>
          <p:cNvSpPr/>
          <p:nvPr/>
        </p:nvSpPr>
        <p:spPr>
          <a:xfrm>
            <a:off x="4572000" y="2642616"/>
            <a:ext cx="457200" cy="0"/>
          </a:xfrm>
          <a:prstGeom prst="line">
            <a:avLst/>
          </a:prstGeom>
          <a:noFill/>
          <a:ln w="12700">
            <a:solidFill>
              <a:srgbClr val="C9963A"/>
            </a:solidFill>
            <a:prstDash val="solid"/>
          </a:ln>
        </p:spPr>
      </p:sp>
      <p:sp>
        <p:nvSpPr>
          <p:cNvPr id="20" name="Shape 17"/>
          <p:cNvSpPr/>
          <p:nvPr/>
        </p:nvSpPr>
        <p:spPr>
          <a:xfrm>
            <a:off x="4910328" y="2532888"/>
            <a:ext cx="164592" cy="219456"/>
          </a:xfrm>
          <a:prstGeom prst="chevron">
            <a:avLst/>
          </a:prstGeom>
          <a:solidFill>
            <a:srgbClr val="C9963A"/>
          </a:solidFill>
          <a:ln w="12700">
            <a:solidFill>
              <a:srgbClr val="C9963A"/>
            </a:solidFill>
            <a:prstDash val="solid"/>
          </a:ln>
        </p:spPr>
      </p:sp>
      <p:sp>
        <p:nvSpPr>
          <p:cNvPr id="21" name="Shape 18"/>
          <p:cNvSpPr/>
          <p:nvPr/>
        </p:nvSpPr>
        <p:spPr>
          <a:xfrm>
            <a:off x="5084064" y="2148840"/>
            <a:ext cx="1664208" cy="987552"/>
          </a:xfrm>
          <a:prstGeom prst="roundRect">
            <a:avLst>
              <a:gd name="adj" fmla="val 3704"/>
            </a:avLst>
          </a:prstGeom>
          <a:solidFill>
            <a:srgbClr val="FFFFFF"/>
          </a:solidFill>
          <a:ln w="12700">
            <a:solidFill>
              <a:srgbClr val="15355F"/>
            </a:solidFill>
            <a:prstDash val="solid"/>
          </a:ln>
        </p:spPr>
      </p:sp>
      <p:sp>
        <p:nvSpPr>
          <p:cNvPr id="22" name="Text 19"/>
          <p:cNvSpPr txBox="1"/>
          <p:nvPr/>
        </p:nvSpPr>
        <p:spPr>
          <a:xfrm>
            <a:off x="5193792" y="2450592"/>
            <a:ext cx="1444752" cy="310896"/>
          </a:xfrm>
          <a:prstGeom prst="rect">
            <a:avLst/>
          </a:prstGeom>
          <a:noFill/>
          <a:ln/>
        </p:spPr>
        <p:txBody>
          <a:bodyPr wrap="square" lIns="0" tIns="0" rIns="0" bIns="0" rtlCol="0" anchor="ctr">
            <a:normAutofit/>
          </a:bodyPr>
          <a:lstStyle/>
          <a:p>
            <a:pPr algn="ctr" indent="0" marL="0">
              <a:buNone/>
            </a:pPr>
            <a:r>
              <a:rPr lang="en-US" sz="1320" b="1" dirty="0">
                <a:solidFill>
                  <a:srgbClr val="07182F"/>
                </a:solidFill>
                <a:latin typeface="Arial" pitchFamily="34" charset="0"/>
                <a:ea typeface="Arial" pitchFamily="34" charset="-122"/>
                <a:cs typeface="Arial" pitchFamily="34" charset="-120"/>
              </a:rPr>
              <a:t>QA/manifest</a:t>
            </a:r>
            <a:endParaRPr lang="en-US" sz="1320" dirty="0"/>
          </a:p>
        </p:txBody>
      </p:sp>
      <p:sp>
        <p:nvSpPr>
          <p:cNvPr id="23" name="Shape 20"/>
          <p:cNvSpPr/>
          <p:nvPr/>
        </p:nvSpPr>
        <p:spPr>
          <a:xfrm>
            <a:off x="6784848" y="2642616"/>
            <a:ext cx="457200" cy="0"/>
          </a:xfrm>
          <a:prstGeom prst="line">
            <a:avLst/>
          </a:prstGeom>
          <a:noFill/>
          <a:ln w="12700">
            <a:solidFill>
              <a:srgbClr val="C9963A"/>
            </a:solidFill>
            <a:prstDash val="solid"/>
          </a:ln>
        </p:spPr>
      </p:sp>
      <p:sp>
        <p:nvSpPr>
          <p:cNvPr id="24" name="Shape 21"/>
          <p:cNvSpPr/>
          <p:nvPr/>
        </p:nvSpPr>
        <p:spPr>
          <a:xfrm>
            <a:off x="7123176" y="2532888"/>
            <a:ext cx="164592" cy="219456"/>
          </a:xfrm>
          <a:prstGeom prst="chevron">
            <a:avLst/>
          </a:prstGeom>
          <a:solidFill>
            <a:srgbClr val="C9963A"/>
          </a:solidFill>
          <a:ln w="12700">
            <a:solidFill>
              <a:srgbClr val="C9963A"/>
            </a:solidFill>
            <a:prstDash val="solid"/>
          </a:ln>
        </p:spPr>
      </p:sp>
      <p:sp>
        <p:nvSpPr>
          <p:cNvPr id="25" name="Shape 22"/>
          <p:cNvSpPr/>
          <p:nvPr/>
        </p:nvSpPr>
        <p:spPr>
          <a:xfrm>
            <a:off x="7296912" y="2148840"/>
            <a:ext cx="1664208" cy="987552"/>
          </a:xfrm>
          <a:prstGeom prst="roundRect">
            <a:avLst>
              <a:gd name="adj" fmla="val 3704"/>
            </a:avLst>
          </a:prstGeom>
          <a:solidFill>
            <a:srgbClr val="FFFFFF"/>
          </a:solidFill>
          <a:ln w="12700">
            <a:solidFill>
              <a:srgbClr val="15355F"/>
            </a:solidFill>
            <a:prstDash val="solid"/>
          </a:ln>
        </p:spPr>
      </p:sp>
      <p:sp>
        <p:nvSpPr>
          <p:cNvPr id="26" name="Text 23"/>
          <p:cNvSpPr txBox="1"/>
          <p:nvPr/>
        </p:nvSpPr>
        <p:spPr>
          <a:xfrm>
            <a:off x="7406640" y="2450592"/>
            <a:ext cx="1444752" cy="310896"/>
          </a:xfrm>
          <a:prstGeom prst="rect">
            <a:avLst/>
          </a:prstGeom>
          <a:noFill/>
          <a:ln/>
        </p:spPr>
        <p:txBody>
          <a:bodyPr wrap="square" lIns="0" tIns="0" rIns="0" bIns="0" rtlCol="0" anchor="ctr">
            <a:normAutofit/>
          </a:bodyPr>
          <a:lstStyle/>
          <a:p>
            <a:pPr algn="ctr" indent="0" marL="0">
              <a:buNone/>
            </a:pPr>
            <a:r>
              <a:rPr lang="en-US" sz="1320" b="1" dirty="0">
                <a:solidFill>
                  <a:srgbClr val="07182F"/>
                </a:solidFill>
                <a:latin typeface="Arial" pitchFamily="34" charset="0"/>
                <a:ea typeface="Arial" pitchFamily="34" charset="-122"/>
                <a:cs typeface="Arial" pitchFamily="34" charset="-120"/>
              </a:rPr>
              <a:t>Gói tĩnh</a:t>
            </a:r>
            <a:endParaRPr lang="en-US" sz="1320" dirty="0"/>
          </a:p>
        </p:txBody>
      </p:sp>
      <p:sp>
        <p:nvSpPr>
          <p:cNvPr id="27" name="Shape 24"/>
          <p:cNvSpPr/>
          <p:nvPr/>
        </p:nvSpPr>
        <p:spPr>
          <a:xfrm>
            <a:off x="8997696" y="2642616"/>
            <a:ext cx="457200" cy="0"/>
          </a:xfrm>
          <a:prstGeom prst="line">
            <a:avLst/>
          </a:prstGeom>
          <a:noFill/>
          <a:ln w="12700">
            <a:solidFill>
              <a:srgbClr val="C9963A"/>
            </a:solidFill>
            <a:prstDash val="solid"/>
          </a:ln>
        </p:spPr>
      </p:sp>
      <p:sp>
        <p:nvSpPr>
          <p:cNvPr id="28" name="Shape 25"/>
          <p:cNvSpPr/>
          <p:nvPr/>
        </p:nvSpPr>
        <p:spPr>
          <a:xfrm>
            <a:off x="9336024" y="2532888"/>
            <a:ext cx="164592" cy="219456"/>
          </a:xfrm>
          <a:prstGeom prst="chevron">
            <a:avLst/>
          </a:prstGeom>
          <a:solidFill>
            <a:srgbClr val="C9963A"/>
          </a:solidFill>
          <a:ln w="12700">
            <a:solidFill>
              <a:srgbClr val="C9963A"/>
            </a:solidFill>
            <a:prstDash val="solid"/>
          </a:ln>
        </p:spPr>
      </p:sp>
      <p:sp>
        <p:nvSpPr>
          <p:cNvPr id="29" name="Shape 26"/>
          <p:cNvSpPr/>
          <p:nvPr/>
        </p:nvSpPr>
        <p:spPr>
          <a:xfrm>
            <a:off x="9509760" y="2148840"/>
            <a:ext cx="1664208" cy="987552"/>
          </a:xfrm>
          <a:prstGeom prst="roundRect">
            <a:avLst>
              <a:gd name="adj" fmla="val 3704"/>
            </a:avLst>
          </a:prstGeom>
          <a:solidFill>
            <a:srgbClr val="07182F"/>
          </a:solidFill>
          <a:ln w="12700">
            <a:solidFill>
              <a:srgbClr val="07182F"/>
            </a:solidFill>
            <a:prstDash val="solid"/>
          </a:ln>
        </p:spPr>
      </p:sp>
      <p:sp>
        <p:nvSpPr>
          <p:cNvPr id="30" name="Text 27"/>
          <p:cNvSpPr txBox="1"/>
          <p:nvPr/>
        </p:nvSpPr>
        <p:spPr>
          <a:xfrm>
            <a:off x="9619488" y="2450592"/>
            <a:ext cx="1444752" cy="310896"/>
          </a:xfrm>
          <a:prstGeom prst="rect">
            <a:avLst/>
          </a:prstGeom>
          <a:noFill/>
          <a:ln/>
        </p:spPr>
        <p:txBody>
          <a:bodyPr wrap="square" lIns="0" tIns="0" rIns="0" bIns="0" rtlCol="0" anchor="ctr">
            <a:normAutofit/>
          </a:bodyPr>
          <a:lstStyle/>
          <a:p>
            <a:pPr algn="ctr" indent="0" marL="0">
              <a:buNone/>
            </a:pPr>
            <a:r>
              <a:rPr lang="en-US" sz="1320" b="1" dirty="0">
                <a:solidFill>
                  <a:srgbClr val="FFFFFF"/>
                </a:solidFill>
                <a:latin typeface="Arial" pitchFamily="34" charset="0"/>
                <a:ea typeface="Arial" pitchFamily="34" charset="-122"/>
                <a:cs typeface="Arial" pitchFamily="34" charset="-120"/>
              </a:rPr>
              <a:t>file:// · HTTP</a:t>
            </a:r>
            <a:endParaRPr lang="en-US" sz="1320" dirty="0"/>
          </a:p>
        </p:txBody>
      </p:sp>
      <p:sp>
        <p:nvSpPr>
          <p:cNvPr id="31" name="Shape 28"/>
          <p:cNvSpPr/>
          <p:nvPr/>
        </p:nvSpPr>
        <p:spPr>
          <a:xfrm>
            <a:off x="914400" y="4014216"/>
            <a:ext cx="82296" cy="82296"/>
          </a:xfrm>
          <a:prstGeom prst="ellipse">
            <a:avLst/>
          </a:prstGeom>
          <a:solidFill>
            <a:srgbClr val="C9963A"/>
          </a:solidFill>
          <a:ln w="12700">
            <a:solidFill>
              <a:srgbClr val="C9963A"/>
            </a:solidFill>
            <a:prstDash val="solid"/>
          </a:ln>
        </p:spPr>
      </p:sp>
      <p:sp>
        <p:nvSpPr>
          <p:cNvPr id="32" name="Text 29"/>
          <p:cNvSpPr txBox="1"/>
          <p:nvPr/>
        </p:nvSpPr>
        <p:spPr>
          <a:xfrm>
            <a:off x="1115568" y="3913632"/>
            <a:ext cx="10405872" cy="365760"/>
          </a:xfrm>
          <a:prstGeom prst="rect">
            <a:avLst/>
          </a:prstGeom>
          <a:noFill/>
          <a:ln/>
        </p:spPr>
        <p:txBody>
          <a:bodyPr wrap="square" lIns="0" tIns="0" rIns="0" bIns="0" rtlCol="0" anchor="ctr">
            <a:normAutofit/>
          </a:bodyPr>
          <a:lstStyle/>
          <a:p>
            <a:pPr algn="l" indent="0" marL="0">
              <a:buNone/>
            </a:pPr>
            <a:r>
              <a:rPr lang="en-US" sz="1420" dirty="0">
                <a:solidFill>
                  <a:srgbClr val="243247"/>
                </a:solidFill>
                <a:latin typeface="Arial" pitchFamily="34" charset="0"/>
                <a:ea typeface="Arial" pitchFamily="34" charset="-122"/>
                <a:cs typeface="Arial" pitchFamily="34" charset="-120"/>
              </a:rPr>
              <a:t>Không cần Node/Python ở máy học viên</a:t>
            </a:r>
            <a:endParaRPr lang="en-US" sz="1420" dirty="0"/>
          </a:p>
        </p:txBody>
      </p:sp>
      <p:sp>
        <p:nvSpPr>
          <p:cNvPr id="33" name="Shape 30"/>
          <p:cNvSpPr/>
          <p:nvPr/>
        </p:nvSpPr>
        <p:spPr>
          <a:xfrm>
            <a:off x="914400" y="4581144"/>
            <a:ext cx="82296" cy="82296"/>
          </a:xfrm>
          <a:prstGeom prst="ellipse">
            <a:avLst/>
          </a:prstGeom>
          <a:solidFill>
            <a:srgbClr val="C9963A"/>
          </a:solidFill>
          <a:ln w="12700">
            <a:solidFill>
              <a:srgbClr val="C9963A"/>
            </a:solidFill>
            <a:prstDash val="solid"/>
          </a:ln>
        </p:spPr>
      </p:sp>
      <p:sp>
        <p:nvSpPr>
          <p:cNvPr id="34" name="Text 31"/>
          <p:cNvSpPr txBox="1"/>
          <p:nvPr/>
        </p:nvSpPr>
        <p:spPr>
          <a:xfrm>
            <a:off x="1115568" y="4480560"/>
            <a:ext cx="10405872" cy="365760"/>
          </a:xfrm>
          <a:prstGeom prst="rect">
            <a:avLst/>
          </a:prstGeom>
          <a:noFill/>
          <a:ln/>
        </p:spPr>
        <p:txBody>
          <a:bodyPr wrap="square" lIns="0" tIns="0" rIns="0" bIns="0" rtlCol="0" anchor="ctr">
            <a:normAutofit/>
          </a:bodyPr>
          <a:lstStyle/>
          <a:p>
            <a:pPr algn="l" indent="0" marL="0">
              <a:buNone/>
            </a:pPr>
            <a:r>
              <a:rPr lang="en-US" sz="1420" dirty="0">
                <a:solidFill>
                  <a:srgbClr val="243247"/>
                </a:solidFill>
                <a:latin typeface="Arial" pitchFamily="34" charset="0"/>
                <a:ea typeface="Arial" pitchFamily="34" charset="-122"/>
                <a:cs typeface="Arial" pitchFamily="34" charset="-120"/>
              </a:rPr>
              <a:t>PDF và thư viện runtime đóng gói cục bộ</a:t>
            </a:r>
            <a:endParaRPr lang="en-US" sz="1420" dirty="0"/>
          </a:p>
        </p:txBody>
      </p:sp>
      <p:sp>
        <p:nvSpPr>
          <p:cNvPr id="35" name="Shape 32"/>
          <p:cNvSpPr/>
          <p:nvPr/>
        </p:nvSpPr>
        <p:spPr>
          <a:xfrm>
            <a:off x="914400" y="5148072"/>
            <a:ext cx="82296" cy="82296"/>
          </a:xfrm>
          <a:prstGeom prst="ellipse">
            <a:avLst/>
          </a:prstGeom>
          <a:solidFill>
            <a:srgbClr val="C9963A"/>
          </a:solidFill>
          <a:ln w="12700">
            <a:solidFill>
              <a:srgbClr val="C9963A"/>
            </a:solidFill>
            <a:prstDash val="solid"/>
          </a:ln>
        </p:spPr>
      </p:sp>
      <p:sp>
        <p:nvSpPr>
          <p:cNvPr id="36" name="Text 33"/>
          <p:cNvSpPr txBox="1"/>
          <p:nvPr/>
        </p:nvSpPr>
        <p:spPr>
          <a:xfrm>
            <a:off x="1115568" y="5047488"/>
            <a:ext cx="10405872" cy="365760"/>
          </a:xfrm>
          <a:prstGeom prst="rect">
            <a:avLst/>
          </a:prstGeom>
          <a:noFill/>
          <a:ln/>
        </p:spPr>
        <p:txBody>
          <a:bodyPr wrap="square" lIns="0" tIns="0" rIns="0" bIns="0" rtlCol="0" anchor="ctr">
            <a:normAutofit/>
          </a:bodyPr>
          <a:lstStyle/>
          <a:p>
            <a:pPr algn="l" indent="0" marL="0">
              <a:buNone/>
            </a:pPr>
            <a:r>
              <a:rPr lang="en-US" sz="1420" dirty="0">
                <a:solidFill>
                  <a:srgbClr val="243247"/>
                </a:solidFill>
                <a:latin typeface="Arial" pitchFamily="34" charset="0"/>
                <a:ea typeface="Arial" pitchFamily="34" charset="-122"/>
                <a:cs typeface="Arial" pitchFamily="34" charset="-120"/>
              </a:rPr>
              <a:t>Dữ liệu học tập lưu trên cùng thiết bị</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algn="l" indent="0" marL="0">
              <a:buNone/>
            </a:pPr>
            <a:r>
              <a:rPr lang="en-US" sz="950" b="1" dirty="0">
                <a:solidFill>
                  <a:srgbClr val="5B6B80"/>
                </a:solidFill>
                <a:latin typeface="Arial" pitchFamily="34" charset="0"/>
                <a:ea typeface="Arial" pitchFamily="34" charset="-122"/>
                <a:cs typeface="Arial" pitchFamily="34" charset="-120"/>
              </a:rPr>
              <a:t>BÁO CÁO NGHIỆM THU</a:t>
            </a:r>
            <a:endParaRPr lang="en-US" sz="950" dirty="0"/>
          </a:p>
        </p:txBody>
      </p:sp>
      <p:sp>
        <p:nvSpPr>
          <p:cNvPr id="4" name="Text 2"/>
          <p:cNvSpPr txBox="1"/>
          <p:nvPr/>
        </p:nvSpPr>
        <p:spPr>
          <a:xfrm>
            <a:off x="612648" y="658368"/>
            <a:ext cx="10972800" cy="603504"/>
          </a:xfrm>
          <a:prstGeom prst="rect">
            <a:avLst/>
          </a:prstGeom>
          <a:noFill/>
          <a:ln/>
        </p:spPr>
        <p:txBody>
          <a:bodyPr wrap="square" lIns="0" tIns="0" rIns="0" bIns="0" rtlCol="0" anchor="ctr">
            <a:normAutofit/>
          </a:bodyPr>
          <a:lstStyle/>
          <a:p>
            <a:pPr algn="l" indent="0" marL="0">
              <a:buNone/>
            </a:pPr>
            <a:r>
              <a:rPr lang="en-US" sz="2350" b="1" dirty="0">
                <a:solidFill>
                  <a:srgbClr val="07182F"/>
                </a:solidFill>
                <a:latin typeface="Georgia" pitchFamily="34" charset="0"/>
                <a:ea typeface="Georgia" pitchFamily="34" charset="-122"/>
                <a:cs typeface="Georgia" pitchFamily="34" charset="-120"/>
              </a:rPr>
              <a:t>Tương tác chỉ có ý nghĩa khi gắn với nội dung bài học</a:t>
            </a:r>
            <a:endParaRPr lang="en-US" sz="235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algn="r" indent="0" marL="0">
              <a:buNone/>
            </a:pPr>
            <a:r>
              <a:rPr lang="en-US" sz="1000" b="1" dirty="0">
                <a:solidFill>
                  <a:srgbClr val="C9963A"/>
                </a:solidFill>
                <a:latin typeface="Arial" pitchFamily="34" charset="0"/>
                <a:ea typeface="Arial" pitchFamily="34" charset="-122"/>
                <a:cs typeface="Arial" pitchFamily="34" charset="-120"/>
              </a:rPr>
              <a:t>06</a:t>
            </a:r>
            <a:endParaRPr lang="en-US" sz="1000" dirty="0"/>
          </a:p>
        </p:txBody>
      </p:sp>
      <p:sp>
        <p:nvSpPr>
          <p:cNvPr id="6" name="Shape 4"/>
          <p:cNvSpPr/>
          <p:nvPr/>
        </p:nvSpPr>
        <p:spPr>
          <a:xfrm>
            <a:off x="612648" y="1335024"/>
            <a:ext cx="10972800" cy="438912"/>
          </a:xfrm>
          <a:prstGeom prst="rect">
            <a:avLst/>
          </a:prstGeom>
          <a:solidFill>
            <a:srgbClr val="EEF2F7"/>
          </a:solidFill>
          <a:ln w="12700">
            <a:solidFill>
              <a:srgbClr val="D7DEE8"/>
            </a:solidFill>
            <a:prstDash val="solid"/>
          </a:ln>
        </p:spPr>
      </p:sp>
      <p:sp>
        <p:nvSpPr>
          <p:cNvPr id="7" name="Text 5"/>
          <p:cNvSpPr txBox="1"/>
          <p:nvPr/>
        </p:nvSpPr>
        <p:spPr>
          <a:xfrm>
            <a:off x="822960" y="1426464"/>
            <a:ext cx="10561320" cy="237744"/>
          </a:xfrm>
          <a:prstGeom prst="rect">
            <a:avLst/>
          </a:prstGeom>
          <a:noFill/>
          <a:ln/>
        </p:spPr>
        <p:txBody>
          <a:bodyPr wrap="square" lIns="0" tIns="0" rIns="0" bIns="0" rtlCol="0" anchor="ctr">
            <a:normAutofit/>
          </a:bodyPr>
          <a:lstStyle/>
          <a:p>
            <a:pPr algn="l" indent="0" marL="0">
              <a:buNone/>
            </a:pPr>
            <a:r>
              <a:rPr lang="en-US" sz="1320" b="1" dirty="0">
                <a:solidFill>
                  <a:srgbClr val="0D2447"/>
                </a:solidFill>
                <a:latin typeface="Arial" pitchFamily="34" charset="0"/>
                <a:ea typeface="Arial" pitchFamily="34" charset="-122"/>
                <a:cs typeface="Arial" pitchFamily="34" charset="-120"/>
              </a:rPr>
              <a:t>Hình, công thức, phản hồi và mô phỏng phải cùng một ngữ cảnh.</a:t>
            </a:r>
            <a:endParaRPr lang="en-US" sz="132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algn="l" indent="0" marL="0">
              <a:buNone/>
            </a:pPr>
            <a:r>
              <a:rPr lang="en-US" sz="820" dirty="0">
                <a:solidFill>
                  <a:srgbClr val="5B6B80"/>
                </a:solidFill>
                <a:latin typeface="Arial" pitchFamily="34" charset="0"/>
                <a:ea typeface="Arial" pitchFamily="34" charset="-122"/>
                <a:cs typeface="Arial" pitchFamily="34" charset="-120"/>
              </a:rPr>
              <a:t>HỘI ĐỒNG KHOA HỌC KHOA KTCS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algn="ctr" indent="0" marL="0">
              <a:buNone/>
            </a:pPr>
            <a:r>
              <a:rPr lang="en-US" sz="760" dirty="0">
                <a:solidFill>
                  <a:srgbClr val="5B6B80"/>
                </a:solidFill>
                <a:latin typeface="Arial" pitchFamily="34" charset="0"/>
                <a:ea typeface="Arial" pitchFamily="34" charset="-122"/>
                <a:cs typeface="Arial" pitchFamily="34" charset="-120"/>
              </a:rPr>
              <a:t>assets/designs/bao-cao-nghiem-thu-giao-trinh-dien-tu/assets/img-03-hoc-lieu-ch1-2-3-1440x1000.png</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algn="r" indent="0" marL="0">
              <a:buNone/>
            </a:pPr>
            <a:r>
              <a:rPr lang="en-US" sz="820" dirty="0">
                <a:solidFill>
                  <a:srgbClr val="5B6B80"/>
                </a:solidFill>
                <a:latin typeface="Arial" pitchFamily="34" charset="0"/>
                <a:ea typeface="Arial" pitchFamily="34" charset="-122"/>
                <a:cs typeface="Arial" pitchFamily="34" charset="-120"/>
              </a:rPr>
              <a:t>6</a:t>
            </a:r>
            <a:endParaRPr lang="en-US" sz="820" dirty="0"/>
          </a:p>
        </p:txBody>
      </p:sp>
      <p:sp>
        <p:nvSpPr>
          <p:cNvPr id="13" name="Shape 10"/>
          <p:cNvSpPr/>
          <p:nvPr/>
        </p:nvSpPr>
        <p:spPr>
          <a:xfrm>
            <a:off x="658368" y="1965960"/>
            <a:ext cx="7086600" cy="3977640"/>
          </a:xfrm>
          <a:prstGeom prst="roundRect">
            <a:avLst>
              <a:gd name="adj" fmla="val 920"/>
            </a:avLst>
          </a:prstGeom>
          <a:solidFill>
            <a:srgbClr val="FFFFFF"/>
          </a:solidFill>
          <a:ln w="12700">
            <a:solidFill>
              <a:srgbClr val="0D2447"/>
            </a:solidFill>
            <a:prstDash val="solid"/>
          </a:ln>
        </p:spPr>
      </p:sp>
      <p:pic>
        <p:nvPicPr>
          <p:cNvPr id="14" name="Image 0" descr="IMG-03 · học liệu Chương 1">    </p:cNvPr>
          <p:cNvPicPr>
            <a:picLocks noChangeAspect="1"/>
          </p:cNvPicPr>
          <p:nvPr/>
        </p:nvPicPr>
        <p:blipFill>
          <a:blip r:embed="rId1"/>
          <a:stretch>
            <a:fillRect/>
          </a:stretch>
        </p:blipFill>
        <p:spPr>
          <a:xfrm>
            <a:off x="1627047" y="2039112"/>
            <a:ext cx="5149242" cy="3575304"/>
          </a:xfrm>
          <a:prstGeom prst="rect">
            <a:avLst/>
          </a:prstGeom>
        </p:spPr>
      </p:pic>
      <p:sp>
        <p:nvSpPr>
          <p:cNvPr id="15" name="Text 11"/>
          <p:cNvSpPr txBox="1"/>
          <p:nvPr/>
        </p:nvSpPr>
        <p:spPr>
          <a:xfrm>
            <a:off x="768096" y="5724144"/>
            <a:ext cx="6867144" cy="128016"/>
          </a:xfrm>
          <a:prstGeom prst="rect">
            <a:avLst/>
          </a:prstGeom>
          <a:noFill/>
          <a:ln/>
        </p:spPr>
        <p:txBody>
          <a:bodyPr wrap="square" lIns="0" tIns="0" rIns="0" bIns="0" rtlCol="0" anchor="t">
            <a:normAutofit/>
          </a:bodyPr>
          <a:lstStyle/>
          <a:p>
            <a:pPr algn="ctr" indent="0" marL="0">
              <a:buNone/>
            </a:pPr>
            <a:r>
              <a:rPr lang="en-US" sz="850" dirty="0">
                <a:solidFill>
                  <a:srgbClr val="5B6B80"/>
                </a:solidFill>
                <a:latin typeface="Arial" pitchFamily="34" charset="0"/>
                <a:ea typeface="Arial" pitchFamily="34" charset="-122"/>
                <a:cs typeface="Arial" pitchFamily="34" charset="-120"/>
              </a:rPr>
              <a:t>IMG-03 · học liệu Chương 1</a:t>
            </a:r>
            <a:endParaRPr lang="en-US" sz="850" dirty="0"/>
          </a:p>
        </p:txBody>
      </p:sp>
      <p:sp>
        <p:nvSpPr>
          <p:cNvPr id="16" name="Shape 12"/>
          <p:cNvSpPr/>
          <p:nvPr/>
        </p:nvSpPr>
        <p:spPr>
          <a:xfrm>
            <a:off x="8001000" y="1965960"/>
            <a:ext cx="3538728" cy="3977640"/>
          </a:xfrm>
          <a:prstGeom prst="roundRect">
            <a:avLst>
              <a:gd name="adj" fmla="val 1034"/>
            </a:avLst>
          </a:prstGeom>
          <a:solidFill>
            <a:srgbClr val="FFFFFF"/>
          </a:solidFill>
          <a:ln w="12700">
            <a:solidFill>
              <a:srgbClr val="D7DEE8"/>
            </a:solidFill>
            <a:prstDash val="solid"/>
          </a:ln>
        </p:spPr>
      </p:sp>
      <p:sp>
        <p:nvSpPr>
          <p:cNvPr id="17" name="Text 13"/>
          <p:cNvSpPr txBox="1"/>
          <p:nvPr/>
        </p:nvSpPr>
        <p:spPr>
          <a:xfrm>
            <a:off x="8275320" y="2267712"/>
            <a:ext cx="2971800" cy="292608"/>
          </a:xfrm>
          <a:prstGeom prst="rect">
            <a:avLst/>
          </a:prstGeom>
          <a:noFill/>
          <a:ln/>
        </p:spPr>
        <p:txBody>
          <a:bodyPr wrap="square" lIns="0" tIns="0" rIns="0" bIns="0" rtlCol="0" anchor="t">
            <a:normAutofit/>
          </a:bodyPr>
          <a:lstStyle/>
          <a:p>
            <a:pPr algn="l" indent="0" marL="0">
              <a:buNone/>
            </a:pPr>
            <a:r>
              <a:rPr lang="en-US" sz="1700" b="1" dirty="0">
                <a:solidFill>
                  <a:srgbClr val="07182F"/>
                </a:solidFill>
                <a:latin typeface="Georgia" pitchFamily="34" charset="0"/>
                <a:ea typeface="Georgia" pitchFamily="34" charset="-122"/>
                <a:cs typeface="Georgia" pitchFamily="34" charset="-120"/>
              </a:rPr>
              <a:t>Bằng chứng quan sát</a:t>
            </a:r>
            <a:endParaRPr lang="en-US" sz="1700" dirty="0"/>
          </a:p>
        </p:txBody>
      </p:sp>
      <p:sp>
        <p:nvSpPr>
          <p:cNvPr id="18" name="Shape 14"/>
          <p:cNvSpPr/>
          <p:nvPr/>
        </p:nvSpPr>
        <p:spPr>
          <a:xfrm>
            <a:off x="8275320" y="2953512"/>
            <a:ext cx="82296" cy="82296"/>
          </a:xfrm>
          <a:prstGeom prst="ellipse">
            <a:avLst/>
          </a:prstGeom>
          <a:solidFill>
            <a:srgbClr val="C9963A"/>
          </a:solidFill>
          <a:ln w="12700">
            <a:solidFill>
              <a:srgbClr val="C9963A"/>
            </a:solidFill>
            <a:prstDash val="solid"/>
          </a:ln>
        </p:spPr>
      </p:sp>
      <p:sp>
        <p:nvSpPr>
          <p:cNvPr id="19" name="Text 15"/>
          <p:cNvSpPr txBox="1"/>
          <p:nvPr/>
        </p:nvSpPr>
        <p:spPr>
          <a:xfrm>
            <a:off x="8476488" y="2852928"/>
            <a:ext cx="2724912" cy="365760"/>
          </a:xfrm>
          <a:prstGeom prst="rect">
            <a:avLst/>
          </a:prstGeom>
          <a:noFill/>
          <a:ln/>
        </p:spPr>
        <p:txBody>
          <a:bodyPr wrap="square" lIns="0" tIns="0" rIns="0" bIns="0" rtlCol="0" anchor="ctr">
            <a:normAutofit/>
          </a:bodyPr>
          <a:lstStyle/>
          <a:p>
            <a:pPr algn="l" indent="0" marL="0">
              <a:buNone/>
            </a:pPr>
            <a:r>
              <a:rPr lang="en-US" sz="1320" dirty="0">
                <a:solidFill>
                  <a:srgbClr val="243247"/>
                </a:solidFill>
                <a:latin typeface="Arial" pitchFamily="34" charset="0"/>
                <a:ea typeface="Arial" pitchFamily="34" charset="-122"/>
                <a:cs typeface="Arial" pitchFamily="34" charset="-120"/>
              </a:rPr>
              <a:t>Hình và ký hiệu đặt cạnh nội dung liên quan</a:t>
            </a:r>
            <a:endParaRPr lang="en-US" sz="1320" dirty="0"/>
          </a:p>
        </p:txBody>
      </p:sp>
      <p:sp>
        <p:nvSpPr>
          <p:cNvPr id="20" name="Shape 16"/>
          <p:cNvSpPr/>
          <p:nvPr/>
        </p:nvSpPr>
        <p:spPr>
          <a:xfrm>
            <a:off x="8275320" y="3685032"/>
            <a:ext cx="82296" cy="82296"/>
          </a:xfrm>
          <a:prstGeom prst="ellipse">
            <a:avLst/>
          </a:prstGeom>
          <a:solidFill>
            <a:srgbClr val="C9963A"/>
          </a:solidFill>
          <a:ln w="12700">
            <a:solidFill>
              <a:srgbClr val="C9963A"/>
            </a:solidFill>
            <a:prstDash val="solid"/>
          </a:ln>
        </p:spPr>
      </p:sp>
      <p:sp>
        <p:nvSpPr>
          <p:cNvPr id="21" name="Text 17"/>
          <p:cNvSpPr txBox="1"/>
          <p:nvPr/>
        </p:nvSpPr>
        <p:spPr>
          <a:xfrm>
            <a:off x="8476488" y="3584448"/>
            <a:ext cx="2724912" cy="365760"/>
          </a:xfrm>
          <a:prstGeom prst="rect">
            <a:avLst/>
          </a:prstGeom>
          <a:noFill/>
          <a:ln/>
        </p:spPr>
        <p:txBody>
          <a:bodyPr wrap="square" lIns="0" tIns="0" rIns="0" bIns="0" rtlCol="0" anchor="ctr">
            <a:normAutofit/>
          </a:bodyPr>
          <a:lstStyle/>
          <a:p>
            <a:pPr algn="l" indent="0" marL="0">
              <a:buNone/>
            </a:pPr>
            <a:r>
              <a:rPr lang="en-US" sz="1320" dirty="0">
                <a:solidFill>
                  <a:srgbClr val="243247"/>
                </a:solidFill>
                <a:latin typeface="Arial" pitchFamily="34" charset="0"/>
                <a:ea typeface="Arial" pitchFamily="34" charset="-122"/>
                <a:cs typeface="Arial" pitchFamily="34" charset="-120"/>
              </a:rPr>
              <a:t>Câu hỏi có đáp án và phản hồi</a:t>
            </a:r>
            <a:endParaRPr lang="en-US" sz="1320" dirty="0"/>
          </a:p>
        </p:txBody>
      </p:sp>
      <p:sp>
        <p:nvSpPr>
          <p:cNvPr id="22" name="Shape 18"/>
          <p:cNvSpPr/>
          <p:nvPr/>
        </p:nvSpPr>
        <p:spPr>
          <a:xfrm>
            <a:off x="8275320" y="4416552"/>
            <a:ext cx="82296" cy="82296"/>
          </a:xfrm>
          <a:prstGeom prst="ellipse">
            <a:avLst/>
          </a:prstGeom>
          <a:solidFill>
            <a:srgbClr val="C9963A"/>
          </a:solidFill>
          <a:ln w="12700">
            <a:solidFill>
              <a:srgbClr val="C9963A"/>
            </a:solidFill>
            <a:prstDash val="solid"/>
          </a:ln>
        </p:spPr>
      </p:sp>
      <p:sp>
        <p:nvSpPr>
          <p:cNvPr id="23" name="Text 19"/>
          <p:cNvSpPr txBox="1"/>
          <p:nvPr/>
        </p:nvSpPr>
        <p:spPr>
          <a:xfrm>
            <a:off x="8476488" y="4315968"/>
            <a:ext cx="2724912" cy="365760"/>
          </a:xfrm>
          <a:prstGeom prst="rect">
            <a:avLst/>
          </a:prstGeom>
          <a:noFill/>
          <a:ln/>
        </p:spPr>
        <p:txBody>
          <a:bodyPr wrap="square" lIns="0" tIns="0" rIns="0" bIns="0" rtlCol="0" anchor="ctr">
            <a:normAutofit/>
          </a:bodyPr>
          <a:lstStyle/>
          <a:p>
            <a:pPr algn="l" indent="0" marL="0">
              <a:buNone/>
            </a:pPr>
            <a:r>
              <a:rPr lang="en-US" sz="1320" dirty="0">
                <a:solidFill>
                  <a:srgbClr val="243247"/>
                </a:solidFill>
                <a:latin typeface="Arial" pitchFamily="34" charset="0"/>
                <a:ea typeface="Arial" pitchFamily="34" charset="-122"/>
                <a:cs typeface="Arial" pitchFamily="34" charset="-120"/>
              </a:rPr>
              <a:t>Tiến độ và ghi chú lưu cục bộ</a:t>
            </a:r>
            <a:endParaRPr lang="en-US" sz="1320" dirty="0"/>
          </a:p>
        </p:txBody>
      </p:sp>
      <p:sp>
        <p:nvSpPr>
          <p:cNvPr id="24" name="Text 20"/>
          <p:cNvSpPr txBox="1"/>
          <p:nvPr/>
        </p:nvSpPr>
        <p:spPr>
          <a:xfrm>
            <a:off x="8275320" y="5010912"/>
            <a:ext cx="822960" cy="182880"/>
          </a:xfrm>
          <a:prstGeom prst="rect">
            <a:avLst/>
          </a:prstGeom>
          <a:noFill/>
          <a:ln/>
        </p:spPr>
        <p:txBody>
          <a:bodyPr wrap="square" lIns="0" tIns="0" rIns="0" bIns="0" rtlCol="0" anchor="t">
            <a:normAutofit/>
          </a:bodyPr>
          <a:lstStyle/>
          <a:p>
            <a:pPr algn="l" indent="0" marL="0">
              <a:buNone/>
            </a:pPr>
            <a:r>
              <a:rPr lang="en-US" sz="1000" b="1" dirty="0">
                <a:solidFill>
                  <a:srgbClr val="9A5B00"/>
                </a:solidFill>
                <a:latin typeface="Arial" pitchFamily="34" charset="0"/>
                <a:ea typeface="Arial" pitchFamily="34" charset="-122"/>
                <a:cs typeface="Arial" pitchFamily="34" charset="-120"/>
              </a:rPr>
              <a:t>Giới hạn</a:t>
            </a:r>
            <a:endParaRPr lang="en-US" sz="1000" dirty="0"/>
          </a:p>
        </p:txBody>
      </p:sp>
      <p:sp>
        <p:nvSpPr>
          <p:cNvPr id="25" name="Text 21"/>
          <p:cNvSpPr txBox="1"/>
          <p:nvPr/>
        </p:nvSpPr>
        <p:spPr>
          <a:xfrm>
            <a:off x="8275320" y="5321808"/>
            <a:ext cx="2926080" cy="438912"/>
          </a:xfrm>
          <a:prstGeom prst="rect">
            <a:avLst/>
          </a:prstGeom>
          <a:noFill/>
          <a:ln/>
        </p:spPr>
        <p:txBody>
          <a:bodyPr wrap="square" lIns="0" tIns="0" rIns="0" bIns="0" rtlCol="0" anchor="t">
            <a:normAutofit/>
          </a:bodyPr>
          <a:lstStyle/>
          <a:p>
            <a:pPr algn="l" indent="0" marL="0">
              <a:buNone/>
            </a:pPr>
            <a:r>
              <a:rPr lang="en-US" sz="1150" dirty="0">
                <a:solidFill>
                  <a:srgbClr val="5B6B80"/>
                </a:solidFill>
                <a:latin typeface="Arial" pitchFamily="34" charset="0"/>
                <a:ea typeface="Arial" pitchFamily="34" charset="-122"/>
                <a:cs typeface="Arial" pitchFamily="34" charset="-120"/>
              </a:rPr>
              <a:t>Một bài đại diện không thay thẩm định toàn bộ ba chương.</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algn="l" indent="0" marL="0">
              <a:buNone/>
            </a:pPr>
            <a:r>
              <a:rPr lang="en-US" sz="950" b="1" dirty="0">
                <a:solidFill>
                  <a:srgbClr val="5B6B80"/>
                </a:solidFill>
                <a:latin typeface="Arial" pitchFamily="34" charset="0"/>
                <a:ea typeface="Arial" pitchFamily="34" charset="-122"/>
                <a:cs typeface="Arial" pitchFamily="34" charset="-120"/>
              </a:rPr>
              <a:t>BÁO CÁO NGHIỆM THU</a:t>
            </a:r>
            <a:endParaRPr lang="en-US" sz="950" dirty="0"/>
          </a:p>
        </p:txBody>
      </p:sp>
      <p:sp>
        <p:nvSpPr>
          <p:cNvPr id="4" name="Text 2"/>
          <p:cNvSpPr txBox="1"/>
          <p:nvPr/>
        </p:nvSpPr>
        <p:spPr>
          <a:xfrm>
            <a:off x="612648" y="658368"/>
            <a:ext cx="10972800" cy="603504"/>
          </a:xfrm>
          <a:prstGeom prst="rect">
            <a:avLst/>
          </a:prstGeom>
          <a:noFill/>
          <a:ln/>
        </p:spPr>
        <p:txBody>
          <a:bodyPr wrap="square" lIns="0" tIns="0" rIns="0" bIns="0" rtlCol="0" anchor="ctr">
            <a:normAutofit/>
          </a:bodyPr>
          <a:lstStyle/>
          <a:p>
            <a:pPr algn="l" indent="0" marL="0">
              <a:buNone/>
            </a:pPr>
            <a:r>
              <a:rPr lang="en-US" sz="2350" b="1" dirty="0">
                <a:solidFill>
                  <a:srgbClr val="07182F"/>
                </a:solidFill>
                <a:latin typeface="Georgia" pitchFamily="34" charset="0"/>
                <a:ea typeface="Georgia" pitchFamily="34" charset="-122"/>
                <a:cs typeface="Georgia" pitchFamily="34" charset="-120"/>
              </a:rPr>
              <a:t>Sim2 là lớp chuẩn; Sim3 chỉ là thí điểm có fallback</a:t>
            </a:r>
            <a:endParaRPr lang="en-US" sz="235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algn="r" indent="0" marL="0">
              <a:buNone/>
            </a:pPr>
            <a:r>
              <a:rPr lang="en-US" sz="1000" b="1" dirty="0">
                <a:solidFill>
                  <a:srgbClr val="C9963A"/>
                </a:solidFill>
                <a:latin typeface="Arial" pitchFamily="34" charset="0"/>
                <a:ea typeface="Arial" pitchFamily="34" charset="-122"/>
                <a:cs typeface="Arial" pitchFamily="34" charset="-120"/>
              </a:rPr>
              <a:t>07</a:t>
            </a:r>
            <a:endParaRPr lang="en-US" sz="1000" dirty="0"/>
          </a:p>
        </p:txBody>
      </p:sp>
      <p:sp>
        <p:nvSpPr>
          <p:cNvPr id="6" name="Shape 4"/>
          <p:cNvSpPr/>
          <p:nvPr/>
        </p:nvSpPr>
        <p:spPr>
          <a:xfrm>
            <a:off x="612648" y="1335024"/>
            <a:ext cx="10972800" cy="438912"/>
          </a:xfrm>
          <a:prstGeom prst="rect">
            <a:avLst/>
          </a:prstGeom>
          <a:solidFill>
            <a:srgbClr val="EEF2F7"/>
          </a:solidFill>
          <a:ln w="12700">
            <a:solidFill>
              <a:srgbClr val="D7DEE8"/>
            </a:solidFill>
            <a:prstDash val="solid"/>
          </a:ln>
        </p:spPr>
      </p:sp>
      <p:sp>
        <p:nvSpPr>
          <p:cNvPr id="7" name="Text 5"/>
          <p:cNvSpPr txBox="1"/>
          <p:nvPr/>
        </p:nvSpPr>
        <p:spPr>
          <a:xfrm>
            <a:off x="822960" y="1426464"/>
            <a:ext cx="10561320" cy="237744"/>
          </a:xfrm>
          <a:prstGeom prst="rect">
            <a:avLst/>
          </a:prstGeom>
          <a:noFill/>
          <a:ln/>
        </p:spPr>
        <p:txBody>
          <a:bodyPr wrap="square" lIns="0" tIns="0" rIns="0" bIns="0" rtlCol="0" anchor="ctr">
            <a:normAutofit/>
          </a:bodyPr>
          <a:lstStyle/>
          <a:p>
            <a:pPr algn="l" indent="0" marL="0">
              <a:buNone/>
            </a:pPr>
            <a:r>
              <a:rPr lang="en-US" sz="1320" b="1" dirty="0">
                <a:solidFill>
                  <a:srgbClr val="0D2447"/>
                </a:solidFill>
                <a:latin typeface="Arial" pitchFamily="34" charset="0"/>
                <a:ea typeface="Arial" pitchFamily="34" charset="-122"/>
                <a:cs typeface="Arial" pitchFamily="34" charset="-120"/>
              </a:rPr>
              <a:t>25 route Sim2 canonical · 10 route Sim3 pilot.</a:t>
            </a:r>
            <a:endParaRPr lang="en-US" sz="132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algn="l" indent="0" marL="0">
              <a:buNone/>
            </a:pPr>
            <a:r>
              <a:rPr lang="en-US" sz="820" dirty="0">
                <a:solidFill>
                  <a:srgbClr val="5B6B80"/>
                </a:solidFill>
                <a:latin typeface="Arial" pitchFamily="34" charset="0"/>
                <a:ea typeface="Arial" pitchFamily="34" charset="-122"/>
                <a:cs typeface="Arial" pitchFamily="34" charset="-120"/>
              </a:rPr>
              <a:t>HỘI ĐỒNG KHOA HỌC KHOA KTCS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algn="ctr" indent="0" marL="0">
              <a:buNone/>
            </a:pPr>
            <a:r>
              <a:rPr lang="en-US" sz="760" dirty="0">
                <a:solidFill>
                  <a:srgbClr val="5B6B80"/>
                </a:solidFill>
                <a:latin typeface="Arial" pitchFamily="34" charset="0"/>
                <a:ea typeface="Arial" pitchFamily="34" charset="-122"/>
                <a:cs typeface="Arial" pitchFamily="34" charset="-120"/>
              </a:rPr>
              <a:t>js/sim2/sim2-route-manifest.js</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algn="r" indent="0" marL="0">
              <a:buNone/>
            </a:pPr>
            <a:r>
              <a:rPr lang="en-US" sz="820" dirty="0">
                <a:solidFill>
                  <a:srgbClr val="5B6B80"/>
                </a:solidFill>
                <a:latin typeface="Arial" pitchFamily="34" charset="0"/>
                <a:ea typeface="Arial" pitchFamily="34" charset="-122"/>
                <a:cs typeface="Arial" pitchFamily="34" charset="-120"/>
              </a:rPr>
              <a:t>7</a:t>
            </a:r>
            <a:endParaRPr lang="en-US" sz="820" dirty="0"/>
          </a:p>
        </p:txBody>
      </p:sp>
      <p:sp>
        <p:nvSpPr>
          <p:cNvPr id="13" name="Shape 10"/>
          <p:cNvSpPr/>
          <p:nvPr/>
        </p:nvSpPr>
        <p:spPr>
          <a:xfrm>
            <a:off x="658368" y="1965960"/>
            <a:ext cx="6949440" cy="4023360"/>
          </a:xfrm>
          <a:prstGeom prst="roundRect">
            <a:avLst>
              <a:gd name="adj" fmla="val 909"/>
            </a:avLst>
          </a:prstGeom>
          <a:solidFill>
            <a:srgbClr val="FFFFFF"/>
          </a:solidFill>
          <a:ln w="12700">
            <a:solidFill>
              <a:srgbClr val="0D2447"/>
            </a:solidFill>
            <a:prstDash val="solid"/>
          </a:ln>
        </p:spPr>
      </p:sp>
      <p:pic>
        <p:nvPicPr>
          <p:cNvPr id="14" name="Image 0" descr="IMG-04 · mô men lực, F = 50 N">    </p:cNvPr>
          <p:cNvPicPr>
            <a:picLocks noChangeAspect="1"/>
          </p:cNvPicPr>
          <p:nvPr/>
        </p:nvPicPr>
        <p:blipFill>
          <a:blip r:embed="rId1"/>
          <a:stretch>
            <a:fillRect/>
          </a:stretch>
        </p:blipFill>
        <p:spPr>
          <a:xfrm>
            <a:off x="1525543" y="2039112"/>
            <a:ext cx="5215089" cy="3621024"/>
          </a:xfrm>
          <a:prstGeom prst="rect">
            <a:avLst/>
          </a:prstGeom>
        </p:spPr>
      </p:pic>
      <p:sp>
        <p:nvSpPr>
          <p:cNvPr id="15" name="Text 11"/>
          <p:cNvSpPr txBox="1"/>
          <p:nvPr/>
        </p:nvSpPr>
        <p:spPr>
          <a:xfrm>
            <a:off x="768096" y="5769864"/>
            <a:ext cx="6729984" cy="128016"/>
          </a:xfrm>
          <a:prstGeom prst="rect">
            <a:avLst/>
          </a:prstGeom>
          <a:noFill/>
          <a:ln/>
        </p:spPr>
        <p:txBody>
          <a:bodyPr wrap="square" lIns="0" tIns="0" rIns="0" bIns="0" rtlCol="0" anchor="t">
            <a:normAutofit/>
          </a:bodyPr>
          <a:lstStyle/>
          <a:p>
            <a:pPr algn="ctr" indent="0" marL="0">
              <a:buNone/>
            </a:pPr>
            <a:r>
              <a:rPr lang="en-US" sz="850" dirty="0">
                <a:solidFill>
                  <a:srgbClr val="5B6B80"/>
                </a:solidFill>
                <a:latin typeface="Arial" pitchFamily="34" charset="0"/>
                <a:ea typeface="Arial" pitchFamily="34" charset="-122"/>
                <a:cs typeface="Arial" pitchFamily="34" charset="-120"/>
              </a:rPr>
              <a:t>IMG-04 · mô men lực, F = 50 N</a:t>
            </a:r>
            <a:endParaRPr lang="en-US" sz="850" dirty="0"/>
          </a:p>
        </p:txBody>
      </p:sp>
      <p:sp>
        <p:nvSpPr>
          <p:cNvPr id="16" name="Shape 12"/>
          <p:cNvSpPr/>
          <p:nvPr/>
        </p:nvSpPr>
        <p:spPr>
          <a:xfrm>
            <a:off x="7909560" y="2084832"/>
            <a:ext cx="3611880" cy="1188720"/>
          </a:xfrm>
          <a:prstGeom prst="roundRect">
            <a:avLst>
              <a:gd name="adj" fmla="val 3077"/>
            </a:avLst>
          </a:prstGeom>
          <a:solidFill>
            <a:srgbClr val="FFFFFF"/>
          </a:solidFill>
          <a:ln w="12700">
            <a:solidFill>
              <a:srgbClr val="137A3D"/>
            </a:solidFill>
            <a:prstDash val="solid"/>
          </a:ln>
        </p:spPr>
      </p:sp>
      <p:sp>
        <p:nvSpPr>
          <p:cNvPr id="17" name="Text 13"/>
          <p:cNvSpPr txBox="1"/>
          <p:nvPr/>
        </p:nvSpPr>
        <p:spPr>
          <a:xfrm>
            <a:off x="8183880" y="2249424"/>
            <a:ext cx="914400" cy="320040"/>
          </a:xfrm>
          <a:prstGeom prst="rect">
            <a:avLst/>
          </a:prstGeom>
          <a:noFill/>
          <a:ln/>
        </p:spPr>
        <p:txBody>
          <a:bodyPr wrap="square" lIns="0" tIns="0" rIns="0" bIns="0" rtlCol="0" anchor="t">
            <a:normAutofit/>
          </a:bodyPr>
          <a:lstStyle/>
          <a:p>
            <a:pPr algn="l" indent="0" marL="0">
              <a:buNone/>
            </a:pPr>
            <a:r>
              <a:rPr lang="en-US" sz="1900" b="1" dirty="0">
                <a:solidFill>
                  <a:srgbClr val="137A3D"/>
                </a:solidFill>
                <a:latin typeface="Arial" pitchFamily="34" charset="0"/>
                <a:ea typeface="Arial" pitchFamily="34" charset="-122"/>
                <a:cs typeface="Arial" pitchFamily="34" charset="-120"/>
              </a:rPr>
              <a:t>Sim2</a:t>
            </a:r>
            <a:endParaRPr lang="en-US" sz="1900" dirty="0"/>
          </a:p>
        </p:txBody>
      </p:sp>
      <p:sp>
        <p:nvSpPr>
          <p:cNvPr id="18" name="Text 14"/>
          <p:cNvSpPr txBox="1"/>
          <p:nvPr/>
        </p:nvSpPr>
        <p:spPr>
          <a:xfrm>
            <a:off x="9372600" y="2267712"/>
            <a:ext cx="1645920" cy="274320"/>
          </a:xfrm>
          <a:prstGeom prst="rect">
            <a:avLst/>
          </a:prstGeom>
          <a:noFill/>
          <a:ln/>
        </p:spPr>
        <p:txBody>
          <a:bodyPr wrap="square" lIns="0" tIns="0" rIns="0" bIns="0" rtlCol="0" anchor="t">
            <a:normAutofit/>
          </a:bodyPr>
          <a:lstStyle/>
          <a:p>
            <a:pPr algn="r" indent="0" marL="0">
              <a:buNone/>
            </a:pPr>
            <a:r>
              <a:rPr lang="en-US" sz="1500" b="1" dirty="0">
                <a:solidFill>
                  <a:srgbClr val="07182F"/>
                </a:solidFill>
                <a:latin typeface="Arial" pitchFamily="34" charset="0"/>
                <a:ea typeface="Arial" pitchFamily="34" charset="-122"/>
                <a:cs typeface="Arial" pitchFamily="34" charset="-120"/>
              </a:rPr>
              <a:t>25 route</a:t>
            </a:r>
            <a:endParaRPr lang="en-US" sz="1500" dirty="0"/>
          </a:p>
        </p:txBody>
      </p:sp>
      <p:sp>
        <p:nvSpPr>
          <p:cNvPr id="19" name="Text 15"/>
          <p:cNvSpPr txBox="1"/>
          <p:nvPr/>
        </p:nvSpPr>
        <p:spPr>
          <a:xfrm>
            <a:off x="8183880" y="2761488"/>
            <a:ext cx="3017520" cy="228600"/>
          </a:xfrm>
          <a:prstGeom prst="rect">
            <a:avLst/>
          </a:prstGeom>
          <a:noFill/>
          <a:ln/>
        </p:spPr>
        <p:txBody>
          <a:bodyPr wrap="square" lIns="0" tIns="0" rIns="0" bIns="0" rtlCol="0" anchor="t">
            <a:normAutofit/>
          </a:bodyPr>
          <a:lstStyle/>
          <a:p>
            <a:pPr algn="l" indent="0" marL="0">
              <a:buNone/>
            </a:pPr>
            <a:r>
              <a:rPr lang="en-US" sz="1120" dirty="0">
                <a:solidFill>
                  <a:srgbClr val="5B6B80"/>
                </a:solidFill>
                <a:latin typeface="Arial" pitchFamily="34" charset="0"/>
                <a:ea typeface="Arial" pitchFamily="34" charset="-122"/>
                <a:cs typeface="Arial" pitchFamily="34" charset="-120"/>
              </a:rPr>
              <a:t>Lớp chính; dùng mặc định</a:t>
            </a:r>
            <a:endParaRPr lang="en-US" sz="1120" dirty="0"/>
          </a:p>
        </p:txBody>
      </p:sp>
      <p:sp>
        <p:nvSpPr>
          <p:cNvPr id="20" name="Shape 16"/>
          <p:cNvSpPr/>
          <p:nvPr/>
        </p:nvSpPr>
        <p:spPr>
          <a:xfrm>
            <a:off x="7909560" y="3566160"/>
            <a:ext cx="3611880" cy="1188720"/>
          </a:xfrm>
          <a:prstGeom prst="roundRect">
            <a:avLst>
              <a:gd name="adj" fmla="val 3077"/>
            </a:avLst>
          </a:prstGeom>
          <a:solidFill>
            <a:srgbClr val="FFFFFF"/>
          </a:solidFill>
          <a:ln w="12700">
            <a:solidFill>
              <a:srgbClr val="9A5B00"/>
            </a:solidFill>
            <a:prstDash val="solid"/>
          </a:ln>
        </p:spPr>
      </p:sp>
      <p:sp>
        <p:nvSpPr>
          <p:cNvPr id="21" name="Text 17"/>
          <p:cNvSpPr txBox="1"/>
          <p:nvPr/>
        </p:nvSpPr>
        <p:spPr>
          <a:xfrm>
            <a:off x="8183880" y="3730752"/>
            <a:ext cx="914400" cy="320040"/>
          </a:xfrm>
          <a:prstGeom prst="rect">
            <a:avLst/>
          </a:prstGeom>
          <a:noFill/>
          <a:ln/>
        </p:spPr>
        <p:txBody>
          <a:bodyPr wrap="square" lIns="0" tIns="0" rIns="0" bIns="0" rtlCol="0" anchor="t">
            <a:normAutofit/>
          </a:bodyPr>
          <a:lstStyle/>
          <a:p>
            <a:pPr algn="l" indent="0" marL="0">
              <a:buNone/>
            </a:pPr>
            <a:r>
              <a:rPr lang="en-US" sz="1900" b="1" dirty="0">
                <a:solidFill>
                  <a:srgbClr val="9A5B00"/>
                </a:solidFill>
                <a:latin typeface="Arial" pitchFamily="34" charset="0"/>
                <a:ea typeface="Arial" pitchFamily="34" charset="-122"/>
                <a:cs typeface="Arial" pitchFamily="34" charset="-120"/>
              </a:rPr>
              <a:t>Sim3</a:t>
            </a:r>
            <a:endParaRPr lang="en-US" sz="1900" dirty="0"/>
          </a:p>
        </p:txBody>
      </p:sp>
      <p:sp>
        <p:nvSpPr>
          <p:cNvPr id="22" name="Text 18"/>
          <p:cNvSpPr txBox="1"/>
          <p:nvPr/>
        </p:nvSpPr>
        <p:spPr>
          <a:xfrm>
            <a:off x="9372600" y="3749040"/>
            <a:ext cx="1645920" cy="274320"/>
          </a:xfrm>
          <a:prstGeom prst="rect">
            <a:avLst/>
          </a:prstGeom>
          <a:noFill/>
          <a:ln/>
        </p:spPr>
        <p:txBody>
          <a:bodyPr wrap="square" lIns="0" tIns="0" rIns="0" bIns="0" rtlCol="0" anchor="t">
            <a:normAutofit/>
          </a:bodyPr>
          <a:lstStyle/>
          <a:p>
            <a:pPr algn="r" indent="0" marL="0">
              <a:buNone/>
            </a:pPr>
            <a:r>
              <a:rPr lang="en-US" sz="1500" b="1" dirty="0">
                <a:solidFill>
                  <a:srgbClr val="07182F"/>
                </a:solidFill>
                <a:latin typeface="Arial" pitchFamily="34" charset="0"/>
                <a:ea typeface="Arial" pitchFamily="34" charset="-122"/>
                <a:cs typeface="Arial" pitchFamily="34" charset="-120"/>
              </a:rPr>
              <a:t>10 route</a:t>
            </a:r>
            <a:endParaRPr lang="en-US" sz="1500" dirty="0"/>
          </a:p>
        </p:txBody>
      </p:sp>
      <p:sp>
        <p:nvSpPr>
          <p:cNvPr id="23" name="Text 19"/>
          <p:cNvSpPr txBox="1"/>
          <p:nvPr/>
        </p:nvSpPr>
        <p:spPr>
          <a:xfrm>
            <a:off x="8183880" y="4242816"/>
            <a:ext cx="3017520" cy="228600"/>
          </a:xfrm>
          <a:prstGeom prst="rect">
            <a:avLst/>
          </a:prstGeom>
          <a:noFill/>
          <a:ln/>
        </p:spPr>
        <p:txBody>
          <a:bodyPr wrap="square" lIns="0" tIns="0" rIns="0" bIns="0" rtlCol="0" anchor="t">
            <a:normAutofit/>
          </a:bodyPr>
          <a:lstStyle/>
          <a:p>
            <a:pPr algn="l" indent="0" marL="0">
              <a:buNone/>
            </a:pPr>
            <a:r>
              <a:rPr lang="en-US" sz="1120" dirty="0">
                <a:solidFill>
                  <a:srgbClr val="5B6B80"/>
                </a:solidFill>
                <a:latin typeface="Arial" pitchFamily="34" charset="0"/>
                <a:ea typeface="Arial" pitchFamily="34" charset="-122"/>
                <a:cs typeface="Arial" pitchFamily="34" charset="-120"/>
              </a:rPr>
              <a:t>Tùy chọn; fallback Sim2</a:t>
            </a:r>
            <a:endParaRPr lang="en-US" sz="1120" dirty="0"/>
          </a:p>
        </p:txBody>
      </p:sp>
      <p:sp>
        <p:nvSpPr>
          <p:cNvPr id="24" name="Text 20"/>
          <p:cNvSpPr txBox="1"/>
          <p:nvPr/>
        </p:nvSpPr>
        <p:spPr>
          <a:xfrm>
            <a:off x="8046720" y="5321808"/>
            <a:ext cx="3200400" cy="292608"/>
          </a:xfrm>
          <a:prstGeom prst="rect">
            <a:avLst/>
          </a:prstGeom>
          <a:noFill/>
          <a:ln/>
        </p:spPr>
        <p:txBody>
          <a:bodyPr wrap="square" lIns="0" tIns="0" rIns="0" bIns="0" rtlCol="0" anchor="t">
            <a:normAutofit/>
          </a:bodyPr>
          <a:lstStyle/>
          <a:p>
            <a:pPr algn="ctr" indent="0" marL="0">
              <a:buNone/>
            </a:pPr>
            <a:r>
              <a:rPr lang="en-US" sz="1300" b="1" dirty="0">
                <a:solidFill>
                  <a:srgbClr val="B42318"/>
                </a:solidFill>
                <a:latin typeface="Arial" pitchFamily="34" charset="0"/>
                <a:ea typeface="Arial" pitchFamily="34" charset="-122"/>
                <a:cs typeface="Arial" pitchFamily="34" charset="-120"/>
              </a:rPr>
              <a:t>Không claim 4D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algn="l" indent="0" marL="0">
              <a:buNone/>
            </a:pPr>
            <a:r>
              <a:rPr lang="en-US" sz="950" b="1" dirty="0">
                <a:solidFill>
                  <a:srgbClr val="5B6B80"/>
                </a:solidFill>
                <a:latin typeface="Arial" pitchFamily="34" charset="0"/>
                <a:ea typeface="Arial" pitchFamily="34" charset="-122"/>
                <a:cs typeface="Arial" pitchFamily="34" charset="-120"/>
              </a:rPr>
              <a:t>BÁO CÁO NGHIỆM THU</a:t>
            </a:r>
            <a:endParaRPr lang="en-US" sz="950" dirty="0"/>
          </a:p>
        </p:txBody>
      </p:sp>
      <p:sp>
        <p:nvSpPr>
          <p:cNvPr id="4" name="Text 2"/>
          <p:cNvSpPr txBox="1"/>
          <p:nvPr/>
        </p:nvSpPr>
        <p:spPr>
          <a:xfrm>
            <a:off x="612648" y="658368"/>
            <a:ext cx="10972800" cy="603504"/>
          </a:xfrm>
          <a:prstGeom prst="rect">
            <a:avLst/>
          </a:prstGeom>
          <a:noFill/>
          <a:ln/>
        </p:spPr>
        <p:txBody>
          <a:bodyPr wrap="square" lIns="0" tIns="0" rIns="0" bIns="0" rtlCol="0" anchor="ctr">
            <a:normAutofit/>
          </a:bodyPr>
          <a:lstStyle/>
          <a:p>
            <a:pPr algn="l" indent="0" marL="0">
              <a:buNone/>
            </a:pPr>
            <a:r>
              <a:rPr lang="en-US" sz="2350" b="1" dirty="0">
                <a:solidFill>
                  <a:srgbClr val="07182F"/>
                </a:solidFill>
                <a:latin typeface="Georgia" pitchFamily="34" charset="0"/>
                <a:ea typeface="Georgia" pitchFamily="34" charset="-122"/>
                <a:cs typeface="Georgia" pitchFamily="34" charset="-120"/>
              </a:rPr>
              <a:t>Tính toàn vẹn được kiểm bằng pipeline; tính đúng học thuật vẫn cần người xác nhận</a:t>
            </a:r>
            <a:endParaRPr lang="en-US" sz="235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algn="r" indent="0" marL="0">
              <a:buNone/>
            </a:pPr>
            <a:r>
              <a:rPr lang="en-US" sz="1000" b="1" dirty="0">
                <a:solidFill>
                  <a:srgbClr val="C9963A"/>
                </a:solidFill>
                <a:latin typeface="Arial" pitchFamily="34" charset="0"/>
                <a:ea typeface="Arial" pitchFamily="34" charset="-122"/>
                <a:cs typeface="Arial" pitchFamily="34" charset="-120"/>
              </a:rPr>
              <a:t>08</a:t>
            </a:r>
            <a:endParaRPr lang="en-US" sz="1000" dirty="0"/>
          </a:p>
        </p:txBody>
      </p:sp>
      <p:sp>
        <p:nvSpPr>
          <p:cNvPr id="6" name="Shape 4"/>
          <p:cNvSpPr/>
          <p:nvPr/>
        </p:nvSpPr>
        <p:spPr>
          <a:xfrm>
            <a:off x="612648" y="1335024"/>
            <a:ext cx="10972800" cy="438912"/>
          </a:xfrm>
          <a:prstGeom prst="rect">
            <a:avLst/>
          </a:prstGeom>
          <a:solidFill>
            <a:srgbClr val="EEF2F7"/>
          </a:solidFill>
          <a:ln w="12700">
            <a:solidFill>
              <a:srgbClr val="D7DEE8"/>
            </a:solidFill>
            <a:prstDash val="solid"/>
          </a:ln>
        </p:spPr>
      </p:sp>
      <p:sp>
        <p:nvSpPr>
          <p:cNvPr id="7" name="Text 5"/>
          <p:cNvSpPr txBox="1"/>
          <p:nvPr/>
        </p:nvSpPr>
        <p:spPr>
          <a:xfrm>
            <a:off x="822960" y="1426464"/>
            <a:ext cx="10561320" cy="237744"/>
          </a:xfrm>
          <a:prstGeom prst="rect">
            <a:avLst/>
          </a:prstGeom>
          <a:noFill/>
          <a:ln/>
        </p:spPr>
        <p:txBody>
          <a:bodyPr wrap="square" lIns="0" tIns="0" rIns="0" bIns="0" rtlCol="0" anchor="ctr">
            <a:normAutofit/>
          </a:bodyPr>
          <a:lstStyle/>
          <a:p>
            <a:pPr algn="l" indent="0" marL="0">
              <a:buNone/>
            </a:pPr>
            <a:r>
              <a:rPr lang="en-US" sz="1320" b="1" dirty="0">
                <a:solidFill>
                  <a:srgbClr val="0D2447"/>
                </a:solidFill>
                <a:latin typeface="Arial" pitchFamily="34" charset="0"/>
                <a:ea typeface="Arial" pitchFamily="34" charset="-122"/>
                <a:cs typeface="Arial" pitchFamily="34" charset="-120"/>
              </a:rPr>
              <a:t>Tự động hóa kiểm cấu trúc, không thay Hội đồng chuyên môn.</a:t>
            </a:r>
            <a:endParaRPr lang="en-US" sz="132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algn="l" indent="0" marL="0">
              <a:buNone/>
            </a:pPr>
            <a:r>
              <a:rPr lang="en-US" sz="820" dirty="0">
                <a:solidFill>
                  <a:srgbClr val="5B6B80"/>
                </a:solidFill>
                <a:latin typeface="Arial" pitchFamily="34" charset="0"/>
                <a:ea typeface="Arial" pitchFamily="34" charset="-122"/>
                <a:cs typeface="Arial" pitchFamily="34" charset="-120"/>
              </a:rPr>
              <a:t>HỘI ĐỒNG KHOA HỌC KHOA KTCS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algn="ctr" indent="0" marL="0">
              <a:buNone/>
            </a:pPr>
            <a:r>
              <a:rPr lang="en-US" sz="760" dirty="0">
                <a:solidFill>
                  <a:srgbClr val="5B6B80"/>
                </a:solidFill>
                <a:latin typeface="Arial" pitchFamily="34" charset="0"/>
                <a:ea typeface="Arial" pitchFamily="34" charset="-122"/>
                <a:cs typeface="Arial" pitchFamily="34" charset="-120"/>
              </a:rPr>
              <a:t>data/qa-gates.json</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algn="r" indent="0" marL="0">
              <a:buNone/>
            </a:pPr>
            <a:r>
              <a:rPr lang="en-US" sz="820" dirty="0">
                <a:solidFill>
                  <a:srgbClr val="5B6B80"/>
                </a:solidFill>
                <a:latin typeface="Arial" pitchFamily="34" charset="0"/>
                <a:ea typeface="Arial" pitchFamily="34" charset="-122"/>
                <a:cs typeface="Arial" pitchFamily="34" charset="-120"/>
              </a:rPr>
              <a:t>8</a:t>
            </a:r>
            <a:endParaRPr lang="en-US" sz="820" dirty="0"/>
          </a:p>
        </p:txBody>
      </p:sp>
      <p:sp>
        <p:nvSpPr>
          <p:cNvPr id="13" name="Shape 10"/>
          <p:cNvSpPr/>
          <p:nvPr/>
        </p:nvSpPr>
        <p:spPr>
          <a:xfrm>
            <a:off x="658368" y="2103120"/>
            <a:ext cx="10972800" cy="1143000"/>
          </a:xfrm>
          <a:prstGeom prst="roundRect">
            <a:avLst>
              <a:gd name="adj" fmla="val 3200"/>
            </a:avLst>
          </a:prstGeom>
          <a:solidFill>
            <a:srgbClr val="EEF2F7"/>
          </a:solidFill>
          <a:ln w="12700">
            <a:solidFill>
              <a:srgbClr val="15355F"/>
            </a:solidFill>
            <a:prstDash val="solid"/>
          </a:ln>
        </p:spPr>
      </p:sp>
      <p:sp>
        <p:nvSpPr>
          <p:cNvPr id="14" name="Text 11"/>
          <p:cNvSpPr txBox="1"/>
          <p:nvPr/>
        </p:nvSpPr>
        <p:spPr>
          <a:xfrm>
            <a:off x="932688" y="2331720"/>
            <a:ext cx="1463040" cy="320040"/>
          </a:xfrm>
          <a:prstGeom prst="rect">
            <a:avLst/>
          </a:prstGeom>
          <a:noFill/>
          <a:ln/>
        </p:spPr>
        <p:txBody>
          <a:bodyPr wrap="square" lIns="0" tIns="0" rIns="0" bIns="0" rtlCol="0" anchor="t">
            <a:normAutofit/>
          </a:bodyPr>
          <a:lstStyle/>
          <a:p>
            <a:pPr algn="l" indent="0" marL="0">
              <a:buNone/>
            </a:pPr>
            <a:r>
              <a:rPr lang="en-US" sz="1700" b="1" dirty="0">
                <a:solidFill>
                  <a:srgbClr val="0D2447"/>
                </a:solidFill>
                <a:latin typeface="Arial" pitchFamily="34" charset="0"/>
                <a:ea typeface="Arial" pitchFamily="34" charset="-122"/>
                <a:cs typeface="Arial" pitchFamily="34" charset="-120"/>
              </a:rPr>
              <a:t>Máy kiểm</a:t>
            </a:r>
            <a:endParaRPr lang="en-US" sz="1700" dirty="0"/>
          </a:p>
        </p:txBody>
      </p:sp>
      <p:sp>
        <p:nvSpPr>
          <p:cNvPr id="15" name="Text 12"/>
          <p:cNvSpPr txBox="1"/>
          <p:nvPr/>
        </p:nvSpPr>
        <p:spPr>
          <a:xfrm>
            <a:off x="2651760" y="2286000"/>
            <a:ext cx="8092440" cy="411480"/>
          </a:xfrm>
          <a:prstGeom prst="rect">
            <a:avLst/>
          </a:prstGeom>
          <a:noFill/>
          <a:ln/>
        </p:spPr>
        <p:txBody>
          <a:bodyPr wrap="square" lIns="0" tIns="0" rIns="0" bIns="0" rtlCol="0" anchor="ctr">
            <a:normAutofit/>
          </a:bodyPr>
          <a:lstStyle/>
          <a:p>
            <a:pPr algn="ctr" indent="0" marL="0">
              <a:buNone/>
            </a:pPr>
            <a:r>
              <a:rPr lang="en-US" sz="1450" dirty="0">
                <a:solidFill>
                  <a:srgbClr val="243247"/>
                </a:solidFill>
                <a:latin typeface="Arial" pitchFamily="34" charset="0"/>
                <a:ea typeface="Arial" pitchFamily="34" charset="-122"/>
                <a:cs typeface="Arial" pitchFamily="34" charset="-120"/>
              </a:rPr>
              <a:t>Nội dung · ảnh · công thức · route · package</a:t>
            </a:r>
            <a:endParaRPr lang="en-US" sz="1450" dirty="0"/>
          </a:p>
        </p:txBody>
      </p:sp>
      <p:sp>
        <p:nvSpPr>
          <p:cNvPr id="16" name="Shape 13"/>
          <p:cNvSpPr/>
          <p:nvPr/>
        </p:nvSpPr>
        <p:spPr>
          <a:xfrm>
            <a:off x="658368" y="3547872"/>
            <a:ext cx="10972800" cy="1143000"/>
          </a:xfrm>
          <a:prstGeom prst="roundRect">
            <a:avLst>
              <a:gd name="adj" fmla="val 3200"/>
            </a:avLst>
          </a:prstGeom>
          <a:solidFill>
            <a:srgbClr val="FFFFFF"/>
          </a:solidFill>
          <a:ln w="12700">
            <a:solidFill>
              <a:srgbClr val="C9963A"/>
            </a:solidFill>
            <a:prstDash val="solid"/>
          </a:ln>
        </p:spPr>
      </p:sp>
      <p:sp>
        <p:nvSpPr>
          <p:cNvPr id="17" name="Text 14"/>
          <p:cNvSpPr txBox="1"/>
          <p:nvPr/>
        </p:nvSpPr>
        <p:spPr>
          <a:xfrm>
            <a:off x="932688" y="3776472"/>
            <a:ext cx="1463040" cy="320040"/>
          </a:xfrm>
          <a:prstGeom prst="rect">
            <a:avLst/>
          </a:prstGeom>
          <a:noFill/>
          <a:ln/>
        </p:spPr>
        <p:txBody>
          <a:bodyPr wrap="square" lIns="0" tIns="0" rIns="0" bIns="0" rtlCol="0" anchor="t">
            <a:normAutofit/>
          </a:bodyPr>
          <a:lstStyle/>
          <a:p>
            <a:pPr algn="l" indent="0" marL="0">
              <a:buNone/>
            </a:pPr>
            <a:r>
              <a:rPr lang="en-US" sz="1700" b="1" dirty="0">
                <a:solidFill>
                  <a:srgbClr val="C9963A"/>
                </a:solidFill>
                <a:latin typeface="Arial" pitchFamily="34" charset="0"/>
                <a:ea typeface="Arial" pitchFamily="34" charset="-122"/>
                <a:cs typeface="Arial" pitchFamily="34" charset="-120"/>
              </a:rPr>
              <a:t>Người kiểm</a:t>
            </a:r>
            <a:endParaRPr lang="en-US" sz="1700" dirty="0"/>
          </a:p>
        </p:txBody>
      </p:sp>
      <p:sp>
        <p:nvSpPr>
          <p:cNvPr id="18" name="Text 15"/>
          <p:cNvSpPr txBox="1"/>
          <p:nvPr/>
        </p:nvSpPr>
        <p:spPr>
          <a:xfrm>
            <a:off x="2651760" y="3730752"/>
            <a:ext cx="8092440" cy="411480"/>
          </a:xfrm>
          <a:prstGeom prst="rect">
            <a:avLst/>
          </a:prstGeom>
          <a:noFill/>
          <a:ln/>
        </p:spPr>
        <p:txBody>
          <a:bodyPr wrap="square" lIns="0" tIns="0" rIns="0" bIns="0" rtlCol="0" anchor="ctr">
            <a:normAutofit/>
          </a:bodyPr>
          <a:lstStyle/>
          <a:p>
            <a:pPr algn="ctr" indent="0" marL="0">
              <a:buNone/>
            </a:pPr>
            <a:r>
              <a:rPr lang="en-US" sz="1450" dirty="0">
                <a:solidFill>
                  <a:srgbClr val="243247"/>
                </a:solidFill>
                <a:latin typeface="Arial" pitchFamily="34" charset="0"/>
                <a:ea typeface="Arial" pitchFamily="34" charset="-122"/>
                <a:cs typeface="Arial" pitchFamily="34" charset="-120"/>
              </a:rPr>
              <a:t>Thuật ngữ · đơn vị · mô hình · sai số · sư phạm</a:t>
            </a:r>
            <a:endParaRPr lang="en-US" sz="1450" dirty="0"/>
          </a:p>
        </p:txBody>
      </p:sp>
      <p:sp>
        <p:nvSpPr>
          <p:cNvPr id="19" name="Shape 16"/>
          <p:cNvSpPr/>
          <p:nvPr/>
        </p:nvSpPr>
        <p:spPr>
          <a:xfrm>
            <a:off x="658368" y="5148072"/>
            <a:ext cx="10972800" cy="640080"/>
          </a:xfrm>
          <a:prstGeom prst="roundRect">
            <a:avLst>
              <a:gd name="adj" fmla="val 5714"/>
            </a:avLst>
          </a:prstGeom>
          <a:solidFill>
            <a:srgbClr val="07182F"/>
          </a:solidFill>
          <a:ln w="12700">
            <a:solidFill>
              <a:srgbClr val="07182F"/>
            </a:solidFill>
            <a:prstDash val="solid"/>
          </a:ln>
        </p:spPr>
      </p:sp>
      <p:sp>
        <p:nvSpPr>
          <p:cNvPr id="20" name="Text 17"/>
          <p:cNvSpPr txBox="1"/>
          <p:nvPr/>
        </p:nvSpPr>
        <p:spPr>
          <a:xfrm>
            <a:off x="914400" y="5358384"/>
            <a:ext cx="10424160" cy="228600"/>
          </a:xfrm>
          <a:prstGeom prst="rect">
            <a:avLst/>
          </a:prstGeom>
          <a:noFill/>
          <a:ln/>
        </p:spPr>
        <p:txBody>
          <a:bodyPr wrap="square" lIns="0" tIns="0" rIns="0" bIns="0" rtlCol="0" anchor="t">
            <a:normAutofit/>
          </a:bodyPr>
          <a:lstStyle/>
          <a:p>
            <a:pPr algn="ctr" indent="0" marL="0">
              <a:buNone/>
            </a:pPr>
            <a:r>
              <a:rPr lang="en-US" sz="1420" b="1" dirty="0">
                <a:solidFill>
                  <a:srgbClr val="FFFFFF"/>
                </a:solidFill>
                <a:latin typeface="Arial" pitchFamily="34" charset="0"/>
                <a:ea typeface="Arial" pitchFamily="34" charset="-122"/>
                <a:cs typeface="Arial" pitchFamily="34" charset="-120"/>
              </a:rPr>
              <a:t>Tự động hóa tạo bằng chứng · Hội đồng quyết định giá trị khoa học–sư phạm</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algn="l" indent="0" marL="0">
              <a:buNone/>
            </a:pPr>
            <a:r>
              <a:rPr lang="en-US" sz="950" b="1" dirty="0">
                <a:solidFill>
                  <a:srgbClr val="5B6B80"/>
                </a:solidFill>
                <a:latin typeface="Arial" pitchFamily="34" charset="0"/>
                <a:ea typeface="Arial" pitchFamily="34" charset="-122"/>
                <a:cs typeface="Arial" pitchFamily="34" charset="-120"/>
              </a:rPr>
              <a:t>BÁO CÁO NGHIỆM THU</a:t>
            </a:r>
            <a:endParaRPr lang="en-US" sz="950" dirty="0"/>
          </a:p>
        </p:txBody>
      </p:sp>
      <p:sp>
        <p:nvSpPr>
          <p:cNvPr id="4" name="Text 2"/>
          <p:cNvSpPr txBox="1"/>
          <p:nvPr/>
        </p:nvSpPr>
        <p:spPr>
          <a:xfrm>
            <a:off x="612648" y="658368"/>
            <a:ext cx="10972800" cy="603504"/>
          </a:xfrm>
          <a:prstGeom prst="rect">
            <a:avLst/>
          </a:prstGeom>
          <a:noFill/>
          <a:ln/>
        </p:spPr>
        <p:txBody>
          <a:bodyPr wrap="square" lIns="0" tIns="0" rIns="0" bIns="0" rtlCol="0" anchor="ctr">
            <a:normAutofit/>
          </a:bodyPr>
          <a:lstStyle/>
          <a:p>
            <a:pPr algn="l" indent="0" marL="0">
              <a:buNone/>
            </a:pPr>
            <a:r>
              <a:rPr lang="en-US" sz="2350" b="1" dirty="0">
                <a:solidFill>
                  <a:srgbClr val="07182F"/>
                </a:solidFill>
                <a:latin typeface="Georgia" pitchFamily="34" charset="0"/>
                <a:ea typeface="Georgia" pitchFamily="34" charset="-122"/>
                <a:cs typeface="Georgia" pitchFamily="34" charset="-120"/>
              </a:rPr>
              <a:t>Các cơ chế tiếp cận đã có; disposition độc lập chưa hoàn tất</a:t>
            </a:r>
            <a:endParaRPr lang="en-US" sz="235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algn="r" indent="0" marL="0">
              <a:buNone/>
            </a:pPr>
            <a:r>
              <a:rPr lang="en-US" sz="1000" b="1" dirty="0">
                <a:solidFill>
                  <a:srgbClr val="C9963A"/>
                </a:solidFill>
                <a:latin typeface="Arial" pitchFamily="34" charset="0"/>
                <a:ea typeface="Arial" pitchFamily="34" charset="-122"/>
                <a:cs typeface="Arial" pitchFamily="34" charset="-120"/>
              </a:rPr>
              <a:t>09</a:t>
            </a:r>
            <a:endParaRPr lang="en-US" sz="1000" dirty="0"/>
          </a:p>
        </p:txBody>
      </p:sp>
      <p:sp>
        <p:nvSpPr>
          <p:cNvPr id="6" name="Shape 4"/>
          <p:cNvSpPr/>
          <p:nvPr/>
        </p:nvSpPr>
        <p:spPr>
          <a:xfrm>
            <a:off x="612648" y="1335024"/>
            <a:ext cx="10972800" cy="438912"/>
          </a:xfrm>
          <a:prstGeom prst="rect">
            <a:avLst/>
          </a:prstGeom>
          <a:solidFill>
            <a:srgbClr val="EEF2F7"/>
          </a:solidFill>
          <a:ln w="12700">
            <a:solidFill>
              <a:srgbClr val="D7DEE8"/>
            </a:solidFill>
            <a:prstDash val="solid"/>
          </a:ln>
        </p:spPr>
      </p:sp>
      <p:sp>
        <p:nvSpPr>
          <p:cNvPr id="7" name="Text 5"/>
          <p:cNvSpPr txBox="1"/>
          <p:nvPr/>
        </p:nvSpPr>
        <p:spPr>
          <a:xfrm>
            <a:off x="822960" y="1426464"/>
            <a:ext cx="10561320" cy="237744"/>
          </a:xfrm>
          <a:prstGeom prst="rect">
            <a:avLst/>
          </a:prstGeom>
          <a:noFill/>
          <a:ln/>
        </p:spPr>
        <p:txBody>
          <a:bodyPr wrap="square" lIns="0" tIns="0" rIns="0" bIns="0" rtlCol="0" anchor="ctr">
            <a:normAutofit/>
          </a:bodyPr>
          <a:lstStyle/>
          <a:p>
            <a:pPr algn="l" indent="0" marL="0">
              <a:buNone/>
            </a:pPr>
            <a:r>
              <a:rPr lang="en-US" sz="1320" b="1" dirty="0">
                <a:solidFill>
                  <a:srgbClr val="0D2447"/>
                </a:solidFill>
                <a:latin typeface="Arial" pitchFamily="34" charset="0"/>
                <a:ea typeface="Arial" pitchFamily="34" charset="-122"/>
                <a:cs typeface="Arial" pitchFamily="34" charset="-120"/>
              </a:rPr>
              <a:t>Responsive, keyboard/reflow/contrast contracts ≠ chứng nhận WCAG.</a:t>
            </a:r>
            <a:endParaRPr lang="en-US" sz="132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algn="l" indent="0" marL="0">
              <a:buNone/>
            </a:pPr>
            <a:r>
              <a:rPr lang="en-US" sz="820" dirty="0">
                <a:solidFill>
                  <a:srgbClr val="5B6B80"/>
                </a:solidFill>
                <a:latin typeface="Arial" pitchFamily="34" charset="0"/>
                <a:ea typeface="Arial" pitchFamily="34" charset="-122"/>
                <a:cs typeface="Arial" pitchFamily="34" charset="-120"/>
              </a:rPr>
              <a:t>HỘI ĐỒNG KHOA HỌC KHOA KTCS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algn="ctr" indent="0" marL="0">
              <a:buNone/>
            </a:pPr>
            <a:r>
              <a:rPr lang="en-US" sz="760" dirty="0">
                <a:solidFill>
                  <a:srgbClr val="5B6B80"/>
                </a:solidFill>
                <a:latin typeface="Arial" pitchFamily="34" charset="0"/>
                <a:ea typeface="Arial" pitchFamily="34" charset="-122"/>
                <a:cs typeface="Arial" pitchFamily="34" charset="-120"/>
              </a:rPr>
              <a:t>data/acceptance-report.json</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algn="r" indent="0" marL="0">
              <a:buNone/>
            </a:pPr>
            <a:r>
              <a:rPr lang="en-US" sz="820" dirty="0">
                <a:solidFill>
                  <a:srgbClr val="5B6B80"/>
                </a:solidFill>
                <a:latin typeface="Arial" pitchFamily="34" charset="0"/>
                <a:ea typeface="Arial" pitchFamily="34" charset="-122"/>
                <a:cs typeface="Arial" pitchFamily="34" charset="-120"/>
              </a:rPr>
              <a:t>9</a:t>
            </a:r>
            <a:endParaRPr lang="en-US" sz="820" dirty="0"/>
          </a:p>
        </p:txBody>
      </p:sp>
      <p:sp>
        <p:nvSpPr>
          <p:cNvPr id="13" name="Shape 10"/>
          <p:cNvSpPr/>
          <p:nvPr/>
        </p:nvSpPr>
        <p:spPr>
          <a:xfrm>
            <a:off x="749808" y="1938528"/>
            <a:ext cx="2788920" cy="4069080"/>
          </a:xfrm>
          <a:prstGeom prst="roundRect">
            <a:avLst>
              <a:gd name="adj" fmla="val 1311"/>
            </a:avLst>
          </a:prstGeom>
          <a:solidFill>
            <a:srgbClr val="FFFFFF"/>
          </a:solidFill>
          <a:ln w="12700">
            <a:solidFill>
              <a:srgbClr val="0D2447"/>
            </a:solidFill>
            <a:prstDash val="solid"/>
          </a:ln>
        </p:spPr>
      </p:sp>
      <p:pic>
        <p:nvPicPr>
          <p:cNvPr id="14" name="Image 0" descr="IMG-02 · viewport 390 × 844">    </p:cNvPr>
          <p:cNvPicPr>
            <a:picLocks noChangeAspect="1"/>
          </p:cNvPicPr>
          <p:nvPr/>
        </p:nvPicPr>
        <p:blipFill>
          <a:blip r:embed="rId1"/>
          <a:stretch>
            <a:fillRect/>
          </a:stretch>
        </p:blipFill>
        <p:spPr>
          <a:xfrm>
            <a:off x="1297094" y="2011680"/>
            <a:ext cx="1694349" cy="3666744"/>
          </a:xfrm>
          <a:prstGeom prst="rect">
            <a:avLst/>
          </a:prstGeom>
        </p:spPr>
      </p:pic>
      <p:sp>
        <p:nvSpPr>
          <p:cNvPr id="15" name="Text 11"/>
          <p:cNvSpPr txBox="1"/>
          <p:nvPr/>
        </p:nvSpPr>
        <p:spPr>
          <a:xfrm>
            <a:off x="859536" y="5788152"/>
            <a:ext cx="2569464" cy="128016"/>
          </a:xfrm>
          <a:prstGeom prst="rect">
            <a:avLst/>
          </a:prstGeom>
          <a:noFill/>
          <a:ln/>
        </p:spPr>
        <p:txBody>
          <a:bodyPr wrap="square" lIns="0" tIns="0" rIns="0" bIns="0" rtlCol="0" anchor="t">
            <a:normAutofit/>
          </a:bodyPr>
          <a:lstStyle/>
          <a:p>
            <a:pPr algn="ctr" indent="0" marL="0">
              <a:buNone/>
            </a:pPr>
            <a:r>
              <a:rPr lang="en-US" sz="850" dirty="0">
                <a:solidFill>
                  <a:srgbClr val="5B6B80"/>
                </a:solidFill>
                <a:latin typeface="Arial" pitchFamily="34" charset="0"/>
                <a:ea typeface="Arial" pitchFamily="34" charset="-122"/>
                <a:cs typeface="Arial" pitchFamily="34" charset="-120"/>
              </a:rPr>
              <a:t>IMG-02 · viewport 390 × 844</a:t>
            </a:r>
            <a:endParaRPr lang="en-US" sz="850" dirty="0"/>
          </a:p>
        </p:txBody>
      </p:sp>
      <p:sp>
        <p:nvSpPr>
          <p:cNvPr id="16" name="Shape 12"/>
          <p:cNvSpPr/>
          <p:nvPr/>
        </p:nvSpPr>
        <p:spPr>
          <a:xfrm>
            <a:off x="3886200" y="1938528"/>
            <a:ext cx="7635240" cy="1773936"/>
          </a:xfrm>
          <a:prstGeom prst="roundRect">
            <a:avLst>
              <a:gd name="adj" fmla="val 2062"/>
            </a:avLst>
          </a:prstGeom>
          <a:solidFill>
            <a:srgbClr val="FFFFFF"/>
          </a:solidFill>
          <a:ln w="12700">
            <a:solidFill>
              <a:srgbClr val="137A3D"/>
            </a:solidFill>
            <a:prstDash val="solid"/>
          </a:ln>
        </p:spPr>
      </p:sp>
      <p:sp>
        <p:nvSpPr>
          <p:cNvPr id="17" name="Text 13"/>
          <p:cNvSpPr txBox="1"/>
          <p:nvPr/>
        </p:nvSpPr>
        <p:spPr>
          <a:xfrm>
            <a:off x="4187952" y="2139696"/>
            <a:ext cx="2743200" cy="274320"/>
          </a:xfrm>
          <a:prstGeom prst="rect">
            <a:avLst/>
          </a:prstGeom>
          <a:noFill/>
          <a:ln/>
        </p:spPr>
        <p:txBody>
          <a:bodyPr wrap="square" lIns="0" tIns="0" rIns="0" bIns="0" rtlCol="0" anchor="t">
            <a:normAutofit/>
          </a:bodyPr>
          <a:lstStyle/>
          <a:p>
            <a:pPr algn="l" indent="0" marL="0">
              <a:buNone/>
            </a:pPr>
            <a:r>
              <a:rPr lang="en-US" sz="1520" b="1" dirty="0">
                <a:solidFill>
                  <a:srgbClr val="137A3D"/>
                </a:solidFill>
                <a:latin typeface="Arial" pitchFamily="34" charset="0"/>
                <a:ea typeface="Arial" pitchFamily="34" charset="-122"/>
                <a:cs typeface="Arial" pitchFamily="34" charset="-120"/>
              </a:rPr>
              <a:t>Đã có bằng chứng kỹ thuật</a:t>
            </a:r>
            <a:endParaRPr lang="en-US" sz="1520" dirty="0"/>
          </a:p>
        </p:txBody>
      </p:sp>
      <p:sp>
        <p:nvSpPr>
          <p:cNvPr id="18" name="Shape 14"/>
          <p:cNvSpPr/>
          <p:nvPr/>
        </p:nvSpPr>
        <p:spPr>
          <a:xfrm>
            <a:off x="6967728" y="2185416"/>
            <a:ext cx="82296" cy="82296"/>
          </a:xfrm>
          <a:prstGeom prst="ellipse">
            <a:avLst/>
          </a:prstGeom>
          <a:solidFill>
            <a:srgbClr val="C9963A"/>
          </a:solidFill>
          <a:ln w="12700">
            <a:solidFill>
              <a:srgbClr val="C9963A"/>
            </a:solidFill>
            <a:prstDash val="solid"/>
          </a:ln>
        </p:spPr>
      </p:sp>
      <p:sp>
        <p:nvSpPr>
          <p:cNvPr id="19" name="Text 15"/>
          <p:cNvSpPr txBox="1"/>
          <p:nvPr/>
        </p:nvSpPr>
        <p:spPr>
          <a:xfrm>
            <a:off x="7168896" y="2084832"/>
            <a:ext cx="3959352" cy="365760"/>
          </a:xfrm>
          <a:prstGeom prst="rect">
            <a:avLst/>
          </a:prstGeom>
          <a:noFill/>
          <a:ln/>
        </p:spPr>
        <p:txBody>
          <a:bodyPr wrap="square" lIns="0" tIns="0" rIns="0" bIns="0" rtlCol="0" anchor="ctr">
            <a:normAutofit/>
          </a:bodyPr>
          <a:lstStyle/>
          <a:p>
            <a:pPr algn="l" indent="0" marL="0">
              <a:buNone/>
            </a:pPr>
            <a:r>
              <a:rPr lang="en-US" sz="1250" dirty="0">
                <a:solidFill>
                  <a:srgbClr val="243247"/>
                </a:solidFill>
                <a:latin typeface="Arial" pitchFamily="34" charset="0"/>
                <a:ea typeface="Arial" pitchFamily="34" charset="-122"/>
                <a:cs typeface="Arial" pitchFamily="34" charset="-120"/>
              </a:rPr>
              <a:t>Bố cục 390 × 844</a:t>
            </a:r>
            <a:endParaRPr lang="en-US" sz="1250" dirty="0"/>
          </a:p>
        </p:txBody>
      </p:sp>
      <p:sp>
        <p:nvSpPr>
          <p:cNvPr id="20" name="Shape 16"/>
          <p:cNvSpPr/>
          <p:nvPr/>
        </p:nvSpPr>
        <p:spPr>
          <a:xfrm>
            <a:off x="6967728" y="2615184"/>
            <a:ext cx="82296" cy="82296"/>
          </a:xfrm>
          <a:prstGeom prst="ellipse">
            <a:avLst/>
          </a:prstGeom>
          <a:solidFill>
            <a:srgbClr val="C9963A"/>
          </a:solidFill>
          <a:ln w="12700">
            <a:solidFill>
              <a:srgbClr val="C9963A"/>
            </a:solidFill>
            <a:prstDash val="solid"/>
          </a:ln>
        </p:spPr>
      </p:sp>
      <p:sp>
        <p:nvSpPr>
          <p:cNvPr id="21" name="Text 17"/>
          <p:cNvSpPr txBox="1"/>
          <p:nvPr/>
        </p:nvSpPr>
        <p:spPr>
          <a:xfrm>
            <a:off x="7168896" y="2514600"/>
            <a:ext cx="3959352" cy="365760"/>
          </a:xfrm>
          <a:prstGeom prst="rect">
            <a:avLst/>
          </a:prstGeom>
          <a:noFill/>
          <a:ln/>
        </p:spPr>
        <p:txBody>
          <a:bodyPr wrap="square" lIns="0" tIns="0" rIns="0" bIns="0" rtlCol="0" anchor="ctr">
            <a:normAutofit/>
          </a:bodyPr>
          <a:lstStyle/>
          <a:p>
            <a:pPr algn="l" indent="0" marL="0">
              <a:buNone/>
            </a:pPr>
            <a:r>
              <a:rPr lang="en-US" sz="1250" dirty="0">
                <a:solidFill>
                  <a:srgbClr val="243247"/>
                </a:solidFill>
                <a:latin typeface="Arial" pitchFamily="34" charset="0"/>
                <a:ea typeface="Arial" pitchFamily="34" charset="-122"/>
                <a:cs typeface="Arial" pitchFamily="34" charset="-120"/>
              </a:rPr>
              <a:t>Tên truy cập, alt text</a:t>
            </a:r>
            <a:endParaRPr lang="en-US" sz="1250" dirty="0"/>
          </a:p>
        </p:txBody>
      </p:sp>
      <p:sp>
        <p:nvSpPr>
          <p:cNvPr id="22" name="Shape 18"/>
          <p:cNvSpPr/>
          <p:nvPr/>
        </p:nvSpPr>
        <p:spPr>
          <a:xfrm>
            <a:off x="6967728" y="3044952"/>
            <a:ext cx="82296" cy="82296"/>
          </a:xfrm>
          <a:prstGeom prst="ellipse">
            <a:avLst/>
          </a:prstGeom>
          <a:solidFill>
            <a:srgbClr val="C9963A"/>
          </a:solidFill>
          <a:ln w="12700">
            <a:solidFill>
              <a:srgbClr val="C9963A"/>
            </a:solidFill>
            <a:prstDash val="solid"/>
          </a:ln>
        </p:spPr>
      </p:sp>
      <p:sp>
        <p:nvSpPr>
          <p:cNvPr id="23" name="Text 19"/>
          <p:cNvSpPr txBox="1"/>
          <p:nvPr/>
        </p:nvSpPr>
        <p:spPr>
          <a:xfrm>
            <a:off x="7168896" y="2944368"/>
            <a:ext cx="3959352" cy="365760"/>
          </a:xfrm>
          <a:prstGeom prst="rect">
            <a:avLst/>
          </a:prstGeom>
          <a:noFill/>
          <a:ln/>
        </p:spPr>
        <p:txBody>
          <a:bodyPr wrap="square" lIns="0" tIns="0" rIns="0" bIns="0" rtlCol="0" anchor="ctr">
            <a:normAutofit/>
          </a:bodyPr>
          <a:lstStyle/>
          <a:p>
            <a:pPr algn="l" indent="0" marL="0">
              <a:buNone/>
            </a:pPr>
            <a:r>
              <a:rPr lang="en-US" sz="1250" dirty="0">
                <a:solidFill>
                  <a:srgbClr val="243247"/>
                </a:solidFill>
                <a:latin typeface="Arial" pitchFamily="34" charset="0"/>
                <a:ea typeface="Arial" pitchFamily="34" charset="-122"/>
                <a:cs typeface="Arial" pitchFamily="34" charset="-120"/>
              </a:rPr>
              <a:t>Reduced motion, cỡ chữ</a:t>
            </a:r>
            <a:endParaRPr lang="en-US" sz="1250" dirty="0"/>
          </a:p>
        </p:txBody>
      </p:sp>
      <p:sp>
        <p:nvSpPr>
          <p:cNvPr id="24" name="Shape 20"/>
          <p:cNvSpPr/>
          <p:nvPr/>
        </p:nvSpPr>
        <p:spPr>
          <a:xfrm>
            <a:off x="3886200" y="3986784"/>
            <a:ext cx="7635240" cy="1773936"/>
          </a:xfrm>
          <a:prstGeom prst="roundRect">
            <a:avLst>
              <a:gd name="adj" fmla="val 2062"/>
            </a:avLst>
          </a:prstGeom>
          <a:solidFill>
            <a:srgbClr val="FFFFFF"/>
          </a:solidFill>
          <a:ln w="12700">
            <a:solidFill>
              <a:srgbClr val="9A5B00"/>
            </a:solidFill>
            <a:prstDash val="solid"/>
          </a:ln>
        </p:spPr>
      </p:sp>
      <p:sp>
        <p:nvSpPr>
          <p:cNvPr id="25" name="Text 21"/>
          <p:cNvSpPr txBox="1"/>
          <p:nvPr/>
        </p:nvSpPr>
        <p:spPr>
          <a:xfrm>
            <a:off x="4187952" y="4187952"/>
            <a:ext cx="2743200" cy="274320"/>
          </a:xfrm>
          <a:prstGeom prst="rect">
            <a:avLst/>
          </a:prstGeom>
          <a:noFill/>
          <a:ln/>
        </p:spPr>
        <p:txBody>
          <a:bodyPr wrap="square" lIns="0" tIns="0" rIns="0" bIns="0" rtlCol="0" anchor="t">
            <a:normAutofit/>
          </a:bodyPr>
          <a:lstStyle/>
          <a:p>
            <a:pPr algn="l" indent="0" marL="0">
              <a:buNone/>
            </a:pPr>
            <a:r>
              <a:rPr lang="en-US" sz="1520" b="1" dirty="0">
                <a:solidFill>
                  <a:srgbClr val="9A5B00"/>
                </a:solidFill>
                <a:latin typeface="Arial" pitchFamily="34" charset="0"/>
                <a:ea typeface="Arial" pitchFamily="34" charset="-122"/>
                <a:cs typeface="Arial" pitchFamily="34" charset="-120"/>
              </a:rPr>
              <a:t>Còn cần review độc lập</a:t>
            </a:r>
            <a:endParaRPr lang="en-US" sz="1520" dirty="0"/>
          </a:p>
        </p:txBody>
      </p:sp>
      <p:sp>
        <p:nvSpPr>
          <p:cNvPr id="26" name="Shape 22"/>
          <p:cNvSpPr/>
          <p:nvPr/>
        </p:nvSpPr>
        <p:spPr>
          <a:xfrm>
            <a:off x="6967728" y="4233672"/>
            <a:ext cx="82296" cy="82296"/>
          </a:xfrm>
          <a:prstGeom prst="ellipse">
            <a:avLst/>
          </a:prstGeom>
          <a:solidFill>
            <a:srgbClr val="C9963A"/>
          </a:solidFill>
          <a:ln w="12700">
            <a:solidFill>
              <a:srgbClr val="C9963A"/>
            </a:solidFill>
            <a:prstDash val="solid"/>
          </a:ln>
        </p:spPr>
      </p:sp>
      <p:sp>
        <p:nvSpPr>
          <p:cNvPr id="27" name="Text 23"/>
          <p:cNvSpPr txBox="1"/>
          <p:nvPr/>
        </p:nvSpPr>
        <p:spPr>
          <a:xfrm>
            <a:off x="7168896" y="4133088"/>
            <a:ext cx="3959352" cy="365760"/>
          </a:xfrm>
          <a:prstGeom prst="rect">
            <a:avLst/>
          </a:prstGeom>
          <a:noFill/>
          <a:ln/>
        </p:spPr>
        <p:txBody>
          <a:bodyPr wrap="square" lIns="0" tIns="0" rIns="0" bIns="0" rtlCol="0" anchor="ctr">
            <a:normAutofit/>
          </a:bodyPr>
          <a:lstStyle/>
          <a:p>
            <a:pPr algn="l" indent="0" marL="0">
              <a:buNone/>
            </a:pPr>
            <a:r>
              <a:rPr lang="en-US" sz="1250" dirty="0">
                <a:solidFill>
                  <a:srgbClr val="243247"/>
                </a:solidFill>
                <a:latin typeface="Arial" pitchFamily="34" charset="0"/>
                <a:ea typeface="Arial" pitchFamily="34" charset="-122"/>
                <a:cs typeface="Arial" pitchFamily="34" charset="-120"/>
              </a:rPr>
              <a:t>Screen-reader walkthrough</a:t>
            </a:r>
            <a:endParaRPr lang="en-US" sz="1250" dirty="0"/>
          </a:p>
        </p:txBody>
      </p:sp>
      <p:sp>
        <p:nvSpPr>
          <p:cNvPr id="28" name="Shape 24"/>
          <p:cNvSpPr/>
          <p:nvPr/>
        </p:nvSpPr>
        <p:spPr>
          <a:xfrm>
            <a:off x="6967728" y="4663440"/>
            <a:ext cx="82296" cy="82296"/>
          </a:xfrm>
          <a:prstGeom prst="ellipse">
            <a:avLst/>
          </a:prstGeom>
          <a:solidFill>
            <a:srgbClr val="C9963A"/>
          </a:solidFill>
          <a:ln w="12700">
            <a:solidFill>
              <a:srgbClr val="C9963A"/>
            </a:solidFill>
            <a:prstDash val="solid"/>
          </a:ln>
        </p:spPr>
      </p:sp>
      <p:sp>
        <p:nvSpPr>
          <p:cNvPr id="29" name="Text 25"/>
          <p:cNvSpPr txBox="1"/>
          <p:nvPr/>
        </p:nvSpPr>
        <p:spPr>
          <a:xfrm>
            <a:off x="7168896" y="4562856"/>
            <a:ext cx="3959352" cy="365760"/>
          </a:xfrm>
          <a:prstGeom prst="rect">
            <a:avLst/>
          </a:prstGeom>
          <a:noFill/>
          <a:ln/>
        </p:spPr>
        <p:txBody>
          <a:bodyPr wrap="square" lIns="0" tIns="0" rIns="0" bIns="0" rtlCol="0" anchor="ctr">
            <a:normAutofit/>
          </a:bodyPr>
          <a:lstStyle/>
          <a:p>
            <a:pPr algn="l" indent="0" marL="0">
              <a:buNone/>
            </a:pPr>
            <a:r>
              <a:rPr lang="en-US" sz="1250" dirty="0">
                <a:solidFill>
                  <a:srgbClr val="243247"/>
                </a:solidFill>
                <a:latin typeface="Arial" pitchFamily="34" charset="0"/>
                <a:ea typeface="Arial" pitchFamily="34" charset="-122"/>
                <a:cs typeface="Arial" pitchFamily="34" charset="-120"/>
              </a:rPr>
              <a:t>Zoom 200%/400%</a:t>
            </a:r>
            <a:endParaRPr lang="en-US" sz="1250" dirty="0"/>
          </a:p>
        </p:txBody>
      </p:sp>
      <p:sp>
        <p:nvSpPr>
          <p:cNvPr id="30" name="Shape 26"/>
          <p:cNvSpPr/>
          <p:nvPr/>
        </p:nvSpPr>
        <p:spPr>
          <a:xfrm>
            <a:off x="6967728" y="5093208"/>
            <a:ext cx="82296" cy="82296"/>
          </a:xfrm>
          <a:prstGeom prst="ellipse">
            <a:avLst/>
          </a:prstGeom>
          <a:solidFill>
            <a:srgbClr val="C9963A"/>
          </a:solidFill>
          <a:ln w="12700">
            <a:solidFill>
              <a:srgbClr val="C9963A"/>
            </a:solidFill>
            <a:prstDash val="solid"/>
          </a:ln>
        </p:spPr>
      </p:sp>
      <p:sp>
        <p:nvSpPr>
          <p:cNvPr id="31" name="Text 27"/>
          <p:cNvSpPr txBox="1"/>
          <p:nvPr/>
        </p:nvSpPr>
        <p:spPr>
          <a:xfrm>
            <a:off x="7168896" y="4992624"/>
            <a:ext cx="3959352" cy="365760"/>
          </a:xfrm>
          <a:prstGeom prst="rect">
            <a:avLst/>
          </a:prstGeom>
          <a:noFill/>
          <a:ln/>
        </p:spPr>
        <p:txBody>
          <a:bodyPr wrap="square" lIns="0" tIns="0" rIns="0" bIns="0" rtlCol="0" anchor="ctr">
            <a:normAutofit/>
          </a:bodyPr>
          <a:lstStyle/>
          <a:p>
            <a:pPr algn="l" indent="0" marL="0">
              <a:buNone/>
            </a:pPr>
            <a:r>
              <a:rPr lang="en-US" sz="1250" dirty="0">
                <a:solidFill>
                  <a:srgbClr val="243247"/>
                </a:solidFill>
                <a:latin typeface="Arial" pitchFamily="34" charset="0"/>
                <a:ea typeface="Arial" pitchFamily="34" charset="-122"/>
                <a:cs typeface="Arial" pitchFamily="34" charset="-120"/>
              </a:rPr>
              <a:t>Contrast và scientific equivalence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algn="l" indent="0" marL="0">
              <a:buNone/>
            </a:pPr>
            <a:r>
              <a:rPr lang="en-US" sz="950" b="1" dirty="0">
                <a:solidFill>
                  <a:srgbClr val="5B6B80"/>
                </a:solidFill>
                <a:latin typeface="Arial" pitchFamily="34" charset="0"/>
                <a:ea typeface="Arial" pitchFamily="34" charset="-122"/>
                <a:cs typeface="Arial" pitchFamily="34" charset="-120"/>
              </a:rPr>
              <a:t>BÁO CÁO NGHIỆM THU</a:t>
            </a:r>
            <a:endParaRPr lang="en-US" sz="950" dirty="0"/>
          </a:p>
        </p:txBody>
      </p:sp>
      <p:sp>
        <p:nvSpPr>
          <p:cNvPr id="4" name="Text 2"/>
          <p:cNvSpPr txBox="1"/>
          <p:nvPr/>
        </p:nvSpPr>
        <p:spPr>
          <a:xfrm>
            <a:off x="612648" y="658368"/>
            <a:ext cx="10972800" cy="603504"/>
          </a:xfrm>
          <a:prstGeom prst="rect">
            <a:avLst/>
          </a:prstGeom>
          <a:noFill/>
          <a:ln/>
        </p:spPr>
        <p:txBody>
          <a:bodyPr wrap="square" lIns="0" tIns="0" rIns="0" bIns="0" rtlCol="0" anchor="ctr">
            <a:normAutofit/>
          </a:bodyPr>
          <a:lstStyle/>
          <a:p>
            <a:pPr algn="l" indent="0" marL="0">
              <a:buNone/>
            </a:pPr>
            <a:r>
              <a:rPr lang="en-US" sz="2350" b="1" dirty="0">
                <a:solidFill>
                  <a:srgbClr val="07182F"/>
                </a:solidFill>
                <a:latin typeface="Georgia" pitchFamily="34" charset="0"/>
                <a:ea typeface="Georgia" pitchFamily="34" charset="-122"/>
                <a:cs typeface="Georgia" pitchFamily="34" charset="-120"/>
              </a:rPr>
              <a:t>Ứng viên kỹ thuật có inventory, nhưng ZIP chưa được khóa lại</a:t>
            </a:r>
            <a:endParaRPr lang="en-US" sz="235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algn="r" indent="0" marL="0">
              <a:buNone/>
            </a:pPr>
            <a:r>
              <a:rPr lang="en-US" sz="1000" b="1" dirty="0">
                <a:solidFill>
                  <a:srgbClr val="C9963A"/>
                </a:solidFill>
                <a:latin typeface="Arial" pitchFamily="34" charset="0"/>
                <a:ea typeface="Arial" pitchFamily="34" charset="-122"/>
                <a:cs typeface="Arial" pitchFamily="34" charset="-120"/>
              </a:rPr>
              <a:t>10</a:t>
            </a:r>
            <a:endParaRPr lang="en-US" sz="1000" dirty="0"/>
          </a:p>
        </p:txBody>
      </p:sp>
      <p:sp>
        <p:nvSpPr>
          <p:cNvPr id="6" name="Shape 4"/>
          <p:cNvSpPr/>
          <p:nvPr/>
        </p:nvSpPr>
        <p:spPr>
          <a:xfrm>
            <a:off x="612648" y="1335024"/>
            <a:ext cx="10972800" cy="438912"/>
          </a:xfrm>
          <a:prstGeom prst="rect">
            <a:avLst/>
          </a:prstGeom>
          <a:solidFill>
            <a:srgbClr val="EEF2F7"/>
          </a:solidFill>
          <a:ln w="12700">
            <a:solidFill>
              <a:srgbClr val="D7DEE8"/>
            </a:solidFill>
            <a:prstDash val="solid"/>
          </a:ln>
        </p:spPr>
      </p:sp>
      <p:sp>
        <p:nvSpPr>
          <p:cNvPr id="7" name="Text 5"/>
          <p:cNvSpPr txBox="1"/>
          <p:nvPr/>
        </p:nvSpPr>
        <p:spPr>
          <a:xfrm>
            <a:off x="822960" y="1426464"/>
            <a:ext cx="10561320" cy="237744"/>
          </a:xfrm>
          <a:prstGeom prst="rect">
            <a:avLst/>
          </a:prstGeom>
          <a:noFill/>
          <a:ln/>
        </p:spPr>
        <p:txBody>
          <a:bodyPr wrap="square" lIns="0" tIns="0" rIns="0" bIns="0" rtlCol="0" anchor="ctr">
            <a:normAutofit/>
          </a:bodyPr>
          <a:lstStyle/>
          <a:p>
            <a:pPr algn="l" indent="0" marL="0">
              <a:buNone/>
            </a:pPr>
            <a:r>
              <a:rPr lang="en-US" sz="1320" b="1" dirty="0">
                <a:solidFill>
                  <a:srgbClr val="0D2447"/>
                </a:solidFill>
                <a:latin typeface="Arial" pitchFamily="34" charset="0"/>
                <a:ea typeface="Arial" pitchFamily="34" charset="-122"/>
                <a:cs typeface="Arial" pitchFamily="34" charset="-120"/>
              </a:rPr>
              <a:t>Staging 374 tệp; ZIP hiện có 375 entry và hash lệch summary.</a:t>
            </a:r>
            <a:endParaRPr lang="en-US" sz="132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algn="l" indent="0" marL="0">
              <a:buNone/>
            </a:pPr>
            <a:r>
              <a:rPr lang="en-US" sz="820" dirty="0">
                <a:solidFill>
                  <a:srgbClr val="5B6B80"/>
                </a:solidFill>
                <a:latin typeface="Arial" pitchFamily="34" charset="0"/>
                <a:ea typeface="Arial" pitchFamily="34" charset="-122"/>
                <a:cs typeface="Arial" pitchFamily="34" charset="-120"/>
              </a:rPr>
              <a:t>HỘI ĐỒNG KHOA HỌC KHOA KTCS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algn="ctr" indent="0" marL="0">
              <a:buNone/>
            </a:pPr>
            <a:r>
              <a:rPr lang="en-US" sz="760" dirty="0">
                <a:solidFill>
                  <a:srgbClr val="5B6B80"/>
                </a:solidFill>
                <a:latin typeface="Arial" pitchFamily="34" charset="0"/>
                <a:ea typeface="Arial" pitchFamily="34" charset="-122"/>
                <a:cs typeface="Arial" pitchFamily="34" charset="-120"/>
              </a:rPr>
              <a:t>release/2026.08.25-candidate/release-summary.json</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algn="r" indent="0" marL="0">
              <a:buNone/>
            </a:pPr>
            <a:r>
              <a:rPr lang="en-US" sz="820" dirty="0">
                <a:solidFill>
                  <a:srgbClr val="5B6B80"/>
                </a:solidFill>
                <a:latin typeface="Arial" pitchFamily="34" charset="0"/>
                <a:ea typeface="Arial" pitchFamily="34" charset="-122"/>
                <a:cs typeface="Arial" pitchFamily="34" charset="-120"/>
              </a:rPr>
              <a:t>10</a:t>
            </a:r>
            <a:endParaRPr lang="en-US" sz="820" dirty="0"/>
          </a:p>
        </p:txBody>
      </p:sp>
      <p:sp>
        <p:nvSpPr>
          <p:cNvPr id="13" name="Shape 10"/>
          <p:cNvSpPr/>
          <p:nvPr/>
        </p:nvSpPr>
        <p:spPr>
          <a:xfrm>
            <a:off x="658368" y="2029968"/>
            <a:ext cx="1737360" cy="1060704"/>
          </a:xfrm>
          <a:prstGeom prst="roundRect">
            <a:avLst>
              <a:gd name="adj" fmla="val 3448"/>
            </a:avLst>
          </a:prstGeom>
          <a:solidFill>
            <a:srgbClr val="FFFFFF"/>
          </a:solidFill>
          <a:ln w="12700">
            <a:solidFill>
              <a:srgbClr val="D7DEE8"/>
            </a:solidFill>
            <a:prstDash val="solid"/>
          </a:ln>
        </p:spPr>
      </p:sp>
      <p:sp>
        <p:nvSpPr>
          <p:cNvPr id="14" name="Text 11"/>
          <p:cNvSpPr txBox="1"/>
          <p:nvPr/>
        </p:nvSpPr>
        <p:spPr>
          <a:xfrm>
            <a:off x="749808" y="2167128"/>
            <a:ext cx="1554480" cy="420624"/>
          </a:xfrm>
          <a:prstGeom prst="rect">
            <a:avLst/>
          </a:prstGeom>
          <a:noFill/>
          <a:ln/>
        </p:spPr>
        <p:txBody>
          <a:bodyPr wrap="square" lIns="0" tIns="0" rIns="0" bIns="0" rtlCol="0" anchor="ctr">
            <a:normAutofit/>
          </a:bodyPr>
          <a:lstStyle/>
          <a:p>
            <a:pPr algn="ctr" indent="0" marL="0">
              <a:buNone/>
            </a:pPr>
            <a:r>
              <a:rPr lang="en-US" sz="2800" b="1" dirty="0">
                <a:solidFill>
                  <a:srgbClr val="0D2447"/>
                </a:solidFill>
                <a:latin typeface="Arial" pitchFamily="34" charset="0"/>
                <a:ea typeface="Arial" pitchFamily="34" charset="-122"/>
                <a:cs typeface="Arial" pitchFamily="34" charset="-120"/>
              </a:rPr>
              <a:t>374</a:t>
            </a:r>
            <a:endParaRPr lang="en-US" sz="2800" dirty="0"/>
          </a:p>
        </p:txBody>
      </p:sp>
      <p:sp>
        <p:nvSpPr>
          <p:cNvPr id="15" name="Text 12"/>
          <p:cNvSpPr txBox="1"/>
          <p:nvPr/>
        </p:nvSpPr>
        <p:spPr>
          <a:xfrm>
            <a:off x="749808" y="2697480"/>
            <a:ext cx="1554480" cy="201168"/>
          </a:xfrm>
          <a:prstGeom prst="rect">
            <a:avLst/>
          </a:prstGeom>
          <a:noFill/>
          <a:ln/>
        </p:spPr>
        <p:txBody>
          <a:bodyPr wrap="square" lIns="0" tIns="0" rIns="0" bIns="0" rtlCol="0" anchor="ctr">
            <a:normAutofit/>
          </a:bodyPr>
          <a:lstStyle/>
          <a:p>
            <a:pPr algn="ctr" indent="0" marL="0">
              <a:buNone/>
            </a:pPr>
            <a:r>
              <a:rPr lang="en-US" sz="1020" dirty="0">
                <a:solidFill>
                  <a:srgbClr val="5B6B80"/>
                </a:solidFill>
                <a:latin typeface="Arial" pitchFamily="34" charset="0"/>
                <a:ea typeface="Arial" pitchFamily="34" charset="-122"/>
                <a:cs typeface="Arial" pitchFamily="34" charset="-120"/>
              </a:rPr>
              <a:t>tệp staging</a:t>
            </a:r>
            <a:endParaRPr lang="en-US" sz="1020" dirty="0"/>
          </a:p>
        </p:txBody>
      </p:sp>
      <p:sp>
        <p:nvSpPr>
          <p:cNvPr id="16" name="Shape 13"/>
          <p:cNvSpPr/>
          <p:nvPr/>
        </p:nvSpPr>
        <p:spPr>
          <a:xfrm>
            <a:off x="2651760" y="2029968"/>
            <a:ext cx="1737360" cy="1060704"/>
          </a:xfrm>
          <a:prstGeom prst="roundRect">
            <a:avLst>
              <a:gd name="adj" fmla="val 3448"/>
            </a:avLst>
          </a:prstGeom>
          <a:solidFill>
            <a:srgbClr val="FFFFFF"/>
          </a:solidFill>
          <a:ln w="12700">
            <a:solidFill>
              <a:srgbClr val="D7DEE8"/>
            </a:solidFill>
            <a:prstDash val="solid"/>
          </a:ln>
        </p:spPr>
      </p:sp>
      <p:sp>
        <p:nvSpPr>
          <p:cNvPr id="17" name="Text 14"/>
          <p:cNvSpPr txBox="1"/>
          <p:nvPr/>
        </p:nvSpPr>
        <p:spPr>
          <a:xfrm>
            <a:off x="2743200" y="2167128"/>
            <a:ext cx="1554480" cy="420624"/>
          </a:xfrm>
          <a:prstGeom prst="rect">
            <a:avLst/>
          </a:prstGeom>
          <a:noFill/>
          <a:ln/>
        </p:spPr>
        <p:txBody>
          <a:bodyPr wrap="square" lIns="0" tIns="0" rIns="0" bIns="0" rtlCol="0" anchor="ctr">
            <a:normAutofit/>
          </a:bodyPr>
          <a:lstStyle/>
          <a:p>
            <a:pPr algn="ctr" indent="0" marL="0">
              <a:buNone/>
            </a:pPr>
            <a:r>
              <a:rPr lang="en-US" sz="2800" b="1" dirty="0">
                <a:solidFill>
                  <a:srgbClr val="0D2447"/>
                </a:solidFill>
                <a:latin typeface="Arial" pitchFamily="34" charset="0"/>
                <a:ea typeface="Arial" pitchFamily="34" charset="-122"/>
                <a:cs typeface="Arial" pitchFamily="34" charset="-120"/>
              </a:rPr>
              <a:t>375</a:t>
            </a:r>
            <a:endParaRPr lang="en-US" sz="2800" dirty="0"/>
          </a:p>
        </p:txBody>
      </p:sp>
      <p:sp>
        <p:nvSpPr>
          <p:cNvPr id="18" name="Text 15"/>
          <p:cNvSpPr txBox="1"/>
          <p:nvPr/>
        </p:nvSpPr>
        <p:spPr>
          <a:xfrm>
            <a:off x="2743200" y="2697480"/>
            <a:ext cx="1554480" cy="201168"/>
          </a:xfrm>
          <a:prstGeom prst="rect">
            <a:avLst/>
          </a:prstGeom>
          <a:noFill/>
          <a:ln/>
        </p:spPr>
        <p:txBody>
          <a:bodyPr wrap="square" lIns="0" tIns="0" rIns="0" bIns="0" rtlCol="0" anchor="ctr">
            <a:normAutofit/>
          </a:bodyPr>
          <a:lstStyle/>
          <a:p>
            <a:pPr algn="ctr" indent="0" marL="0">
              <a:buNone/>
            </a:pPr>
            <a:r>
              <a:rPr lang="en-US" sz="1020" dirty="0">
                <a:solidFill>
                  <a:srgbClr val="5B6B80"/>
                </a:solidFill>
                <a:latin typeface="Arial" pitchFamily="34" charset="0"/>
                <a:ea typeface="Arial" pitchFamily="34" charset="-122"/>
                <a:cs typeface="Arial" pitchFamily="34" charset="-120"/>
              </a:rPr>
              <a:t>entry trong ZIP hiện có</a:t>
            </a:r>
            <a:endParaRPr lang="en-US" sz="1020" dirty="0"/>
          </a:p>
        </p:txBody>
      </p:sp>
      <p:sp>
        <p:nvSpPr>
          <p:cNvPr id="19" name="Shape 16"/>
          <p:cNvSpPr/>
          <p:nvPr/>
        </p:nvSpPr>
        <p:spPr>
          <a:xfrm>
            <a:off x="4645152" y="2029968"/>
            <a:ext cx="1737360" cy="1060704"/>
          </a:xfrm>
          <a:prstGeom prst="roundRect">
            <a:avLst>
              <a:gd name="adj" fmla="val 3448"/>
            </a:avLst>
          </a:prstGeom>
          <a:solidFill>
            <a:srgbClr val="FFFFFF"/>
          </a:solidFill>
          <a:ln w="12700">
            <a:solidFill>
              <a:srgbClr val="D7DEE8"/>
            </a:solidFill>
            <a:prstDash val="solid"/>
          </a:ln>
        </p:spPr>
      </p:sp>
      <p:sp>
        <p:nvSpPr>
          <p:cNvPr id="20" name="Text 17"/>
          <p:cNvSpPr txBox="1"/>
          <p:nvPr/>
        </p:nvSpPr>
        <p:spPr>
          <a:xfrm>
            <a:off x="4736592" y="2167128"/>
            <a:ext cx="1554480" cy="420624"/>
          </a:xfrm>
          <a:prstGeom prst="rect">
            <a:avLst/>
          </a:prstGeom>
          <a:noFill/>
          <a:ln/>
        </p:spPr>
        <p:txBody>
          <a:bodyPr wrap="square" lIns="0" tIns="0" rIns="0" bIns="0" rtlCol="0" anchor="ctr">
            <a:normAutofit/>
          </a:bodyPr>
          <a:lstStyle/>
          <a:p>
            <a:pPr algn="ctr" indent="0" marL="0">
              <a:buNone/>
            </a:pPr>
            <a:r>
              <a:rPr lang="en-US" sz="2800" b="1" dirty="0">
                <a:solidFill>
                  <a:srgbClr val="B42318"/>
                </a:solidFill>
                <a:latin typeface="Arial" pitchFamily="34" charset="0"/>
                <a:ea typeface="Arial" pitchFamily="34" charset="-122"/>
                <a:cs typeface="Arial" pitchFamily="34" charset="-120"/>
              </a:rPr>
              <a:t>2</a:t>
            </a:r>
            <a:endParaRPr lang="en-US" sz="2800" dirty="0"/>
          </a:p>
        </p:txBody>
      </p:sp>
      <p:sp>
        <p:nvSpPr>
          <p:cNvPr id="21" name="Text 18"/>
          <p:cNvSpPr txBox="1"/>
          <p:nvPr/>
        </p:nvSpPr>
        <p:spPr>
          <a:xfrm>
            <a:off x="4736592" y="2697480"/>
            <a:ext cx="1554480" cy="201168"/>
          </a:xfrm>
          <a:prstGeom prst="rect">
            <a:avLst/>
          </a:prstGeom>
          <a:noFill/>
          <a:ln/>
        </p:spPr>
        <p:txBody>
          <a:bodyPr wrap="square" lIns="0" tIns="0" rIns="0" bIns="0" rtlCol="0" anchor="ctr">
            <a:normAutofit/>
          </a:bodyPr>
          <a:lstStyle/>
          <a:p>
            <a:pPr algn="ctr" indent="0" marL="0">
              <a:buNone/>
            </a:pPr>
            <a:r>
              <a:rPr lang="en-US" sz="1020" dirty="0">
                <a:solidFill>
                  <a:srgbClr val="5B6B80"/>
                </a:solidFill>
                <a:latin typeface="Arial" pitchFamily="34" charset="0"/>
                <a:ea typeface="Arial" pitchFamily="34" charset="-122"/>
                <a:cs typeface="Arial" pitchFamily="34" charset="-120"/>
              </a:rPr>
              <a:t>hash đang xung đột</a:t>
            </a:r>
            <a:endParaRPr lang="en-US" sz="1020" dirty="0"/>
          </a:p>
        </p:txBody>
      </p:sp>
      <p:sp>
        <p:nvSpPr>
          <p:cNvPr id="22" name="Shape 19"/>
          <p:cNvSpPr/>
          <p:nvPr/>
        </p:nvSpPr>
        <p:spPr>
          <a:xfrm>
            <a:off x="6812280" y="1993392"/>
            <a:ext cx="4709160" cy="1847088"/>
          </a:xfrm>
          <a:prstGeom prst="roundRect">
            <a:avLst>
              <a:gd name="adj" fmla="val 1980"/>
            </a:avLst>
          </a:prstGeom>
          <a:solidFill>
            <a:srgbClr val="FFF4E8"/>
          </a:solidFill>
          <a:ln w="12700">
            <a:solidFill>
              <a:srgbClr val="9A5B00"/>
            </a:solidFill>
            <a:prstDash val="solid"/>
          </a:ln>
        </p:spPr>
      </p:sp>
      <p:sp>
        <p:nvSpPr>
          <p:cNvPr id="23" name="Text 20"/>
          <p:cNvSpPr txBox="1"/>
          <p:nvPr/>
        </p:nvSpPr>
        <p:spPr>
          <a:xfrm>
            <a:off x="7114032" y="2249424"/>
            <a:ext cx="1371600" cy="256032"/>
          </a:xfrm>
          <a:prstGeom prst="rect">
            <a:avLst/>
          </a:prstGeom>
          <a:noFill/>
          <a:ln/>
        </p:spPr>
        <p:txBody>
          <a:bodyPr wrap="square" lIns="0" tIns="0" rIns="0" bIns="0" rtlCol="0" anchor="t">
            <a:normAutofit/>
          </a:bodyPr>
          <a:lstStyle/>
          <a:p>
            <a:pPr algn="l" indent="0" marL="0">
              <a:buNone/>
            </a:pPr>
            <a:r>
              <a:rPr lang="en-US" sz="1100" b="1" dirty="0">
                <a:solidFill>
                  <a:srgbClr val="9A5B00"/>
                </a:solidFill>
                <a:latin typeface="Arial" pitchFamily="34" charset="0"/>
                <a:ea typeface="Arial" pitchFamily="34" charset="-122"/>
                <a:cs typeface="Arial" pitchFamily="34" charset="-120"/>
              </a:rPr>
              <a:t>HASH DRIFT</a:t>
            </a:r>
            <a:endParaRPr lang="en-US" sz="1100" dirty="0"/>
          </a:p>
        </p:txBody>
      </p:sp>
      <p:sp>
        <p:nvSpPr>
          <p:cNvPr id="24" name="Text 21"/>
          <p:cNvSpPr txBox="1"/>
          <p:nvPr/>
        </p:nvSpPr>
        <p:spPr>
          <a:xfrm>
            <a:off x="7114032" y="2706624"/>
            <a:ext cx="1554480" cy="182880"/>
          </a:xfrm>
          <a:prstGeom prst="rect">
            <a:avLst/>
          </a:prstGeom>
          <a:noFill/>
          <a:ln/>
        </p:spPr>
        <p:txBody>
          <a:bodyPr wrap="square" lIns="0" tIns="0" rIns="0" bIns="0" rtlCol="0" anchor="t">
            <a:normAutofit/>
          </a:bodyPr>
          <a:lstStyle/>
          <a:p>
            <a:pPr algn="l" indent="0" marL="0">
              <a:buNone/>
            </a:pPr>
            <a:r>
              <a:rPr lang="en-US" sz="1020" dirty="0">
                <a:solidFill>
                  <a:srgbClr val="5B6B80"/>
                </a:solidFill>
                <a:latin typeface="Arial" pitchFamily="34" charset="0"/>
                <a:ea typeface="Arial" pitchFamily="34" charset="-122"/>
                <a:cs typeface="Arial" pitchFamily="34" charset="-120"/>
              </a:rPr>
              <a:t>Summary/evidence</a:t>
            </a:r>
            <a:endParaRPr lang="en-US" sz="1020" dirty="0"/>
          </a:p>
        </p:txBody>
      </p:sp>
      <p:sp>
        <p:nvSpPr>
          <p:cNvPr id="25" name="Text 22"/>
          <p:cNvSpPr txBox="1"/>
          <p:nvPr/>
        </p:nvSpPr>
        <p:spPr>
          <a:xfrm>
            <a:off x="8732520" y="2651760"/>
            <a:ext cx="2377440" cy="256032"/>
          </a:xfrm>
          <a:prstGeom prst="rect">
            <a:avLst/>
          </a:prstGeom>
          <a:noFill/>
          <a:ln/>
        </p:spPr>
        <p:txBody>
          <a:bodyPr wrap="square" lIns="0" tIns="0" rIns="0" bIns="0" rtlCol="0" anchor="t">
            <a:normAutofit/>
          </a:bodyPr>
          <a:lstStyle/>
          <a:p>
            <a:pPr algn="r" indent="0" marL="0">
              <a:buNone/>
            </a:pPr>
            <a:r>
              <a:rPr lang="en-US" sz="1120" b="1" dirty="0">
                <a:solidFill>
                  <a:srgbClr val="07182F"/>
                </a:solidFill>
                <a:latin typeface="Arial" pitchFamily="34" charset="0"/>
                <a:ea typeface="Arial" pitchFamily="34" charset="-122"/>
                <a:cs typeface="Arial" pitchFamily="34" charset="-120"/>
              </a:rPr>
              <a:t>6b48834ff3cf…12cdbd</a:t>
            </a:r>
            <a:endParaRPr lang="en-US" sz="1120" dirty="0"/>
          </a:p>
        </p:txBody>
      </p:sp>
      <p:sp>
        <p:nvSpPr>
          <p:cNvPr id="26" name="Text 23"/>
          <p:cNvSpPr txBox="1"/>
          <p:nvPr/>
        </p:nvSpPr>
        <p:spPr>
          <a:xfrm>
            <a:off x="7114032" y="3163824"/>
            <a:ext cx="1554480" cy="182880"/>
          </a:xfrm>
          <a:prstGeom prst="rect">
            <a:avLst/>
          </a:prstGeom>
          <a:noFill/>
          <a:ln/>
        </p:spPr>
        <p:txBody>
          <a:bodyPr wrap="square" lIns="0" tIns="0" rIns="0" bIns="0" rtlCol="0" anchor="t">
            <a:normAutofit/>
          </a:bodyPr>
          <a:lstStyle/>
          <a:p>
            <a:pPr algn="l" indent="0" marL="0">
              <a:buNone/>
            </a:pPr>
            <a:r>
              <a:rPr lang="en-US" sz="1020" dirty="0">
                <a:solidFill>
                  <a:srgbClr val="5B6B80"/>
                </a:solidFill>
                <a:latin typeface="Arial" pitchFamily="34" charset="0"/>
                <a:ea typeface="Arial" pitchFamily="34" charset="-122"/>
                <a:cs typeface="Arial" pitchFamily="34" charset="-120"/>
              </a:rPr>
              <a:t>ZIP trên đĩa 27/8</a:t>
            </a:r>
            <a:endParaRPr lang="en-US" sz="1020" dirty="0"/>
          </a:p>
        </p:txBody>
      </p:sp>
      <p:sp>
        <p:nvSpPr>
          <p:cNvPr id="27" name="Text 24"/>
          <p:cNvSpPr txBox="1"/>
          <p:nvPr/>
        </p:nvSpPr>
        <p:spPr>
          <a:xfrm>
            <a:off x="8732520" y="3108960"/>
            <a:ext cx="2377440" cy="256032"/>
          </a:xfrm>
          <a:prstGeom prst="rect">
            <a:avLst/>
          </a:prstGeom>
          <a:noFill/>
          <a:ln/>
        </p:spPr>
        <p:txBody>
          <a:bodyPr wrap="square" lIns="0" tIns="0" rIns="0" bIns="0" rtlCol="0" anchor="t">
            <a:normAutofit/>
          </a:bodyPr>
          <a:lstStyle/>
          <a:p>
            <a:pPr algn="r" indent="0" marL="0">
              <a:buNone/>
            </a:pPr>
            <a:r>
              <a:rPr lang="en-US" sz="1120" b="1" dirty="0">
                <a:solidFill>
                  <a:srgbClr val="07182F"/>
                </a:solidFill>
                <a:latin typeface="Arial" pitchFamily="34" charset="0"/>
                <a:ea typeface="Arial" pitchFamily="34" charset="-122"/>
                <a:cs typeface="Arial" pitchFamily="34" charset="-120"/>
              </a:rPr>
              <a:t>b3e4f359da9d…02451</a:t>
            </a:r>
            <a:endParaRPr lang="en-US" sz="1120" dirty="0"/>
          </a:p>
        </p:txBody>
      </p:sp>
      <p:sp>
        <p:nvSpPr>
          <p:cNvPr id="28" name="Shape 25"/>
          <p:cNvSpPr/>
          <p:nvPr/>
        </p:nvSpPr>
        <p:spPr>
          <a:xfrm>
            <a:off x="658368" y="4224528"/>
            <a:ext cx="10863072" cy="1280160"/>
          </a:xfrm>
          <a:prstGeom prst="roundRect">
            <a:avLst>
              <a:gd name="adj" fmla="val 2857"/>
            </a:avLst>
          </a:prstGeom>
          <a:solidFill>
            <a:srgbClr val="FFFFFF"/>
          </a:solidFill>
          <a:ln w="12700">
            <a:solidFill>
              <a:srgbClr val="B42318"/>
            </a:solidFill>
            <a:prstDash val="solid"/>
          </a:ln>
        </p:spPr>
      </p:sp>
      <p:sp>
        <p:nvSpPr>
          <p:cNvPr id="29" name="Text 26"/>
          <p:cNvSpPr txBox="1"/>
          <p:nvPr/>
        </p:nvSpPr>
        <p:spPr>
          <a:xfrm>
            <a:off x="932688" y="4498848"/>
            <a:ext cx="960120" cy="256032"/>
          </a:xfrm>
          <a:prstGeom prst="rect">
            <a:avLst/>
          </a:prstGeom>
          <a:noFill/>
          <a:ln/>
        </p:spPr>
        <p:txBody>
          <a:bodyPr wrap="square" lIns="0" tIns="0" rIns="0" bIns="0" rtlCol="0" anchor="t">
            <a:normAutofit/>
          </a:bodyPr>
          <a:lstStyle/>
          <a:p>
            <a:pPr algn="l" indent="0" marL="0">
              <a:buNone/>
            </a:pPr>
            <a:r>
              <a:rPr lang="en-US" sz="1400" b="1" dirty="0">
                <a:solidFill>
                  <a:srgbClr val="B42318"/>
                </a:solidFill>
                <a:latin typeface="Arial" pitchFamily="34" charset="0"/>
                <a:ea typeface="Arial" pitchFamily="34" charset="-122"/>
                <a:cs typeface="Arial" pitchFamily="34" charset="-120"/>
              </a:rPr>
              <a:t>Kết luận</a:t>
            </a:r>
            <a:endParaRPr lang="en-US" sz="1400" dirty="0"/>
          </a:p>
        </p:txBody>
      </p:sp>
      <p:sp>
        <p:nvSpPr>
          <p:cNvPr id="30" name="Text 27"/>
          <p:cNvSpPr txBox="1"/>
          <p:nvPr/>
        </p:nvSpPr>
        <p:spPr>
          <a:xfrm>
            <a:off x="2103120" y="4407408"/>
            <a:ext cx="8961120" cy="457200"/>
          </a:xfrm>
          <a:prstGeom prst="rect">
            <a:avLst/>
          </a:prstGeom>
          <a:noFill/>
          <a:ln/>
        </p:spPr>
        <p:txBody>
          <a:bodyPr wrap="square" lIns="0" tIns="0" rIns="0" bIns="0" rtlCol="0" anchor="ctr">
            <a:normAutofit/>
          </a:bodyPr>
          <a:lstStyle/>
          <a:p>
            <a:pPr algn="ctr" indent="0" marL="0">
              <a:buNone/>
            </a:pPr>
            <a:r>
              <a:rPr lang="en-US" sz="1550" b="1" dirty="0">
                <a:solidFill>
                  <a:srgbClr val="07182F"/>
                </a:solidFill>
                <a:latin typeface="Arial" pitchFamily="34" charset="0"/>
                <a:ea typeface="Arial" pitchFamily="34" charset="-122"/>
                <a:cs typeface="Arial" pitchFamily="34" charset="-120"/>
              </a:rPr>
              <a:t>Không phân phối ZIP như một hash-locked RC trước khi tái tạo summary, SHA-256 và smoke evidence.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algn="l" indent="0" marL="0">
              <a:buNone/>
            </a:pPr>
            <a:r>
              <a:rPr lang="en-US" sz="950" b="1" dirty="0">
                <a:solidFill>
                  <a:srgbClr val="5B6B80"/>
                </a:solidFill>
                <a:latin typeface="Arial" pitchFamily="34" charset="0"/>
                <a:ea typeface="Arial" pitchFamily="34" charset="-122"/>
                <a:cs typeface="Arial" pitchFamily="34" charset="-120"/>
              </a:rPr>
              <a:t>BÁO CÁO NGHIỆM THU</a:t>
            </a:r>
            <a:endParaRPr lang="en-US" sz="950" dirty="0"/>
          </a:p>
        </p:txBody>
      </p:sp>
      <p:sp>
        <p:nvSpPr>
          <p:cNvPr id="4" name="Text 2"/>
          <p:cNvSpPr txBox="1"/>
          <p:nvPr/>
        </p:nvSpPr>
        <p:spPr>
          <a:xfrm>
            <a:off x="612648" y="658368"/>
            <a:ext cx="10972800" cy="603504"/>
          </a:xfrm>
          <a:prstGeom prst="rect">
            <a:avLst/>
          </a:prstGeom>
          <a:noFill/>
          <a:ln/>
        </p:spPr>
        <p:txBody>
          <a:bodyPr wrap="square" lIns="0" tIns="0" rIns="0" bIns="0" rtlCol="0" anchor="ctr">
            <a:normAutofit/>
          </a:bodyPr>
          <a:lstStyle/>
          <a:p>
            <a:pPr algn="l" indent="0" marL="0">
              <a:buNone/>
            </a:pPr>
            <a:r>
              <a:rPr lang="en-US" sz="2350" b="1" dirty="0">
                <a:solidFill>
                  <a:srgbClr val="07182F"/>
                </a:solidFill>
                <a:latin typeface="Georgia" pitchFamily="34" charset="0"/>
                <a:ea typeface="Georgia" pitchFamily="34" charset="-122"/>
                <a:cs typeface="Georgia" pitchFamily="34" charset="-120"/>
              </a:rPr>
              <a:t>20/24 gate pass, nhưng trạng thái tổng thể vẫn blocked</a:t>
            </a:r>
            <a:endParaRPr lang="en-US" sz="235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algn="r" indent="0" marL="0">
              <a:buNone/>
            </a:pPr>
            <a:r>
              <a:rPr lang="en-US" sz="1000" b="1" dirty="0">
                <a:solidFill>
                  <a:srgbClr val="C9963A"/>
                </a:solidFill>
                <a:latin typeface="Arial" pitchFamily="34" charset="0"/>
                <a:ea typeface="Arial" pitchFamily="34" charset="-122"/>
                <a:cs typeface="Arial" pitchFamily="34" charset="-120"/>
              </a:rPr>
              <a:t>11</a:t>
            </a:r>
            <a:endParaRPr lang="en-US" sz="1000" dirty="0"/>
          </a:p>
        </p:txBody>
      </p:sp>
      <p:sp>
        <p:nvSpPr>
          <p:cNvPr id="6" name="Shape 4"/>
          <p:cNvSpPr/>
          <p:nvPr/>
        </p:nvSpPr>
        <p:spPr>
          <a:xfrm>
            <a:off x="612648" y="1335024"/>
            <a:ext cx="10972800" cy="438912"/>
          </a:xfrm>
          <a:prstGeom prst="rect">
            <a:avLst/>
          </a:prstGeom>
          <a:solidFill>
            <a:srgbClr val="EEF2F7"/>
          </a:solidFill>
          <a:ln w="12700">
            <a:solidFill>
              <a:srgbClr val="D7DEE8"/>
            </a:solidFill>
            <a:prstDash val="solid"/>
          </a:ln>
        </p:spPr>
      </p:sp>
      <p:sp>
        <p:nvSpPr>
          <p:cNvPr id="7" name="Text 5"/>
          <p:cNvSpPr txBox="1"/>
          <p:nvPr/>
        </p:nvSpPr>
        <p:spPr>
          <a:xfrm>
            <a:off x="822960" y="1426464"/>
            <a:ext cx="10561320" cy="237744"/>
          </a:xfrm>
          <a:prstGeom prst="rect">
            <a:avLst/>
          </a:prstGeom>
          <a:noFill/>
          <a:ln/>
        </p:spPr>
        <p:txBody>
          <a:bodyPr wrap="square" lIns="0" tIns="0" rIns="0" bIns="0" rtlCol="0" anchor="ctr">
            <a:normAutofit/>
          </a:bodyPr>
          <a:lstStyle/>
          <a:p>
            <a:pPr algn="l" indent="0" marL="0">
              <a:buNone/>
            </a:pPr>
            <a:r>
              <a:rPr lang="en-US" sz="1320" b="1" dirty="0">
                <a:solidFill>
                  <a:srgbClr val="0D2447"/>
                </a:solidFill>
                <a:latin typeface="Arial" pitchFamily="34" charset="0"/>
                <a:ea typeface="Arial" pitchFamily="34" charset="-122"/>
                <a:cs typeface="Arial" pitchFamily="34" charset="-120"/>
              </a:rPr>
              <a:t>20 pass · 0 fail · 3 blocked · 1 not-run.</a:t>
            </a:r>
            <a:endParaRPr lang="en-US" sz="132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algn="l" indent="0" marL="0">
              <a:buNone/>
            </a:pPr>
            <a:r>
              <a:rPr lang="en-US" sz="820" dirty="0">
                <a:solidFill>
                  <a:srgbClr val="5B6B80"/>
                </a:solidFill>
                <a:latin typeface="Arial" pitchFamily="34" charset="0"/>
                <a:ea typeface="Arial" pitchFamily="34" charset="-122"/>
                <a:cs typeface="Arial" pitchFamily="34" charset="-120"/>
              </a:rPr>
              <a:t>HỘI ĐỒNG KHOA HỌC KHOA KTCS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algn="ctr" indent="0" marL="0">
              <a:buNone/>
            </a:pPr>
            <a:r>
              <a:rPr lang="en-US" sz="760" dirty="0">
                <a:solidFill>
                  <a:srgbClr val="5B6B80"/>
                </a:solidFill>
                <a:latin typeface="Arial" pitchFamily="34" charset="0"/>
                <a:ea typeface="Arial" pitchFamily="34" charset="-122"/>
                <a:cs typeface="Arial" pitchFamily="34" charset="-120"/>
              </a:rPr>
              <a:t>data/acceptance-report.json:3-11,236-255</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algn="r" indent="0" marL="0">
              <a:buNone/>
            </a:pPr>
            <a:r>
              <a:rPr lang="en-US" sz="820" dirty="0">
                <a:solidFill>
                  <a:srgbClr val="5B6B80"/>
                </a:solidFill>
                <a:latin typeface="Arial" pitchFamily="34" charset="0"/>
                <a:ea typeface="Arial" pitchFamily="34" charset="-122"/>
                <a:cs typeface="Arial" pitchFamily="34" charset="-120"/>
              </a:rPr>
              <a:t>11</a:t>
            </a:r>
            <a:endParaRPr lang="en-US" sz="820" dirty="0"/>
          </a:p>
        </p:txBody>
      </p:sp>
      <p:sp>
        <p:nvSpPr>
          <p:cNvPr id="13" name="Shape 10"/>
          <p:cNvSpPr/>
          <p:nvPr/>
        </p:nvSpPr>
        <p:spPr>
          <a:xfrm>
            <a:off x="777240" y="2212848"/>
            <a:ext cx="5486400" cy="530352"/>
          </a:xfrm>
          <a:prstGeom prst="rect">
            <a:avLst/>
          </a:prstGeom>
          <a:solidFill>
            <a:srgbClr val="137A3D"/>
          </a:solidFill>
          <a:ln w="12700">
            <a:solidFill>
              <a:srgbClr val="137A3D"/>
            </a:solidFill>
            <a:prstDash val="solid"/>
          </a:ln>
        </p:spPr>
      </p:sp>
      <p:sp>
        <p:nvSpPr>
          <p:cNvPr id="14" name="Shape 11"/>
          <p:cNvSpPr/>
          <p:nvPr/>
        </p:nvSpPr>
        <p:spPr>
          <a:xfrm>
            <a:off x="6263640" y="2212848"/>
            <a:ext cx="822960" cy="530352"/>
          </a:xfrm>
          <a:prstGeom prst="rect">
            <a:avLst/>
          </a:prstGeom>
          <a:solidFill>
            <a:srgbClr val="9A5B00"/>
          </a:solidFill>
          <a:ln w="12700">
            <a:solidFill>
              <a:srgbClr val="9A5B00"/>
            </a:solidFill>
            <a:prstDash val="solid"/>
          </a:ln>
        </p:spPr>
      </p:sp>
      <p:sp>
        <p:nvSpPr>
          <p:cNvPr id="15" name="Shape 12"/>
          <p:cNvSpPr/>
          <p:nvPr/>
        </p:nvSpPr>
        <p:spPr>
          <a:xfrm>
            <a:off x="7086600" y="2212848"/>
            <a:ext cx="274320" cy="530352"/>
          </a:xfrm>
          <a:prstGeom prst="rect">
            <a:avLst/>
          </a:prstGeom>
          <a:solidFill>
            <a:srgbClr val="5B6B80"/>
          </a:solidFill>
          <a:ln w="12700">
            <a:solidFill>
              <a:srgbClr val="5B6B80"/>
            </a:solidFill>
            <a:prstDash val="solid"/>
          </a:ln>
        </p:spPr>
      </p:sp>
      <p:sp>
        <p:nvSpPr>
          <p:cNvPr id="16" name="Text 13"/>
          <p:cNvSpPr txBox="1"/>
          <p:nvPr/>
        </p:nvSpPr>
        <p:spPr>
          <a:xfrm>
            <a:off x="868680" y="2340864"/>
            <a:ext cx="1828800" cy="164592"/>
          </a:xfrm>
          <a:prstGeom prst="rect">
            <a:avLst/>
          </a:prstGeom>
          <a:noFill/>
          <a:ln/>
        </p:spPr>
        <p:txBody>
          <a:bodyPr wrap="square" lIns="0" tIns="0" rIns="0" bIns="0" rtlCol="0" anchor="t">
            <a:normAutofit/>
          </a:bodyPr>
          <a:lstStyle/>
          <a:p>
            <a:pPr algn="l" indent="0" marL="0">
              <a:buNone/>
            </a:pPr>
            <a:r>
              <a:rPr lang="en-US" sz="1000" b="1" dirty="0">
                <a:solidFill>
                  <a:srgbClr val="FFFFFF"/>
                </a:solidFill>
                <a:latin typeface="Arial" pitchFamily="34" charset="0"/>
                <a:ea typeface="Arial" pitchFamily="34" charset="-122"/>
                <a:cs typeface="Arial" pitchFamily="34" charset="-120"/>
              </a:rPr>
              <a:t>20 PASS</a:t>
            </a:r>
            <a:endParaRPr lang="en-US" sz="1000" dirty="0"/>
          </a:p>
        </p:txBody>
      </p:sp>
      <p:sp>
        <p:nvSpPr>
          <p:cNvPr id="17" name="Text 14"/>
          <p:cNvSpPr txBox="1"/>
          <p:nvPr/>
        </p:nvSpPr>
        <p:spPr>
          <a:xfrm>
            <a:off x="5989320" y="2340864"/>
            <a:ext cx="1097280" cy="164592"/>
          </a:xfrm>
          <a:prstGeom prst="rect">
            <a:avLst/>
          </a:prstGeom>
          <a:noFill/>
          <a:ln/>
        </p:spPr>
        <p:txBody>
          <a:bodyPr wrap="square" lIns="0" tIns="0" rIns="0" bIns="0" rtlCol="0" anchor="t">
            <a:normAutofit/>
          </a:bodyPr>
          <a:lstStyle/>
          <a:p>
            <a:pPr algn="r" indent="0" marL="0">
              <a:buNone/>
            </a:pPr>
            <a:r>
              <a:rPr lang="en-US" sz="850" b="1" dirty="0">
                <a:solidFill>
                  <a:srgbClr val="FFFFFF"/>
                </a:solidFill>
                <a:latin typeface="Arial" pitchFamily="34" charset="0"/>
                <a:ea typeface="Arial" pitchFamily="34" charset="-122"/>
                <a:cs typeface="Arial" pitchFamily="34" charset="-120"/>
              </a:rPr>
              <a:t>3 BLOCKED</a:t>
            </a:r>
            <a:endParaRPr lang="en-US" sz="850" dirty="0"/>
          </a:p>
        </p:txBody>
      </p:sp>
      <p:sp>
        <p:nvSpPr>
          <p:cNvPr id="18" name="Text 15"/>
          <p:cNvSpPr txBox="1"/>
          <p:nvPr/>
        </p:nvSpPr>
        <p:spPr>
          <a:xfrm>
            <a:off x="7114032" y="2340864"/>
            <a:ext cx="137160" cy="164592"/>
          </a:xfrm>
          <a:prstGeom prst="rect">
            <a:avLst/>
          </a:prstGeom>
          <a:noFill/>
          <a:ln/>
        </p:spPr>
        <p:txBody>
          <a:bodyPr wrap="square" lIns="0" tIns="0" rIns="0" bIns="0" rtlCol="0" anchor="t">
            <a:normAutofit/>
          </a:bodyPr>
          <a:lstStyle/>
          <a:p>
            <a:pPr algn="ctr" indent="0" marL="0">
              <a:buNone/>
            </a:pPr>
            <a:r>
              <a:rPr lang="en-US" sz="850" b="1" dirty="0">
                <a:solidFill>
                  <a:srgbClr val="FFFFFF"/>
                </a:solidFill>
                <a:latin typeface="Arial" pitchFamily="34" charset="0"/>
                <a:ea typeface="Arial" pitchFamily="34" charset="-122"/>
                <a:cs typeface="Arial" pitchFamily="34" charset="-120"/>
              </a:rPr>
              <a:t>1</a:t>
            </a:r>
            <a:endParaRPr lang="en-US" sz="850" dirty="0"/>
          </a:p>
        </p:txBody>
      </p:sp>
      <p:sp>
        <p:nvSpPr>
          <p:cNvPr id="19" name="Text 16"/>
          <p:cNvSpPr txBox="1"/>
          <p:nvPr/>
        </p:nvSpPr>
        <p:spPr>
          <a:xfrm>
            <a:off x="777240" y="2907792"/>
            <a:ext cx="6583680" cy="219456"/>
          </a:xfrm>
          <a:prstGeom prst="rect">
            <a:avLst/>
          </a:prstGeom>
          <a:noFill/>
          <a:ln/>
        </p:spPr>
        <p:txBody>
          <a:bodyPr wrap="square" lIns="0" tIns="0" rIns="0" bIns="0" rtlCol="0" anchor="t">
            <a:normAutofit/>
          </a:bodyPr>
          <a:lstStyle/>
          <a:p>
            <a:pPr algn="ctr" indent="0" marL="0">
              <a:buNone/>
            </a:pPr>
            <a:r>
              <a:rPr lang="en-US" sz="1120" dirty="0">
                <a:solidFill>
                  <a:srgbClr val="5B6B80"/>
                </a:solidFill>
                <a:latin typeface="Arial" pitchFamily="34" charset="0"/>
                <a:ea typeface="Arial" pitchFamily="34" charset="-122"/>
                <a:cs typeface="Arial" pitchFamily="34" charset="-120"/>
              </a:rPr>
              <a:t>24 gate · số tuyệt đối, không dùng % như điểm chất lượng</a:t>
            </a:r>
            <a:endParaRPr lang="en-US" sz="1120" dirty="0"/>
          </a:p>
        </p:txBody>
      </p:sp>
      <p:sp>
        <p:nvSpPr>
          <p:cNvPr id="20" name="Text 17"/>
          <p:cNvSpPr txBox="1"/>
          <p:nvPr/>
        </p:nvSpPr>
        <p:spPr>
          <a:xfrm>
            <a:off x="841248" y="3456432"/>
            <a:ext cx="960120" cy="228600"/>
          </a:xfrm>
          <a:prstGeom prst="rect">
            <a:avLst/>
          </a:prstGeom>
          <a:noFill/>
          <a:ln/>
        </p:spPr>
        <p:txBody>
          <a:bodyPr wrap="square" lIns="0" tIns="0" rIns="0" bIns="0" rtlCol="0" anchor="t">
            <a:normAutofit/>
          </a:bodyPr>
          <a:lstStyle/>
          <a:p>
            <a:pPr algn="l" indent="0" marL="0">
              <a:buNone/>
            </a:pPr>
            <a:r>
              <a:rPr lang="en-US" sz="1050" b="1" dirty="0">
                <a:solidFill>
                  <a:srgbClr val="137A3D"/>
                </a:solidFill>
                <a:latin typeface="Arial" pitchFamily="34" charset="0"/>
                <a:ea typeface="Arial" pitchFamily="34" charset="-122"/>
                <a:cs typeface="Arial" pitchFamily="34" charset="-120"/>
              </a:rPr>
              <a:t>PASS</a:t>
            </a:r>
            <a:endParaRPr lang="en-US" sz="1050" dirty="0"/>
          </a:p>
        </p:txBody>
      </p:sp>
      <p:sp>
        <p:nvSpPr>
          <p:cNvPr id="21" name="Text 18"/>
          <p:cNvSpPr txBox="1"/>
          <p:nvPr/>
        </p:nvSpPr>
        <p:spPr>
          <a:xfrm>
            <a:off x="1828800" y="3410712"/>
            <a:ext cx="502920" cy="292608"/>
          </a:xfrm>
          <a:prstGeom prst="rect">
            <a:avLst/>
          </a:prstGeom>
          <a:noFill/>
          <a:ln/>
        </p:spPr>
        <p:txBody>
          <a:bodyPr wrap="square" lIns="0" tIns="0" rIns="0" bIns="0" rtlCol="0" anchor="t">
            <a:normAutofit/>
          </a:bodyPr>
          <a:lstStyle/>
          <a:p>
            <a:pPr algn="ctr" indent="0" marL="0">
              <a:buNone/>
            </a:pPr>
            <a:r>
              <a:rPr lang="en-US" sz="1700" b="1" dirty="0">
                <a:solidFill>
                  <a:srgbClr val="07182F"/>
                </a:solidFill>
                <a:latin typeface="Arial" pitchFamily="34" charset="0"/>
                <a:ea typeface="Arial" pitchFamily="34" charset="-122"/>
                <a:cs typeface="Arial" pitchFamily="34" charset="-120"/>
              </a:rPr>
              <a:t>20</a:t>
            </a:r>
            <a:endParaRPr lang="en-US" sz="1700" dirty="0"/>
          </a:p>
        </p:txBody>
      </p:sp>
      <p:sp>
        <p:nvSpPr>
          <p:cNvPr id="22" name="Text 19"/>
          <p:cNvSpPr txBox="1"/>
          <p:nvPr/>
        </p:nvSpPr>
        <p:spPr>
          <a:xfrm>
            <a:off x="2514600" y="3456432"/>
            <a:ext cx="4526280" cy="228600"/>
          </a:xfrm>
          <a:prstGeom prst="rect">
            <a:avLst/>
          </a:prstGeom>
          <a:noFill/>
          <a:ln/>
        </p:spPr>
        <p:txBody>
          <a:bodyPr wrap="square" lIns="0" tIns="0" rIns="0" bIns="0" rtlCol="0" anchor="t">
            <a:normAutofit/>
          </a:bodyPr>
          <a:lstStyle/>
          <a:p>
            <a:pPr algn="l" indent="0" marL="0">
              <a:buNone/>
            </a:pPr>
            <a:r>
              <a:rPr lang="en-US" sz="1120" dirty="0">
                <a:solidFill>
                  <a:srgbClr val="243247"/>
                </a:solidFill>
                <a:latin typeface="Arial" pitchFamily="34" charset="0"/>
                <a:ea typeface="Arial" pitchFamily="34" charset="-122"/>
                <a:cs typeface="Arial" pitchFamily="34" charset="-120"/>
              </a:rPr>
              <a:t>Đã có bằng chứng</a:t>
            </a:r>
            <a:endParaRPr lang="en-US" sz="1120" dirty="0"/>
          </a:p>
        </p:txBody>
      </p:sp>
      <p:sp>
        <p:nvSpPr>
          <p:cNvPr id="23" name="Text 20"/>
          <p:cNvSpPr txBox="1"/>
          <p:nvPr/>
        </p:nvSpPr>
        <p:spPr>
          <a:xfrm>
            <a:off x="841248" y="4023360"/>
            <a:ext cx="960120" cy="228600"/>
          </a:xfrm>
          <a:prstGeom prst="rect">
            <a:avLst/>
          </a:prstGeom>
          <a:noFill/>
          <a:ln/>
        </p:spPr>
        <p:txBody>
          <a:bodyPr wrap="square" lIns="0" tIns="0" rIns="0" bIns="0" rtlCol="0" anchor="t">
            <a:normAutofit/>
          </a:bodyPr>
          <a:lstStyle/>
          <a:p>
            <a:pPr algn="l" indent="0" marL="0">
              <a:buNone/>
            </a:pPr>
            <a:r>
              <a:rPr lang="en-US" sz="1050" b="1" dirty="0">
                <a:solidFill>
                  <a:srgbClr val="5B6B80"/>
                </a:solidFill>
                <a:latin typeface="Arial" pitchFamily="34" charset="0"/>
                <a:ea typeface="Arial" pitchFamily="34" charset="-122"/>
                <a:cs typeface="Arial" pitchFamily="34" charset="-120"/>
              </a:rPr>
              <a:t>FAIL</a:t>
            </a:r>
            <a:endParaRPr lang="en-US" sz="1050" dirty="0"/>
          </a:p>
        </p:txBody>
      </p:sp>
      <p:sp>
        <p:nvSpPr>
          <p:cNvPr id="24" name="Text 21"/>
          <p:cNvSpPr txBox="1"/>
          <p:nvPr/>
        </p:nvSpPr>
        <p:spPr>
          <a:xfrm>
            <a:off x="1828800" y="3977640"/>
            <a:ext cx="502920" cy="292608"/>
          </a:xfrm>
          <a:prstGeom prst="rect">
            <a:avLst/>
          </a:prstGeom>
          <a:noFill/>
          <a:ln/>
        </p:spPr>
        <p:txBody>
          <a:bodyPr wrap="square" lIns="0" tIns="0" rIns="0" bIns="0" rtlCol="0" anchor="t">
            <a:normAutofit/>
          </a:bodyPr>
          <a:lstStyle/>
          <a:p>
            <a:pPr algn="ctr" indent="0" marL="0">
              <a:buNone/>
            </a:pPr>
            <a:r>
              <a:rPr lang="en-US" sz="1700" b="1" dirty="0">
                <a:solidFill>
                  <a:srgbClr val="07182F"/>
                </a:solidFill>
                <a:latin typeface="Arial" pitchFamily="34" charset="0"/>
                <a:ea typeface="Arial" pitchFamily="34" charset="-122"/>
                <a:cs typeface="Arial" pitchFamily="34" charset="-120"/>
              </a:rPr>
              <a:t>0</a:t>
            </a:r>
            <a:endParaRPr lang="en-US" sz="1700" dirty="0"/>
          </a:p>
        </p:txBody>
      </p:sp>
      <p:sp>
        <p:nvSpPr>
          <p:cNvPr id="25" name="Text 22"/>
          <p:cNvSpPr txBox="1"/>
          <p:nvPr/>
        </p:nvSpPr>
        <p:spPr>
          <a:xfrm>
            <a:off x="2514600" y="4023360"/>
            <a:ext cx="4526280" cy="228600"/>
          </a:xfrm>
          <a:prstGeom prst="rect">
            <a:avLst/>
          </a:prstGeom>
          <a:noFill/>
          <a:ln/>
        </p:spPr>
        <p:txBody>
          <a:bodyPr wrap="square" lIns="0" tIns="0" rIns="0" bIns="0" rtlCol="0" anchor="t">
            <a:normAutofit/>
          </a:bodyPr>
          <a:lstStyle/>
          <a:p>
            <a:pPr algn="l" indent="0" marL="0">
              <a:buNone/>
            </a:pPr>
            <a:r>
              <a:rPr lang="en-US" sz="1120" dirty="0">
                <a:solidFill>
                  <a:srgbClr val="243247"/>
                </a:solidFill>
                <a:latin typeface="Arial" pitchFamily="34" charset="0"/>
                <a:ea typeface="Arial" pitchFamily="34" charset="-122"/>
                <a:cs typeface="Arial" pitchFamily="34" charset="-120"/>
              </a:rPr>
              <a:t>Không có gate phân loại fail</a:t>
            </a:r>
            <a:endParaRPr lang="en-US" sz="1120" dirty="0"/>
          </a:p>
        </p:txBody>
      </p:sp>
      <p:sp>
        <p:nvSpPr>
          <p:cNvPr id="26" name="Text 23"/>
          <p:cNvSpPr txBox="1"/>
          <p:nvPr/>
        </p:nvSpPr>
        <p:spPr>
          <a:xfrm>
            <a:off x="841248" y="4590288"/>
            <a:ext cx="960120" cy="228600"/>
          </a:xfrm>
          <a:prstGeom prst="rect">
            <a:avLst/>
          </a:prstGeom>
          <a:noFill/>
          <a:ln/>
        </p:spPr>
        <p:txBody>
          <a:bodyPr wrap="square" lIns="0" tIns="0" rIns="0" bIns="0" rtlCol="0" anchor="t">
            <a:normAutofit/>
          </a:bodyPr>
          <a:lstStyle/>
          <a:p>
            <a:pPr algn="l" indent="0" marL="0">
              <a:buNone/>
            </a:pPr>
            <a:r>
              <a:rPr lang="en-US" sz="1050" b="1" dirty="0">
                <a:solidFill>
                  <a:srgbClr val="9A5B00"/>
                </a:solidFill>
                <a:latin typeface="Arial" pitchFamily="34" charset="0"/>
                <a:ea typeface="Arial" pitchFamily="34" charset="-122"/>
                <a:cs typeface="Arial" pitchFamily="34" charset="-120"/>
              </a:rPr>
              <a:t>BLOCKED</a:t>
            </a:r>
            <a:endParaRPr lang="en-US" sz="1050" dirty="0"/>
          </a:p>
        </p:txBody>
      </p:sp>
      <p:sp>
        <p:nvSpPr>
          <p:cNvPr id="27" name="Text 24"/>
          <p:cNvSpPr txBox="1"/>
          <p:nvPr/>
        </p:nvSpPr>
        <p:spPr>
          <a:xfrm>
            <a:off x="1828800" y="4544568"/>
            <a:ext cx="502920" cy="292608"/>
          </a:xfrm>
          <a:prstGeom prst="rect">
            <a:avLst/>
          </a:prstGeom>
          <a:noFill/>
          <a:ln/>
        </p:spPr>
        <p:txBody>
          <a:bodyPr wrap="square" lIns="0" tIns="0" rIns="0" bIns="0" rtlCol="0" anchor="t">
            <a:normAutofit/>
          </a:bodyPr>
          <a:lstStyle/>
          <a:p>
            <a:pPr algn="ctr" indent="0" marL="0">
              <a:buNone/>
            </a:pPr>
            <a:r>
              <a:rPr lang="en-US" sz="1700" b="1" dirty="0">
                <a:solidFill>
                  <a:srgbClr val="07182F"/>
                </a:solidFill>
                <a:latin typeface="Arial" pitchFamily="34" charset="0"/>
                <a:ea typeface="Arial" pitchFamily="34" charset="-122"/>
                <a:cs typeface="Arial" pitchFamily="34" charset="-120"/>
              </a:rPr>
              <a:t>3</a:t>
            </a:r>
            <a:endParaRPr lang="en-US" sz="1700" dirty="0"/>
          </a:p>
        </p:txBody>
      </p:sp>
      <p:sp>
        <p:nvSpPr>
          <p:cNvPr id="28" name="Text 25"/>
          <p:cNvSpPr txBox="1"/>
          <p:nvPr/>
        </p:nvSpPr>
        <p:spPr>
          <a:xfrm>
            <a:off x="2514600" y="4590288"/>
            <a:ext cx="4526280" cy="228600"/>
          </a:xfrm>
          <a:prstGeom prst="rect">
            <a:avLst/>
          </a:prstGeom>
          <a:noFill/>
          <a:ln/>
        </p:spPr>
        <p:txBody>
          <a:bodyPr wrap="square" lIns="0" tIns="0" rIns="0" bIns="0" rtlCol="0" anchor="t">
            <a:normAutofit/>
          </a:bodyPr>
          <a:lstStyle/>
          <a:p>
            <a:pPr algn="l" indent="0" marL="0">
              <a:buNone/>
            </a:pPr>
            <a:r>
              <a:rPr lang="en-US" sz="1120" dirty="0">
                <a:solidFill>
                  <a:srgbClr val="243247"/>
                </a:solidFill>
                <a:latin typeface="Arial" pitchFamily="34" charset="0"/>
                <a:ea typeface="Arial" pitchFamily="34" charset="-122"/>
                <a:cs typeface="Arial" pitchFamily="34" charset="-120"/>
              </a:rPr>
              <a:t>Academic · accessibility · smoke</a:t>
            </a:r>
            <a:endParaRPr lang="en-US" sz="1120" dirty="0"/>
          </a:p>
        </p:txBody>
      </p:sp>
      <p:sp>
        <p:nvSpPr>
          <p:cNvPr id="29" name="Text 26"/>
          <p:cNvSpPr txBox="1"/>
          <p:nvPr/>
        </p:nvSpPr>
        <p:spPr>
          <a:xfrm>
            <a:off x="841248" y="5157216"/>
            <a:ext cx="960120" cy="228600"/>
          </a:xfrm>
          <a:prstGeom prst="rect">
            <a:avLst/>
          </a:prstGeom>
          <a:noFill/>
          <a:ln/>
        </p:spPr>
        <p:txBody>
          <a:bodyPr wrap="square" lIns="0" tIns="0" rIns="0" bIns="0" rtlCol="0" anchor="t">
            <a:normAutofit/>
          </a:bodyPr>
          <a:lstStyle/>
          <a:p>
            <a:pPr algn="l" indent="0" marL="0">
              <a:buNone/>
            </a:pPr>
            <a:r>
              <a:rPr lang="en-US" sz="1050" b="1" dirty="0">
                <a:solidFill>
                  <a:srgbClr val="5B6B80"/>
                </a:solidFill>
                <a:latin typeface="Arial" pitchFamily="34" charset="0"/>
                <a:ea typeface="Arial" pitchFamily="34" charset="-122"/>
                <a:cs typeface="Arial" pitchFamily="34" charset="-120"/>
              </a:rPr>
              <a:t>NOT-RUN</a:t>
            </a:r>
            <a:endParaRPr lang="en-US" sz="1050" dirty="0"/>
          </a:p>
        </p:txBody>
      </p:sp>
      <p:sp>
        <p:nvSpPr>
          <p:cNvPr id="30" name="Text 27"/>
          <p:cNvSpPr txBox="1"/>
          <p:nvPr/>
        </p:nvSpPr>
        <p:spPr>
          <a:xfrm>
            <a:off x="1828800" y="5111496"/>
            <a:ext cx="502920" cy="292608"/>
          </a:xfrm>
          <a:prstGeom prst="rect">
            <a:avLst/>
          </a:prstGeom>
          <a:noFill/>
          <a:ln/>
        </p:spPr>
        <p:txBody>
          <a:bodyPr wrap="square" lIns="0" tIns="0" rIns="0" bIns="0" rtlCol="0" anchor="t">
            <a:normAutofit/>
          </a:bodyPr>
          <a:lstStyle/>
          <a:p>
            <a:pPr algn="ctr" indent="0" marL="0">
              <a:buNone/>
            </a:pPr>
            <a:r>
              <a:rPr lang="en-US" sz="1700" b="1" dirty="0">
                <a:solidFill>
                  <a:srgbClr val="07182F"/>
                </a:solidFill>
                <a:latin typeface="Arial" pitchFamily="34" charset="0"/>
                <a:ea typeface="Arial" pitchFamily="34" charset="-122"/>
                <a:cs typeface="Arial" pitchFamily="34" charset="-120"/>
              </a:rPr>
              <a:t>1</a:t>
            </a:r>
            <a:endParaRPr lang="en-US" sz="1700" dirty="0"/>
          </a:p>
        </p:txBody>
      </p:sp>
      <p:sp>
        <p:nvSpPr>
          <p:cNvPr id="31" name="Text 28"/>
          <p:cNvSpPr txBox="1"/>
          <p:nvPr/>
        </p:nvSpPr>
        <p:spPr>
          <a:xfrm>
            <a:off x="2514600" y="5157216"/>
            <a:ext cx="4526280" cy="228600"/>
          </a:xfrm>
          <a:prstGeom prst="rect">
            <a:avLst/>
          </a:prstGeom>
          <a:noFill/>
          <a:ln/>
        </p:spPr>
        <p:txBody>
          <a:bodyPr wrap="square" lIns="0" tIns="0" rIns="0" bIns="0" rtlCol="0" anchor="t">
            <a:normAutofit/>
          </a:bodyPr>
          <a:lstStyle/>
          <a:p>
            <a:pPr algn="l" indent="0" marL="0">
              <a:buNone/>
            </a:pPr>
            <a:r>
              <a:rPr lang="en-US" sz="1120" dirty="0">
                <a:solidFill>
                  <a:srgbClr val="243247"/>
                </a:solidFill>
                <a:latin typeface="Arial" pitchFamily="34" charset="0"/>
                <a:ea typeface="Arial" pitchFamily="34" charset="-122"/>
                <a:cs typeface="Arial" pitchFamily="34" charset="-120"/>
              </a:rPr>
              <a:t>Word round-trip</a:t>
            </a:r>
            <a:endParaRPr lang="en-US" sz="1120" dirty="0"/>
          </a:p>
        </p:txBody>
      </p:sp>
      <p:sp>
        <p:nvSpPr>
          <p:cNvPr id="32" name="Shape 29"/>
          <p:cNvSpPr/>
          <p:nvPr/>
        </p:nvSpPr>
        <p:spPr>
          <a:xfrm>
            <a:off x="7754112" y="1993392"/>
            <a:ext cx="3767328" cy="3566160"/>
          </a:xfrm>
          <a:prstGeom prst="roundRect">
            <a:avLst>
              <a:gd name="adj" fmla="val 1026"/>
            </a:avLst>
          </a:prstGeom>
          <a:solidFill>
            <a:srgbClr val="FFF4E8"/>
          </a:solidFill>
          <a:ln w="12700">
            <a:solidFill>
              <a:srgbClr val="9A5B00"/>
            </a:solidFill>
            <a:prstDash val="solid"/>
          </a:ln>
        </p:spPr>
      </p:sp>
      <p:sp>
        <p:nvSpPr>
          <p:cNvPr id="33" name="Text 30"/>
          <p:cNvSpPr txBox="1"/>
          <p:nvPr/>
        </p:nvSpPr>
        <p:spPr>
          <a:xfrm>
            <a:off x="8101584" y="2331720"/>
            <a:ext cx="3072384" cy="219456"/>
          </a:xfrm>
          <a:prstGeom prst="rect">
            <a:avLst/>
          </a:prstGeom>
          <a:noFill/>
          <a:ln/>
        </p:spPr>
        <p:txBody>
          <a:bodyPr wrap="square" lIns="0" tIns="0" rIns="0" bIns="0" rtlCol="0" anchor="t">
            <a:normAutofit/>
          </a:bodyPr>
          <a:lstStyle/>
          <a:p>
            <a:pPr algn="ctr" indent="0" marL="0">
              <a:buNone/>
            </a:pPr>
            <a:r>
              <a:rPr lang="en-US" sz="1000" b="1" dirty="0">
                <a:solidFill>
                  <a:srgbClr val="9A5B00"/>
                </a:solidFill>
                <a:latin typeface="Arial" pitchFamily="34" charset="0"/>
                <a:ea typeface="Arial" pitchFamily="34" charset="-122"/>
                <a:cs typeface="Arial" pitchFamily="34" charset="-120"/>
              </a:rPr>
              <a:t>OVERALL STATUS</a:t>
            </a:r>
            <a:endParaRPr lang="en-US" sz="1000" dirty="0"/>
          </a:p>
        </p:txBody>
      </p:sp>
      <p:sp>
        <p:nvSpPr>
          <p:cNvPr id="34" name="Text 31"/>
          <p:cNvSpPr txBox="1"/>
          <p:nvPr/>
        </p:nvSpPr>
        <p:spPr>
          <a:xfrm>
            <a:off x="8092440" y="2788920"/>
            <a:ext cx="3090672" cy="530352"/>
          </a:xfrm>
          <a:prstGeom prst="rect">
            <a:avLst/>
          </a:prstGeom>
          <a:noFill/>
          <a:ln/>
        </p:spPr>
        <p:txBody>
          <a:bodyPr wrap="square" lIns="0" tIns="0" rIns="0" bIns="0" rtlCol="0" anchor="t">
            <a:normAutofit/>
          </a:bodyPr>
          <a:lstStyle/>
          <a:p>
            <a:pPr algn="ctr" indent="0" marL="0">
              <a:buNone/>
            </a:pPr>
            <a:r>
              <a:rPr lang="en-US" sz="3200" b="1" dirty="0">
                <a:solidFill>
                  <a:srgbClr val="B42318"/>
                </a:solidFill>
                <a:latin typeface="Arial" pitchFamily="34" charset="0"/>
                <a:ea typeface="Arial" pitchFamily="34" charset="-122"/>
                <a:cs typeface="Arial" pitchFamily="34" charset="-120"/>
              </a:rPr>
              <a:t>BLOCKED</a:t>
            </a:r>
            <a:endParaRPr lang="en-US" sz="3200" dirty="0"/>
          </a:p>
        </p:txBody>
      </p:sp>
      <p:sp>
        <p:nvSpPr>
          <p:cNvPr id="35" name="Text 32"/>
          <p:cNvSpPr txBox="1"/>
          <p:nvPr/>
        </p:nvSpPr>
        <p:spPr>
          <a:xfrm>
            <a:off x="8275320" y="3675888"/>
            <a:ext cx="2724912" cy="676656"/>
          </a:xfrm>
          <a:prstGeom prst="rect">
            <a:avLst/>
          </a:prstGeom>
          <a:noFill/>
          <a:ln/>
        </p:spPr>
        <p:txBody>
          <a:bodyPr wrap="square" lIns="0" tIns="0" rIns="0" bIns="0" rtlCol="0" anchor="ctr">
            <a:normAutofit/>
          </a:bodyPr>
          <a:lstStyle/>
          <a:p>
            <a:pPr algn="ctr" indent="0" marL="0">
              <a:buNone/>
            </a:pPr>
            <a:r>
              <a:rPr lang="en-US" sz="1300" dirty="0">
                <a:solidFill>
                  <a:srgbClr val="07182F"/>
                </a:solidFill>
                <a:latin typeface="Arial" pitchFamily="34" charset="0"/>
                <a:ea typeface="Arial" pitchFamily="34" charset="-122"/>
                <a:cs typeface="Arial" pitchFamily="34" charset="-120"/>
              </a:rPr>
              <a:t>Không có gate fail không đồng nghĩa đủ điều kiện phát hành.</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algn="l" indent="0" marL="0">
              <a:buNone/>
            </a:pPr>
            <a:r>
              <a:rPr lang="en-US" sz="950" b="1" dirty="0">
                <a:solidFill>
                  <a:srgbClr val="5B6B80"/>
                </a:solidFill>
                <a:latin typeface="Arial" pitchFamily="34" charset="0"/>
                <a:ea typeface="Arial" pitchFamily="34" charset="-122"/>
                <a:cs typeface="Arial" pitchFamily="34" charset="-120"/>
              </a:rPr>
              <a:t>BÁO CÁO NGHIỆM THU</a:t>
            </a:r>
            <a:endParaRPr lang="en-US" sz="950" dirty="0"/>
          </a:p>
        </p:txBody>
      </p:sp>
      <p:sp>
        <p:nvSpPr>
          <p:cNvPr id="4" name="Text 2"/>
          <p:cNvSpPr txBox="1"/>
          <p:nvPr/>
        </p:nvSpPr>
        <p:spPr>
          <a:xfrm>
            <a:off x="612648" y="658368"/>
            <a:ext cx="10972800" cy="603504"/>
          </a:xfrm>
          <a:prstGeom prst="rect">
            <a:avLst/>
          </a:prstGeom>
          <a:noFill/>
          <a:ln/>
        </p:spPr>
        <p:txBody>
          <a:bodyPr wrap="square" lIns="0" tIns="0" rIns="0" bIns="0" rtlCol="0" anchor="ctr">
            <a:normAutofit/>
          </a:bodyPr>
          <a:lstStyle/>
          <a:p>
            <a:pPr algn="l" indent="0" marL="0">
              <a:buNone/>
            </a:pPr>
            <a:r>
              <a:rPr lang="en-US" sz="2350" b="1" dirty="0">
                <a:solidFill>
                  <a:srgbClr val="07182F"/>
                </a:solidFill>
                <a:latin typeface="Georgia" pitchFamily="34" charset="0"/>
                <a:ea typeface="Georgia" pitchFamily="34" charset="-122"/>
                <a:cs typeface="Georgia" pitchFamily="34" charset="-120"/>
              </a:rPr>
              <a:t>Bản cuối chỉ được khóa sau bốn cổng rà soát và một lần tái khóa hiện vật</a:t>
            </a:r>
            <a:endParaRPr lang="en-US" sz="235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algn="r" indent="0" marL="0">
              <a:buNone/>
            </a:pPr>
            <a:r>
              <a:rPr lang="en-US" sz="1000" b="1" dirty="0">
                <a:solidFill>
                  <a:srgbClr val="C9963A"/>
                </a:solidFill>
                <a:latin typeface="Arial" pitchFamily="34" charset="0"/>
                <a:ea typeface="Arial" pitchFamily="34" charset="-122"/>
                <a:cs typeface="Arial" pitchFamily="34" charset="-120"/>
              </a:rPr>
              <a:t>12</a:t>
            </a:r>
            <a:endParaRPr lang="en-US" sz="1000" dirty="0"/>
          </a:p>
        </p:txBody>
      </p:sp>
      <p:sp>
        <p:nvSpPr>
          <p:cNvPr id="6" name="Shape 4"/>
          <p:cNvSpPr/>
          <p:nvPr/>
        </p:nvSpPr>
        <p:spPr>
          <a:xfrm>
            <a:off x="612648" y="1335024"/>
            <a:ext cx="10972800" cy="438912"/>
          </a:xfrm>
          <a:prstGeom prst="rect">
            <a:avLst/>
          </a:prstGeom>
          <a:solidFill>
            <a:srgbClr val="EEF2F7"/>
          </a:solidFill>
          <a:ln w="12700">
            <a:solidFill>
              <a:srgbClr val="D7DEE8"/>
            </a:solidFill>
            <a:prstDash val="solid"/>
          </a:ln>
        </p:spPr>
      </p:sp>
      <p:sp>
        <p:nvSpPr>
          <p:cNvPr id="7" name="Text 5"/>
          <p:cNvSpPr txBox="1"/>
          <p:nvPr/>
        </p:nvSpPr>
        <p:spPr>
          <a:xfrm>
            <a:off x="822960" y="1426464"/>
            <a:ext cx="10561320" cy="237744"/>
          </a:xfrm>
          <a:prstGeom prst="rect">
            <a:avLst/>
          </a:prstGeom>
          <a:noFill/>
          <a:ln/>
        </p:spPr>
        <p:txBody>
          <a:bodyPr wrap="square" lIns="0" tIns="0" rIns="0" bIns="0" rtlCol="0" anchor="ctr">
            <a:normAutofit/>
          </a:bodyPr>
          <a:lstStyle/>
          <a:p>
            <a:pPr algn="l" indent="0" marL="0">
              <a:buNone/>
            </a:pPr>
            <a:r>
              <a:rPr lang="en-US" sz="1320" b="1" dirty="0">
                <a:solidFill>
                  <a:srgbClr val="0D2447"/>
                </a:solidFill>
                <a:latin typeface="Arial" pitchFamily="34" charset="0"/>
                <a:ea typeface="Arial" pitchFamily="34" charset="-122"/>
                <a:cs typeface="Arial" pitchFamily="34" charset="-120"/>
              </a:rPr>
              <a:t>Đúng chủ thể · đúng môi trường · đúng hash · bằng chứng sinh tự động.</a:t>
            </a:r>
            <a:endParaRPr lang="en-US" sz="132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algn="l" indent="0" marL="0">
              <a:buNone/>
            </a:pPr>
            <a:r>
              <a:rPr lang="en-US" sz="820" dirty="0">
                <a:solidFill>
                  <a:srgbClr val="5B6B80"/>
                </a:solidFill>
                <a:latin typeface="Arial" pitchFamily="34" charset="0"/>
                <a:ea typeface="Arial" pitchFamily="34" charset="-122"/>
                <a:cs typeface="Arial" pitchFamily="34" charset="-120"/>
              </a:rPr>
              <a:t>HỘI ĐỒNG KHOA HỌC KHOA KTCS · 2026</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algn="ctr" indent="0" marL="0">
              <a:buNone/>
            </a:pPr>
            <a:r>
              <a:rPr lang="en-US" sz="760" dirty="0">
                <a:solidFill>
                  <a:srgbClr val="5B6B80"/>
                </a:solidFill>
                <a:latin typeface="Arial" pitchFamily="34" charset="0"/>
                <a:ea typeface="Arial" pitchFamily="34" charset="-122"/>
                <a:cs typeface="Arial" pitchFamily="34" charset="-120"/>
              </a:rPr>
              <a:t>data/acceptance-report.json</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algn="r" indent="0" marL="0">
              <a:buNone/>
            </a:pPr>
            <a:r>
              <a:rPr lang="en-US" sz="820" dirty="0">
                <a:solidFill>
                  <a:srgbClr val="5B6B80"/>
                </a:solidFill>
                <a:latin typeface="Arial" pitchFamily="34" charset="0"/>
                <a:ea typeface="Arial" pitchFamily="34" charset="-122"/>
                <a:cs typeface="Arial" pitchFamily="34" charset="-120"/>
              </a:rPr>
              <a:t>12</a:t>
            </a:r>
            <a:endParaRPr lang="en-US" sz="820" dirty="0"/>
          </a:p>
        </p:txBody>
      </p:sp>
      <p:sp>
        <p:nvSpPr>
          <p:cNvPr id="13" name="Text 10"/>
          <p:cNvSpPr txBox="1"/>
          <p:nvPr/>
        </p:nvSpPr>
        <p:spPr>
          <a:xfrm>
            <a:off x="713232" y="2075688"/>
            <a:ext cx="384048" cy="274320"/>
          </a:xfrm>
          <a:prstGeom prst="rect">
            <a:avLst/>
          </a:prstGeom>
          <a:noFill/>
          <a:ln/>
        </p:spPr>
        <p:txBody>
          <a:bodyPr wrap="square" lIns="0" tIns="0" rIns="0" bIns="0" rtlCol="0" anchor="t">
            <a:normAutofit/>
          </a:bodyPr>
          <a:lstStyle/>
          <a:p>
            <a:pPr algn="ctr" indent="0" marL="0">
              <a:buNone/>
            </a:pPr>
            <a:r>
              <a:rPr lang="en-US" sz="1500" b="1" dirty="0">
                <a:solidFill>
                  <a:srgbClr val="C9963A"/>
                </a:solidFill>
                <a:latin typeface="Arial" pitchFamily="34" charset="0"/>
                <a:ea typeface="Arial" pitchFamily="34" charset="-122"/>
                <a:cs typeface="Arial" pitchFamily="34" charset="-120"/>
              </a:rPr>
              <a:t>1</a:t>
            </a:r>
            <a:endParaRPr lang="en-US" sz="1500" dirty="0"/>
          </a:p>
        </p:txBody>
      </p:sp>
      <p:sp>
        <p:nvSpPr>
          <p:cNvPr id="14" name="Shape 11"/>
          <p:cNvSpPr/>
          <p:nvPr/>
        </p:nvSpPr>
        <p:spPr>
          <a:xfrm>
            <a:off x="1261872" y="1984248"/>
            <a:ext cx="10222992" cy="585216"/>
          </a:xfrm>
          <a:prstGeom prst="roundRect">
            <a:avLst>
              <a:gd name="adj" fmla="val 6250"/>
            </a:avLst>
          </a:prstGeom>
          <a:solidFill>
            <a:srgbClr val="FFFFFF"/>
          </a:solidFill>
          <a:ln w="12700">
            <a:solidFill>
              <a:srgbClr val="15355F"/>
            </a:solidFill>
            <a:prstDash val="solid"/>
          </a:ln>
        </p:spPr>
      </p:sp>
      <p:sp>
        <p:nvSpPr>
          <p:cNvPr id="15" name="Text 12"/>
          <p:cNvSpPr txBox="1"/>
          <p:nvPr/>
        </p:nvSpPr>
        <p:spPr>
          <a:xfrm>
            <a:off x="1536192" y="2121408"/>
            <a:ext cx="1920240" cy="228600"/>
          </a:xfrm>
          <a:prstGeom prst="rect">
            <a:avLst/>
          </a:prstGeom>
          <a:noFill/>
          <a:ln/>
        </p:spPr>
        <p:txBody>
          <a:bodyPr wrap="square" lIns="0" tIns="0" rIns="0" bIns="0" rtlCol="0" anchor="t">
            <a:normAutofit/>
          </a:bodyPr>
          <a:lstStyle/>
          <a:p>
            <a:pPr algn="l" indent="0" marL="0">
              <a:buNone/>
            </a:pPr>
            <a:r>
              <a:rPr lang="en-US" sz="1320" b="1" dirty="0">
                <a:solidFill>
                  <a:srgbClr val="15355F"/>
                </a:solidFill>
                <a:latin typeface="Arial" pitchFamily="34" charset="0"/>
                <a:ea typeface="Arial" pitchFamily="34" charset="-122"/>
                <a:cs typeface="Arial" pitchFamily="34" charset="-120"/>
              </a:rPr>
              <a:t>Học thuật</a:t>
            </a:r>
            <a:endParaRPr lang="en-US" sz="1320" dirty="0"/>
          </a:p>
        </p:txBody>
      </p:sp>
      <p:sp>
        <p:nvSpPr>
          <p:cNvPr id="16" name="Text 13"/>
          <p:cNvSpPr txBox="1"/>
          <p:nvPr/>
        </p:nvSpPr>
        <p:spPr>
          <a:xfrm>
            <a:off x="3657600" y="2112264"/>
            <a:ext cx="7360920" cy="256032"/>
          </a:xfrm>
          <a:prstGeom prst="rect">
            <a:avLst/>
          </a:prstGeom>
          <a:noFill/>
          <a:ln/>
        </p:spPr>
        <p:txBody>
          <a:bodyPr wrap="square" lIns="0" tIns="0" rIns="0" bIns="0" rtlCol="0" anchor="t">
            <a:normAutofit/>
          </a:bodyPr>
          <a:lstStyle/>
          <a:p>
            <a:pPr algn="l" indent="0" marL="0">
              <a:buNone/>
            </a:pPr>
            <a:r>
              <a:rPr lang="en-US" sz="1250" dirty="0">
                <a:solidFill>
                  <a:srgbClr val="243247"/>
                </a:solidFill>
                <a:latin typeface="Arial" pitchFamily="34" charset="0"/>
                <a:ea typeface="Arial" pitchFamily="34" charset="-122"/>
                <a:cs typeface="Arial" pitchFamily="34" charset="-120"/>
              </a:rPr>
              <a:t>Ledger đúng nguồn hiện hành</a:t>
            </a:r>
            <a:endParaRPr lang="en-US" sz="1250" dirty="0"/>
          </a:p>
        </p:txBody>
      </p:sp>
      <p:sp>
        <p:nvSpPr>
          <p:cNvPr id="17" name="Text 14"/>
          <p:cNvSpPr txBox="1"/>
          <p:nvPr/>
        </p:nvSpPr>
        <p:spPr>
          <a:xfrm>
            <a:off x="713232" y="2825496"/>
            <a:ext cx="384048" cy="274320"/>
          </a:xfrm>
          <a:prstGeom prst="rect">
            <a:avLst/>
          </a:prstGeom>
          <a:noFill/>
          <a:ln/>
        </p:spPr>
        <p:txBody>
          <a:bodyPr wrap="square" lIns="0" tIns="0" rIns="0" bIns="0" rtlCol="0" anchor="t">
            <a:normAutofit/>
          </a:bodyPr>
          <a:lstStyle/>
          <a:p>
            <a:pPr algn="ctr" indent="0" marL="0">
              <a:buNone/>
            </a:pPr>
            <a:r>
              <a:rPr lang="en-US" sz="1500" b="1" dirty="0">
                <a:solidFill>
                  <a:srgbClr val="C9963A"/>
                </a:solidFill>
                <a:latin typeface="Arial" pitchFamily="34" charset="0"/>
                <a:ea typeface="Arial" pitchFamily="34" charset="-122"/>
                <a:cs typeface="Arial" pitchFamily="34" charset="-120"/>
              </a:rPr>
              <a:t>2</a:t>
            </a:r>
            <a:endParaRPr lang="en-US" sz="1500" dirty="0"/>
          </a:p>
        </p:txBody>
      </p:sp>
      <p:sp>
        <p:nvSpPr>
          <p:cNvPr id="18" name="Shape 15"/>
          <p:cNvSpPr/>
          <p:nvPr/>
        </p:nvSpPr>
        <p:spPr>
          <a:xfrm>
            <a:off x="1261872" y="2734056"/>
            <a:ext cx="10222992" cy="585216"/>
          </a:xfrm>
          <a:prstGeom prst="roundRect">
            <a:avLst>
              <a:gd name="adj" fmla="val 6250"/>
            </a:avLst>
          </a:prstGeom>
          <a:solidFill>
            <a:srgbClr val="FFFFFF"/>
          </a:solidFill>
          <a:ln w="12700">
            <a:solidFill>
              <a:srgbClr val="15355F"/>
            </a:solidFill>
            <a:prstDash val="solid"/>
          </a:ln>
        </p:spPr>
      </p:sp>
      <p:sp>
        <p:nvSpPr>
          <p:cNvPr id="19" name="Text 16"/>
          <p:cNvSpPr txBox="1"/>
          <p:nvPr/>
        </p:nvSpPr>
        <p:spPr>
          <a:xfrm>
            <a:off x="1536192" y="2871216"/>
            <a:ext cx="1920240" cy="228600"/>
          </a:xfrm>
          <a:prstGeom prst="rect">
            <a:avLst/>
          </a:prstGeom>
          <a:noFill/>
          <a:ln/>
        </p:spPr>
        <p:txBody>
          <a:bodyPr wrap="square" lIns="0" tIns="0" rIns="0" bIns="0" rtlCol="0" anchor="t">
            <a:normAutofit/>
          </a:bodyPr>
          <a:lstStyle/>
          <a:p>
            <a:pPr algn="l" indent="0" marL="0">
              <a:buNone/>
            </a:pPr>
            <a:r>
              <a:rPr lang="en-US" sz="1320" b="1" dirty="0">
                <a:solidFill>
                  <a:srgbClr val="15355F"/>
                </a:solidFill>
                <a:latin typeface="Arial" pitchFamily="34" charset="0"/>
                <a:ea typeface="Arial" pitchFamily="34" charset="-122"/>
                <a:cs typeface="Arial" pitchFamily="34" charset="-120"/>
              </a:rPr>
              <a:t>Tiếp cận</a:t>
            </a:r>
            <a:endParaRPr lang="en-US" sz="1320" dirty="0"/>
          </a:p>
        </p:txBody>
      </p:sp>
      <p:sp>
        <p:nvSpPr>
          <p:cNvPr id="20" name="Text 17"/>
          <p:cNvSpPr txBox="1"/>
          <p:nvPr/>
        </p:nvSpPr>
        <p:spPr>
          <a:xfrm>
            <a:off x="3657600" y="2862072"/>
            <a:ext cx="7360920" cy="256032"/>
          </a:xfrm>
          <a:prstGeom prst="rect">
            <a:avLst/>
          </a:prstGeom>
          <a:noFill/>
          <a:ln/>
        </p:spPr>
        <p:txBody>
          <a:bodyPr wrap="square" lIns="0" tIns="0" rIns="0" bIns="0" rtlCol="0" anchor="t">
            <a:normAutofit/>
          </a:bodyPr>
          <a:lstStyle/>
          <a:p>
            <a:pPr algn="l" indent="0" marL="0">
              <a:buNone/>
            </a:pPr>
            <a:r>
              <a:rPr lang="en-US" sz="1250" dirty="0">
                <a:solidFill>
                  <a:srgbClr val="243247"/>
                </a:solidFill>
                <a:latin typeface="Arial" pitchFamily="34" charset="0"/>
                <a:ea typeface="Arial" pitchFamily="34" charset="-122"/>
                <a:cs typeface="Arial" pitchFamily="34" charset="-120"/>
              </a:rPr>
              <a:t>Disposition độc lập</a:t>
            </a:r>
            <a:endParaRPr lang="en-US" sz="1250" dirty="0"/>
          </a:p>
        </p:txBody>
      </p:sp>
      <p:sp>
        <p:nvSpPr>
          <p:cNvPr id="21" name="Text 18"/>
          <p:cNvSpPr txBox="1"/>
          <p:nvPr/>
        </p:nvSpPr>
        <p:spPr>
          <a:xfrm>
            <a:off x="713232" y="3575304"/>
            <a:ext cx="384048" cy="274320"/>
          </a:xfrm>
          <a:prstGeom prst="rect">
            <a:avLst/>
          </a:prstGeom>
          <a:noFill/>
          <a:ln/>
        </p:spPr>
        <p:txBody>
          <a:bodyPr wrap="square" lIns="0" tIns="0" rIns="0" bIns="0" rtlCol="0" anchor="t">
            <a:normAutofit/>
          </a:bodyPr>
          <a:lstStyle/>
          <a:p>
            <a:pPr algn="ctr" indent="0" marL="0">
              <a:buNone/>
            </a:pPr>
            <a:r>
              <a:rPr lang="en-US" sz="1500" b="1" dirty="0">
                <a:solidFill>
                  <a:srgbClr val="C9963A"/>
                </a:solidFill>
                <a:latin typeface="Arial" pitchFamily="34" charset="0"/>
                <a:ea typeface="Arial" pitchFamily="34" charset="-122"/>
                <a:cs typeface="Arial" pitchFamily="34" charset="-120"/>
              </a:rPr>
              <a:t>3</a:t>
            </a:r>
            <a:endParaRPr lang="en-US" sz="1500" dirty="0"/>
          </a:p>
        </p:txBody>
      </p:sp>
      <p:sp>
        <p:nvSpPr>
          <p:cNvPr id="22" name="Shape 19"/>
          <p:cNvSpPr/>
          <p:nvPr/>
        </p:nvSpPr>
        <p:spPr>
          <a:xfrm>
            <a:off x="1261872" y="3483864"/>
            <a:ext cx="10222992" cy="585216"/>
          </a:xfrm>
          <a:prstGeom prst="roundRect">
            <a:avLst>
              <a:gd name="adj" fmla="val 6250"/>
            </a:avLst>
          </a:prstGeom>
          <a:solidFill>
            <a:srgbClr val="FFFFFF"/>
          </a:solidFill>
          <a:ln w="12700">
            <a:solidFill>
              <a:srgbClr val="15355F"/>
            </a:solidFill>
            <a:prstDash val="solid"/>
          </a:ln>
        </p:spPr>
      </p:sp>
      <p:sp>
        <p:nvSpPr>
          <p:cNvPr id="23" name="Text 20"/>
          <p:cNvSpPr txBox="1"/>
          <p:nvPr/>
        </p:nvSpPr>
        <p:spPr>
          <a:xfrm>
            <a:off x="1536192" y="3621024"/>
            <a:ext cx="1920240" cy="228600"/>
          </a:xfrm>
          <a:prstGeom prst="rect">
            <a:avLst/>
          </a:prstGeom>
          <a:noFill/>
          <a:ln/>
        </p:spPr>
        <p:txBody>
          <a:bodyPr wrap="square" lIns="0" tIns="0" rIns="0" bIns="0" rtlCol="0" anchor="t">
            <a:normAutofit/>
          </a:bodyPr>
          <a:lstStyle/>
          <a:p>
            <a:pPr algn="l" indent="0" marL="0">
              <a:buNone/>
            </a:pPr>
            <a:r>
              <a:rPr lang="en-US" sz="1320" b="1" dirty="0">
                <a:solidFill>
                  <a:srgbClr val="15355F"/>
                </a:solidFill>
                <a:latin typeface="Arial" pitchFamily="34" charset="0"/>
                <a:ea typeface="Arial" pitchFamily="34" charset="-122"/>
                <a:cs typeface="Arial" pitchFamily="34" charset="-120"/>
              </a:rPr>
              <a:t>Smoke</a:t>
            </a:r>
            <a:endParaRPr lang="en-US" sz="1320" dirty="0"/>
          </a:p>
        </p:txBody>
      </p:sp>
      <p:sp>
        <p:nvSpPr>
          <p:cNvPr id="24" name="Text 21"/>
          <p:cNvSpPr txBox="1"/>
          <p:nvPr/>
        </p:nvSpPr>
        <p:spPr>
          <a:xfrm>
            <a:off x="3657600" y="3611880"/>
            <a:ext cx="7360920" cy="256032"/>
          </a:xfrm>
          <a:prstGeom prst="rect">
            <a:avLst/>
          </a:prstGeom>
          <a:noFill/>
          <a:ln/>
        </p:spPr>
        <p:txBody>
          <a:bodyPr wrap="square" lIns="0" tIns="0" rIns="0" bIns="0" rtlCol="0" anchor="t">
            <a:normAutofit/>
          </a:bodyPr>
          <a:lstStyle/>
          <a:p>
            <a:pPr algn="l" indent="0" marL="0">
              <a:buNone/>
            </a:pPr>
            <a:r>
              <a:rPr lang="en-US" sz="1250" dirty="0">
                <a:solidFill>
                  <a:srgbClr val="243247"/>
                </a:solidFill>
                <a:latin typeface="Arial" pitchFamily="34" charset="0"/>
                <a:ea typeface="Arial" pitchFamily="34" charset="-122"/>
                <a:cs typeface="Arial" pitchFamily="34" charset="-120"/>
              </a:rPr>
              <a:t>file:// + HTTP trên ZIP mới</a:t>
            </a:r>
            <a:endParaRPr lang="en-US" sz="1250" dirty="0"/>
          </a:p>
        </p:txBody>
      </p:sp>
      <p:sp>
        <p:nvSpPr>
          <p:cNvPr id="25" name="Text 22"/>
          <p:cNvSpPr txBox="1"/>
          <p:nvPr/>
        </p:nvSpPr>
        <p:spPr>
          <a:xfrm>
            <a:off x="713232" y="4325112"/>
            <a:ext cx="384048" cy="274320"/>
          </a:xfrm>
          <a:prstGeom prst="rect">
            <a:avLst/>
          </a:prstGeom>
          <a:noFill/>
          <a:ln/>
        </p:spPr>
        <p:txBody>
          <a:bodyPr wrap="square" lIns="0" tIns="0" rIns="0" bIns="0" rtlCol="0" anchor="t">
            <a:normAutofit/>
          </a:bodyPr>
          <a:lstStyle/>
          <a:p>
            <a:pPr algn="ctr" indent="0" marL="0">
              <a:buNone/>
            </a:pPr>
            <a:r>
              <a:rPr lang="en-US" sz="1500" b="1" dirty="0">
                <a:solidFill>
                  <a:srgbClr val="C9963A"/>
                </a:solidFill>
                <a:latin typeface="Arial" pitchFamily="34" charset="0"/>
                <a:ea typeface="Arial" pitchFamily="34" charset="-122"/>
                <a:cs typeface="Arial" pitchFamily="34" charset="-120"/>
              </a:rPr>
              <a:t>4</a:t>
            </a:r>
            <a:endParaRPr lang="en-US" sz="1500" dirty="0"/>
          </a:p>
        </p:txBody>
      </p:sp>
      <p:sp>
        <p:nvSpPr>
          <p:cNvPr id="26" name="Shape 23"/>
          <p:cNvSpPr/>
          <p:nvPr/>
        </p:nvSpPr>
        <p:spPr>
          <a:xfrm>
            <a:off x="1261872" y="4233672"/>
            <a:ext cx="10222992" cy="585216"/>
          </a:xfrm>
          <a:prstGeom prst="roundRect">
            <a:avLst>
              <a:gd name="adj" fmla="val 6250"/>
            </a:avLst>
          </a:prstGeom>
          <a:solidFill>
            <a:srgbClr val="FFFFFF"/>
          </a:solidFill>
          <a:ln w="12700">
            <a:solidFill>
              <a:srgbClr val="15355F"/>
            </a:solidFill>
            <a:prstDash val="solid"/>
          </a:ln>
        </p:spPr>
      </p:sp>
      <p:sp>
        <p:nvSpPr>
          <p:cNvPr id="27" name="Text 24"/>
          <p:cNvSpPr txBox="1"/>
          <p:nvPr/>
        </p:nvSpPr>
        <p:spPr>
          <a:xfrm>
            <a:off x="1536192" y="4370832"/>
            <a:ext cx="1920240" cy="228600"/>
          </a:xfrm>
          <a:prstGeom prst="rect">
            <a:avLst/>
          </a:prstGeom>
          <a:noFill/>
          <a:ln/>
        </p:spPr>
        <p:txBody>
          <a:bodyPr wrap="square" lIns="0" tIns="0" rIns="0" bIns="0" rtlCol="0" anchor="t">
            <a:normAutofit/>
          </a:bodyPr>
          <a:lstStyle/>
          <a:p>
            <a:pPr algn="l" indent="0" marL="0">
              <a:buNone/>
            </a:pPr>
            <a:r>
              <a:rPr lang="en-US" sz="1320" b="1" dirty="0">
                <a:solidFill>
                  <a:srgbClr val="15355F"/>
                </a:solidFill>
                <a:latin typeface="Arial" pitchFamily="34" charset="0"/>
                <a:ea typeface="Arial" pitchFamily="34" charset="-122"/>
                <a:cs typeface="Arial" pitchFamily="34" charset="-120"/>
              </a:rPr>
              <a:t>Word</a:t>
            </a:r>
            <a:endParaRPr lang="en-US" sz="1320" dirty="0"/>
          </a:p>
        </p:txBody>
      </p:sp>
      <p:sp>
        <p:nvSpPr>
          <p:cNvPr id="28" name="Text 25"/>
          <p:cNvSpPr txBox="1"/>
          <p:nvPr/>
        </p:nvSpPr>
        <p:spPr>
          <a:xfrm>
            <a:off x="3657600" y="4361688"/>
            <a:ext cx="7360920" cy="256032"/>
          </a:xfrm>
          <a:prstGeom prst="rect">
            <a:avLst/>
          </a:prstGeom>
          <a:noFill/>
          <a:ln/>
        </p:spPr>
        <p:txBody>
          <a:bodyPr wrap="square" lIns="0" tIns="0" rIns="0" bIns="0" rtlCol="0" anchor="t">
            <a:normAutofit/>
          </a:bodyPr>
          <a:lstStyle/>
          <a:p>
            <a:pPr algn="l" indent="0" marL="0">
              <a:buNone/>
            </a:pPr>
            <a:r>
              <a:rPr lang="en-US" sz="1250" dirty="0">
                <a:solidFill>
                  <a:srgbClr val="243247"/>
                </a:solidFill>
                <a:latin typeface="Arial" pitchFamily="34" charset="0"/>
                <a:ea typeface="Arial" pitchFamily="34" charset="-122"/>
                <a:cs typeface="Arial" pitchFamily="34" charset="-120"/>
              </a:rPr>
              <a:t>Open–update–save–reopen–PDF</a:t>
            </a:r>
            <a:endParaRPr lang="en-US" sz="1250" dirty="0"/>
          </a:p>
        </p:txBody>
      </p:sp>
      <p:sp>
        <p:nvSpPr>
          <p:cNvPr id="29" name="Text 26"/>
          <p:cNvSpPr txBox="1"/>
          <p:nvPr/>
        </p:nvSpPr>
        <p:spPr>
          <a:xfrm>
            <a:off x="713232" y="5074920"/>
            <a:ext cx="384048" cy="274320"/>
          </a:xfrm>
          <a:prstGeom prst="rect">
            <a:avLst/>
          </a:prstGeom>
          <a:noFill/>
          <a:ln/>
        </p:spPr>
        <p:txBody>
          <a:bodyPr wrap="square" lIns="0" tIns="0" rIns="0" bIns="0" rtlCol="0" anchor="t">
            <a:normAutofit/>
          </a:bodyPr>
          <a:lstStyle/>
          <a:p>
            <a:pPr algn="ctr" indent="0" marL="0">
              <a:buNone/>
            </a:pPr>
            <a:r>
              <a:rPr lang="en-US" sz="1500" b="1" dirty="0">
                <a:solidFill>
                  <a:srgbClr val="C9963A"/>
                </a:solidFill>
                <a:latin typeface="Arial" pitchFamily="34" charset="0"/>
                <a:ea typeface="Arial" pitchFamily="34" charset="-122"/>
                <a:cs typeface="Arial" pitchFamily="34" charset="-120"/>
              </a:rPr>
              <a:t>5</a:t>
            </a:r>
            <a:endParaRPr lang="en-US" sz="1500" dirty="0"/>
          </a:p>
        </p:txBody>
      </p:sp>
      <p:sp>
        <p:nvSpPr>
          <p:cNvPr id="30" name="Shape 27"/>
          <p:cNvSpPr/>
          <p:nvPr/>
        </p:nvSpPr>
        <p:spPr>
          <a:xfrm>
            <a:off x="1261872" y="4983480"/>
            <a:ext cx="10222992" cy="585216"/>
          </a:xfrm>
          <a:prstGeom prst="roundRect">
            <a:avLst>
              <a:gd name="adj" fmla="val 6250"/>
            </a:avLst>
          </a:prstGeom>
          <a:solidFill>
            <a:srgbClr val="FDECEC"/>
          </a:solidFill>
          <a:ln w="12700">
            <a:solidFill>
              <a:srgbClr val="B42318"/>
            </a:solidFill>
            <a:prstDash val="solid"/>
          </a:ln>
        </p:spPr>
      </p:sp>
      <p:sp>
        <p:nvSpPr>
          <p:cNvPr id="31" name="Text 28"/>
          <p:cNvSpPr txBox="1"/>
          <p:nvPr/>
        </p:nvSpPr>
        <p:spPr>
          <a:xfrm>
            <a:off x="1536192" y="5120640"/>
            <a:ext cx="1920240" cy="228600"/>
          </a:xfrm>
          <a:prstGeom prst="rect">
            <a:avLst/>
          </a:prstGeom>
          <a:noFill/>
          <a:ln/>
        </p:spPr>
        <p:txBody>
          <a:bodyPr wrap="square" lIns="0" tIns="0" rIns="0" bIns="0" rtlCol="0" anchor="t">
            <a:normAutofit/>
          </a:bodyPr>
          <a:lstStyle/>
          <a:p>
            <a:pPr algn="l" indent="0" marL="0">
              <a:buNone/>
            </a:pPr>
            <a:r>
              <a:rPr lang="en-US" sz="1320" b="1" dirty="0">
                <a:solidFill>
                  <a:srgbClr val="B42318"/>
                </a:solidFill>
                <a:latin typeface="Arial" pitchFamily="34" charset="0"/>
                <a:ea typeface="Arial" pitchFamily="34" charset="-122"/>
                <a:cs typeface="Arial" pitchFamily="34" charset="-120"/>
              </a:rPr>
              <a:t>Hiện vật</a:t>
            </a:r>
            <a:endParaRPr lang="en-US" sz="1320" dirty="0"/>
          </a:p>
        </p:txBody>
      </p:sp>
      <p:sp>
        <p:nvSpPr>
          <p:cNvPr id="32" name="Text 29"/>
          <p:cNvSpPr txBox="1"/>
          <p:nvPr/>
        </p:nvSpPr>
        <p:spPr>
          <a:xfrm>
            <a:off x="3657600" y="5111496"/>
            <a:ext cx="7360920" cy="256032"/>
          </a:xfrm>
          <a:prstGeom prst="rect">
            <a:avLst/>
          </a:prstGeom>
          <a:noFill/>
          <a:ln/>
        </p:spPr>
        <p:txBody>
          <a:bodyPr wrap="square" lIns="0" tIns="0" rIns="0" bIns="0" rtlCol="0" anchor="t">
            <a:normAutofit/>
          </a:bodyPr>
          <a:lstStyle/>
          <a:p>
            <a:pPr algn="l" indent="0" marL="0">
              <a:buNone/>
            </a:pPr>
            <a:r>
              <a:rPr lang="en-US" sz="1250" dirty="0">
                <a:solidFill>
                  <a:srgbClr val="243247"/>
                </a:solidFill>
                <a:latin typeface="Arial" pitchFamily="34" charset="0"/>
                <a:ea typeface="Arial" pitchFamily="34" charset="-122"/>
                <a:cs typeface="Arial" pitchFamily="34" charset="-120"/>
              </a:rPr>
              <a:t>Tái tạo ZIP, summary và SHA-256</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182F"/>
        </a:solidFill>
      </p:bgPr>
    </p:bg>
    <p:spTree>
      <p:nvGrpSpPr>
        <p:cNvPr id="1" name=""/>
        <p:cNvGrpSpPr/>
        <p:nvPr/>
      </p:nvGrpSpPr>
      <p:grpSpPr>
        <a:xfrm>
          <a:off x="0" y="0"/>
          <a:ext cx="0" cy="0"/>
          <a:chOff x="0" y="0"/>
          <a:chExt cx="0" cy="0"/>
        </a:xfrm>
      </p:grpSpPr>
      <p:sp>
        <p:nvSpPr>
          <p:cNvPr id="2" name="Text 0"/>
          <p:cNvSpPr txBox="1"/>
          <p:nvPr/>
        </p:nvSpPr>
        <p:spPr>
          <a:xfrm>
            <a:off x="10927080" y="402336"/>
            <a:ext cx="411480" cy="201168"/>
          </a:xfrm>
          <a:prstGeom prst="rect">
            <a:avLst/>
          </a:prstGeom>
          <a:noFill/>
          <a:ln/>
        </p:spPr>
        <p:txBody>
          <a:bodyPr wrap="square" lIns="0" tIns="0" rIns="0" bIns="0" rtlCol="0" anchor="t">
            <a:normAutofit/>
          </a:bodyPr>
          <a:lstStyle/>
          <a:p>
            <a:pPr algn="r" indent="0" marL="0">
              <a:buNone/>
            </a:pPr>
            <a:r>
              <a:rPr lang="en-US" sz="1000" b="1" dirty="0">
                <a:solidFill>
                  <a:srgbClr val="C9963A"/>
                </a:solidFill>
                <a:latin typeface="Arial" pitchFamily="34" charset="0"/>
                <a:ea typeface="Arial" pitchFamily="34" charset="-122"/>
                <a:cs typeface="Arial" pitchFamily="34" charset="-120"/>
              </a:rPr>
              <a:t>13</a:t>
            </a:r>
            <a:endParaRPr lang="en-US" sz="1000" dirty="0"/>
          </a:p>
        </p:txBody>
      </p:sp>
      <p:sp>
        <p:nvSpPr>
          <p:cNvPr id="3" name="Text 1"/>
          <p:cNvSpPr txBox="1"/>
          <p:nvPr/>
        </p:nvSpPr>
        <p:spPr>
          <a:xfrm>
            <a:off x="713232" y="658368"/>
            <a:ext cx="10789920" cy="566928"/>
          </a:xfrm>
          <a:prstGeom prst="rect">
            <a:avLst/>
          </a:prstGeom>
          <a:noFill/>
          <a:ln/>
        </p:spPr>
        <p:txBody>
          <a:bodyPr wrap="square" lIns="0" tIns="0" rIns="0" bIns="0" rtlCol="0" anchor="t">
            <a:normAutofit/>
          </a:bodyPr>
          <a:lstStyle/>
          <a:p>
            <a:pPr algn="ctr" indent="0" marL="0">
              <a:buNone/>
            </a:pPr>
            <a:r>
              <a:rPr lang="en-US" sz="2800" b="1" dirty="0">
                <a:solidFill>
                  <a:srgbClr val="FFFFFF"/>
                </a:solidFill>
                <a:latin typeface="Georgia" pitchFamily="34" charset="0"/>
                <a:ea typeface="Georgia" pitchFamily="34" charset="-122"/>
                <a:cs typeface="Georgia" pitchFamily="34" charset="-120"/>
              </a:rPr>
              <a:t>Đề nghị Hội đồng thông qua có điều kiện</a:t>
            </a:r>
            <a:endParaRPr lang="en-US" sz="2800" dirty="0"/>
          </a:p>
        </p:txBody>
      </p:sp>
      <p:sp>
        <p:nvSpPr>
          <p:cNvPr id="4" name="Text 2"/>
          <p:cNvSpPr txBox="1"/>
          <p:nvPr/>
        </p:nvSpPr>
        <p:spPr>
          <a:xfrm>
            <a:off x="1143000" y="1444752"/>
            <a:ext cx="9921240" cy="438912"/>
          </a:xfrm>
          <a:prstGeom prst="rect">
            <a:avLst/>
          </a:prstGeom>
          <a:noFill/>
          <a:ln/>
        </p:spPr>
        <p:txBody>
          <a:bodyPr wrap="square" lIns="0" tIns="0" rIns="0" bIns="0" rtlCol="0" anchor="t">
            <a:normAutofit/>
          </a:bodyPr>
          <a:lstStyle/>
          <a:p>
            <a:pPr algn="ctr" indent="0" marL="0">
              <a:buNone/>
            </a:pPr>
            <a:r>
              <a:rPr lang="en-US" sz="1520" b="1" dirty="0">
                <a:solidFill>
                  <a:srgbClr val="DBB36A"/>
                </a:solidFill>
                <a:latin typeface="Arial" pitchFamily="34" charset="0"/>
                <a:ea typeface="Arial" pitchFamily="34" charset="-122"/>
                <a:cs typeface="Arial" pitchFamily="34" charset="-120"/>
              </a:rPr>
              <a:t>Thông qua giá trị khoa học–sư phạm; chưa xác nhận bản ứng viên là bản phát hành cuối.</a:t>
            </a:r>
            <a:endParaRPr lang="en-US" sz="1520" dirty="0"/>
          </a:p>
        </p:txBody>
      </p:sp>
      <p:sp>
        <p:nvSpPr>
          <p:cNvPr id="5" name="Shape 3"/>
          <p:cNvSpPr/>
          <p:nvPr/>
        </p:nvSpPr>
        <p:spPr>
          <a:xfrm>
            <a:off x="932688" y="2157984"/>
            <a:ext cx="10332720" cy="2880360"/>
          </a:xfrm>
          <a:prstGeom prst="roundRect">
            <a:avLst>
              <a:gd name="adj" fmla="val 1270"/>
            </a:avLst>
          </a:prstGeom>
          <a:solidFill>
            <a:srgbClr val="F7F5EF"/>
          </a:solidFill>
          <a:ln w="12700">
            <a:solidFill>
              <a:srgbClr val="C9963A"/>
            </a:solidFill>
            <a:prstDash val="solid"/>
          </a:ln>
        </p:spPr>
      </p:sp>
      <p:sp>
        <p:nvSpPr>
          <p:cNvPr id="6" name="Text 4"/>
          <p:cNvSpPr txBox="1"/>
          <p:nvPr/>
        </p:nvSpPr>
        <p:spPr>
          <a:xfrm>
            <a:off x="1371600" y="2587752"/>
            <a:ext cx="9464040" cy="2011680"/>
          </a:xfrm>
          <a:prstGeom prst="rect">
            <a:avLst/>
          </a:prstGeom>
          <a:noFill/>
          <a:ln/>
        </p:spPr>
        <p:txBody>
          <a:bodyPr wrap="square" lIns="0" tIns="0" rIns="0" bIns="0" rtlCol="0" anchor="ctr">
            <a:normAutofit/>
          </a:bodyPr>
          <a:lstStyle/>
          <a:p>
            <a:pPr algn="ctr" indent="0" marL="0">
              <a:buNone/>
            </a:pPr>
            <a:r>
              <a:rPr lang="en-US" sz="1800" dirty="0">
                <a:solidFill>
                  <a:srgbClr val="07182F"/>
                </a:solidFill>
                <a:latin typeface="Georgia" pitchFamily="34" charset="0"/>
                <a:ea typeface="Georgia" pitchFamily="34" charset="-122"/>
                <a:cs typeface="Georgia" pitchFamily="34" charset="-120"/>
              </a:rPr>
              <a:t>Hội đồng thống nhất thông qua có điều kiện về mặt khoa học–sư phạm đối với Giáo trình điện tử Cơ học lý thuyết; giao nhóm tác giả tiếp thu ý kiến, hoàn tất thẩm định học thuật, rà soát khả năng tiếp cận độc lập, kiểm tra vận hành nhanh độc lập, vòng lặp Word và khóa lại gói/hash trước khi trình xác nhận bản cuối.</a:t>
            </a:r>
            <a:endParaRPr lang="en-US" sz="1800" dirty="0"/>
          </a:p>
        </p:txBody>
      </p:sp>
      <p:sp>
        <p:nvSpPr>
          <p:cNvPr id="7" name="Text 5"/>
          <p:cNvSpPr txBox="1"/>
          <p:nvPr/>
        </p:nvSpPr>
        <p:spPr>
          <a:xfrm>
            <a:off x="1371600" y="5559552"/>
            <a:ext cx="9464040" cy="329184"/>
          </a:xfrm>
          <a:prstGeom prst="rect">
            <a:avLst/>
          </a:prstGeom>
          <a:noFill/>
          <a:ln/>
        </p:spPr>
        <p:txBody>
          <a:bodyPr wrap="square" lIns="0" tIns="0" rIns="0" bIns="0" rtlCol="0" anchor="t">
            <a:normAutofit/>
          </a:bodyPr>
          <a:lstStyle/>
          <a:p>
            <a:pPr algn="ctr" indent="0" marL="0">
              <a:buNone/>
            </a:pPr>
            <a:r>
              <a:rPr lang="en-US" sz="1550" b="1" dirty="0">
                <a:solidFill>
                  <a:srgbClr val="FFFFFF"/>
                </a:solidFill>
                <a:latin typeface="Arial" pitchFamily="34" charset="0"/>
                <a:ea typeface="Arial" pitchFamily="34" charset="-122"/>
                <a:cs typeface="Arial" pitchFamily="34" charset="-120"/>
              </a:rPr>
              <a:t>Kính đề nghị Hội đồng xem xét và cho ý kiến.</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algn="l" indent="0" marL="0">
              <a:buNone/>
            </a:pPr>
            <a:r>
              <a:rPr lang="en-US" sz="950" b="1" dirty="0">
                <a:solidFill>
                  <a:srgbClr val="5B6B80"/>
                </a:solidFill>
                <a:latin typeface="Arial" pitchFamily="34" charset="0"/>
                <a:ea typeface="Arial" pitchFamily="34" charset="-122"/>
                <a:cs typeface="Arial" pitchFamily="34" charset="-120"/>
              </a:rPr>
              <a:t>PHỤ LỤC / DEMO DỰ PHÒNG</a:t>
            </a:r>
            <a:endParaRPr lang="en-US" sz="950" dirty="0"/>
          </a:p>
        </p:txBody>
      </p:sp>
      <p:sp>
        <p:nvSpPr>
          <p:cNvPr id="4" name="Text 2"/>
          <p:cNvSpPr txBox="1"/>
          <p:nvPr/>
        </p:nvSpPr>
        <p:spPr>
          <a:xfrm>
            <a:off x="612648" y="658368"/>
            <a:ext cx="10972800" cy="603504"/>
          </a:xfrm>
          <a:prstGeom prst="rect">
            <a:avLst/>
          </a:prstGeom>
          <a:noFill/>
          <a:ln/>
        </p:spPr>
        <p:txBody>
          <a:bodyPr wrap="square" lIns="0" tIns="0" rIns="0" bIns="0" rtlCol="0" anchor="ctr">
            <a:normAutofit/>
          </a:bodyPr>
          <a:lstStyle/>
          <a:p>
            <a:pPr algn="l" indent="0" marL="0">
              <a:buNone/>
            </a:pPr>
            <a:r>
              <a:rPr lang="en-US" sz="2350" b="1" dirty="0">
                <a:solidFill>
                  <a:srgbClr val="07182F"/>
                </a:solidFill>
                <a:latin typeface="Georgia" pitchFamily="34" charset="0"/>
                <a:ea typeface="Georgia" pitchFamily="34" charset="-122"/>
                <a:cs typeface="Georgia" pitchFamily="34" charset="-120"/>
              </a:rPr>
              <a:t>Demo dự phòng · tối đa 90 giây</a:t>
            </a:r>
            <a:endParaRPr lang="en-US" sz="235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algn="r" indent="0" marL="0">
              <a:buNone/>
            </a:pPr>
            <a:r>
              <a:rPr lang="en-US" sz="1000" b="1" dirty="0">
                <a:solidFill>
                  <a:srgbClr val="C9963A"/>
                </a:solidFill>
                <a:latin typeface="Arial" pitchFamily="34" charset="0"/>
                <a:ea typeface="Arial" pitchFamily="34" charset="-122"/>
                <a:cs typeface="Arial" pitchFamily="34" charset="-120"/>
              </a:rPr>
              <a:t>14</a:t>
            </a:r>
            <a:endParaRPr lang="en-US" sz="1000" dirty="0"/>
          </a:p>
        </p:txBody>
      </p:sp>
      <p:sp>
        <p:nvSpPr>
          <p:cNvPr id="6" name="Shape 4"/>
          <p:cNvSpPr/>
          <p:nvPr/>
        </p:nvSpPr>
        <p:spPr>
          <a:xfrm>
            <a:off x="612648" y="1335024"/>
            <a:ext cx="10972800" cy="438912"/>
          </a:xfrm>
          <a:prstGeom prst="rect">
            <a:avLst/>
          </a:prstGeom>
          <a:solidFill>
            <a:srgbClr val="EEF2F7"/>
          </a:solidFill>
          <a:ln w="12700">
            <a:solidFill>
              <a:srgbClr val="D7DEE8"/>
            </a:solidFill>
            <a:prstDash val="solid"/>
          </a:ln>
        </p:spPr>
      </p:sp>
      <p:sp>
        <p:nvSpPr>
          <p:cNvPr id="7" name="Text 5"/>
          <p:cNvSpPr txBox="1"/>
          <p:nvPr/>
        </p:nvSpPr>
        <p:spPr>
          <a:xfrm>
            <a:off x="822960" y="1426464"/>
            <a:ext cx="10561320" cy="237744"/>
          </a:xfrm>
          <a:prstGeom prst="rect">
            <a:avLst/>
          </a:prstGeom>
          <a:noFill/>
          <a:ln/>
        </p:spPr>
        <p:txBody>
          <a:bodyPr wrap="square" lIns="0" tIns="0" rIns="0" bIns="0" rtlCol="0" anchor="ctr">
            <a:normAutofit/>
          </a:bodyPr>
          <a:lstStyle/>
          <a:p>
            <a:pPr algn="l" indent="0" marL="0">
              <a:buNone/>
            </a:pPr>
            <a:r>
              <a:rPr lang="en-US" sz="1320" b="1" dirty="0">
                <a:solidFill>
                  <a:srgbClr val="0D2447"/>
                </a:solidFill>
                <a:latin typeface="Arial" pitchFamily="34" charset="0"/>
                <a:ea typeface="Arial" pitchFamily="34" charset="-122"/>
                <a:cs typeface="Arial" pitchFamily="34" charset="-120"/>
              </a:rPr>
              <a:t>Mở offline → bài mô men → Sim2 → PDF.</a:t>
            </a:r>
            <a:endParaRPr lang="en-US" sz="132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algn="l" indent="0" marL="0">
              <a:buNone/>
            </a:pPr>
            <a:r>
              <a:rPr lang="en-US" sz="820" b="1" dirty="0">
                <a:solidFill>
                  <a:srgbClr val="5B6B80"/>
                </a:solidFill>
                <a:latin typeface="Arial" pitchFamily="34" charset="0"/>
                <a:ea typeface="Arial" pitchFamily="34" charset="-122"/>
                <a:cs typeface="Arial" pitchFamily="34" charset="-120"/>
              </a:rPr>
              <a:t>BACKUP</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algn="ctr" indent="0" marL="0">
              <a:buNone/>
            </a:pPr>
            <a:r>
              <a:rPr lang="en-US" sz="760" dirty="0">
                <a:solidFill>
                  <a:srgbClr val="5B6B80"/>
                </a:solidFill>
                <a:latin typeface="Arial" pitchFamily="34" charset="0"/>
                <a:ea typeface="Arial" pitchFamily="34" charset="-122"/>
                <a:cs typeface="Arial" pitchFamily="34" charset="-120"/>
              </a:rPr>
              <a:t>release/2026.08.25-candidate/package/index.html</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algn="r" indent="0" marL="0">
              <a:buNone/>
            </a:pPr>
            <a:r>
              <a:rPr lang="en-US" sz="820" dirty="0">
                <a:solidFill>
                  <a:srgbClr val="5B6B80"/>
                </a:solidFill>
                <a:latin typeface="Arial" pitchFamily="34" charset="0"/>
                <a:ea typeface="Arial" pitchFamily="34" charset="-122"/>
                <a:cs typeface="Arial" pitchFamily="34" charset="-120"/>
              </a:rPr>
              <a:t>14</a:t>
            </a:r>
            <a:endParaRPr lang="en-US" sz="820" dirty="0"/>
          </a:p>
        </p:txBody>
      </p:sp>
      <p:sp>
        <p:nvSpPr>
          <p:cNvPr id="13" name="Shape 10"/>
          <p:cNvSpPr/>
          <p:nvPr/>
        </p:nvSpPr>
        <p:spPr>
          <a:xfrm>
            <a:off x="658368" y="1956816"/>
            <a:ext cx="3429000" cy="2423160"/>
          </a:xfrm>
          <a:prstGeom prst="roundRect">
            <a:avLst>
              <a:gd name="adj" fmla="val 1509"/>
            </a:avLst>
          </a:prstGeom>
          <a:solidFill>
            <a:srgbClr val="FFFFFF"/>
          </a:solidFill>
          <a:ln w="12700">
            <a:solidFill>
              <a:srgbClr val="0D2447"/>
            </a:solidFill>
            <a:prstDash val="solid"/>
          </a:ln>
        </p:spPr>
      </p:sp>
      <p:pic>
        <p:nvPicPr>
          <p:cNvPr id="14" name="Image 0" descr="Trang chủ">    </p:cNvPr>
          <p:cNvPicPr>
            <a:picLocks noChangeAspect="1"/>
          </p:cNvPicPr>
          <p:nvPr/>
        </p:nvPicPr>
        <p:blipFill>
          <a:blip r:embed="rId1"/>
          <a:stretch>
            <a:fillRect/>
          </a:stretch>
        </p:blipFill>
        <p:spPr>
          <a:xfrm>
            <a:off x="917647" y="2029968"/>
            <a:ext cx="2910441" cy="2020824"/>
          </a:xfrm>
          <a:prstGeom prst="rect">
            <a:avLst/>
          </a:prstGeom>
        </p:spPr>
      </p:pic>
      <p:sp>
        <p:nvSpPr>
          <p:cNvPr id="15" name="Text 11"/>
          <p:cNvSpPr txBox="1"/>
          <p:nvPr/>
        </p:nvSpPr>
        <p:spPr>
          <a:xfrm>
            <a:off x="768096" y="4160520"/>
            <a:ext cx="3209544" cy="128016"/>
          </a:xfrm>
          <a:prstGeom prst="rect">
            <a:avLst/>
          </a:prstGeom>
          <a:noFill/>
          <a:ln/>
        </p:spPr>
        <p:txBody>
          <a:bodyPr wrap="square" lIns="0" tIns="0" rIns="0" bIns="0" rtlCol="0" anchor="t">
            <a:normAutofit/>
          </a:bodyPr>
          <a:lstStyle/>
          <a:p>
            <a:pPr algn="ctr" indent="0" marL="0">
              <a:buNone/>
            </a:pPr>
            <a:r>
              <a:rPr lang="en-US" sz="850" dirty="0">
                <a:solidFill>
                  <a:srgbClr val="5B6B80"/>
                </a:solidFill>
                <a:latin typeface="Arial" pitchFamily="34" charset="0"/>
                <a:ea typeface="Arial" pitchFamily="34" charset="-122"/>
                <a:cs typeface="Arial" pitchFamily="34" charset="-120"/>
              </a:rPr>
              <a:t>Trang chủ</a:t>
            </a:r>
            <a:endParaRPr lang="en-US" sz="850" dirty="0"/>
          </a:p>
        </p:txBody>
      </p:sp>
      <p:sp>
        <p:nvSpPr>
          <p:cNvPr id="16" name="Shape 12"/>
          <p:cNvSpPr/>
          <p:nvPr/>
        </p:nvSpPr>
        <p:spPr>
          <a:xfrm>
            <a:off x="4389120" y="1956816"/>
            <a:ext cx="3429000" cy="2423160"/>
          </a:xfrm>
          <a:prstGeom prst="roundRect">
            <a:avLst>
              <a:gd name="adj" fmla="val 1509"/>
            </a:avLst>
          </a:prstGeom>
          <a:solidFill>
            <a:srgbClr val="FFFFFF"/>
          </a:solidFill>
          <a:ln w="12700">
            <a:solidFill>
              <a:srgbClr val="0D2447"/>
            </a:solidFill>
            <a:prstDash val="solid"/>
          </a:ln>
        </p:spPr>
      </p:sp>
      <p:pic>
        <p:nvPicPr>
          <p:cNvPr id="17" name="Image 1" descr="Sim2 mô men">    </p:cNvPr>
          <p:cNvPicPr>
            <a:picLocks noChangeAspect="1"/>
          </p:cNvPicPr>
          <p:nvPr/>
        </p:nvPicPr>
        <p:blipFill>
          <a:blip r:embed="rId2"/>
          <a:stretch>
            <a:fillRect/>
          </a:stretch>
        </p:blipFill>
        <p:spPr>
          <a:xfrm>
            <a:off x="4648399" y="2029968"/>
            <a:ext cx="2910441" cy="2020824"/>
          </a:xfrm>
          <a:prstGeom prst="rect">
            <a:avLst/>
          </a:prstGeom>
        </p:spPr>
      </p:pic>
      <p:sp>
        <p:nvSpPr>
          <p:cNvPr id="18" name="Text 13"/>
          <p:cNvSpPr txBox="1"/>
          <p:nvPr/>
        </p:nvSpPr>
        <p:spPr>
          <a:xfrm>
            <a:off x="4498848" y="4160520"/>
            <a:ext cx="3209544" cy="128016"/>
          </a:xfrm>
          <a:prstGeom prst="rect">
            <a:avLst/>
          </a:prstGeom>
          <a:noFill/>
          <a:ln/>
        </p:spPr>
        <p:txBody>
          <a:bodyPr wrap="square" lIns="0" tIns="0" rIns="0" bIns="0" rtlCol="0" anchor="t">
            <a:normAutofit/>
          </a:bodyPr>
          <a:lstStyle/>
          <a:p>
            <a:pPr algn="ctr" indent="0" marL="0">
              <a:buNone/>
            </a:pPr>
            <a:r>
              <a:rPr lang="en-US" sz="850" dirty="0">
                <a:solidFill>
                  <a:srgbClr val="5B6B80"/>
                </a:solidFill>
                <a:latin typeface="Arial" pitchFamily="34" charset="0"/>
                <a:ea typeface="Arial" pitchFamily="34" charset="-122"/>
                <a:cs typeface="Arial" pitchFamily="34" charset="-120"/>
              </a:rPr>
              <a:t>Sim2 mô men</a:t>
            </a:r>
            <a:endParaRPr lang="en-US" sz="850" dirty="0"/>
          </a:p>
        </p:txBody>
      </p:sp>
      <p:sp>
        <p:nvSpPr>
          <p:cNvPr id="19" name="Shape 14"/>
          <p:cNvSpPr/>
          <p:nvPr/>
        </p:nvSpPr>
        <p:spPr>
          <a:xfrm>
            <a:off x="8119872" y="1956816"/>
            <a:ext cx="3429000" cy="2423160"/>
          </a:xfrm>
          <a:prstGeom prst="roundRect">
            <a:avLst>
              <a:gd name="adj" fmla="val 1509"/>
            </a:avLst>
          </a:prstGeom>
          <a:solidFill>
            <a:srgbClr val="FFFFFF"/>
          </a:solidFill>
          <a:ln w="12700">
            <a:solidFill>
              <a:srgbClr val="0D2447"/>
            </a:solidFill>
            <a:prstDash val="solid"/>
          </a:ln>
        </p:spPr>
      </p:sp>
      <p:pic>
        <p:nvPicPr>
          <p:cNvPr id="20" name="Image 2" descr="PDF viewer">    </p:cNvPr>
          <p:cNvPicPr>
            <a:picLocks noChangeAspect="1"/>
          </p:cNvPicPr>
          <p:nvPr/>
        </p:nvPicPr>
        <p:blipFill>
          <a:blip r:embed="rId3"/>
          <a:stretch>
            <a:fillRect/>
          </a:stretch>
        </p:blipFill>
        <p:spPr>
          <a:xfrm>
            <a:off x="8379151" y="2029968"/>
            <a:ext cx="2910441" cy="2020824"/>
          </a:xfrm>
          <a:prstGeom prst="rect">
            <a:avLst/>
          </a:prstGeom>
        </p:spPr>
      </p:pic>
      <p:sp>
        <p:nvSpPr>
          <p:cNvPr id="21" name="Text 15"/>
          <p:cNvSpPr txBox="1"/>
          <p:nvPr/>
        </p:nvSpPr>
        <p:spPr>
          <a:xfrm>
            <a:off x="8229600" y="4160520"/>
            <a:ext cx="3209544" cy="128016"/>
          </a:xfrm>
          <a:prstGeom prst="rect">
            <a:avLst/>
          </a:prstGeom>
          <a:noFill/>
          <a:ln/>
        </p:spPr>
        <p:txBody>
          <a:bodyPr wrap="square" lIns="0" tIns="0" rIns="0" bIns="0" rtlCol="0" anchor="t">
            <a:normAutofit/>
          </a:bodyPr>
          <a:lstStyle/>
          <a:p>
            <a:pPr algn="ctr" indent="0" marL="0">
              <a:buNone/>
            </a:pPr>
            <a:r>
              <a:rPr lang="en-US" sz="850" dirty="0">
                <a:solidFill>
                  <a:srgbClr val="5B6B80"/>
                </a:solidFill>
                <a:latin typeface="Arial" pitchFamily="34" charset="0"/>
                <a:ea typeface="Arial" pitchFamily="34" charset="-122"/>
                <a:cs typeface="Arial" pitchFamily="34" charset="-120"/>
              </a:rPr>
              <a:t>PDF viewer</a:t>
            </a:r>
            <a:endParaRPr lang="en-US" sz="850" dirty="0"/>
          </a:p>
        </p:txBody>
      </p:sp>
      <p:sp>
        <p:nvSpPr>
          <p:cNvPr id="22" name="Text 16"/>
          <p:cNvSpPr txBox="1"/>
          <p:nvPr/>
        </p:nvSpPr>
        <p:spPr>
          <a:xfrm>
            <a:off x="777240" y="4828032"/>
            <a:ext cx="566928" cy="201168"/>
          </a:xfrm>
          <a:prstGeom prst="rect">
            <a:avLst/>
          </a:prstGeom>
          <a:noFill/>
          <a:ln/>
        </p:spPr>
        <p:txBody>
          <a:bodyPr wrap="square" lIns="0" tIns="0" rIns="0" bIns="0" rtlCol="0" anchor="t">
            <a:normAutofit/>
          </a:bodyPr>
          <a:lstStyle/>
          <a:p>
            <a:pPr algn="l" indent="0" marL="0">
              <a:buNone/>
            </a:pPr>
            <a:r>
              <a:rPr lang="en-US" sz="1000" b="1" dirty="0">
                <a:solidFill>
                  <a:srgbClr val="C9963A"/>
                </a:solidFill>
                <a:latin typeface="Arial" pitchFamily="34" charset="0"/>
                <a:ea typeface="Arial" pitchFamily="34" charset="-122"/>
                <a:cs typeface="Arial" pitchFamily="34" charset="-120"/>
              </a:rPr>
              <a:t>00:00</a:t>
            </a:r>
            <a:endParaRPr lang="en-US" sz="1000" dirty="0"/>
          </a:p>
        </p:txBody>
      </p:sp>
      <p:sp>
        <p:nvSpPr>
          <p:cNvPr id="23" name="Text 17"/>
          <p:cNvSpPr txBox="1"/>
          <p:nvPr/>
        </p:nvSpPr>
        <p:spPr>
          <a:xfrm>
            <a:off x="1325880" y="4773168"/>
            <a:ext cx="1051560" cy="256032"/>
          </a:xfrm>
          <a:prstGeom prst="rect">
            <a:avLst/>
          </a:prstGeom>
          <a:noFill/>
          <a:ln/>
        </p:spPr>
        <p:txBody>
          <a:bodyPr wrap="square" lIns="0" tIns="0" rIns="0" bIns="0" rtlCol="0" anchor="t">
            <a:normAutofit/>
          </a:bodyPr>
          <a:lstStyle/>
          <a:p>
            <a:pPr algn="l" indent="0" marL="0">
              <a:buNone/>
            </a:pPr>
            <a:r>
              <a:rPr lang="en-US" sz="1200" b="1" dirty="0">
                <a:solidFill>
                  <a:srgbClr val="07182F"/>
                </a:solidFill>
                <a:latin typeface="Arial" pitchFamily="34" charset="0"/>
                <a:ea typeface="Arial" pitchFamily="34" charset="-122"/>
                <a:cs typeface="Arial" pitchFamily="34" charset="-120"/>
              </a:rPr>
              <a:t>Mở</a:t>
            </a:r>
            <a:endParaRPr lang="en-US" sz="1200" dirty="0"/>
          </a:p>
        </p:txBody>
      </p:sp>
      <p:sp>
        <p:nvSpPr>
          <p:cNvPr id="24" name="Text 18"/>
          <p:cNvSpPr txBox="1"/>
          <p:nvPr/>
        </p:nvSpPr>
        <p:spPr>
          <a:xfrm>
            <a:off x="1325880" y="5138928"/>
            <a:ext cx="1325880" cy="219456"/>
          </a:xfrm>
          <a:prstGeom prst="rect">
            <a:avLst/>
          </a:prstGeom>
          <a:noFill/>
          <a:ln/>
        </p:spPr>
        <p:txBody>
          <a:bodyPr wrap="square" lIns="0" tIns="0" rIns="0" bIns="0" rtlCol="0" anchor="t">
            <a:normAutofit/>
          </a:bodyPr>
          <a:lstStyle/>
          <a:p>
            <a:pPr algn="l" indent="0" marL="0">
              <a:buNone/>
            </a:pPr>
            <a:r>
              <a:rPr lang="en-US" sz="950" dirty="0">
                <a:solidFill>
                  <a:srgbClr val="5B6B80"/>
                </a:solidFill>
                <a:latin typeface="Arial" pitchFamily="34" charset="0"/>
                <a:ea typeface="Arial" pitchFamily="34" charset="-122"/>
                <a:cs typeface="Arial" pitchFamily="34" charset="-120"/>
              </a:rPr>
              <a:t>package/index.html</a:t>
            </a:r>
            <a:endParaRPr lang="en-US" sz="950" dirty="0"/>
          </a:p>
        </p:txBody>
      </p:sp>
      <p:sp>
        <p:nvSpPr>
          <p:cNvPr id="25" name="Text 19"/>
          <p:cNvSpPr txBox="1"/>
          <p:nvPr/>
        </p:nvSpPr>
        <p:spPr>
          <a:xfrm>
            <a:off x="2926080" y="4828032"/>
            <a:ext cx="566928" cy="201168"/>
          </a:xfrm>
          <a:prstGeom prst="rect">
            <a:avLst/>
          </a:prstGeom>
          <a:noFill/>
          <a:ln/>
        </p:spPr>
        <p:txBody>
          <a:bodyPr wrap="square" lIns="0" tIns="0" rIns="0" bIns="0" rtlCol="0" anchor="t">
            <a:normAutofit/>
          </a:bodyPr>
          <a:lstStyle/>
          <a:p>
            <a:pPr algn="l" indent="0" marL="0">
              <a:buNone/>
            </a:pPr>
            <a:r>
              <a:rPr lang="en-US" sz="1000" b="1" dirty="0">
                <a:solidFill>
                  <a:srgbClr val="C9963A"/>
                </a:solidFill>
                <a:latin typeface="Arial" pitchFamily="34" charset="0"/>
                <a:ea typeface="Arial" pitchFamily="34" charset="-122"/>
                <a:cs typeface="Arial" pitchFamily="34" charset="-120"/>
              </a:rPr>
              <a:t>00:20</a:t>
            </a:r>
            <a:endParaRPr lang="en-US" sz="1000" dirty="0"/>
          </a:p>
        </p:txBody>
      </p:sp>
      <p:sp>
        <p:nvSpPr>
          <p:cNvPr id="26" name="Text 20"/>
          <p:cNvSpPr txBox="1"/>
          <p:nvPr/>
        </p:nvSpPr>
        <p:spPr>
          <a:xfrm>
            <a:off x="3474720" y="4773168"/>
            <a:ext cx="1051560" cy="256032"/>
          </a:xfrm>
          <a:prstGeom prst="rect">
            <a:avLst/>
          </a:prstGeom>
          <a:noFill/>
          <a:ln/>
        </p:spPr>
        <p:txBody>
          <a:bodyPr wrap="square" lIns="0" tIns="0" rIns="0" bIns="0" rtlCol="0" anchor="t">
            <a:normAutofit/>
          </a:bodyPr>
          <a:lstStyle/>
          <a:p>
            <a:pPr algn="l" indent="0" marL="0">
              <a:buNone/>
            </a:pPr>
            <a:r>
              <a:rPr lang="en-US" sz="1200" b="1" dirty="0">
                <a:solidFill>
                  <a:srgbClr val="07182F"/>
                </a:solidFill>
                <a:latin typeface="Arial" pitchFamily="34" charset="0"/>
                <a:ea typeface="Arial" pitchFamily="34" charset="-122"/>
                <a:cs typeface="Arial" pitchFamily="34" charset="-120"/>
              </a:rPr>
              <a:t>Bài học</a:t>
            </a:r>
            <a:endParaRPr lang="en-US" sz="1200" dirty="0"/>
          </a:p>
        </p:txBody>
      </p:sp>
      <p:sp>
        <p:nvSpPr>
          <p:cNvPr id="27" name="Text 21"/>
          <p:cNvSpPr txBox="1"/>
          <p:nvPr/>
        </p:nvSpPr>
        <p:spPr>
          <a:xfrm>
            <a:off x="3474720" y="5138928"/>
            <a:ext cx="1325880" cy="219456"/>
          </a:xfrm>
          <a:prstGeom prst="rect">
            <a:avLst/>
          </a:prstGeom>
          <a:noFill/>
          <a:ln/>
        </p:spPr>
        <p:txBody>
          <a:bodyPr wrap="square" lIns="0" tIns="0" rIns="0" bIns="0" rtlCol="0" anchor="t">
            <a:normAutofit/>
          </a:bodyPr>
          <a:lstStyle/>
          <a:p>
            <a:pPr algn="l" indent="0" marL="0">
              <a:buNone/>
            </a:pPr>
            <a:r>
              <a:rPr lang="en-US" sz="950" dirty="0">
                <a:solidFill>
                  <a:srgbClr val="5B6B80"/>
                </a:solidFill>
                <a:latin typeface="Arial" pitchFamily="34" charset="0"/>
                <a:ea typeface="Arial" pitchFamily="34" charset="-122"/>
                <a:cs typeface="Arial" pitchFamily="34" charset="-120"/>
              </a:rPr>
              <a:t>#ch1-1-4</a:t>
            </a:r>
            <a:endParaRPr lang="en-US" sz="950" dirty="0"/>
          </a:p>
        </p:txBody>
      </p:sp>
      <p:sp>
        <p:nvSpPr>
          <p:cNvPr id="28" name="Text 22"/>
          <p:cNvSpPr txBox="1"/>
          <p:nvPr/>
        </p:nvSpPr>
        <p:spPr>
          <a:xfrm>
            <a:off x="5074920" y="4828032"/>
            <a:ext cx="566928" cy="201168"/>
          </a:xfrm>
          <a:prstGeom prst="rect">
            <a:avLst/>
          </a:prstGeom>
          <a:noFill/>
          <a:ln/>
        </p:spPr>
        <p:txBody>
          <a:bodyPr wrap="square" lIns="0" tIns="0" rIns="0" bIns="0" rtlCol="0" anchor="t">
            <a:normAutofit/>
          </a:bodyPr>
          <a:lstStyle/>
          <a:p>
            <a:pPr algn="l" indent="0" marL="0">
              <a:buNone/>
            </a:pPr>
            <a:r>
              <a:rPr lang="en-US" sz="1000" b="1" dirty="0">
                <a:solidFill>
                  <a:srgbClr val="C9963A"/>
                </a:solidFill>
                <a:latin typeface="Arial" pitchFamily="34" charset="0"/>
                <a:ea typeface="Arial" pitchFamily="34" charset="-122"/>
                <a:cs typeface="Arial" pitchFamily="34" charset="-120"/>
              </a:rPr>
              <a:t>00:45</a:t>
            </a:r>
            <a:endParaRPr lang="en-US" sz="1000" dirty="0"/>
          </a:p>
        </p:txBody>
      </p:sp>
      <p:sp>
        <p:nvSpPr>
          <p:cNvPr id="29" name="Text 23"/>
          <p:cNvSpPr txBox="1"/>
          <p:nvPr/>
        </p:nvSpPr>
        <p:spPr>
          <a:xfrm>
            <a:off x="5623560" y="4773168"/>
            <a:ext cx="1051560" cy="256032"/>
          </a:xfrm>
          <a:prstGeom prst="rect">
            <a:avLst/>
          </a:prstGeom>
          <a:noFill/>
          <a:ln/>
        </p:spPr>
        <p:txBody>
          <a:bodyPr wrap="square" lIns="0" tIns="0" rIns="0" bIns="0" rtlCol="0" anchor="t">
            <a:normAutofit/>
          </a:bodyPr>
          <a:lstStyle/>
          <a:p>
            <a:pPr algn="l" indent="0" marL="0">
              <a:buNone/>
            </a:pPr>
            <a:r>
              <a:rPr lang="en-US" sz="1200" b="1" dirty="0">
                <a:solidFill>
                  <a:srgbClr val="07182F"/>
                </a:solidFill>
                <a:latin typeface="Arial" pitchFamily="34" charset="0"/>
                <a:ea typeface="Arial" pitchFamily="34" charset="-122"/>
                <a:cs typeface="Arial" pitchFamily="34" charset="-120"/>
              </a:rPr>
              <a:t>Mô phỏng</a:t>
            </a:r>
            <a:endParaRPr lang="en-US" sz="1200" dirty="0"/>
          </a:p>
        </p:txBody>
      </p:sp>
      <p:sp>
        <p:nvSpPr>
          <p:cNvPr id="30" name="Text 24"/>
          <p:cNvSpPr txBox="1"/>
          <p:nvPr/>
        </p:nvSpPr>
        <p:spPr>
          <a:xfrm>
            <a:off x="5623560" y="5138928"/>
            <a:ext cx="1325880" cy="219456"/>
          </a:xfrm>
          <a:prstGeom prst="rect">
            <a:avLst/>
          </a:prstGeom>
          <a:noFill/>
          <a:ln/>
        </p:spPr>
        <p:txBody>
          <a:bodyPr wrap="square" lIns="0" tIns="0" rIns="0" bIns="0" rtlCol="0" anchor="t">
            <a:normAutofit/>
          </a:bodyPr>
          <a:lstStyle/>
          <a:p>
            <a:pPr algn="l" indent="0" marL="0">
              <a:buNone/>
            </a:pPr>
            <a:r>
              <a:rPr lang="en-US" sz="950" dirty="0">
                <a:solidFill>
                  <a:srgbClr val="5B6B80"/>
                </a:solidFill>
                <a:latin typeface="Arial" pitchFamily="34" charset="0"/>
                <a:ea typeface="Arial" pitchFamily="34" charset="-122"/>
                <a:cs typeface="Arial" pitchFamily="34" charset="-120"/>
              </a:rPr>
              <a:t>F, d, M</a:t>
            </a:r>
            <a:endParaRPr lang="en-US" sz="950" dirty="0"/>
          </a:p>
        </p:txBody>
      </p:sp>
      <p:sp>
        <p:nvSpPr>
          <p:cNvPr id="31" name="Text 25"/>
          <p:cNvSpPr txBox="1"/>
          <p:nvPr/>
        </p:nvSpPr>
        <p:spPr>
          <a:xfrm>
            <a:off x="7223760" y="4828032"/>
            <a:ext cx="566928" cy="201168"/>
          </a:xfrm>
          <a:prstGeom prst="rect">
            <a:avLst/>
          </a:prstGeom>
          <a:noFill/>
          <a:ln/>
        </p:spPr>
        <p:txBody>
          <a:bodyPr wrap="square" lIns="0" tIns="0" rIns="0" bIns="0" rtlCol="0" anchor="t">
            <a:normAutofit/>
          </a:bodyPr>
          <a:lstStyle/>
          <a:p>
            <a:pPr algn="l" indent="0" marL="0">
              <a:buNone/>
            </a:pPr>
            <a:r>
              <a:rPr lang="en-US" sz="1000" b="1" dirty="0">
                <a:solidFill>
                  <a:srgbClr val="C9963A"/>
                </a:solidFill>
                <a:latin typeface="Arial" pitchFamily="34" charset="0"/>
                <a:ea typeface="Arial" pitchFamily="34" charset="-122"/>
                <a:cs typeface="Arial" pitchFamily="34" charset="-120"/>
              </a:rPr>
              <a:t>01:05</a:t>
            </a:r>
            <a:endParaRPr lang="en-US" sz="1000" dirty="0"/>
          </a:p>
        </p:txBody>
      </p:sp>
      <p:sp>
        <p:nvSpPr>
          <p:cNvPr id="32" name="Text 26"/>
          <p:cNvSpPr txBox="1"/>
          <p:nvPr/>
        </p:nvSpPr>
        <p:spPr>
          <a:xfrm>
            <a:off x="7772400" y="4773168"/>
            <a:ext cx="1051560" cy="256032"/>
          </a:xfrm>
          <a:prstGeom prst="rect">
            <a:avLst/>
          </a:prstGeom>
          <a:noFill/>
          <a:ln/>
        </p:spPr>
        <p:txBody>
          <a:bodyPr wrap="square" lIns="0" tIns="0" rIns="0" bIns="0" rtlCol="0" anchor="t">
            <a:normAutofit/>
          </a:bodyPr>
          <a:lstStyle/>
          <a:p>
            <a:pPr algn="l" indent="0" marL="0">
              <a:buNone/>
            </a:pPr>
            <a:r>
              <a:rPr lang="en-US" sz="1200" b="1" dirty="0">
                <a:solidFill>
                  <a:srgbClr val="07182F"/>
                </a:solidFill>
                <a:latin typeface="Arial" pitchFamily="34" charset="0"/>
                <a:ea typeface="Arial" pitchFamily="34" charset="-122"/>
                <a:cs typeface="Arial" pitchFamily="34" charset="-120"/>
              </a:rPr>
              <a:t>PDF</a:t>
            </a:r>
            <a:endParaRPr lang="en-US" sz="1200" dirty="0"/>
          </a:p>
        </p:txBody>
      </p:sp>
      <p:sp>
        <p:nvSpPr>
          <p:cNvPr id="33" name="Text 27"/>
          <p:cNvSpPr txBox="1"/>
          <p:nvPr/>
        </p:nvSpPr>
        <p:spPr>
          <a:xfrm>
            <a:off x="7772400" y="5138928"/>
            <a:ext cx="1325880" cy="219456"/>
          </a:xfrm>
          <a:prstGeom prst="rect">
            <a:avLst/>
          </a:prstGeom>
          <a:noFill/>
          <a:ln/>
        </p:spPr>
        <p:txBody>
          <a:bodyPr wrap="square" lIns="0" tIns="0" rIns="0" bIns="0" rtlCol="0" anchor="t">
            <a:normAutofit/>
          </a:bodyPr>
          <a:lstStyle/>
          <a:p>
            <a:pPr algn="l" indent="0" marL="0">
              <a:buNone/>
            </a:pPr>
            <a:r>
              <a:rPr lang="en-US" sz="950" dirty="0">
                <a:solidFill>
                  <a:srgbClr val="5B6B80"/>
                </a:solidFill>
                <a:latin typeface="Arial" pitchFamily="34" charset="0"/>
                <a:ea typeface="Arial" pitchFamily="34" charset="-122"/>
                <a:cs typeface="Arial" pitchFamily="34" charset="-120"/>
              </a:rPr>
              <a:t>Xem bản PDF</a:t>
            </a:r>
            <a:endParaRPr lang="en-US" sz="950" dirty="0"/>
          </a:p>
        </p:txBody>
      </p:sp>
      <p:sp>
        <p:nvSpPr>
          <p:cNvPr id="34" name="Text 28"/>
          <p:cNvSpPr txBox="1"/>
          <p:nvPr/>
        </p:nvSpPr>
        <p:spPr>
          <a:xfrm>
            <a:off x="9372600" y="4828032"/>
            <a:ext cx="566928" cy="201168"/>
          </a:xfrm>
          <a:prstGeom prst="rect">
            <a:avLst/>
          </a:prstGeom>
          <a:noFill/>
          <a:ln/>
        </p:spPr>
        <p:txBody>
          <a:bodyPr wrap="square" lIns="0" tIns="0" rIns="0" bIns="0" rtlCol="0" anchor="t">
            <a:normAutofit/>
          </a:bodyPr>
          <a:lstStyle/>
          <a:p>
            <a:pPr algn="l" indent="0" marL="0">
              <a:buNone/>
            </a:pPr>
            <a:r>
              <a:rPr lang="en-US" sz="1000" b="1" dirty="0">
                <a:solidFill>
                  <a:srgbClr val="C9963A"/>
                </a:solidFill>
                <a:latin typeface="Arial" pitchFamily="34" charset="0"/>
                <a:ea typeface="Arial" pitchFamily="34" charset="-122"/>
                <a:cs typeface="Arial" pitchFamily="34" charset="-120"/>
              </a:rPr>
              <a:t>01:25</a:t>
            </a:r>
            <a:endParaRPr lang="en-US" sz="1000" dirty="0"/>
          </a:p>
        </p:txBody>
      </p:sp>
      <p:sp>
        <p:nvSpPr>
          <p:cNvPr id="35" name="Text 29"/>
          <p:cNvSpPr txBox="1"/>
          <p:nvPr/>
        </p:nvSpPr>
        <p:spPr>
          <a:xfrm>
            <a:off x="9921240" y="4773168"/>
            <a:ext cx="1051560" cy="256032"/>
          </a:xfrm>
          <a:prstGeom prst="rect">
            <a:avLst/>
          </a:prstGeom>
          <a:noFill/>
          <a:ln/>
        </p:spPr>
        <p:txBody>
          <a:bodyPr wrap="square" lIns="0" tIns="0" rIns="0" bIns="0" rtlCol="0" anchor="t">
            <a:normAutofit/>
          </a:bodyPr>
          <a:lstStyle/>
          <a:p>
            <a:pPr algn="l" indent="0" marL="0">
              <a:buNone/>
            </a:pPr>
            <a:r>
              <a:rPr lang="en-US" sz="1200" b="1" dirty="0">
                <a:solidFill>
                  <a:srgbClr val="07182F"/>
                </a:solidFill>
                <a:latin typeface="Arial" pitchFamily="34" charset="0"/>
                <a:ea typeface="Arial" pitchFamily="34" charset="-122"/>
                <a:cs typeface="Arial" pitchFamily="34" charset="-120"/>
              </a:rPr>
              <a:t>Dừng</a:t>
            </a:r>
            <a:endParaRPr lang="en-US" sz="1200" dirty="0"/>
          </a:p>
        </p:txBody>
      </p:sp>
      <p:sp>
        <p:nvSpPr>
          <p:cNvPr id="36" name="Text 30"/>
          <p:cNvSpPr txBox="1"/>
          <p:nvPr/>
        </p:nvSpPr>
        <p:spPr>
          <a:xfrm>
            <a:off x="9921240" y="5138928"/>
            <a:ext cx="1325880" cy="219456"/>
          </a:xfrm>
          <a:prstGeom prst="rect">
            <a:avLst/>
          </a:prstGeom>
          <a:noFill/>
          <a:ln/>
        </p:spPr>
        <p:txBody>
          <a:bodyPr wrap="square" lIns="0" tIns="0" rIns="0" bIns="0" rtlCol="0" anchor="t">
            <a:normAutofit/>
          </a:bodyPr>
          <a:lstStyle/>
          <a:p>
            <a:pPr algn="l" indent="0" marL="0">
              <a:buNone/>
            </a:pPr>
            <a:r>
              <a:rPr lang="en-US" sz="950" dirty="0">
                <a:solidFill>
                  <a:srgbClr val="5B6B80"/>
                </a:solidFill>
                <a:latin typeface="Arial" pitchFamily="34" charset="0"/>
                <a:ea typeface="Arial" pitchFamily="34" charset="-122"/>
                <a:cs typeface="Arial" pitchFamily="34" charset="-120"/>
              </a:rPr>
              <a:t>Quay lại Q&amp;A</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algn="l" indent="0" marL="0">
              <a:buNone/>
            </a:pPr>
            <a:r>
              <a:rPr lang="en-US" sz="950" b="1" dirty="0">
                <a:solidFill>
                  <a:srgbClr val="5B6B80"/>
                </a:solidFill>
                <a:latin typeface="Arial" pitchFamily="34" charset="0"/>
                <a:ea typeface="Arial" pitchFamily="34" charset="-122"/>
                <a:cs typeface="Arial" pitchFamily="34" charset="-120"/>
              </a:rPr>
              <a:t>PHỤ LỤC / DEMO DỰ PHÒNG</a:t>
            </a:r>
            <a:endParaRPr lang="en-US" sz="950" dirty="0"/>
          </a:p>
        </p:txBody>
      </p:sp>
      <p:sp>
        <p:nvSpPr>
          <p:cNvPr id="4" name="Text 2"/>
          <p:cNvSpPr txBox="1"/>
          <p:nvPr/>
        </p:nvSpPr>
        <p:spPr>
          <a:xfrm>
            <a:off x="612648" y="658368"/>
            <a:ext cx="10972800" cy="603504"/>
          </a:xfrm>
          <a:prstGeom prst="rect">
            <a:avLst/>
          </a:prstGeom>
          <a:noFill/>
          <a:ln/>
        </p:spPr>
        <p:txBody>
          <a:bodyPr wrap="square" lIns="0" tIns="0" rIns="0" bIns="0" rtlCol="0" anchor="ctr">
            <a:normAutofit/>
          </a:bodyPr>
          <a:lstStyle/>
          <a:p>
            <a:pPr algn="l" indent="0" marL="0">
              <a:buNone/>
            </a:pPr>
            <a:r>
              <a:rPr lang="en-US" sz="2350" b="1" dirty="0">
                <a:solidFill>
                  <a:srgbClr val="07182F"/>
                </a:solidFill>
                <a:latin typeface="Georgia" pitchFamily="34" charset="0"/>
                <a:ea typeface="Georgia" pitchFamily="34" charset="-122"/>
                <a:cs typeface="Georgia" pitchFamily="34" charset="-120"/>
              </a:rPr>
              <a:t>Phụ lục · gate mở và bằng chứng cần nộp</a:t>
            </a:r>
            <a:endParaRPr lang="en-US" sz="235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algn="r" indent="0" marL="0">
              <a:buNone/>
            </a:pPr>
            <a:r>
              <a:rPr lang="en-US" sz="1000" b="1" dirty="0">
                <a:solidFill>
                  <a:srgbClr val="C9963A"/>
                </a:solidFill>
                <a:latin typeface="Arial" pitchFamily="34" charset="0"/>
                <a:ea typeface="Arial" pitchFamily="34" charset="-122"/>
                <a:cs typeface="Arial" pitchFamily="34" charset="-120"/>
              </a:rPr>
              <a:t>15</a:t>
            </a:r>
            <a:endParaRPr lang="en-US" sz="1000" dirty="0"/>
          </a:p>
        </p:txBody>
      </p:sp>
      <p:sp>
        <p:nvSpPr>
          <p:cNvPr id="6" name="Shape 4"/>
          <p:cNvSpPr/>
          <p:nvPr/>
        </p:nvSpPr>
        <p:spPr>
          <a:xfrm>
            <a:off x="612648" y="1335024"/>
            <a:ext cx="10972800" cy="438912"/>
          </a:xfrm>
          <a:prstGeom prst="rect">
            <a:avLst/>
          </a:prstGeom>
          <a:solidFill>
            <a:srgbClr val="EEF2F7"/>
          </a:solidFill>
          <a:ln w="12700">
            <a:solidFill>
              <a:srgbClr val="D7DEE8"/>
            </a:solidFill>
            <a:prstDash val="solid"/>
          </a:ln>
        </p:spPr>
      </p:sp>
      <p:sp>
        <p:nvSpPr>
          <p:cNvPr id="7" name="Text 5"/>
          <p:cNvSpPr txBox="1"/>
          <p:nvPr/>
        </p:nvSpPr>
        <p:spPr>
          <a:xfrm>
            <a:off x="822960" y="1426464"/>
            <a:ext cx="10561320" cy="237744"/>
          </a:xfrm>
          <a:prstGeom prst="rect">
            <a:avLst/>
          </a:prstGeom>
          <a:noFill/>
          <a:ln/>
        </p:spPr>
        <p:txBody>
          <a:bodyPr wrap="square" lIns="0" tIns="0" rIns="0" bIns="0" rtlCol="0" anchor="ctr">
            <a:normAutofit/>
          </a:bodyPr>
          <a:lstStyle/>
          <a:p>
            <a:pPr algn="l" indent="0" marL="0">
              <a:buNone/>
            </a:pPr>
            <a:r>
              <a:rPr lang="en-US" sz="1320" b="1" dirty="0">
                <a:solidFill>
                  <a:srgbClr val="0D2447"/>
                </a:solidFill>
                <a:latin typeface="Arial" pitchFamily="34" charset="0"/>
                <a:ea typeface="Arial" pitchFamily="34" charset="-122"/>
                <a:cs typeface="Arial" pitchFamily="34" charset="-120"/>
              </a:rPr>
              <a:t>Blocked không đồng nghĩa fail; nhưng không được gọi pass.</a:t>
            </a:r>
            <a:endParaRPr lang="en-US" sz="132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algn="l" indent="0" marL="0">
              <a:buNone/>
            </a:pPr>
            <a:r>
              <a:rPr lang="en-US" sz="820" b="1" dirty="0">
                <a:solidFill>
                  <a:srgbClr val="5B6B80"/>
                </a:solidFill>
                <a:latin typeface="Arial" pitchFamily="34" charset="0"/>
                <a:ea typeface="Arial" pitchFamily="34" charset="-122"/>
                <a:cs typeface="Arial" pitchFamily="34" charset="-120"/>
              </a:rPr>
              <a:t>BACKUP</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algn="ctr" indent="0" marL="0">
              <a:buNone/>
            </a:pPr>
            <a:r>
              <a:rPr lang="en-US" sz="760" dirty="0">
                <a:solidFill>
                  <a:srgbClr val="5B6B80"/>
                </a:solidFill>
                <a:latin typeface="Arial" pitchFamily="34" charset="0"/>
                <a:ea typeface="Arial" pitchFamily="34" charset="-122"/>
                <a:cs typeface="Arial" pitchFamily="34" charset="-120"/>
              </a:rPr>
              <a:t>data/acceptance-report.json</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algn="r" indent="0" marL="0">
              <a:buNone/>
            </a:pPr>
            <a:r>
              <a:rPr lang="en-US" sz="820" dirty="0">
                <a:solidFill>
                  <a:srgbClr val="5B6B80"/>
                </a:solidFill>
                <a:latin typeface="Arial" pitchFamily="34" charset="0"/>
                <a:ea typeface="Arial" pitchFamily="34" charset="-122"/>
                <a:cs typeface="Arial" pitchFamily="34" charset="-120"/>
              </a:rPr>
              <a:t>15</a:t>
            </a:r>
            <a:endParaRPr lang="en-US" sz="820" dirty="0"/>
          </a:p>
        </p:txBody>
      </p:sp>
      <p:sp>
        <p:nvSpPr>
          <p:cNvPr id="13" name="Shape 10"/>
          <p:cNvSpPr/>
          <p:nvPr/>
        </p:nvSpPr>
        <p:spPr>
          <a:xfrm>
            <a:off x="658368" y="2029968"/>
            <a:ext cx="10972800" cy="676656"/>
          </a:xfrm>
          <a:prstGeom prst="roundRect">
            <a:avLst>
              <a:gd name="adj" fmla="val 5405"/>
            </a:avLst>
          </a:prstGeom>
          <a:solidFill>
            <a:srgbClr val="FFFFFF"/>
          </a:solidFill>
          <a:ln w="12700">
            <a:solidFill>
              <a:srgbClr val="D7DEE8"/>
            </a:solidFill>
            <a:prstDash val="solid"/>
          </a:ln>
        </p:spPr>
      </p:sp>
      <p:sp>
        <p:nvSpPr>
          <p:cNvPr id="14" name="Text 11"/>
          <p:cNvSpPr txBox="1"/>
          <p:nvPr/>
        </p:nvSpPr>
        <p:spPr>
          <a:xfrm>
            <a:off x="896112" y="2212848"/>
            <a:ext cx="3154680" cy="256032"/>
          </a:xfrm>
          <a:prstGeom prst="rect">
            <a:avLst/>
          </a:prstGeom>
          <a:noFill/>
          <a:ln/>
        </p:spPr>
        <p:txBody>
          <a:bodyPr wrap="square" lIns="0" tIns="0" rIns="0" bIns="0" rtlCol="0" anchor="t">
            <a:normAutofit/>
          </a:bodyPr>
          <a:lstStyle/>
          <a:p>
            <a:pPr algn="l" indent="0" marL="0">
              <a:buNone/>
            </a:pPr>
            <a:r>
              <a:rPr lang="en-US" sz="1130" b="1" dirty="0">
                <a:solidFill>
                  <a:srgbClr val="07182F"/>
                </a:solidFill>
                <a:latin typeface="Arial" pitchFamily="34" charset="0"/>
                <a:ea typeface="Arial" pitchFamily="34" charset="-122"/>
                <a:cs typeface="Arial" pitchFamily="34" charset="-120"/>
              </a:rPr>
              <a:t>academic-review-currentness</a:t>
            </a:r>
            <a:endParaRPr lang="en-US" sz="1130" dirty="0"/>
          </a:p>
        </p:txBody>
      </p:sp>
      <p:sp>
        <p:nvSpPr>
          <p:cNvPr id="15" name="Text 12"/>
          <p:cNvSpPr txBox="1"/>
          <p:nvPr/>
        </p:nvSpPr>
        <p:spPr>
          <a:xfrm>
            <a:off x="4315968" y="2212848"/>
            <a:ext cx="1005840" cy="256032"/>
          </a:xfrm>
          <a:prstGeom prst="rect">
            <a:avLst/>
          </a:prstGeom>
          <a:noFill/>
          <a:ln/>
        </p:spPr>
        <p:txBody>
          <a:bodyPr wrap="square" lIns="0" tIns="0" rIns="0" bIns="0" rtlCol="0" anchor="t">
            <a:normAutofit/>
          </a:bodyPr>
          <a:lstStyle/>
          <a:p>
            <a:pPr algn="ctr" indent="0" marL="0">
              <a:buNone/>
            </a:pPr>
            <a:r>
              <a:rPr lang="en-US" sz="1120" b="1" dirty="0">
                <a:solidFill>
                  <a:srgbClr val="9A5B00"/>
                </a:solidFill>
                <a:latin typeface="Arial" pitchFamily="34" charset="0"/>
                <a:ea typeface="Arial" pitchFamily="34" charset="-122"/>
                <a:cs typeface="Arial" pitchFamily="34" charset="-120"/>
              </a:rPr>
              <a:t>Blocked</a:t>
            </a:r>
            <a:endParaRPr lang="en-US" sz="1120" dirty="0"/>
          </a:p>
        </p:txBody>
      </p:sp>
      <p:sp>
        <p:nvSpPr>
          <p:cNvPr id="16" name="Text 13"/>
          <p:cNvSpPr txBox="1"/>
          <p:nvPr/>
        </p:nvSpPr>
        <p:spPr>
          <a:xfrm>
            <a:off x="5577840" y="2176272"/>
            <a:ext cx="5577840" cy="310896"/>
          </a:xfrm>
          <a:prstGeom prst="rect">
            <a:avLst/>
          </a:prstGeom>
          <a:noFill/>
          <a:ln/>
        </p:spPr>
        <p:txBody>
          <a:bodyPr wrap="square" lIns="0" tIns="0" rIns="0" bIns="0" rtlCol="0" anchor="t">
            <a:normAutofit/>
          </a:bodyPr>
          <a:lstStyle/>
          <a:p>
            <a:pPr algn="l" indent="0" marL="0">
              <a:buNone/>
            </a:pPr>
            <a:r>
              <a:rPr lang="en-US" sz="1150" dirty="0">
                <a:solidFill>
                  <a:srgbClr val="243247"/>
                </a:solidFill>
                <a:latin typeface="Arial" pitchFamily="34" charset="0"/>
                <a:ea typeface="Arial" pitchFamily="34" charset="-122"/>
                <a:cs typeface="Arial" pitchFamily="34" charset="-120"/>
              </a:rPr>
              <a:t>Ledger + source hash + reviewer</a:t>
            </a:r>
            <a:endParaRPr lang="en-US" sz="1150" dirty="0"/>
          </a:p>
        </p:txBody>
      </p:sp>
      <p:sp>
        <p:nvSpPr>
          <p:cNvPr id="17" name="Shape 14"/>
          <p:cNvSpPr/>
          <p:nvPr/>
        </p:nvSpPr>
        <p:spPr>
          <a:xfrm>
            <a:off x="658368" y="2898648"/>
            <a:ext cx="10972800" cy="676656"/>
          </a:xfrm>
          <a:prstGeom prst="roundRect">
            <a:avLst>
              <a:gd name="adj" fmla="val 5405"/>
            </a:avLst>
          </a:prstGeom>
          <a:solidFill>
            <a:srgbClr val="FFFFFF"/>
          </a:solidFill>
          <a:ln w="12700">
            <a:solidFill>
              <a:srgbClr val="D7DEE8"/>
            </a:solidFill>
            <a:prstDash val="solid"/>
          </a:ln>
        </p:spPr>
      </p:sp>
      <p:sp>
        <p:nvSpPr>
          <p:cNvPr id="18" name="Text 15"/>
          <p:cNvSpPr txBox="1"/>
          <p:nvPr/>
        </p:nvSpPr>
        <p:spPr>
          <a:xfrm>
            <a:off x="896112" y="3081528"/>
            <a:ext cx="3154680" cy="256032"/>
          </a:xfrm>
          <a:prstGeom prst="rect">
            <a:avLst/>
          </a:prstGeom>
          <a:noFill/>
          <a:ln/>
        </p:spPr>
        <p:txBody>
          <a:bodyPr wrap="square" lIns="0" tIns="0" rIns="0" bIns="0" rtlCol="0" anchor="t">
            <a:normAutofit/>
          </a:bodyPr>
          <a:lstStyle/>
          <a:p>
            <a:pPr algn="l" indent="0" marL="0">
              <a:buNone/>
            </a:pPr>
            <a:r>
              <a:rPr lang="en-US" sz="1130" b="1" dirty="0">
                <a:solidFill>
                  <a:srgbClr val="07182F"/>
                </a:solidFill>
                <a:latin typeface="Arial" pitchFamily="34" charset="0"/>
                <a:ea typeface="Arial" pitchFamily="34" charset="-122"/>
                <a:cs typeface="Arial" pitchFamily="34" charset="-120"/>
              </a:rPr>
              <a:t>accessibility-independent-review</a:t>
            </a:r>
            <a:endParaRPr lang="en-US" sz="1130" dirty="0"/>
          </a:p>
        </p:txBody>
      </p:sp>
      <p:sp>
        <p:nvSpPr>
          <p:cNvPr id="19" name="Text 16"/>
          <p:cNvSpPr txBox="1"/>
          <p:nvPr/>
        </p:nvSpPr>
        <p:spPr>
          <a:xfrm>
            <a:off x="4315968" y="3081528"/>
            <a:ext cx="1005840" cy="256032"/>
          </a:xfrm>
          <a:prstGeom prst="rect">
            <a:avLst/>
          </a:prstGeom>
          <a:noFill/>
          <a:ln/>
        </p:spPr>
        <p:txBody>
          <a:bodyPr wrap="square" lIns="0" tIns="0" rIns="0" bIns="0" rtlCol="0" anchor="t">
            <a:normAutofit/>
          </a:bodyPr>
          <a:lstStyle/>
          <a:p>
            <a:pPr algn="ctr" indent="0" marL="0">
              <a:buNone/>
            </a:pPr>
            <a:r>
              <a:rPr lang="en-US" sz="1120" b="1" dirty="0">
                <a:solidFill>
                  <a:srgbClr val="9A5B00"/>
                </a:solidFill>
                <a:latin typeface="Arial" pitchFamily="34" charset="0"/>
                <a:ea typeface="Arial" pitchFamily="34" charset="-122"/>
                <a:cs typeface="Arial" pitchFamily="34" charset="-120"/>
              </a:rPr>
              <a:t>Blocked</a:t>
            </a:r>
            <a:endParaRPr lang="en-US" sz="1120" dirty="0"/>
          </a:p>
        </p:txBody>
      </p:sp>
      <p:sp>
        <p:nvSpPr>
          <p:cNvPr id="20" name="Text 17"/>
          <p:cNvSpPr txBox="1"/>
          <p:nvPr/>
        </p:nvSpPr>
        <p:spPr>
          <a:xfrm>
            <a:off x="5577840" y="3044952"/>
            <a:ext cx="5577840" cy="310896"/>
          </a:xfrm>
          <a:prstGeom prst="rect">
            <a:avLst/>
          </a:prstGeom>
          <a:noFill/>
          <a:ln/>
        </p:spPr>
        <p:txBody>
          <a:bodyPr wrap="square" lIns="0" tIns="0" rIns="0" bIns="0" rtlCol="0" anchor="t">
            <a:normAutofit/>
          </a:bodyPr>
          <a:lstStyle/>
          <a:p>
            <a:pPr algn="l" indent="0" marL="0">
              <a:buNone/>
            </a:pPr>
            <a:r>
              <a:rPr lang="en-US" sz="1150" dirty="0">
                <a:solidFill>
                  <a:srgbClr val="243247"/>
                </a:solidFill>
                <a:latin typeface="Arial" pitchFamily="34" charset="0"/>
                <a:ea typeface="Arial" pitchFamily="34" charset="-122"/>
                <a:cs typeface="Arial" pitchFamily="34" charset="-120"/>
              </a:rPr>
              <a:t>OS/browser/screen reader + disposition</a:t>
            </a:r>
            <a:endParaRPr lang="en-US" sz="1150" dirty="0"/>
          </a:p>
        </p:txBody>
      </p:sp>
      <p:sp>
        <p:nvSpPr>
          <p:cNvPr id="21" name="Shape 18"/>
          <p:cNvSpPr/>
          <p:nvPr/>
        </p:nvSpPr>
        <p:spPr>
          <a:xfrm>
            <a:off x="658368" y="3767328"/>
            <a:ext cx="10972800" cy="676656"/>
          </a:xfrm>
          <a:prstGeom prst="roundRect">
            <a:avLst>
              <a:gd name="adj" fmla="val 5405"/>
            </a:avLst>
          </a:prstGeom>
          <a:solidFill>
            <a:srgbClr val="FFFFFF"/>
          </a:solidFill>
          <a:ln w="12700">
            <a:solidFill>
              <a:srgbClr val="D7DEE8"/>
            </a:solidFill>
            <a:prstDash val="solid"/>
          </a:ln>
        </p:spPr>
      </p:sp>
      <p:sp>
        <p:nvSpPr>
          <p:cNvPr id="22" name="Text 19"/>
          <p:cNvSpPr txBox="1"/>
          <p:nvPr/>
        </p:nvSpPr>
        <p:spPr>
          <a:xfrm>
            <a:off x="896112" y="3950208"/>
            <a:ext cx="3154680" cy="256032"/>
          </a:xfrm>
          <a:prstGeom prst="rect">
            <a:avLst/>
          </a:prstGeom>
          <a:noFill/>
          <a:ln/>
        </p:spPr>
        <p:txBody>
          <a:bodyPr wrap="square" lIns="0" tIns="0" rIns="0" bIns="0" rtlCol="0" anchor="t">
            <a:normAutofit/>
          </a:bodyPr>
          <a:lstStyle/>
          <a:p>
            <a:pPr algn="l" indent="0" marL="0">
              <a:buNone/>
            </a:pPr>
            <a:r>
              <a:rPr lang="en-US" sz="1130" b="1" dirty="0">
                <a:solidFill>
                  <a:srgbClr val="07182F"/>
                </a:solidFill>
                <a:latin typeface="Arial" pitchFamily="34" charset="0"/>
                <a:ea typeface="Arial" pitchFamily="34" charset="-122"/>
                <a:cs typeface="Arial" pitchFamily="34" charset="-120"/>
              </a:rPr>
              <a:t>release-independent-smoke</a:t>
            </a:r>
            <a:endParaRPr lang="en-US" sz="1130" dirty="0"/>
          </a:p>
        </p:txBody>
      </p:sp>
      <p:sp>
        <p:nvSpPr>
          <p:cNvPr id="23" name="Text 20"/>
          <p:cNvSpPr txBox="1"/>
          <p:nvPr/>
        </p:nvSpPr>
        <p:spPr>
          <a:xfrm>
            <a:off x="4315968" y="3950208"/>
            <a:ext cx="1005840" cy="256032"/>
          </a:xfrm>
          <a:prstGeom prst="rect">
            <a:avLst/>
          </a:prstGeom>
          <a:noFill/>
          <a:ln/>
        </p:spPr>
        <p:txBody>
          <a:bodyPr wrap="square" lIns="0" tIns="0" rIns="0" bIns="0" rtlCol="0" anchor="t">
            <a:normAutofit/>
          </a:bodyPr>
          <a:lstStyle/>
          <a:p>
            <a:pPr algn="ctr" indent="0" marL="0">
              <a:buNone/>
            </a:pPr>
            <a:r>
              <a:rPr lang="en-US" sz="1120" b="1" dirty="0">
                <a:solidFill>
                  <a:srgbClr val="9A5B00"/>
                </a:solidFill>
                <a:latin typeface="Arial" pitchFamily="34" charset="0"/>
                <a:ea typeface="Arial" pitchFamily="34" charset="-122"/>
                <a:cs typeface="Arial" pitchFamily="34" charset="-120"/>
              </a:rPr>
              <a:t>Blocked</a:t>
            </a:r>
            <a:endParaRPr lang="en-US" sz="1120" dirty="0"/>
          </a:p>
        </p:txBody>
      </p:sp>
      <p:sp>
        <p:nvSpPr>
          <p:cNvPr id="24" name="Text 21"/>
          <p:cNvSpPr txBox="1"/>
          <p:nvPr/>
        </p:nvSpPr>
        <p:spPr>
          <a:xfrm>
            <a:off x="5577840" y="3913632"/>
            <a:ext cx="5577840" cy="310896"/>
          </a:xfrm>
          <a:prstGeom prst="rect">
            <a:avLst/>
          </a:prstGeom>
          <a:noFill/>
          <a:ln/>
        </p:spPr>
        <p:txBody>
          <a:bodyPr wrap="square" lIns="0" tIns="0" rIns="0" bIns="0" rtlCol="0" anchor="t">
            <a:normAutofit/>
          </a:bodyPr>
          <a:lstStyle/>
          <a:p>
            <a:pPr algn="l" indent="0" marL="0">
              <a:buNone/>
            </a:pPr>
            <a:r>
              <a:rPr lang="en-US" sz="1150" dirty="0">
                <a:solidFill>
                  <a:srgbClr val="243247"/>
                </a:solidFill>
                <a:latin typeface="Arial" pitchFamily="34" charset="0"/>
                <a:ea typeface="Arial" pitchFamily="34" charset="-122"/>
                <a:cs typeface="Arial" pitchFamily="34" charset="-120"/>
              </a:rPr>
              <a:t>ZIP mới + file:// + HTTP + findings</a:t>
            </a:r>
            <a:endParaRPr lang="en-US" sz="1150" dirty="0"/>
          </a:p>
        </p:txBody>
      </p:sp>
      <p:sp>
        <p:nvSpPr>
          <p:cNvPr id="25" name="Shape 22"/>
          <p:cNvSpPr/>
          <p:nvPr/>
        </p:nvSpPr>
        <p:spPr>
          <a:xfrm>
            <a:off x="658368" y="4636008"/>
            <a:ext cx="10972800" cy="676656"/>
          </a:xfrm>
          <a:prstGeom prst="roundRect">
            <a:avLst>
              <a:gd name="adj" fmla="val 5405"/>
            </a:avLst>
          </a:prstGeom>
          <a:solidFill>
            <a:srgbClr val="FFFFFF"/>
          </a:solidFill>
          <a:ln w="12700">
            <a:solidFill>
              <a:srgbClr val="D7DEE8"/>
            </a:solidFill>
            <a:prstDash val="solid"/>
          </a:ln>
        </p:spPr>
      </p:sp>
      <p:sp>
        <p:nvSpPr>
          <p:cNvPr id="26" name="Text 23"/>
          <p:cNvSpPr txBox="1"/>
          <p:nvPr/>
        </p:nvSpPr>
        <p:spPr>
          <a:xfrm>
            <a:off x="896112" y="4818888"/>
            <a:ext cx="3154680" cy="256032"/>
          </a:xfrm>
          <a:prstGeom prst="rect">
            <a:avLst/>
          </a:prstGeom>
          <a:noFill/>
          <a:ln/>
        </p:spPr>
        <p:txBody>
          <a:bodyPr wrap="square" lIns="0" tIns="0" rIns="0" bIns="0" rtlCol="0" anchor="t">
            <a:normAutofit/>
          </a:bodyPr>
          <a:lstStyle/>
          <a:p>
            <a:pPr algn="l" indent="0" marL="0">
              <a:buNone/>
            </a:pPr>
            <a:r>
              <a:rPr lang="en-US" sz="1130" b="1" dirty="0">
                <a:solidFill>
                  <a:srgbClr val="07182F"/>
                </a:solidFill>
                <a:latin typeface="Arial" pitchFamily="34" charset="0"/>
                <a:ea typeface="Arial" pitchFamily="34" charset="-122"/>
                <a:cs typeface="Arial" pitchFamily="34" charset="-120"/>
              </a:rPr>
              <a:t>word-standalone-roundtrip</a:t>
            </a:r>
            <a:endParaRPr lang="en-US" sz="1130" dirty="0"/>
          </a:p>
        </p:txBody>
      </p:sp>
      <p:sp>
        <p:nvSpPr>
          <p:cNvPr id="27" name="Text 24"/>
          <p:cNvSpPr txBox="1"/>
          <p:nvPr/>
        </p:nvSpPr>
        <p:spPr>
          <a:xfrm>
            <a:off x="4315968" y="4818888"/>
            <a:ext cx="1005840" cy="256032"/>
          </a:xfrm>
          <a:prstGeom prst="rect">
            <a:avLst/>
          </a:prstGeom>
          <a:noFill/>
          <a:ln/>
        </p:spPr>
        <p:txBody>
          <a:bodyPr wrap="square" lIns="0" tIns="0" rIns="0" bIns="0" rtlCol="0" anchor="t">
            <a:normAutofit/>
          </a:bodyPr>
          <a:lstStyle/>
          <a:p>
            <a:pPr algn="ctr" indent="0" marL="0">
              <a:buNone/>
            </a:pPr>
            <a:r>
              <a:rPr lang="en-US" sz="1120" b="1" dirty="0">
                <a:solidFill>
                  <a:srgbClr val="5B6B80"/>
                </a:solidFill>
                <a:latin typeface="Arial" pitchFamily="34" charset="0"/>
                <a:ea typeface="Arial" pitchFamily="34" charset="-122"/>
                <a:cs typeface="Arial" pitchFamily="34" charset="-120"/>
              </a:rPr>
              <a:t>Not-run</a:t>
            </a:r>
            <a:endParaRPr lang="en-US" sz="1120" dirty="0"/>
          </a:p>
        </p:txBody>
      </p:sp>
      <p:sp>
        <p:nvSpPr>
          <p:cNvPr id="28" name="Text 25"/>
          <p:cNvSpPr txBox="1"/>
          <p:nvPr/>
        </p:nvSpPr>
        <p:spPr>
          <a:xfrm>
            <a:off x="5577840" y="4782312"/>
            <a:ext cx="5577840" cy="310896"/>
          </a:xfrm>
          <a:prstGeom prst="rect">
            <a:avLst/>
          </a:prstGeom>
          <a:noFill/>
          <a:ln/>
        </p:spPr>
        <p:txBody>
          <a:bodyPr wrap="square" lIns="0" tIns="0" rIns="0" bIns="0" rtlCol="0" anchor="t">
            <a:normAutofit/>
          </a:bodyPr>
          <a:lstStyle/>
          <a:p>
            <a:pPr algn="l" indent="0" marL="0">
              <a:buNone/>
            </a:pPr>
            <a:r>
              <a:rPr lang="en-US" sz="1150" dirty="0">
                <a:solidFill>
                  <a:srgbClr val="243247"/>
                </a:solidFill>
                <a:latin typeface="Arial" pitchFamily="34" charset="0"/>
                <a:ea typeface="Arial" pitchFamily="34" charset="-122"/>
                <a:cs typeface="Arial" pitchFamily="34" charset="-120"/>
              </a:rPr>
              <a:t>DOCX/PDF hash từ Word khỏe</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12648" y="393192"/>
            <a:ext cx="475488" cy="0"/>
          </a:xfrm>
          <a:prstGeom prst="line">
            <a:avLst/>
          </a:prstGeom>
          <a:noFill/>
          <a:ln w="12700">
            <a:solidFill>
              <a:srgbClr val="C9963A"/>
            </a:solidFill>
            <a:prstDash val="solid"/>
          </a:ln>
        </p:spPr>
      </p:sp>
      <p:sp>
        <p:nvSpPr>
          <p:cNvPr id="3" name="Text 1"/>
          <p:cNvSpPr txBox="1"/>
          <p:nvPr/>
        </p:nvSpPr>
        <p:spPr>
          <a:xfrm>
            <a:off x="1207008" y="256032"/>
            <a:ext cx="4114800" cy="228600"/>
          </a:xfrm>
          <a:prstGeom prst="rect">
            <a:avLst/>
          </a:prstGeom>
          <a:noFill/>
          <a:ln/>
        </p:spPr>
        <p:txBody>
          <a:bodyPr wrap="square" lIns="0" tIns="0" rIns="0" bIns="0" rtlCol="0" anchor="ctr">
            <a:normAutofit/>
          </a:bodyPr>
          <a:lstStyle/>
          <a:p>
            <a:pPr algn="l" indent="0" marL="0">
              <a:buNone/>
            </a:pPr>
            <a:r>
              <a:rPr lang="en-US" sz="950" b="1" dirty="0">
                <a:solidFill>
                  <a:srgbClr val="5B6B80"/>
                </a:solidFill>
                <a:latin typeface="Arial" pitchFamily="34" charset="0"/>
                <a:ea typeface="Arial" pitchFamily="34" charset="-122"/>
                <a:cs typeface="Arial" pitchFamily="34" charset="-120"/>
              </a:rPr>
              <a:t>PHỤ LỤC / DEMO DỰ PHÒNG</a:t>
            </a:r>
            <a:endParaRPr lang="en-US" sz="950" dirty="0"/>
          </a:p>
        </p:txBody>
      </p:sp>
      <p:sp>
        <p:nvSpPr>
          <p:cNvPr id="4" name="Text 2"/>
          <p:cNvSpPr txBox="1"/>
          <p:nvPr/>
        </p:nvSpPr>
        <p:spPr>
          <a:xfrm>
            <a:off x="612648" y="658368"/>
            <a:ext cx="10972800" cy="603504"/>
          </a:xfrm>
          <a:prstGeom prst="rect">
            <a:avLst/>
          </a:prstGeom>
          <a:noFill/>
          <a:ln/>
        </p:spPr>
        <p:txBody>
          <a:bodyPr wrap="square" lIns="0" tIns="0" rIns="0" bIns="0" rtlCol="0" anchor="ctr">
            <a:normAutofit/>
          </a:bodyPr>
          <a:lstStyle/>
          <a:p>
            <a:pPr algn="l" indent="0" marL="0">
              <a:buNone/>
            </a:pPr>
            <a:r>
              <a:rPr lang="en-US" sz="2350" b="1" dirty="0">
                <a:solidFill>
                  <a:srgbClr val="07182F"/>
                </a:solidFill>
                <a:latin typeface="Georgia" pitchFamily="34" charset="0"/>
                <a:ea typeface="Georgia" pitchFamily="34" charset="-122"/>
                <a:cs typeface="Georgia" pitchFamily="34" charset="-120"/>
              </a:rPr>
              <a:t>Phụ lục · câu hỏi Hội đồng và nguồn kiểm chứng</a:t>
            </a:r>
            <a:endParaRPr lang="en-US" sz="2350" dirty="0"/>
          </a:p>
        </p:txBody>
      </p:sp>
      <p:sp>
        <p:nvSpPr>
          <p:cNvPr id="5" name="Text 3"/>
          <p:cNvSpPr txBox="1"/>
          <p:nvPr/>
        </p:nvSpPr>
        <p:spPr>
          <a:xfrm>
            <a:off x="11109960" y="256032"/>
            <a:ext cx="457200" cy="228600"/>
          </a:xfrm>
          <a:prstGeom prst="rect">
            <a:avLst/>
          </a:prstGeom>
          <a:noFill/>
          <a:ln/>
        </p:spPr>
        <p:txBody>
          <a:bodyPr wrap="square" lIns="0" tIns="0" rIns="0" bIns="0" rtlCol="0" anchor="t">
            <a:normAutofit/>
          </a:bodyPr>
          <a:lstStyle/>
          <a:p>
            <a:pPr algn="r" indent="0" marL="0">
              <a:buNone/>
            </a:pPr>
            <a:r>
              <a:rPr lang="en-US" sz="1000" b="1" dirty="0">
                <a:solidFill>
                  <a:srgbClr val="C9963A"/>
                </a:solidFill>
                <a:latin typeface="Arial" pitchFamily="34" charset="0"/>
                <a:ea typeface="Arial" pitchFamily="34" charset="-122"/>
                <a:cs typeface="Arial" pitchFamily="34" charset="-120"/>
              </a:rPr>
              <a:t>16</a:t>
            </a:r>
            <a:endParaRPr lang="en-US" sz="1000" dirty="0"/>
          </a:p>
        </p:txBody>
      </p:sp>
      <p:sp>
        <p:nvSpPr>
          <p:cNvPr id="6" name="Shape 4"/>
          <p:cNvSpPr/>
          <p:nvPr/>
        </p:nvSpPr>
        <p:spPr>
          <a:xfrm>
            <a:off x="612648" y="1335024"/>
            <a:ext cx="10972800" cy="438912"/>
          </a:xfrm>
          <a:prstGeom prst="rect">
            <a:avLst/>
          </a:prstGeom>
          <a:solidFill>
            <a:srgbClr val="EEF2F7"/>
          </a:solidFill>
          <a:ln w="12700">
            <a:solidFill>
              <a:srgbClr val="D7DEE8"/>
            </a:solidFill>
            <a:prstDash val="solid"/>
          </a:ln>
        </p:spPr>
      </p:sp>
      <p:sp>
        <p:nvSpPr>
          <p:cNvPr id="7" name="Text 5"/>
          <p:cNvSpPr txBox="1"/>
          <p:nvPr/>
        </p:nvSpPr>
        <p:spPr>
          <a:xfrm>
            <a:off x="822960" y="1426464"/>
            <a:ext cx="10561320" cy="237744"/>
          </a:xfrm>
          <a:prstGeom prst="rect">
            <a:avLst/>
          </a:prstGeom>
          <a:noFill/>
          <a:ln/>
        </p:spPr>
        <p:txBody>
          <a:bodyPr wrap="square" lIns="0" tIns="0" rIns="0" bIns="0" rtlCol="0" anchor="ctr">
            <a:normAutofit/>
          </a:bodyPr>
          <a:lstStyle/>
          <a:p>
            <a:pPr algn="l" indent="0" marL="0">
              <a:buNone/>
            </a:pPr>
            <a:r>
              <a:rPr lang="en-US" sz="1320" b="1" dirty="0">
                <a:solidFill>
                  <a:srgbClr val="0D2447"/>
                </a:solidFill>
                <a:latin typeface="Arial" pitchFamily="34" charset="0"/>
                <a:ea typeface="Arial" pitchFamily="34" charset="-122"/>
                <a:cs typeface="Arial" pitchFamily="34" charset="-120"/>
              </a:rPr>
              <a:t>Quyết định dựa trên source, artifact và evidence; demo chỉ hỗ trợ.</a:t>
            </a:r>
            <a:endParaRPr lang="en-US" sz="1320" dirty="0"/>
          </a:p>
        </p:txBody>
      </p:sp>
      <p:sp>
        <p:nvSpPr>
          <p:cNvPr id="8" name="Shape 6"/>
          <p:cNvSpPr/>
          <p:nvPr/>
        </p:nvSpPr>
        <p:spPr>
          <a:xfrm>
            <a:off x="612648" y="6519672"/>
            <a:ext cx="10972800" cy="0"/>
          </a:xfrm>
          <a:prstGeom prst="line">
            <a:avLst/>
          </a:prstGeom>
          <a:noFill/>
          <a:ln w="12700">
            <a:solidFill>
              <a:srgbClr val="D7DEE8"/>
            </a:solidFill>
            <a:prstDash val="solid"/>
          </a:ln>
        </p:spPr>
      </p:sp>
      <p:sp>
        <p:nvSpPr>
          <p:cNvPr id="9" name="Text 7"/>
          <p:cNvSpPr txBox="1"/>
          <p:nvPr/>
        </p:nvSpPr>
        <p:spPr>
          <a:xfrm>
            <a:off x="612648" y="6583680"/>
            <a:ext cx="3566160" cy="146304"/>
          </a:xfrm>
          <a:prstGeom prst="rect">
            <a:avLst/>
          </a:prstGeom>
          <a:noFill/>
          <a:ln/>
        </p:spPr>
        <p:txBody>
          <a:bodyPr wrap="square" lIns="0" tIns="0" rIns="0" bIns="0" rtlCol="0" anchor="t">
            <a:normAutofit/>
          </a:bodyPr>
          <a:lstStyle/>
          <a:p>
            <a:pPr algn="l" indent="0" marL="0">
              <a:buNone/>
            </a:pPr>
            <a:r>
              <a:rPr lang="en-US" sz="820" b="1" dirty="0">
                <a:solidFill>
                  <a:srgbClr val="5B6B80"/>
                </a:solidFill>
                <a:latin typeface="Arial" pitchFamily="34" charset="0"/>
                <a:ea typeface="Arial" pitchFamily="34" charset="-122"/>
                <a:cs typeface="Arial" pitchFamily="34" charset="-120"/>
              </a:rPr>
              <a:t>BACKUP</a:t>
            </a:r>
            <a:endParaRPr lang="en-US" sz="820" dirty="0"/>
          </a:p>
        </p:txBody>
      </p:sp>
      <p:sp>
        <p:nvSpPr>
          <p:cNvPr id="10" name="Text 8"/>
          <p:cNvSpPr txBox="1"/>
          <p:nvPr/>
        </p:nvSpPr>
        <p:spPr>
          <a:xfrm>
            <a:off x="3794760" y="6583680"/>
            <a:ext cx="7086600" cy="146304"/>
          </a:xfrm>
          <a:prstGeom prst="rect">
            <a:avLst/>
          </a:prstGeom>
          <a:noFill/>
          <a:ln/>
        </p:spPr>
        <p:txBody>
          <a:bodyPr wrap="square" lIns="0" tIns="0" rIns="0" bIns="0" rtlCol="0" anchor="t">
            <a:normAutofit/>
          </a:bodyPr>
          <a:lstStyle/>
          <a:p>
            <a:pPr algn="ctr" indent="0" marL="0">
              <a:buNone/>
            </a:pPr>
            <a:r>
              <a:rPr lang="en-US" sz="760" dirty="0">
                <a:solidFill>
                  <a:srgbClr val="5B6B80"/>
                </a:solidFill>
                <a:latin typeface="Arial" pitchFamily="34" charset="0"/>
                <a:ea typeface="Arial" pitchFamily="34" charset="-122"/>
                <a:cs typeface="Arial" pitchFamily="34" charset="-120"/>
              </a:rPr>
              <a:t>plans/260827-0817-slides-nghiem-thu-giao-trinh-dien-tu/research/story-research.md:56-82</a:t>
            </a:r>
            <a:endParaRPr lang="en-US" sz="760" dirty="0"/>
          </a:p>
        </p:txBody>
      </p:sp>
      <p:sp>
        <p:nvSpPr>
          <p:cNvPr id="11" name="Text 9"/>
          <p:cNvSpPr txBox="1"/>
          <p:nvPr/>
        </p:nvSpPr>
        <p:spPr>
          <a:xfrm>
            <a:off x="11064240" y="6583680"/>
            <a:ext cx="502920" cy="146304"/>
          </a:xfrm>
          <a:prstGeom prst="rect">
            <a:avLst/>
          </a:prstGeom>
          <a:noFill/>
          <a:ln/>
        </p:spPr>
        <p:txBody>
          <a:bodyPr wrap="square" lIns="0" tIns="0" rIns="0" bIns="0" rtlCol="0" anchor="t">
            <a:normAutofit/>
          </a:bodyPr>
          <a:lstStyle/>
          <a:p>
            <a:pPr algn="r" indent="0" marL="0">
              <a:buNone/>
            </a:pPr>
            <a:r>
              <a:rPr lang="en-US" sz="820" dirty="0">
                <a:solidFill>
                  <a:srgbClr val="5B6B80"/>
                </a:solidFill>
                <a:latin typeface="Arial" pitchFamily="34" charset="0"/>
                <a:ea typeface="Arial" pitchFamily="34" charset="-122"/>
                <a:cs typeface="Arial" pitchFamily="34" charset="-120"/>
              </a:rPr>
              <a:t>16</a:t>
            </a:r>
            <a:endParaRPr lang="en-US" sz="820" dirty="0"/>
          </a:p>
        </p:txBody>
      </p:sp>
      <p:sp>
        <p:nvSpPr>
          <p:cNvPr id="13" name="Shape 10"/>
          <p:cNvSpPr/>
          <p:nvPr/>
        </p:nvSpPr>
        <p:spPr>
          <a:xfrm>
            <a:off x="658368" y="1993392"/>
            <a:ext cx="5321808" cy="914400"/>
          </a:xfrm>
          <a:prstGeom prst="roundRect">
            <a:avLst>
              <a:gd name="adj" fmla="val 4000"/>
            </a:avLst>
          </a:prstGeom>
          <a:solidFill>
            <a:srgbClr val="FFFFFF"/>
          </a:solidFill>
          <a:ln w="12700">
            <a:solidFill>
              <a:srgbClr val="D7DEE8"/>
            </a:solidFill>
            <a:prstDash val="solid"/>
          </a:ln>
        </p:spPr>
      </p:sp>
      <p:sp>
        <p:nvSpPr>
          <p:cNvPr id="14" name="Text 11"/>
          <p:cNvSpPr txBox="1"/>
          <p:nvPr/>
        </p:nvSpPr>
        <p:spPr>
          <a:xfrm>
            <a:off x="822960" y="2286000"/>
            <a:ext cx="411480" cy="228600"/>
          </a:xfrm>
          <a:prstGeom prst="rect">
            <a:avLst/>
          </a:prstGeom>
          <a:noFill/>
          <a:ln/>
        </p:spPr>
        <p:txBody>
          <a:bodyPr wrap="square" lIns="0" tIns="0" rIns="0" bIns="0" rtlCol="0" anchor="t">
            <a:normAutofit/>
          </a:bodyPr>
          <a:lstStyle/>
          <a:p>
            <a:pPr algn="ctr" indent="0" marL="0">
              <a:buNone/>
            </a:pPr>
            <a:r>
              <a:rPr lang="en-US" sz="1300" b="1" dirty="0">
                <a:solidFill>
                  <a:srgbClr val="C9963A"/>
                </a:solidFill>
                <a:latin typeface="Arial" pitchFamily="34" charset="0"/>
                <a:ea typeface="Arial" pitchFamily="34" charset="-122"/>
                <a:cs typeface="Arial" pitchFamily="34" charset="-120"/>
              </a:rPr>
              <a:t>01</a:t>
            </a:r>
            <a:endParaRPr lang="en-US" sz="1300" dirty="0"/>
          </a:p>
        </p:txBody>
      </p:sp>
      <p:sp>
        <p:nvSpPr>
          <p:cNvPr id="15" name="Text 12"/>
          <p:cNvSpPr txBox="1"/>
          <p:nvPr/>
        </p:nvSpPr>
        <p:spPr>
          <a:xfrm>
            <a:off x="1408176" y="2194560"/>
            <a:ext cx="4251960" cy="457200"/>
          </a:xfrm>
          <a:prstGeom prst="rect">
            <a:avLst/>
          </a:prstGeom>
          <a:noFill/>
          <a:ln/>
        </p:spPr>
        <p:txBody>
          <a:bodyPr wrap="square" lIns="0" tIns="0" rIns="0" bIns="0" rtlCol="0" anchor="ctr">
            <a:normAutofit/>
          </a:bodyPr>
          <a:lstStyle/>
          <a:p>
            <a:pPr algn="l" indent="0" marL="0">
              <a:buNone/>
            </a:pPr>
            <a:r>
              <a:rPr lang="en-US" sz="1320" b="1" dirty="0">
                <a:solidFill>
                  <a:srgbClr val="07182F"/>
                </a:solidFill>
                <a:latin typeface="Arial" pitchFamily="34" charset="0"/>
                <a:ea typeface="Arial" pitchFamily="34" charset="-122"/>
                <a:cs typeface="Arial" pitchFamily="34" charset="-120"/>
              </a:rPr>
              <a:t>Nguồn chuẩn là gì?</a:t>
            </a:r>
            <a:endParaRPr lang="en-US" sz="1320" dirty="0"/>
          </a:p>
        </p:txBody>
      </p:sp>
      <p:sp>
        <p:nvSpPr>
          <p:cNvPr id="16" name="Shape 13"/>
          <p:cNvSpPr/>
          <p:nvPr/>
        </p:nvSpPr>
        <p:spPr>
          <a:xfrm>
            <a:off x="6254496" y="1993392"/>
            <a:ext cx="5321808" cy="914400"/>
          </a:xfrm>
          <a:prstGeom prst="roundRect">
            <a:avLst>
              <a:gd name="adj" fmla="val 4000"/>
            </a:avLst>
          </a:prstGeom>
          <a:solidFill>
            <a:srgbClr val="FFFFFF"/>
          </a:solidFill>
          <a:ln w="12700">
            <a:solidFill>
              <a:srgbClr val="D7DEE8"/>
            </a:solidFill>
            <a:prstDash val="solid"/>
          </a:ln>
        </p:spPr>
      </p:sp>
      <p:sp>
        <p:nvSpPr>
          <p:cNvPr id="17" name="Text 14"/>
          <p:cNvSpPr txBox="1"/>
          <p:nvPr/>
        </p:nvSpPr>
        <p:spPr>
          <a:xfrm>
            <a:off x="6419088" y="2286000"/>
            <a:ext cx="411480" cy="228600"/>
          </a:xfrm>
          <a:prstGeom prst="rect">
            <a:avLst/>
          </a:prstGeom>
          <a:noFill/>
          <a:ln/>
        </p:spPr>
        <p:txBody>
          <a:bodyPr wrap="square" lIns="0" tIns="0" rIns="0" bIns="0" rtlCol="0" anchor="t">
            <a:normAutofit/>
          </a:bodyPr>
          <a:lstStyle/>
          <a:p>
            <a:pPr algn="ctr" indent="0" marL="0">
              <a:buNone/>
            </a:pPr>
            <a:r>
              <a:rPr lang="en-US" sz="1300" b="1" dirty="0">
                <a:solidFill>
                  <a:srgbClr val="C9963A"/>
                </a:solidFill>
                <a:latin typeface="Arial" pitchFamily="34" charset="0"/>
                <a:ea typeface="Arial" pitchFamily="34" charset="-122"/>
                <a:cs typeface="Arial" pitchFamily="34" charset="-120"/>
              </a:rPr>
              <a:t>02</a:t>
            </a:r>
            <a:endParaRPr lang="en-US" sz="1300" dirty="0"/>
          </a:p>
        </p:txBody>
      </p:sp>
      <p:sp>
        <p:nvSpPr>
          <p:cNvPr id="18" name="Text 15"/>
          <p:cNvSpPr txBox="1"/>
          <p:nvPr/>
        </p:nvSpPr>
        <p:spPr>
          <a:xfrm>
            <a:off x="7004304" y="2194560"/>
            <a:ext cx="4251960" cy="457200"/>
          </a:xfrm>
          <a:prstGeom prst="rect">
            <a:avLst/>
          </a:prstGeom>
          <a:noFill/>
          <a:ln/>
        </p:spPr>
        <p:txBody>
          <a:bodyPr wrap="square" lIns="0" tIns="0" rIns="0" bIns="0" rtlCol="0" anchor="ctr">
            <a:normAutofit/>
          </a:bodyPr>
          <a:lstStyle/>
          <a:p>
            <a:pPr algn="l" indent="0" marL="0">
              <a:buNone/>
            </a:pPr>
            <a:r>
              <a:rPr lang="en-US" sz="1320" b="1" dirty="0">
                <a:solidFill>
                  <a:srgbClr val="07182F"/>
                </a:solidFill>
                <a:latin typeface="Arial" pitchFamily="34" charset="0"/>
                <a:ea typeface="Arial" pitchFamily="34" charset="-122"/>
                <a:cs typeface="Arial" pitchFamily="34" charset="-120"/>
              </a:rPr>
              <a:t>Ai xác nhận công thức/mô phỏng?</a:t>
            </a:r>
            <a:endParaRPr lang="en-US" sz="1320" dirty="0"/>
          </a:p>
        </p:txBody>
      </p:sp>
      <p:sp>
        <p:nvSpPr>
          <p:cNvPr id="19" name="Shape 16"/>
          <p:cNvSpPr/>
          <p:nvPr/>
        </p:nvSpPr>
        <p:spPr>
          <a:xfrm>
            <a:off x="658368" y="3163824"/>
            <a:ext cx="5321808" cy="914400"/>
          </a:xfrm>
          <a:prstGeom prst="roundRect">
            <a:avLst>
              <a:gd name="adj" fmla="val 4000"/>
            </a:avLst>
          </a:prstGeom>
          <a:solidFill>
            <a:srgbClr val="FFFFFF"/>
          </a:solidFill>
          <a:ln w="12700">
            <a:solidFill>
              <a:srgbClr val="D7DEE8"/>
            </a:solidFill>
            <a:prstDash val="solid"/>
          </a:ln>
        </p:spPr>
      </p:sp>
      <p:sp>
        <p:nvSpPr>
          <p:cNvPr id="20" name="Text 17"/>
          <p:cNvSpPr txBox="1"/>
          <p:nvPr/>
        </p:nvSpPr>
        <p:spPr>
          <a:xfrm>
            <a:off x="822960" y="3456432"/>
            <a:ext cx="411480" cy="228600"/>
          </a:xfrm>
          <a:prstGeom prst="rect">
            <a:avLst/>
          </a:prstGeom>
          <a:noFill/>
          <a:ln/>
        </p:spPr>
        <p:txBody>
          <a:bodyPr wrap="square" lIns="0" tIns="0" rIns="0" bIns="0" rtlCol="0" anchor="t">
            <a:normAutofit/>
          </a:bodyPr>
          <a:lstStyle/>
          <a:p>
            <a:pPr algn="ctr" indent="0" marL="0">
              <a:buNone/>
            </a:pPr>
            <a:r>
              <a:rPr lang="en-US" sz="1300" b="1" dirty="0">
                <a:solidFill>
                  <a:srgbClr val="C9963A"/>
                </a:solidFill>
                <a:latin typeface="Arial" pitchFamily="34" charset="0"/>
                <a:ea typeface="Arial" pitchFamily="34" charset="-122"/>
                <a:cs typeface="Arial" pitchFamily="34" charset="-120"/>
              </a:rPr>
              <a:t>03</a:t>
            </a:r>
            <a:endParaRPr lang="en-US" sz="1300" dirty="0"/>
          </a:p>
        </p:txBody>
      </p:sp>
      <p:sp>
        <p:nvSpPr>
          <p:cNvPr id="21" name="Text 18"/>
          <p:cNvSpPr txBox="1"/>
          <p:nvPr/>
        </p:nvSpPr>
        <p:spPr>
          <a:xfrm>
            <a:off x="1408176" y="3364992"/>
            <a:ext cx="4251960" cy="457200"/>
          </a:xfrm>
          <a:prstGeom prst="rect">
            <a:avLst/>
          </a:prstGeom>
          <a:noFill/>
          <a:ln/>
        </p:spPr>
        <p:txBody>
          <a:bodyPr wrap="square" lIns="0" tIns="0" rIns="0" bIns="0" rtlCol="0" anchor="ctr">
            <a:normAutofit/>
          </a:bodyPr>
          <a:lstStyle/>
          <a:p>
            <a:pPr algn="l" indent="0" marL="0">
              <a:buNone/>
            </a:pPr>
            <a:r>
              <a:rPr lang="en-US" sz="1320" b="1" dirty="0">
                <a:solidFill>
                  <a:srgbClr val="07182F"/>
                </a:solidFill>
                <a:latin typeface="Arial" pitchFamily="34" charset="0"/>
                <a:ea typeface="Arial" pitchFamily="34" charset="-122"/>
                <a:cs typeface="Arial" pitchFamily="34" charset="-120"/>
              </a:rPr>
              <a:t>Vì sao 20/24 chưa đủ?</a:t>
            </a:r>
            <a:endParaRPr lang="en-US" sz="1320" dirty="0"/>
          </a:p>
        </p:txBody>
      </p:sp>
      <p:sp>
        <p:nvSpPr>
          <p:cNvPr id="22" name="Shape 19"/>
          <p:cNvSpPr/>
          <p:nvPr/>
        </p:nvSpPr>
        <p:spPr>
          <a:xfrm>
            <a:off x="6254496" y="3163824"/>
            <a:ext cx="5321808" cy="914400"/>
          </a:xfrm>
          <a:prstGeom prst="roundRect">
            <a:avLst>
              <a:gd name="adj" fmla="val 4000"/>
            </a:avLst>
          </a:prstGeom>
          <a:solidFill>
            <a:srgbClr val="FFFFFF"/>
          </a:solidFill>
          <a:ln w="12700">
            <a:solidFill>
              <a:srgbClr val="D7DEE8"/>
            </a:solidFill>
            <a:prstDash val="solid"/>
          </a:ln>
        </p:spPr>
      </p:sp>
      <p:sp>
        <p:nvSpPr>
          <p:cNvPr id="23" name="Text 20"/>
          <p:cNvSpPr txBox="1"/>
          <p:nvPr/>
        </p:nvSpPr>
        <p:spPr>
          <a:xfrm>
            <a:off x="6419088" y="3456432"/>
            <a:ext cx="411480" cy="228600"/>
          </a:xfrm>
          <a:prstGeom prst="rect">
            <a:avLst/>
          </a:prstGeom>
          <a:noFill/>
          <a:ln/>
        </p:spPr>
        <p:txBody>
          <a:bodyPr wrap="square" lIns="0" tIns="0" rIns="0" bIns="0" rtlCol="0" anchor="t">
            <a:normAutofit/>
          </a:bodyPr>
          <a:lstStyle/>
          <a:p>
            <a:pPr algn="ctr" indent="0" marL="0">
              <a:buNone/>
            </a:pPr>
            <a:r>
              <a:rPr lang="en-US" sz="1300" b="1" dirty="0">
                <a:solidFill>
                  <a:srgbClr val="C9963A"/>
                </a:solidFill>
                <a:latin typeface="Arial" pitchFamily="34" charset="0"/>
                <a:ea typeface="Arial" pitchFamily="34" charset="-122"/>
                <a:cs typeface="Arial" pitchFamily="34" charset="-120"/>
              </a:rPr>
              <a:t>04</a:t>
            </a:r>
            <a:endParaRPr lang="en-US" sz="1300" dirty="0"/>
          </a:p>
        </p:txBody>
      </p:sp>
      <p:sp>
        <p:nvSpPr>
          <p:cNvPr id="24" name="Text 21"/>
          <p:cNvSpPr txBox="1"/>
          <p:nvPr/>
        </p:nvSpPr>
        <p:spPr>
          <a:xfrm>
            <a:off x="7004304" y="3364992"/>
            <a:ext cx="4251960" cy="457200"/>
          </a:xfrm>
          <a:prstGeom prst="rect">
            <a:avLst/>
          </a:prstGeom>
          <a:noFill/>
          <a:ln/>
        </p:spPr>
        <p:txBody>
          <a:bodyPr wrap="square" lIns="0" tIns="0" rIns="0" bIns="0" rtlCol="0" anchor="ctr">
            <a:normAutofit/>
          </a:bodyPr>
          <a:lstStyle/>
          <a:p>
            <a:pPr algn="l" indent="0" marL="0">
              <a:buNone/>
            </a:pPr>
            <a:r>
              <a:rPr lang="en-US" sz="1320" b="1" dirty="0">
                <a:solidFill>
                  <a:srgbClr val="07182F"/>
                </a:solidFill>
                <a:latin typeface="Arial" pitchFamily="34" charset="0"/>
                <a:ea typeface="Arial" pitchFamily="34" charset="-122"/>
                <a:cs typeface="Arial" pitchFamily="34" charset="-120"/>
              </a:rPr>
              <a:t>Có dùng offline không?</a:t>
            </a:r>
            <a:endParaRPr lang="en-US" sz="1320" dirty="0"/>
          </a:p>
        </p:txBody>
      </p:sp>
      <p:sp>
        <p:nvSpPr>
          <p:cNvPr id="25" name="Shape 22"/>
          <p:cNvSpPr/>
          <p:nvPr/>
        </p:nvSpPr>
        <p:spPr>
          <a:xfrm>
            <a:off x="658368" y="4334256"/>
            <a:ext cx="5321808" cy="914400"/>
          </a:xfrm>
          <a:prstGeom prst="roundRect">
            <a:avLst>
              <a:gd name="adj" fmla="val 4000"/>
            </a:avLst>
          </a:prstGeom>
          <a:solidFill>
            <a:srgbClr val="FFFFFF"/>
          </a:solidFill>
          <a:ln w="12700">
            <a:solidFill>
              <a:srgbClr val="D7DEE8"/>
            </a:solidFill>
            <a:prstDash val="solid"/>
          </a:ln>
        </p:spPr>
      </p:sp>
      <p:sp>
        <p:nvSpPr>
          <p:cNvPr id="26" name="Text 23"/>
          <p:cNvSpPr txBox="1"/>
          <p:nvPr/>
        </p:nvSpPr>
        <p:spPr>
          <a:xfrm>
            <a:off x="822960" y="4626864"/>
            <a:ext cx="411480" cy="228600"/>
          </a:xfrm>
          <a:prstGeom prst="rect">
            <a:avLst/>
          </a:prstGeom>
          <a:noFill/>
          <a:ln/>
        </p:spPr>
        <p:txBody>
          <a:bodyPr wrap="square" lIns="0" tIns="0" rIns="0" bIns="0" rtlCol="0" anchor="t">
            <a:normAutofit/>
          </a:bodyPr>
          <a:lstStyle/>
          <a:p>
            <a:pPr algn="ctr" indent="0" marL="0">
              <a:buNone/>
            </a:pPr>
            <a:r>
              <a:rPr lang="en-US" sz="1300" b="1" dirty="0">
                <a:solidFill>
                  <a:srgbClr val="C9963A"/>
                </a:solidFill>
                <a:latin typeface="Arial" pitchFamily="34" charset="0"/>
                <a:ea typeface="Arial" pitchFamily="34" charset="-122"/>
                <a:cs typeface="Arial" pitchFamily="34" charset="-120"/>
              </a:rPr>
              <a:t>05</a:t>
            </a:r>
            <a:endParaRPr lang="en-US" sz="1300" dirty="0"/>
          </a:p>
        </p:txBody>
      </p:sp>
      <p:sp>
        <p:nvSpPr>
          <p:cNvPr id="27" name="Text 24"/>
          <p:cNvSpPr txBox="1"/>
          <p:nvPr/>
        </p:nvSpPr>
        <p:spPr>
          <a:xfrm>
            <a:off x="1408176" y="4535424"/>
            <a:ext cx="4251960" cy="457200"/>
          </a:xfrm>
          <a:prstGeom prst="rect">
            <a:avLst/>
          </a:prstGeom>
          <a:noFill/>
          <a:ln/>
        </p:spPr>
        <p:txBody>
          <a:bodyPr wrap="square" lIns="0" tIns="0" rIns="0" bIns="0" rtlCol="0" anchor="ctr">
            <a:normAutofit/>
          </a:bodyPr>
          <a:lstStyle/>
          <a:p>
            <a:pPr algn="l" indent="0" marL="0">
              <a:buNone/>
            </a:pPr>
            <a:r>
              <a:rPr lang="en-US" sz="1320" b="1" dirty="0">
                <a:solidFill>
                  <a:srgbClr val="07182F"/>
                </a:solidFill>
                <a:latin typeface="Arial" pitchFamily="34" charset="0"/>
                <a:ea typeface="Arial" pitchFamily="34" charset="-122"/>
                <a:cs typeface="Arial" pitchFamily="34" charset="-120"/>
              </a:rPr>
              <a:t>Đã đạt WCAG/LMS chưa?</a:t>
            </a:r>
            <a:endParaRPr lang="en-US" sz="1320" dirty="0"/>
          </a:p>
        </p:txBody>
      </p:sp>
      <p:sp>
        <p:nvSpPr>
          <p:cNvPr id="28" name="Shape 25"/>
          <p:cNvSpPr/>
          <p:nvPr/>
        </p:nvSpPr>
        <p:spPr>
          <a:xfrm>
            <a:off x="6254496" y="4334256"/>
            <a:ext cx="5321808" cy="914400"/>
          </a:xfrm>
          <a:prstGeom prst="roundRect">
            <a:avLst>
              <a:gd name="adj" fmla="val 4000"/>
            </a:avLst>
          </a:prstGeom>
          <a:solidFill>
            <a:srgbClr val="FFFFFF"/>
          </a:solidFill>
          <a:ln w="12700">
            <a:solidFill>
              <a:srgbClr val="D7DEE8"/>
            </a:solidFill>
            <a:prstDash val="solid"/>
          </a:ln>
        </p:spPr>
      </p:sp>
      <p:sp>
        <p:nvSpPr>
          <p:cNvPr id="29" name="Text 26"/>
          <p:cNvSpPr txBox="1"/>
          <p:nvPr/>
        </p:nvSpPr>
        <p:spPr>
          <a:xfrm>
            <a:off x="6419088" y="4626864"/>
            <a:ext cx="411480" cy="228600"/>
          </a:xfrm>
          <a:prstGeom prst="rect">
            <a:avLst/>
          </a:prstGeom>
          <a:noFill/>
          <a:ln/>
        </p:spPr>
        <p:txBody>
          <a:bodyPr wrap="square" lIns="0" tIns="0" rIns="0" bIns="0" rtlCol="0" anchor="t">
            <a:normAutofit/>
          </a:bodyPr>
          <a:lstStyle/>
          <a:p>
            <a:pPr algn="ctr" indent="0" marL="0">
              <a:buNone/>
            </a:pPr>
            <a:r>
              <a:rPr lang="en-US" sz="1300" b="1" dirty="0">
                <a:solidFill>
                  <a:srgbClr val="C9963A"/>
                </a:solidFill>
                <a:latin typeface="Arial" pitchFamily="34" charset="0"/>
                <a:ea typeface="Arial" pitchFamily="34" charset="-122"/>
                <a:cs typeface="Arial" pitchFamily="34" charset="-120"/>
              </a:rPr>
              <a:t>06</a:t>
            </a:r>
            <a:endParaRPr lang="en-US" sz="1300" dirty="0"/>
          </a:p>
        </p:txBody>
      </p:sp>
      <p:sp>
        <p:nvSpPr>
          <p:cNvPr id="30" name="Text 27"/>
          <p:cNvSpPr txBox="1"/>
          <p:nvPr/>
        </p:nvSpPr>
        <p:spPr>
          <a:xfrm>
            <a:off x="7004304" y="4535424"/>
            <a:ext cx="4251960" cy="457200"/>
          </a:xfrm>
          <a:prstGeom prst="rect">
            <a:avLst/>
          </a:prstGeom>
          <a:noFill/>
          <a:ln/>
        </p:spPr>
        <p:txBody>
          <a:bodyPr wrap="square" lIns="0" tIns="0" rIns="0" bIns="0" rtlCol="0" anchor="ctr">
            <a:normAutofit/>
          </a:bodyPr>
          <a:lstStyle/>
          <a:p>
            <a:pPr algn="l" indent="0" marL="0">
              <a:buNone/>
            </a:pPr>
            <a:r>
              <a:rPr lang="en-US" sz="1320" b="1" dirty="0">
                <a:solidFill>
                  <a:srgbClr val="07182F"/>
                </a:solidFill>
                <a:latin typeface="Arial" pitchFamily="34" charset="0"/>
                <a:ea typeface="Arial" pitchFamily="34" charset="-122"/>
                <a:cs typeface="Arial" pitchFamily="34" charset="-120"/>
              </a:rPr>
              <a:t>Sau Hội đồng cần bằng chứng gì?</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Học viện Hải quân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Báo cáo nghiệm thu Giáo trình điện tử Cơ học lý thuyết</dc:title>
  <dc:subject>Hội đồng Khoa học Khoa Kỹ thuật cơ sở, Học viện Hải quân</dc:subject>
  <dc:creator>Nhóm tác giả Khoa Kỹ thuật cơ sở, Học viện Hải quân</dc:creator>
  <cp:lastModifiedBy>Nhóm tác giả Khoa Kỹ thuật cơ sở, Học viện Hải quân</cp:lastModifiedBy>
  <cp:revision>1</cp:revision>
  <dcterms:created xsi:type="dcterms:W3CDTF">2026-08-27T07:04:05Z</dcterms:created>
  <dcterms:modified xsi:type="dcterms:W3CDTF">2026-08-27T07:04:05Z</dcterms:modified>
</cp:coreProperties>
</file>