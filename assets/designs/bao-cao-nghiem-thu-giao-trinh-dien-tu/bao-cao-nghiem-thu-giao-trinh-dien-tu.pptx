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06748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0:35 · Nguyễn Lê Văn
Kính thưa Hội đồng. Nhóm tác giả báo cáo một học liệu số có thể mở trực tiếp, quan sát hiện tượng cơ học và luyện tập ngoại tuyến.
Đề nghị hôm nay là thông qua có điều kiện về mặt khoa học–sư phạm; chưa đề nghị xác nhận bản phát hành cuối.
Nguồn:
- DeCuongChiTietNop.docx:1-53</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0:45 · Nguyễn Lê Văn
Giáo trình bao phủ 108 route: 45 route Tĩnh học, 29 route Động học, 31 route Động lực học và 3 route bổ trợ.
Công nghệ chỉ có giá trị khi giúp học viên nhìn thấy quan hệ cơ học, thao tác được tham số và tự kiểm tra kết quả.
Nguồn:
- data/content-manifest.json
- DeCuongChiTietNop.docx:1-53</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0:45 · Nguyễn Lê Văn
Ba tác giả chịu trách nhiệm theo phần công bố trong đề cương; không có vùng nội dung vô chủ.
Nguồn chuẩn là DOCX. HTML, PDF, package và dữ liệu kiểm thử đều được sinh, kiểm soát và đối chiếu với nguồn này.
Nguồn:
- data/content-manifest.json
- DeCuongChiTietNop.docx:45-53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1:05 · Đinh Văn Tứ
Hành trình học là trục tổ chức chức năng, không phải danh sách nút bấm.
Mỗi vòng học bắt đầu từ một bài cụ thể, cho phép quan sát hoặc thao tác, rồi kết thúc bằng tự kiểm tra và lưu tiến độ trên thiết bị.
Nguồn:
- README.md:114-118
- assets/designs/bao-cao-nghiem-thu-giao-trinh-dien-tu/assets/img-01-trang-chu-desktop-1440x1000.png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1:05 · Bùi Thanh Xuân
Kiến trúc tĩnh giảm phụ thuộc hạ tầng, phù hợp khai thác qua USB hoặc mạng nội bộ.
Công cụ phát triển chỉ dùng khi biên soạn và kiểm thử; máy học viên chỉ cần trình duyệt.
Nguồn:
- README.md:3-13
- docs/system-architecture.md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1:10 · Đinh Văn Tứ
Đây là ảnh chụp thực tế của một bài học đại diện: văn bản, hình, công thức và điều hướng nằm trong cùng ngữ cảnh.
Con số 1 302 là số lần xuất hiện công thức trong content manifest; registry ngữ nghĩa hiện có 702 hàng ánh xạ. Hai số này không được dùng thay thế nhau.
Nguồn:
- data/content-manifest.json
- data/equation_mapping.json
- assets/designs/bao-cao-nghiem-thu-giao-trinh-dien-tu/assets/img-03-hoc-lieu-ch1-2-3-1440x1000.png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1:10 · Đinh Văn Tứ
Ví dụ tại route ch1-1-4 cho thấy giá trị sư phạm của tương tác: học viên kéo điểm đặt lực thay vì chỉ đọc công thức.
Ảnh chụp xác nhận F bằng 50 N, d bằng 4 mét và hệ thống tính M bằng 200 niutơn mét; mũi tên chiều quay cập nhật đồng thời.
Nguồn:
- assets/designs/bao-cao-nghiem-thu-giao-trinh-dien-tu/assets/img-04-mo-men-ch1-1-4-1440x1000.png
- data/simulation-specifications.json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1:30 · Bùi Thanh Xuân
Tôi mở trực tiếp package/index.html, không dùng máy chủ. Từ trang chủ, chọn Chương 1, mục Mô men.
Tại Sim2, giữ F bằng 50 niutơn và kéo điểm đặt lực đến d bằng 4 mét; readout trả M bằng 200 niutơn mét và hiển thị chiều quay. Cuối cùng mở bản PDF cục bộ để đối chiếu nội dung nguồn.
Nguồn:
- release/2026.09.02-candidate/package/index.html
- assets/designs/bao-cao-nghiem-thu-giao-trinh-dien-tu/assets/img-04-mo-men-ch1-1-4-1440x1000.png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1:05 · Bùi Thanh Xuân
Pipeline tạo bằng chứng tái lập về cấu trúc, hành vi và khả năng vận hành trên nhiều kích thước màn hình.
Nhưng các kết luận về ý nghĩa công thức, sai số mô phỏng, khả năng tiếp cận thực tế và giá trị sư phạm vẫn thuộc thẩm quyền reviewer độc lập.
Nguồn:
- data/acceptance-report.json
- data/accessibility-baseline.json
- assets/designs/bao-cao-nghiem-thu-giao-trinh-dien-tu/assets/img-02-trang-chu-mobile-390x844.png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1:20 · Bùi Thanh Xuân
Ứng viên kỹ thuật đã được đóng gói có tính tất định và khóa hash.
Dung lượng theo hệ thập phân là 78,7 MB, tương đương 75,1 MiB; gói QTI 3.0 và Common Cartridge 1.4 mới chỉ có bằng chứng kiểm tra cục bộ, chưa phải bằng chứng nhập LMS.
Nguồn:
- data/release-candidate.json
- release/2026.09.02-candidate/release-summary.json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1:25 · Bùi Thanh Xuân
Không dùng tỷ lệ 83,3 phần trăm như điểm chất lượng để tuyên bố hoàn thành.
Bốn cổng blocked cần đúng chuyên gia hoặc người dùng độc lập đóng; vì vậy trạng thái tổng thể vẫn là blocked.
Nguồn:
- data/acceptance-report.json:3-11,236-255</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1:15 · Nguyễn Lê Văn
Đây là bốn điều kiện bắt buộc, không phải lỗi kỹ thuật cần che giấu.
Khi đủ đúng hồ sơ, nhóm chạy lại toàn bộ 24 gate, cập nhật acceptance report và mới trình khóa bản phát hành chính thức.
Nguồn:
- data/acceptance-report.json
- data/release-policy.json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1:50 · Nguyễn Lê Văn
Kính đề nghị Hội đồng xem xét thông qua có điều kiện theo nội dung trên.
Nhóm tác giả cam kết tiếp thu từng ý kiến, chỉ trình bản cuối khi bốn hồ sơ độc lập đã đầy đủ và toàn bộ 24 cổng được chạy lại.
Nguồn:
- data/acceptance-report.json
- story-research.md:50-54</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backup · Nhóm tác giả
Dùng khi Hội đồng hỏi về kiến trúc mô phỏng.
Sim3 không thay Sim2, không phải 4D và không tạo yêu cầu phần cứng bắt buộc.
Nguồn:
- js/sim2/sim2-route-manifest.js
- js/sim3/sim3-route-manifest.js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backup · Nhóm tác giả
Dùng khi Hội đồng hỏi nguyên nhân từng gate.
Mỗi gate chỉ được đóng bởi đúng owner và đúng artifact.
Nguồn:
- data/acceptance-report.json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backup · Nhóm tác giả
Trả lời ngắn, chỉ dùng bằng chứng đã dẫn.
Nguồn chính gồm DOCX, acceptance report, route manifests, candidate package và independent review.
Nguồn:
- plans/260827-0817-slides-nghiem-thu-giao-trinh-dien-tu/research/story-research.md:56-82</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LANK">
    <p:bg>
      <p:bgPr>
        <a:solidFill>
          <a:srgbClr val="F7F5E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82F"/>
        </a:solidFill>
        <a:effectLst/>
      </p:bgPr>
    </p:bg>
    <p:spTree>
      <p:nvGrpSpPr>
        <p:cNvPr id="1" name=""/>
        <p:cNvGrpSpPr/>
        <p:nvPr/>
      </p:nvGrpSpPr>
      <p:grpSpPr>
        <a:xfrm>
          <a:off x="0" y="0"/>
          <a:ext cx="0" cy="0"/>
          <a:chOff x="0" y="0"/>
          <a:chExt cx="0" cy="0"/>
        </a:xfrm>
      </p:grpSpPr>
      <p:sp>
        <p:nvSpPr>
          <p:cNvPr id="2" name="Shape 0"/>
          <p:cNvSpPr/>
          <p:nvPr/>
        </p:nvSpPr>
        <p:spPr>
          <a:xfrm>
            <a:off x="658368" y="640080"/>
            <a:ext cx="960120" cy="0"/>
          </a:xfrm>
          <a:prstGeom prst="line">
            <a:avLst/>
          </a:prstGeom>
          <a:noFill/>
          <a:ln w="12700">
            <a:solidFill>
              <a:srgbClr val="C9963A"/>
            </a:solidFill>
            <a:prstDash val="solid"/>
          </a:ln>
        </p:spPr>
      </p:sp>
      <p:sp>
        <p:nvSpPr>
          <p:cNvPr id="3" name="Text 1"/>
          <p:cNvSpPr txBox="1"/>
          <p:nvPr/>
        </p:nvSpPr>
        <p:spPr>
          <a:xfrm>
            <a:off x="1783080" y="502920"/>
            <a:ext cx="8138160" cy="274320"/>
          </a:xfrm>
          <a:prstGeom prst="rect">
            <a:avLst/>
          </a:prstGeom>
          <a:noFill/>
          <a:ln/>
        </p:spPr>
        <p:txBody>
          <a:bodyPr wrap="square" lIns="0" tIns="0" rIns="0" bIns="0" rtlCol="0" anchor="t">
            <a:normAutofit/>
          </a:bodyPr>
          <a:lstStyle/>
          <a:p>
            <a:pPr marL="0" indent="0" algn="l">
              <a:buNone/>
            </a:pPr>
            <a:r>
              <a:rPr lang="en-US" sz="1200" b="1" dirty="0">
                <a:solidFill>
                  <a:srgbClr val="DBB36A"/>
                </a:solidFill>
                <a:latin typeface="Arial" pitchFamily="34" charset="0"/>
                <a:ea typeface="Arial" pitchFamily="34" charset="-122"/>
                <a:cs typeface="Arial" pitchFamily="34" charset="-120"/>
              </a:rPr>
              <a:t>BÁO CÁO TRƯỚC HỘI ĐỒNG KHOA HỌC KHOA KỸ THUẬT CƠ SỞ</a:t>
            </a:r>
            <a:endParaRPr lang="en-US" sz="1200" dirty="0"/>
          </a:p>
        </p:txBody>
      </p:sp>
      <p:sp>
        <p:nvSpPr>
          <p:cNvPr id="4" name="Text 2"/>
          <p:cNvSpPr txBox="1"/>
          <p:nvPr/>
        </p:nvSpPr>
        <p:spPr>
          <a:xfrm>
            <a:off x="658368" y="1353312"/>
            <a:ext cx="7973568" cy="1572768"/>
          </a:xfrm>
          <a:prstGeom prst="rect">
            <a:avLst/>
          </a:prstGeom>
          <a:noFill/>
          <a:ln/>
        </p:spPr>
        <p:txBody>
          <a:bodyPr wrap="square" lIns="0" tIns="0" rIns="0" bIns="0" rtlCol="0" anchor="ctr">
            <a:normAutofit/>
          </a:bodyPr>
          <a:lstStyle/>
          <a:p>
            <a:pPr marL="0" indent="0" algn="l">
              <a:buNone/>
            </a:pPr>
            <a:r>
              <a:rPr lang="en-US" sz="4200" b="1" dirty="0">
                <a:solidFill>
                  <a:srgbClr val="FFFFFF"/>
                </a:solidFill>
                <a:latin typeface="Georgia" pitchFamily="34" charset="0"/>
                <a:ea typeface="Georgia" pitchFamily="34" charset="-122"/>
                <a:cs typeface="Georgia" pitchFamily="34" charset="-120"/>
              </a:rPr>
              <a:t>Giáo trình điện tử</a:t>
            </a:r>
            <a:endParaRPr lang="en-US" sz="4200" dirty="0"/>
          </a:p>
          <a:p>
            <a:pPr marL="0" indent="0" algn="l">
              <a:buNone/>
            </a:pPr>
            <a:r>
              <a:rPr lang="en-US" sz="4200" b="1" dirty="0">
                <a:solidFill>
                  <a:srgbClr val="FFFFFF"/>
                </a:solidFill>
                <a:latin typeface="Georgia" pitchFamily="34" charset="0"/>
                <a:ea typeface="Georgia" pitchFamily="34" charset="-122"/>
                <a:cs typeface="Georgia" pitchFamily="34" charset="-120"/>
              </a:rPr>
              <a:t>Cơ học lý thuyết</a:t>
            </a:r>
            <a:endParaRPr lang="en-US" sz="4200" dirty="0"/>
          </a:p>
        </p:txBody>
      </p:sp>
      <p:sp>
        <p:nvSpPr>
          <p:cNvPr id="5" name="Text 3"/>
          <p:cNvSpPr txBox="1"/>
          <p:nvPr/>
        </p:nvSpPr>
        <p:spPr>
          <a:xfrm>
            <a:off x="713232" y="3218688"/>
            <a:ext cx="8046720" cy="658368"/>
          </a:xfrm>
          <a:prstGeom prst="rect">
            <a:avLst/>
          </a:prstGeom>
          <a:noFill/>
          <a:ln/>
        </p:spPr>
        <p:txBody>
          <a:bodyPr wrap="square" lIns="0" tIns="0" rIns="0" bIns="0" rtlCol="0" anchor="t">
            <a:normAutofit/>
          </a:bodyPr>
          <a:lstStyle/>
          <a:p>
            <a:pPr marL="0" indent="0" algn="l">
              <a:buNone/>
            </a:pPr>
            <a:r>
              <a:rPr lang="en-US" sz="1900" b="1" dirty="0">
                <a:solidFill>
                  <a:srgbClr val="DBB36A"/>
                </a:solidFill>
                <a:latin typeface="Arial" pitchFamily="34" charset="0"/>
                <a:ea typeface="Arial" pitchFamily="34" charset="-122"/>
                <a:cs typeface="Arial" pitchFamily="34" charset="-120"/>
              </a:rPr>
              <a:t>Đề nghị thông qua có điều kiện về mặt khoa học–sư phạm</a:t>
            </a:r>
            <a:endParaRPr lang="en-US" sz="1900" dirty="0"/>
          </a:p>
        </p:txBody>
      </p:sp>
      <p:sp>
        <p:nvSpPr>
          <p:cNvPr id="6" name="Shape 4"/>
          <p:cNvSpPr/>
          <p:nvPr/>
        </p:nvSpPr>
        <p:spPr>
          <a:xfrm>
            <a:off x="8915400" y="1143000"/>
            <a:ext cx="2606040" cy="4206240"/>
          </a:xfrm>
          <a:prstGeom prst="roundRect">
            <a:avLst>
              <a:gd name="adj" fmla="val 1404"/>
            </a:avLst>
          </a:prstGeom>
          <a:solidFill>
            <a:srgbClr val="0D2447"/>
          </a:solidFill>
          <a:ln w="12700">
            <a:solidFill>
              <a:srgbClr val="15355F"/>
            </a:solidFill>
            <a:prstDash val="solid"/>
          </a:ln>
        </p:spPr>
      </p:sp>
      <p:sp>
        <p:nvSpPr>
          <p:cNvPr id="7" name="Text 5"/>
          <p:cNvSpPr txBox="1"/>
          <p:nvPr/>
        </p:nvSpPr>
        <p:spPr>
          <a:xfrm>
            <a:off x="9189720" y="1417320"/>
            <a:ext cx="2057400" cy="274320"/>
          </a:xfrm>
          <a:prstGeom prst="rect">
            <a:avLst/>
          </a:prstGeom>
          <a:noFill/>
          <a:ln/>
        </p:spPr>
        <p:txBody>
          <a:bodyPr wrap="square" lIns="0" tIns="0" rIns="0" bIns="0" rtlCol="0" anchor="t">
            <a:normAutofit/>
          </a:bodyPr>
          <a:lstStyle/>
          <a:p>
            <a:pPr marL="0" indent="0" algn="ctr">
              <a:buNone/>
            </a:pPr>
            <a:r>
              <a:rPr lang="en-US" sz="1200" b="1" dirty="0">
                <a:solidFill>
                  <a:srgbClr val="DBB36A"/>
                </a:solidFill>
                <a:latin typeface="Arial" pitchFamily="34" charset="0"/>
                <a:ea typeface="Arial" pitchFamily="34" charset="-122"/>
                <a:cs typeface="Arial" pitchFamily="34" charset="-120"/>
              </a:rPr>
              <a:t>NHÓM TÁC GIẢ</a:t>
            </a:r>
            <a:endParaRPr lang="en-US" sz="1200" dirty="0"/>
          </a:p>
        </p:txBody>
      </p:sp>
      <p:sp>
        <p:nvSpPr>
          <p:cNvPr id="8" name="Text 6"/>
          <p:cNvSpPr txBox="1"/>
          <p:nvPr/>
        </p:nvSpPr>
        <p:spPr>
          <a:xfrm>
            <a:off x="9162288" y="1938528"/>
            <a:ext cx="2121408" cy="640080"/>
          </a:xfrm>
          <a:prstGeom prst="rect">
            <a:avLst/>
          </a:prstGeom>
          <a:noFill/>
          <a:ln/>
        </p:spPr>
        <p:txBody>
          <a:bodyPr wrap="square" lIns="0" tIns="0" rIns="0" bIns="0" rtlCol="0" anchor="ctr">
            <a:normAutofit/>
          </a:bodyPr>
          <a:lstStyle/>
          <a:p>
            <a:pPr marL="0" indent="0" algn="ctr">
              <a:buNone/>
            </a:pPr>
            <a:r>
              <a:rPr lang="en-US" sz="1500" dirty="0">
                <a:solidFill>
                  <a:srgbClr val="FFFFFF"/>
                </a:solidFill>
                <a:latin typeface="Arial" pitchFamily="34" charset="0"/>
                <a:ea typeface="Arial" pitchFamily="34" charset="-122"/>
                <a:cs typeface="Arial" pitchFamily="34" charset="-120"/>
              </a:rPr>
              <a:t>Đại tá, TS Nguyễn Lê Văn — Chủ biên</a:t>
            </a:r>
            <a:endParaRPr lang="en-US" sz="1500" dirty="0"/>
          </a:p>
        </p:txBody>
      </p:sp>
      <p:sp>
        <p:nvSpPr>
          <p:cNvPr id="9" name="Text 7"/>
          <p:cNvSpPr txBox="1"/>
          <p:nvPr/>
        </p:nvSpPr>
        <p:spPr>
          <a:xfrm>
            <a:off x="9162288" y="2834640"/>
            <a:ext cx="2121408" cy="640080"/>
          </a:xfrm>
          <a:prstGeom prst="rect">
            <a:avLst/>
          </a:prstGeom>
          <a:noFill/>
          <a:ln/>
        </p:spPr>
        <p:txBody>
          <a:bodyPr wrap="square" lIns="0" tIns="0" rIns="0" bIns="0" rtlCol="0" anchor="ctr">
            <a:normAutofit/>
          </a:bodyPr>
          <a:lstStyle/>
          <a:p>
            <a:pPr marL="0" indent="0" algn="ctr">
              <a:buNone/>
            </a:pPr>
            <a:r>
              <a:rPr lang="en-US" sz="1500" dirty="0">
                <a:solidFill>
                  <a:srgbClr val="FFFFFF"/>
                </a:solidFill>
                <a:latin typeface="Arial" pitchFamily="34" charset="0"/>
                <a:ea typeface="Arial" pitchFamily="34" charset="-122"/>
                <a:cs typeface="Arial" pitchFamily="34" charset="-120"/>
              </a:rPr>
              <a:t>Thiếu tá, ThS Đinh Văn Tứ — Tham gia biên soạn</a:t>
            </a:r>
            <a:endParaRPr lang="en-US" sz="1500" dirty="0"/>
          </a:p>
        </p:txBody>
      </p:sp>
      <p:sp>
        <p:nvSpPr>
          <p:cNvPr id="10" name="Text 8"/>
          <p:cNvSpPr txBox="1"/>
          <p:nvPr/>
        </p:nvSpPr>
        <p:spPr>
          <a:xfrm>
            <a:off x="9162288" y="3730752"/>
            <a:ext cx="2121408" cy="640080"/>
          </a:xfrm>
          <a:prstGeom prst="rect">
            <a:avLst/>
          </a:prstGeom>
          <a:noFill/>
          <a:ln/>
        </p:spPr>
        <p:txBody>
          <a:bodyPr wrap="square" lIns="0" tIns="0" rIns="0" bIns="0" rtlCol="0" anchor="ctr">
            <a:normAutofit/>
          </a:bodyPr>
          <a:lstStyle/>
          <a:p>
            <a:pPr marL="0" indent="0" algn="ctr">
              <a:buNone/>
            </a:pPr>
            <a:r>
              <a:rPr lang="en-US" sz="1500" dirty="0">
                <a:solidFill>
                  <a:srgbClr val="FFFFFF"/>
                </a:solidFill>
                <a:latin typeface="Arial" pitchFamily="34" charset="0"/>
                <a:ea typeface="Arial" pitchFamily="34" charset="-122"/>
                <a:cs typeface="Arial" pitchFamily="34" charset="-120"/>
              </a:rPr>
              <a:t>Đại úy, ThS Bùi Thanh Xuân — Tham gia biên soạn</a:t>
            </a:r>
            <a:endParaRPr lang="en-US" sz="1500" dirty="0"/>
          </a:p>
        </p:txBody>
      </p:sp>
      <p:sp>
        <p:nvSpPr>
          <p:cNvPr id="11" name="Text 9"/>
          <p:cNvSpPr txBox="1"/>
          <p:nvPr/>
        </p:nvSpPr>
        <p:spPr>
          <a:xfrm>
            <a:off x="713232" y="6144768"/>
            <a:ext cx="2743200" cy="219456"/>
          </a:xfrm>
          <a:prstGeom prst="rect">
            <a:avLst/>
          </a:prstGeom>
          <a:noFill/>
          <a:ln/>
        </p:spPr>
        <p:txBody>
          <a:bodyPr wrap="square" lIns="0" tIns="0" rIns="0" bIns="0" rtlCol="0" anchor="t">
            <a:normAutofit/>
          </a:bodyPr>
          <a:lstStyle/>
          <a:p>
            <a:pPr marL="0" indent="0" algn="l">
              <a:buNone/>
            </a:pPr>
            <a:r>
              <a:rPr lang="en-US" sz="1000" b="1" dirty="0">
                <a:solidFill>
                  <a:srgbClr val="DBB36A"/>
                </a:solidFill>
                <a:latin typeface="Arial" pitchFamily="34" charset="0"/>
                <a:ea typeface="Arial" pitchFamily="34" charset="-122"/>
                <a:cs typeface="Arial" pitchFamily="34" charset="-120"/>
              </a:rPr>
              <a:t>KHÁNH HÒA · 2026</a:t>
            </a:r>
            <a:endParaRPr lang="en-US" sz="1000" dirty="0"/>
          </a:p>
        </p:txBody>
      </p:sp>
      <p:sp>
        <p:nvSpPr>
          <p:cNvPr id="12" name="Text 10"/>
          <p:cNvSpPr txBox="1"/>
          <p:nvPr/>
        </p:nvSpPr>
        <p:spPr>
          <a:xfrm>
            <a:off x="10789920" y="6144768"/>
            <a:ext cx="502920" cy="219456"/>
          </a:xfrm>
          <a:prstGeom prst="rect">
            <a:avLst/>
          </a:prstGeom>
          <a:noFill/>
          <a:ln/>
        </p:spPr>
        <p:txBody>
          <a:bodyPr wrap="square" lIns="0" tIns="0" rIns="0" bIns="0" rtlCol="0" anchor="t">
            <a:normAutofit/>
          </a:bodyPr>
          <a:lstStyle/>
          <a:p>
            <a:pPr marL="0" indent="0" algn="r">
              <a:buNone/>
            </a:pPr>
            <a:r>
              <a:rPr lang="en-US" sz="1000" b="1" dirty="0">
                <a:solidFill>
                  <a:srgbClr val="DBB36A"/>
                </a:solidFill>
                <a:latin typeface="Arial" pitchFamily="34" charset="0"/>
                <a:ea typeface="Arial" pitchFamily="34" charset="-122"/>
                <a:cs typeface="Arial" pitchFamily="34" charset="-120"/>
              </a:rPr>
              <a:t>15:00</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600" b="1" dirty="0">
                <a:solidFill>
                  <a:srgbClr val="07182F"/>
                </a:solidFill>
                <a:latin typeface="Georgia" pitchFamily="34" charset="0"/>
                <a:ea typeface="Georgia" pitchFamily="34" charset="-122"/>
                <a:cs typeface="Georgia" pitchFamily="34" charset="-120"/>
              </a:rPr>
              <a:t>Ba mạch kiến thức, một mục tiêu đào tạo</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02</a:t>
            </a:r>
            <a:endParaRPr lang="en-US" sz="1000" dirty="0"/>
          </a:p>
        </p:txBody>
      </p:sp>
      <p:sp>
        <p:nvSpPr>
          <p:cNvPr id="6" name="Shape 4"/>
          <p:cNvSpPr/>
          <p:nvPr/>
        </p:nvSpPr>
        <p:spPr>
          <a:xfrm>
            <a:off x="612648" y="1408176"/>
            <a:ext cx="10972800" cy="457200"/>
          </a:xfrm>
          <a:prstGeom prst="rect">
            <a:avLst/>
          </a:prstGeom>
          <a:solidFill>
            <a:srgbClr val="EEF2F7"/>
          </a:solidFill>
          <a:ln w="12700">
            <a:solidFill>
              <a:srgbClr val="D7DEE8"/>
            </a:solidFill>
            <a:prstDash val="solid"/>
          </a:ln>
        </p:spPr>
      </p:sp>
      <p:sp>
        <p:nvSpPr>
          <p:cNvPr id="7" name="Text 5"/>
          <p:cNvSpPr txBox="1"/>
          <p:nvPr/>
        </p:nvSpPr>
        <p:spPr>
          <a:xfrm>
            <a:off x="822960" y="1481328"/>
            <a:ext cx="10561320" cy="274320"/>
          </a:xfrm>
          <a:prstGeom prst="rect">
            <a:avLst/>
          </a:prstGeom>
          <a:noFill/>
          <a:ln/>
        </p:spPr>
        <p:txBody>
          <a:bodyPr wrap="square" lIns="0" tIns="0" rIns="0" bIns="0" rtlCol="0" anchor="ctr">
            <a:normAutofit/>
          </a:bodyPr>
          <a:lstStyle/>
          <a:p>
            <a:pPr marL="0" indent="0" algn="l">
              <a:buNone/>
            </a:pPr>
            <a:r>
              <a:rPr lang="en-US" sz="1650" b="1" dirty="0">
                <a:solidFill>
                  <a:srgbClr val="0D2447"/>
                </a:solidFill>
                <a:latin typeface="Arial" pitchFamily="34" charset="0"/>
                <a:ea typeface="Arial" pitchFamily="34" charset="-122"/>
                <a:cs typeface="Arial" pitchFamily="34" charset="-120"/>
              </a:rPr>
              <a:t>Biến nội dung trừu tượng thành chuỗi học: đọc → quan sát → thao tác → tự kiểm tra.</a:t>
            </a:r>
            <a:endParaRPr lang="en-US" sz="165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data/content-manifest.json</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2</a:t>
            </a:r>
            <a:endParaRPr lang="en-US" sz="820" dirty="0"/>
          </a:p>
        </p:txBody>
      </p:sp>
      <p:sp>
        <p:nvSpPr>
          <p:cNvPr id="13" name="Shape 10"/>
          <p:cNvSpPr/>
          <p:nvPr/>
        </p:nvSpPr>
        <p:spPr>
          <a:xfrm>
            <a:off x="658368" y="2029968"/>
            <a:ext cx="5989320" cy="868680"/>
          </a:xfrm>
          <a:prstGeom prst="roundRect">
            <a:avLst>
              <a:gd name="adj" fmla="val 4211"/>
            </a:avLst>
          </a:prstGeom>
          <a:solidFill>
            <a:srgbClr val="FFFFFF"/>
          </a:solidFill>
          <a:ln w="12700">
            <a:solidFill>
              <a:srgbClr val="D7DEE8"/>
            </a:solidFill>
            <a:prstDash val="solid"/>
          </a:ln>
        </p:spPr>
      </p:sp>
      <p:sp>
        <p:nvSpPr>
          <p:cNvPr id="14" name="Text 11"/>
          <p:cNvSpPr txBox="1"/>
          <p:nvPr/>
        </p:nvSpPr>
        <p:spPr>
          <a:xfrm>
            <a:off x="841248" y="2167128"/>
            <a:ext cx="658368" cy="411480"/>
          </a:xfrm>
          <a:prstGeom prst="rect">
            <a:avLst/>
          </a:prstGeom>
          <a:noFill/>
          <a:ln/>
        </p:spPr>
        <p:txBody>
          <a:bodyPr wrap="square" lIns="0" tIns="0" rIns="0" bIns="0" rtlCol="0" anchor="t">
            <a:normAutofit/>
          </a:bodyPr>
          <a:lstStyle/>
          <a:p>
            <a:pPr marL="0" indent="0" algn="ctr">
              <a:buNone/>
            </a:pPr>
            <a:r>
              <a:rPr lang="en-US" sz="2800" b="1" dirty="0">
                <a:solidFill>
                  <a:srgbClr val="2980B9"/>
                </a:solidFill>
                <a:latin typeface="Arial" pitchFamily="34" charset="0"/>
                <a:ea typeface="Arial" pitchFamily="34" charset="-122"/>
                <a:cs typeface="Arial" pitchFamily="34" charset="-120"/>
              </a:rPr>
              <a:t>45</a:t>
            </a:r>
            <a:endParaRPr lang="en-US" sz="2800" dirty="0"/>
          </a:p>
        </p:txBody>
      </p:sp>
      <p:sp>
        <p:nvSpPr>
          <p:cNvPr id="15" name="Text 12"/>
          <p:cNvSpPr txBox="1"/>
          <p:nvPr/>
        </p:nvSpPr>
        <p:spPr>
          <a:xfrm>
            <a:off x="1664208" y="2121408"/>
            <a:ext cx="1737360" cy="320040"/>
          </a:xfrm>
          <a:prstGeom prst="rect">
            <a:avLst/>
          </a:prstGeom>
          <a:noFill/>
          <a:ln/>
        </p:spPr>
        <p:txBody>
          <a:bodyPr wrap="square" lIns="0" tIns="0" rIns="0" bIns="0" rtlCol="0" anchor="t">
            <a:normAutofit/>
          </a:bodyPr>
          <a:lstStyle/>
          <a:p>
            <a:pPr marL="0" indent="0" algn="l">
              <a:buNone/>
            </a:pPr>
            <a:r>
              <a:rPr lang="en-US" sz="2000" b="1" dirty="0">
                <a:solidFill>
                  <a:srgbClr val="07182F"/>
                </a:solidFill>
                <a:latin typeface="Georgia" pitchFamily="34" charset="0"/>
                <a:ea typeface="Georgia" pitchFamily="34" charset="-122"/>
                <a:cs typeface="Georgia" pitchFamily="34" charset="-120"/>
              </a:rPr>
              <a:t>Tĩnh học</a:t>
            </a:r>
            <a:endParaRPr lang="en-US" sz="2000" dirty="0"/>
          </a:p>
        </p:txBody>
      </p:sp>
      <p:sp>
        <p:nvSpPr>
          <p:cNvPr id="16" name="Text 13"/>
          <p:cNvSpPr txBox="1"/>
          <p:nvPr/>
        </p:nvSpPr>
        <p:spPr>
          <a:xfrm>
            <a:off x="3493008" y="2148840"/>
            <a:ext cx="2788920" cy="329184"/>
          </a:xfrm>
          <a:prstGeom prst="rect">
            <a:avLst/>
          </a:prstGeom>
          <a:noFill/>
          <a:ln/>
        </p:spPr>
        <p:txBody>
          <a:bodyPr wrap="square" lIns="0" tIns="0" rIns="0" bIns="0" rtlCol="0" anchor="ctr">
            <a:normAutofit/>
          </a:bodyPr>
          <a:lstStyle/>
          <a:p>
            <a:pPr marL="0" indent="0" algn="l">
              <a:buNone/>
            </a:pPr>
            <a:r>
              <a:rPr lang="en-US" sz="1650" dirty="0">
                <a:solidFill>
                  <a:srgbClr val="5B6B80"/>
                </a:solidFill>
                <a:latin typeface="Arial" pitchFamily="34" charset="0"/>
                <a:ea typeface="Arial" pitchFamily="34" charset="-122"/>
                <a:cs typeface="Arial" pitchFamily="34" charset="-120"/>
              </a:rPr>
              <a:t>Lực · liên kết · cân bằng</a:t>
            </a:r>
            <a:endParaRPr lang="en-US" sz="1650" dirty="0"/>
          </a:p>
        </p:txBody>
      </p:sp>
      <p:sp>
        <p:nvSpPr>
          <p:cNvPr id="17" name="Shape 14"/>
          <p:cNvSpPr/>
          <p:nvPr/>
        </p:nvSpPr>
        <p:spPr>
          <a:xfrm>
            <a:off x="658368" y="3108960"/>
            <a:ext cx="5989320" cy="868680"/>
          </a:xfrm>
          <a:prstGeom prst="roundRect">
            <a:avLst>
              <a:gd name="adj" fmla="val 4211"/>
            </a:avLst>
          </a:prstGeom>
          <a:solidFill>
            <a:srgbClr val="FFFFFF"/>
          </a:solidFill>
          <a:ln w="12700">
            <a:solidFill>
              <a:srgbClr val="D7DEE8"/>
            </a:solidFill>
            <a:prstDash val="solid"/>
          </a:ln>
        </p:spPr>
      </p:sp>
      <p:sp>
        <p:nvSpPr>
          <p:cNvPr id="18" name="Text 15"/>
          <p:cNvSpPr txBox="1"/>
          <p:nvPr/>
        </p:nvSpPr>
        <p:spPr>
          <a:xfrm>
            <a:off x="841248" y="3246120"/>
            <a:ext cx="658368" cy="411480"/>
          </a:xfrm>
          <a:prstGeom prst="rect">
            <a:avLst/>
          </a:prstGeom>
          <a:noFill/>
          <a:ln/>
        </p:spPr>
        <p:txBody>
          <a:bodyPr wrap="square" lIns="0" tIns="0" rIns="0" bIns="0" rtlCol="0" anchor="t">
            <a:normAutofit/>
          </a:bodyPr>
          <a:lstStyle/>
          <a:p>
            <a:pPr marL="0" indent="0" algn="ctr">
              <a:buNone/>
            </a:pPr>
            <a:r>
              <a:rPr lang="en-US" sz="2800" b="1" dirty="0">
                <a:solidFill>
                  <a:srgbClr val="27AE60"/>
                </a:solidFill>
                <a:latin typeface="Arial" pitchFamily="34" charset="0"/>
                <a:ea typeface="Arial" pitchFamily="34" charset="-122"/>
                <a:cs typeface="Arial" pitchFamily="34" charset="-120"/>
              </a:rPr>
              <a:t>29</a:t>
            </a:r>
            <a:endParaRPr lang="en-US" sz="2800" dirty="0"/>
          </a:p>
        </p:txBody>
      </p:sp>
      <p:sp>
        <p:nvSpPr>
          <p:cNvPr id="19" name="Text 16"/>
          <p:cNvSpPr txBox="1"/>
          <p:nvPr/>
        </p:nvSpPr>
        <p:spPr>
          <a:xfrm>
            <a:off x="1664208" y="3200400"/>
            <a:ext cx="1737360" cy="320040"/>
          </a:xfrm>
          <a:prstGeom prst="rect">
            <a:avLst/>
          </a:prstGeom>
          <a:noFill/>
          <a:ln/>
        </p:spPr>
        <p:txBody>
          <a:bodyPr wrap="square" lIns="0" tIns="0" rIns="0" bIns="0" rtlCol="0" anchor="t">
            <a:normAutofit/>
          </a:bodyPr>
          <a:lstStyle/>
          <a:p>
            <a:pPr marL="0" indent="0" algn="l">
              <a:buNone/>
            </a:pPr>
            <a:r>
              <a:rPr lang="en-US" sz="2000" b="1" dirty="0">
                <a:solidFill>
                  <a:srgbClr val="07182F"/>
                </a:solidFill>
                <a:latin typeface="Georgia" pitchFamily="34" charset="0"/>
                <a:ea typeface="Georgia" pitchFamily="34" charset="-122"/>
                <a:cs typeface="Georgia" pitchFamily="34" charset="-120"/>
              </a:rPr>
              <a:t>Động học</a:t>
            </a:r>
            <a:endParaRPr lang="en-US" sz="2000" dirty="0"/>
          </a:p>
        </p:txBody>
      </p:sp>
      <p:sp>
        <p:nvSpPr>
          <p:cNvPr id="20" name="Text 17"/>
          <p:cNvSpPr txBox="1"/>
          <p:nvPr/>
        </p:nvSpPr>
        <p:spPr>
          <a:xfrm>
            <a:off x="3493008" y="3227832"/>
            <a:ext cx="2788920" cy="329184"/>
          </a:xfrm>
          <a:prstGeom prst="rect">
            <a:avLst/>
          </a:prstGeom>
          <a:noFill/>
          <a:ln/>
        </p:spPr>
        <p:txBody>
          <a:bodyPr wrap="square" lIns="0" tIns="0" rIns="0" bIns="0" rtlCol="0" anchor="ctr">
            <a:normAutofit/>
          </a:bodyPr>
          <a:lstStyle/>
          <a:p>
            <a:pPr marL="0" indent="0" algn="l">
              <a:buNone/>
            </a:pPr>
            <a:r>
              <a:rPr lang="en-US" sz="1650" dirty="0">
                <a:solidFill>
                  <a:srgbClr val="5B6B80"/>
                </a:solidFill>
                <a:latin typeface="Arial" pitchFamily="34" charset="0"/>
                <a:ea typeface="Arial" pitchFamily="34" charset="-122"/>
                <a:cs typeface="Arial" pitchFamily="34" charset="-120"/>
              </a:rPr>
              <a:t>Chuyển động điểm · vật rắn</a:t>
            </a:r>
            <a:endParaRPr lang="en-US" sz="1650" dirty="0"/>
          </a:p>
        </p:txBody>
      </p:sp>
      <p:sp>
        <p:nvSpPr>
          <p:cNvPr id="21" name="Shape 18"/>
          <p:cNvSpPr/>
          <p:nvPr/>
        </p:nvSpPr>
        <p:spPr>
          <a:xfrm>
            <a:off x="658368" y="4187952"/>
            <a:ext cx="5989320" cy="868680"/>
          </a:xfrm>
          <a:prstGeom prst="roundRect">
            <a:avLst>
              <a:gd name="adj" fmla="val 4211"/>
            </a:avLst>
          </a:prstGeom>
          <a:solidFill>
            <a:srgbClr val="FFFFFF"/>
          </a:solidFill>
          <a:ln w="12700">
            <a:solidFill>
              <a:srgbClr val="D7DEE8"/>
            </a:solidFill>
            <a:prstDash val="solid"/>
          </a:ln>
        </p:spPr>
      </p:sp>
      <p:sp>
        <p:nvSpPr>
          <p:cNvPr id="22" name="Text 19"/>
          <p:cNvSpPr txBox="1"/>
          <p:nvPr/>
        </p:nvSpPr>
        <p:spPr>
          <a:xfrm>
            <a:off x="841248" y="4325112"/>
            <a:ext cx="658368" cy="411480"/>
          </a:xfrm>
          <a:prstGeom prst="rect">
            <a:avLst/>
          </a:prstGeom>
          <a:noFill/>
          <a:ln/>
        </p:spPr>
        <p:txBody>
          <a:bodyPr wrap="square" lIns="0" tIns="0" rIns="0" bIns="0" rtlCol="0" anchor="t">
            <a:normAutofit/>
          </a:bodyPr>
          <a:lstStyle/>
          <a:p>
            <a:pPr marL="0" indent="0" algn="ctr">
              <a:buNone/>
            </a:pPr>
            <a:r>
              <a:rPr lang="en-US" sz="2800" b="1" dirty="0">
                <a:solidFill>
                  <a:srgbClr val="8E44AD"/>
                </a:solidFill>
                <a:latin typeface="Arial" pitchFamily="34" charset="0"/>
                <a:ea typeface="Arial" pitchFamily="34" charset="-122"/>
                <a:cs typeface="Arial" pitchFamily="34" charset="-120"/>
              </a:rPr>
              <a:t>31</a:t>
            </a:r>
            <a:endParaRPr lang="en-US" sz="2800" dirty="0"/>
          </a:p>
        </p:txBody>
      </p:sp>
      <p:sp>
        <p:nvSpPr>
          <p:cNvPr id="23" name="Text 20"/>
          <p:cNvSpPr txBox="1"/>
          <p:nvPr/>
        </p:nvSpPr>
        <p:spPr>
          <a:xfrm>
            <a:off x="1664208" y="4279392"/>
            <a:ext cx="1737360" cy="320040"/>
          </a:xfrm>
          <a:prstGeom prst="rect">
            <a:avLst/>
          </a:prstGeom>
          <a:noFill/>
          <a:ln/>
        </p:spPr>
        <p:txBody>
          <a:bodyPr wrap="square" lIns="0" tIns="0" rIns="0" bIns="0" rtlCol="0" anchor="t">
            <a:normAutofit/>
          </a:bodyPr>
          <a:lstStyle/>
          <a:p>
            <a:pPr marL="0" indent="0" algn="l">
              <a:buNone/>
            </a:pPr>
            <a:r>
              <a:rPr lang="en-US" sz="2000" b="1" dirty="0">
                <a:solidFill>
                  <a:srgbClr val="07182F"/>
                </a:solidFill>
                <a:latin typeface="Georgia" pitchFamily="34" charset="0"/>
                <a:ea typeface="Georgia" pitchFamily="34" charset="-122"/>
                <a:cs typeface="Georgia" pitchFamily="34" charset="-120"/>
              </a:rPr>
              <a:t>Động lực học</a:t>
            </a:r>
            <a:endParaRPr lang="en-US" sz="2000" dirty="0"/>
          </a:p>
        </p:txBody>
      </p:sp>
      <p:sp>
        <p:nvSpPr>
          <p:cNvPr id="24" name="Text 21"/>
          <p:cNvSpPr txBox="1"/>
          <p:nvPr/>
        </p:nvSpPr>
        <p:spPr>
          <a:xfrm>
            <a:off x="3493008" y="4306824"/>
            <a:ext cx="2788920" cy="329184"/>
          </a:xfrm>
          <a:prstGeom prst="rect">
            <a:avLst/>
          </a:prstGeom>
          <a:noFill/>
          <a:ln/>
        </p:spPr>
        <p:txBody>
          <a:bodyPr wrap="square" lIns="0" tIns="0" rIns="0" bIns="0" rtlCol="0" anchor="ctr">
            <a:normAutofit/>
          </a:bodyPr>
          <a:lstStyle/>
          <a:p>
            <a:pPr marL="0" indent="0" algn="l">
              <a:buNone/>
            </a:pPr>
            <a:r>
              <a:rPr lang="en-US" sz="1650" dirty="0">
                <a:solidFill>
                  <a:srgbClr val="5B6B80"/>
                </a:solidFill>
                <a:latin typeface="Arial" pitchFamily="34" charset="0"/>
                <a:ea typeface="Arial" pitchFamily="34" charset="-122"/>
                <a:cs typeface="Arial" pitchFamily="34" charset="-120"/>
              </a:rPr>
              <a:t>Lực · chuyển động · định lý tổng quát</a:t>
            </a:r>
            <a:endParaRPr lang="en-US" sz="1650" dirty="0"/>
          </a:p>
        </p:txBody>
      </p:sp>
      <p:sp>
        <p:nvSpPr>
          <p:cNvPr id="25" name="Text 22"/>
          <p:cNvSpPr txBox="1"/>
          <p:nvPr/>
        </p:nvSpPr>
        <p:spPr>
          <a:xfrm>
            <a:off x="932688" y="5413248"/>
            <a:ext cx="5349240" cy="310896"/>
          </a:xfrm>
          <a:prstGeom prst="rect">
            <a:avLst/>
          </a:prstGeom>
          <a:noFill/>
          <a:ln/>
        </p:spPr>
        <p:txBody>
          <a:bodyPr wrap="square" lIns="0" tIns="0" rIns="0" bIns="0" rtlCol="0" anchor="t">
            <a:normAutofit/>
          </a:bodyPr>
          <a:lstStyle/>
          <a:p>
            <a:pPr marL="0" indent="0" algn="ctr">
              <a:buNone/>
            </a:pPr>
            <a:r>
              <a:rPr lang="en-US" sz="1550" b="1" dirty="0">
                <a:solidFill>
                  <a:srgbClr val="0D2447"/>
                </a:solidFill>
                <a:latin typeface="Arial" pitchFamily="34" charset="0"/>
                <a:ea typeface="Arial" pitchFamily="34" charset="-122"/>
                <a:cs typeface="Arial" pitchFamily="34" charset="-120"/>
              </a:rPr>
              <a:t>+ 3 route bổ trợ: lời nói đầu · tác giả · tài liệu tham khảo</a:t>
            </a:r>
            <a:endParaRPr lang="en-US" sz="1550" dirty="0"/>
          </a:p>
        </p:txBody>
      </p:sp>
      <p:sp>
        <p:nvSpPr>
          <p:cNvPr id="26" name="Shape 23"/>
          <p:cNvSpPr/>
          <p:nvPr/>
        </p:nvSpPr>
        <p:spPr>
          <a:xfrm>
            <a:off x="6967728" y="2011680"/>
            <a:ext cx="4572000" cy="3767328"/>
          </a:xfrm>
          <a:prstGeom prst="roundRect">
            <a:avLst>
              <a:gd name="adj" fmla="val 971"/>
            </a:avLst>
          </a:prstGeom>
          <a:solidFill>
            <a:srgbClr val="FFFFFF"/>
          </a:solidFill>
          <a:ln w="12700">
            <a:solidFill>
              <a:srgbClr val="0D2447"/>
            </a:solidFill>
            <a:prstDash val="solid"/>
          </a:ln>
        </p:spPr>
      </p:sp>
      <p:pic>
        <p:nvPicPr>
          <p:cNvPr id="27" name="Image 0" descr="Hệ lực không gian · hình canonical Chương 1"/>
          <p:cNvPicPr>
            <a:picLocks noChangeAspect="1"/>
          </p:cNvPicPr>
          <p:nvPr/>
        </p:nvPicPr>
        <p:blipFill>
          <a:blip r:embed="rId3"/>
          <a:stretch>
            <a:fillRect/>
          </a:stretch>
        </p:blipFill>
        <p:spPr>
          <a:xfrm>
            <a:off x="7814001" y="2084832"/>
            <a:ext cx="2879454" cy="3364992"/>
          </a:xfrm>
          <a:prstGeom prst="rect">
            <a:avLst/>
          </a:prstGeom>
        </p:spPr>
      </p:pic>
      <p:sp>
        <p:nvSpPr>
          <p:cNvPr id="28" name="Text 24"/>
          <p:cNvSpPr txBox="1"/>
          <p:nvPr/>
        </p:nvSpPr>
        <p:spPr>
          <a:xfrm>
            <a:off x="7077456" y="5559552"/>
            <a:ext cx="4352544"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Hệ lực không gian · hình canonical Chương 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600" b="1" dirty="0">
                <a:solidFill>
                  <a:srgbClr val="07182F"/>
                </a:solidFill>
                <a:latin typeface="Georgia" pitchFamily="34" charset="0"/>
                <a:ea typeface="Georgia" pitchFamily="34" charset="-122"/>
                <a:cs typeface="Georgia" pitchFamily="34" charset="-120"/>
              </a:rPr>
              <a:t>Một nguồn chuẩn, trách nhiệm truy vết rõ</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03</a:t>
            </a:r>
            <a:endParaRPr lang="en-US" sz="1000" dirty="0"/>
          </a:p>
        </p:txBody>
      </p:sp>
      <p:sp>
        <p:nvSpPr>
          <p:cNvPr id="6" name="Shape 4"/>
          <p:cNvSpPr/>
          <p:nvPr/>
        </p:nvSpPr>
        <p:spPr>
          <a:xfrm>
            <a:off x="612648" y="1408176"/>
            <a:ext cx="10972800" cy="457200"/>
          </a:xfrm>
          <a:prstGeom prst="rect">
            <a:avLst/>
          </a:prstGeom>
          <a:solidFill>
            <a:srgbClr val="EEF2F7"/>
          </a:solidFill>
          <a:ln w="12700">
            <a:solidFill>
              <a:srgbClr val="D7DEE8"/>
            </a:solidFill>
            <a:prstDash val="solid"/>
          </a:ln>
        </p:spPr>
      </p:sp>
      <p:sp>
        <p:nvSpPr>
          <p:cNvPr id="7" name="Text 5"/>
          <p:cNvSpPr txBox="1"/>
          <p:nvPr/>
        </p:nvSpPr>
        <p:spPr>
          <a:xfrm>
            <a:off x="822960" y="1481328"/>
            <a:ext cx="10561320" cy="274320"/>
          </a:xfrm>
          <a:prstGeom prst="rect">
            <a:avLst/>
          </a:prstGeom>
          <a:noFill/>
          <a:ln/>
        </p:spPr>
        <p:txBody>
          <a:bodyPr wrap="square" lIns="0" tIns="0" rIns="0" bIns="0" rtlCol="0" anchor="ctr">
            <a:normAutofit/>
          </a:bodyPr>
          <a:lstStyle/>
          <a:p>
            <a:pPr marL="0" indent="0" algn="l">
              <a:buNone/>
            </a:pPr>
            <a:r>
              <a:rPr lang="en-US" sz="1650" b="1" dirty="0">
                <a:solidFill>
                  <a:srgbClr val="0D2447"/>
                </a:solidFill>
                <a:latin typeface="Arial" pitchFamily="34" charset="0"/>
                <a:ea typeface="Arial" pitchFamily="34" charset="-122"/>
                <a:cs typeface="Arial" pitchFamily="34" charset="-120"/>
              </a:rPr>
              <a:t>DOCX là nguồn chuẩn; mọi đầu ra đều phải truy vết ngược về nội dung và người phụ trách.</a:t>
            </a:r>
            <a:endParaRPr lang="en-US" sz="165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data/content-manifest.json</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3</a:t>
            </a:r>
            <a:endParaRPr lang="en-US" sz="820" dirty="0"/>
          </a:p>
        </p:txBody>
      </p:sp>
      <p:sp>
        <p:nvSpPr>
          <p:cNvPr id="13" name="Shape 10"/>
          <p:cNvSpPr/>
          <p:nvPr/>
        </p:nvSpPr>
        <p:spPr>
          <a:xfrm>
            <a:off x="658368" y="1993392"/>
            <a:ext cx="10972800" cy="676656"/>
          </a:xfrm>
          <a:prstGeom prst="roundRect">
            <a:avLst>
              <a:gd name="adj" fmla="val 5405"/>
            </a:avLst>
          </a:prstGeom>
          <a:solidFill>
            <a:srgbClr val="EEF2F7"/>
          </a:solidFill>
          <a:ln w="12700">
            <a:solidFill>
              <a:srgbClr val="D7DEE8"/>
            </a:solidFill>
            <a:prstDash val="solid"/>
          </a:ln>
        </p:spPr>
      </p:sp>
      <p:sp>
        <p:nvSpPr>
          <p:cNvPr id="14" name="Text 11"/>
          <p:cNvSpPr txBox="1"/>
          <p:nvPr/>
        </p:nvSpPr>
        <p:spPr>
          <a:xfrm>
            <a:off x="859536" y="2167128"/>
            <a:ext cx="457200" cy="274320"/>
          </a:xfrm>
          <a:prstGeom prst="rect">
            <a:avLst/>
          </a:prstGeom>
          <a:noFill/>
          <a:ln/>
        </p:spPr>
        <p:txBody>
          <a:bodyPr wrap="square" lIns="0" tIns="0" rIns="0" bIns="0" rtlCol="0" anchor="t">
            <a:normAutofit/>
          </a:bodyPr>
          <a:lstStyle/>
          <a:p>
            <a:pPr marL="0" indent="0" algn="ctr">
              <a:buNone/>
            </a:pPr>
            <a:r>
              <a:rPr lang="en-US" sz="1800" b="1" dirty="0">
                <a:solidFill>
                  <a:srgbClr val="C9963A"/>
                </a:solidFill>
                <a:latin typeface="Arial" pitchFamily="34" charset="0"/>
                <a:ea typeface="Arial" pitchFamily="34" charset="-122"/>
                <a:cs typeface="Arial" pitchFamily="34" charset="-120"/>
              </a:rPr>
              <a:t>01</a:t>
            </a:r>
            <a:endParaRPr lang="en-US" sz="1800" dirty="0"/>
          </a:p>
        </p:txBody>
      </p:sp>
      <p:sp>
        <p:nvSpPr>
          <p:cNvPr id="15" name="Text 12"/>
          <p:cNvSpPr txBox="1"/>
          <p:nvPr/>
        </p:nvSpPr>
        <p:spPr>
          <a:xfrm>
            <a:off x="1536192" y="2139696"/>
            <a:ext cx="5120640" cy="310896"/>
          </a:xfrm>
          <a:prstGeom prst="rect">
            <a:avLst/>
          </a:prstGeom>
          <a:noFill/>
          <a:ln/>
        </p:spPr>
        <p:txBody>
          <a:bodyPr wrap="square" lIns="0" tIns="0" rIns="0" bIns="0" rtlCol="0" anchor="t">
            <a:normAutofit/>
          </a:bodyPr>
          <a:lstStyle/>
          <a:p>
            <a:pPr marL="0" indent="0" algn="l">
              <a:buNone/>
            </a:pPr>
            <a:r>
              <a:rPr lang="en-US" sz="1750" b="1" dirty="0">
                <a:solidFill>
                  <a:srgbClr val="07182F"/>
                </a:solidFill>
                <a:latin typeface="Arial" pitchFamily="34" charset="0"/>
                <a:ea typeface="Arial" pitchFamily="34" charset="-122"/>
                <a:cs typeface="Arial" pitchFamily="34" charset="-120"/>
              </a:rPr>
              <a:t>Đại tá, TS Nguyễn Lê Văn — Chủ biên</a:t>
            </a:r>
            <a:endParaRPr lang="en-US" sz="1750" dirty="0"/>
          </a:p>
        </p:txBody>
      </p:sp>
      <p:sp>
        <p:nvSpPr>
          <p:cNvPr id="16" name="Text 13"/>
          <p:cNvSpPr txBox="1"/>
          <p:nvPr/>
        </p:nvSpPr>
        <p:spPr>
          <a:xfrm>
            <a:off x="6812280" y="2139696"/>
            <a:ext cx="4434840" cy="310896"/>
          </a:xfrm>
          <a:prstGeom prst="rect">
            <a:avLst/>
          </a:prstGeom>
          <a:noFill/>
          <a:ln/>
        </p:spPr>
        <p:txBody>
          <a:bodyPr wrap="square" lIns="0" tIns="0" rIns="0" bIns="0" rtlCol="0" anchor="t">
            <a:normAutofit/>
          </a:bodyPr>
          <a:lstStyle/>
          <a:p>
            <a:pPr marL="0" indent="0" algn="r">
              <a:buNone/>
            </a:pPr>
            <a:r>
              <a:rPr lang="en-US" sz="1600" dirty="0">
                <a:solidFill>
                  <a:srgbClr val="243247"/>
                </a:solidFill>
                <a:latin typeface="Arial" pitchFamily="34" charset="0"/>
                <a:ea typeface="Arial" pitchFamily="34" charset="-122"/>
                <a:cs typeface="Arial" pitchFamily="34" charset="-120"/>
              </a:rPr>
              <a:t>Chủ biên · Chương 2–3</a:t>
            </a:r>
            <a:endParaRPr lang="en-US" sz="1600" dirty="0"/>
          </a:p>
        </p:txBody>
      </p:sp>
      <p:sp>
        <p:nvSpPr>
          <p:cNvPr id="17" name="Shape 14"/>
          <p:cNvSpPr/>
          <p:nvPr/>
        </p:nvSpPr>
        <p:spPr>
          <a:xfrm>
            <a:off x="658368" y="2825496"/>
            <a:ext cx="10972800" cy="676656"/>
          </a:xfrm>
          <a:prstGeom prst="roundRect">
            <a:avLst>
              <a:gd name="adj" fmla="val 5405"/>
            </a:avLst>
          </a:prstGeom>
          <a:solidFill>
            <a:srgbClr val="FFFFFF"/>
          </a:solidFill>
          <a:ln w="12700">
            <a:solidFill>
              <a:srgbClr val="D7DEE8"/>
            </a:solidFill>
            <a:prstDash val="solid"/>
          </a:ln>
        </p:spPr>
      </p:sp>
      <p:sp>
        <p:nvSpPr>
          <p:cNvPr id="18" name="Text 15"/>
          <p:cNvSpPr txBox="1"/>
          <p:nvPr/>
        </p:nvSpPr>
        <p:spPr>
          <a:xfrm>
            <a:off x="859536" y="2999232"/>
            <a:ext cx="457200" cy="274320"/>
          </a:xfrm>
          <a:prstGeom prst="rect">
            <a:avLst/>
          </a:prstGeom>
          <a:noFill/>
          <a:ln/>
        </p:spPr>
        <p:txBody>
          <a:bodyPr wrap="square" lIns="0" tIns="0" rIns="0" bIns="0" rtlCol="0" anchor="t">
            <a:normAutofit/>
          </a:bodyPr>
          <a:lstStyle/>
          <a:p>
            <a:pPr marL="0" indent="0" algn="ctr">
              <a:buNone/>
            </a:pPr>
            <a:r>
              <a:rPr lang="en-US" sz="1800" b="1" dirty="0">
                <a:solidFill>
                  <a:srgbClr val="C9963A"/>
                </a:solidFill>
                <a:latin typeface="Arial" pitchFamily="34" charset="0"/>
                <a:ea typeface="Arial" pitchFamily="34" charset="-122"/>
                <a:cs typeface="Arial" pitchFamily="34" charset="-120"/>
              </a:rPr>
              <a:t>02</a:t>
            </a:r>
            <a:endParaRPr lang="en-US" sz="1800" dirty="0"/>
          </a:p>
        </p:txBody>
      </p:sp>
      <p:sp>
        <p:nvSpPr>
          <p:cNvPr id="19" name="Text 16"/>
          <p:cNvSpPr txBox="1"/>
          <p:nvPr/>
        </p:nvSpPr>
        <p:spPr>
          <a:xfrm>
            <a:off x="1536192" y="2971800"/>
            <a:ext cx="5120640" cy="310896"/>
          </a:xfrm>
          <a:prstGeom prst="rect">
            <a:avLst/>
          </a:prstGeom>
          <a:noFill/>
          <a:ln/>
        </p:spPr>
        <p:txBody>
          <a:bodyPr wrap="square" lIns="0" tIns="0" rIns="0" bIns="0" rtlCol="0" anchor="t">
            <a:normAutofit/>
          </a:bodyPr>
          <a:lstStyle/>
          <a:p>
            <a:pPr marL="0" indent="0" algn="l">
              <a:buNone/>
            </a:pPr>
            <a:r>
              <a:rPr lang="en-US" sz="1750" b="1" dirty="0">
                <a:solidFill>
                  <a:srgbClr val="07182F"/>
                </a:solidFill>
                <a:latin typeface="Arial" pitchFamily="34" charset="0"/>
                <a:ea typeface="Arial" pitchFamily="34" charset="-122"/>
                <a:cs typeface="Arial" pitchFamily="34" charset="-120"/>
              </a:rPr>
              <a:t>Thiếu tá, ThS Đinh Văn Tứ — Tham gia biên soạn</a:t>
            </a:r>
            <a:endParaRPr lang="en-US" sz="1750" dirty="0"/>
          </a:p>
        </p:txBody>
      </p:sp>
      <p:sp>
        <p:nvSpPr>
          <p:cNvPr id="20" name="Text 17"/>
          <p:cNvSpPr txBox="1"/>
          <p:nvPr/>
        </p:nvSpPr>
        <p:spPr>
          <a:xfrm>
            <a:off x="6812280" y="2971800"/>
            <a:ext cx="4434840" cy="310896"/>
          </a:xfrm>
          <a:prstGeom prst="rect">
            <a:avLst/>
          </a:prstGeom>
          <a:noFill/>
          <a:ln/>
        </p:spPr>
        <p:txBody>
          <a:bodyPr wrap="square" lIns="0" tIns="0" rIns="0" bIns="0" rtlCol="0" anchor="t">
            <a:normAutofit/>
          </a:bodyPr>
          <a:lstStyle/>
          <a:p>
            <a:pPr marL="0" indent="0" algn="r">
              <a:buNone/>
            </a:pPr>
            <a:r>
              <a:rPr lang="en-US" sz="1600" dirty="0">
                <a:solidFill>
                  <a:srgbClr val="243247"/>
                </a:solidFill>
                <a:latin typeface="Arial" pitchFamily="34" charset="0"/>
                <a:ea typeface="Arial" pitchFamily="34" charset="-122"/>
                <a:cs typeface="Arial" pitchFamily="34" charset="-120"/>
              </a:rPr>
              <a:t>Chương 1 · mô phỏng minh họa</a:t>
            </a:r>
            <a:endParaRPr lang="en-US" sz="1600" dirty="0"/>
          </a:p>
        </p:txBody>
      </p:sp>
      <p:sp>
        <p:nvSpPr>
          <p:cNvPr id="21" name="Shape 18"/>
          <p:cNvSpPr/>
          <p:nvPr/>
        </p:nvSpPr>
        <p:spPr>
          <a:xfrm>
            <a:off x="658368" y="3657600"/>
            <a:ext cx="10972800" cy="676656"/>
          </a:xfrm>
          <a:prstGeom prst="roundRect">
            <a:avLst>
              <a:gd name="adj" fmla="val 5405"/>
            </a:avLst>
          </a:prstGeom>
          <a:solidFill>
            <a:srgbClr val="FFFFFF"/>
          </a:solidFill>
          <a:ln w="12700">
            <a:solidFill>
              <a:srgbClr val="D7DEE8"/>
            </a:solidFill>
            <a:prstDash val="solid"/>
          </a:ln>
        </p:spPr>
      </p:sp>
      <p:sp>
        <p:nvSpPr>
          <p:cNvPr id="22" name="Text 19"/>
          <p:cNvSpPr txBox="1"/>
          <p:nvPr/>
        </p:nvSpPr>
        <p:spPr>
          <a:xfrm>
            <a:off x="859536" y="3831336"/>
            <a:ext cx="457200" cy="274320"/>
          </a:xfrm>
          <a:prstGeom prst="rect">
            <a:avLst/>
          </a:prstGeom>
          <a:noFill/>
          <a:ln/>
        </p:spPr>
        <p:txBody>
          <a:bodyPr wrap="square" lIns="0" tIns="0" rIns="0" bIns="0" rtlCol="0" anchor="t">
            <a:normAutofit/>
          </a:bodyPr>
          <a:lstStyle/>
          <a:p>
            <a:pPr marL="0" indent="0" algn="ctr">
              <a:buNone/>
            </a:pPr>
            <a:r>
              <a:rPr lang="en-US" sz="1800" b="1" dirty="0">
                <a:solidFill>
                  <a:srgbClr val="C9963A"/>
                </a:solidFill>
                <a:latin typeface="Arial" pitchFamily="34" charset="0"/>
                <a:ea typeface="Arial" pitchFamily="34" charset="-122"/>
                <a:cs typeface="Arial" pitchFamily="34" charset="-120"/>
              </a:rPr>
              <a:t>03</a:t>
            </a:r>
            <a:endParaRPr lang="en-US" sz="1800" dirty="0"/>
          </a:p>
        </p:txBody>
      </p:sp>
      <p:sp>
        <p:nvSpPr>
          <p:cNvPr id="23" name="Text 20"/>
          <p:cNvSpPr txBox="1"/>
          <p:nvPr/>
        </p:nvSpPr>
        <p:spPr>
          <a:xfrm>
            <a:off x="1536192" y="3803904"/>
            <a:ext cx="5120640" cy="310896"/>
          </a:xfrm>
          <a:prstGeom prst="rect">
            <a:avLst/>
          </a:prstGeom>
          <a:noFill/>
          <a:ln/>
        </p:spPr>
        <p:txBody>
          <a:bodyPr wrap="square" lIns="0" tIns="0" rIns="0" bIns="0" rtlCol="0" anchor="t">
            <a:normAutofit/>
          </a:bodyPr>
          <a:lstStyle/>
          <a:p>
            <a:pPr marL="0" indent="0" algn="l">
              <a:buNone/>
            </a:pPr>
            <a:r>
              <a:rPr lang="en-US" sz="1750" b="1" dirty="0">
                <a:solidFill>
                  <a:srgbClr val="07182F"/>
                </a:solidFill>
                <a:latin typeface="Arial" pitchFamily="34" charset="0"/>
                <a:ea typeface="Arial" pitchFamily="34" charset="-122"/>
                <a:cs typeface="Arial" pitchFamily="34" charset="-120"/>
              </a:rPr>
              <a:t>Đại úy, ThS Bùi Thanh Xuân — Tham gia biên soạn</a:t>
            </a:r>
            <a:endParaRPr lang="en-US" sz="1750" dirty="0"/>
          </a:p>
        </p:txBody>
      </p:sp>
      <p:sp>
        <p:nvSpPr>
          <p:cNvPr id="24" name="Text 21"/>
          <p:cNvSpPr txBox="1"/>
          <p:nvPr/>
        </p:nvSpPr>
        <p:spPr>
          <a:xfrm>
            <a:off x="6812280" y="3803904"/>
            <a:ext cx="4434840" cy="310896"/>
          </a:xfrm>
          <a:prstGeom prst="rect">
            <a:avLst/>
          </a:prstGeom>
          <a:noFill/>
          <a:ln/>
        </p:spPr>
        <p:txBody>
          <a:bodyPr wrap="square" lIns="0" tIns="0" rIns="0" bIns="0" rtlCol="0" anchor="t">
            <a:normAutofit/>
          </a:bodyPr>
          <a:lstStyle/>
          <a:p>
            <a:pPr marL="0" indent="0" algn="r">
              <a:buNone/>
            </a:pPr>
            <a:r>
              <a:rPr lang="en-US" sz="1600" dirty="0">
                <a:solidFill>
                  <a:srgbClr val="243247"/>
                </a:solidFill>
                <a:latin typeface="Arial" pitchFamily="34" charset="0"/>
                <a:ea typeface="Arial" pitchFamily="34" charset="-122"/>
                <a:cs typeface="Arial" pitchFamily="34" charset="-120"/>
              </a:rPr>
              <a:t>Mô phỏng · code · trắc nghiệm</a:t>
            </a:r>
            <a:endParaRPr lang="en-US" sz="1600" dirty="0"/>
          </a:p>
        </p:txBody>
      </p:sp>
      <p:sp>
        <p:nvSpPr>
          <p:cNvPr id="25" name="Shape 22"/>
          <p:cNvSpPr/>
          <p:nvPr/>
        </p:nvSpPr>
        <p:spPr>
          <a:xfrm>
            <a:off x="658368" y="4736592"/>
            <a:ext cx="1664208" cy="1060704"/>
          </a:xfrm>
          <a:prstGeom prst="roundRect">
            <a:avLst>
              <a:gd name="adj" fmla="val 3448"/>
            </a:avLst>
          </a:prstGeom>
          <a:solidFill>
            <a:srgbClr val="FFFFFF"/>
          </a:solidFill>
          <a:ln w="12700">
            <a:solidFill>
              <a:srgbClr val="D7DEE8"/>
            </a:solidFill>
            <a:prstDash val="solid"/>
          </a:ln>
        </p:spPr>
      </p:sp>
      <p:sp>
        <p:nvSpPr>
          <p:cNvPr id="26" name="Text 23"/>
          <p:cNvSpPr txBox="1"/>
          <p:nvPr/>
        </p:nvSpPr>
        <p:spPr>
          <a:xfrm>
            <a:off x="749808" y="4846320"/>
            <a:ext cx="1481328" cy="457200"/>
          </a:xfrm>
          <a:prstGeom prst="rect">
            <a:avLst/>
          </a:prstGeom>
          <a:noFill/>
          <a:ln/>
        </p:spPr>
        <p:txBody>
          <a:bodyPr wrap="square" lIns="0" tIns="0" rIns="0" bIns="0" rtlCol="0" anchor="ctr">
            <a:normAutofit/>
          </a:bodyPr>
          <a:lstStyle/>
          <a:p>
            <a:pPr marL="0" indent="0" algn="ctr">
              <a:buNone/>
            </a:pPr>
            <a:r>
              <a:rPr lang="en-US" sz="3200" b="1" dirty="0">
                <a:solidFill>
                  <a:srgbClr val="0D2447"/>
                </a:solidFill>
                <a:latin typeface="Arial" pitchFamily="34" charset="0"/>
                <a:ea typeface="Arial" pitchFamily="34" charset="-122"/>
                <a:cs typeface="Arial" pitchFamily="34" charset="-120"/>
              </a:rPr>
              <a:t>108</a:t>
            </a:r>
            <a:endParaRPr lang="en-US" sz="3200" dirty="0"/>
          </a:p>
        </p:txBody>
      </p:sp>
      <p:sp>
        <p:nvSpPr>
          <p:cNvPr id="27" name="Text 24"/>
          <p:cNvSpPr txBox="1"/>
          <p:nvPr/>
        </p:nvSpPr>
        <p:spPr>
          <a:xfrm>
            <a:off x="749808" y="5404104"/>
            <a:ext cx="1481328" cy="237744"/>
          </a:xfrm>
          <a:prstGeom prst="rect">
            <a:avLst/>
          </a:prstGeom>
          <a:noFill/>
          <a:ln/>
        </p:spPr>
        <p:txBody>
          <a:bodyPr wrap="square" lIns="0" tIns="0" rIns="0" bIns="0" rtlCol="0" anchor="ctr">
            <a:normAutofit/>
          </a:bodyPr>
          <a:lstStyle/>
          <a:p>
            <a:pPr marL="0" indent="0" algn="ctr">
              <a:buNone/>
            </a:pPr>
            <a:r>
              <a:rPr lang="en-US" sz="1200" dirty="0">
                <a:solidFill>
                  <a:srgbClr val="5B6B80"/>
                </a:solidFill>
                <a:latin typeface="Arial" pitchFamily="34" charset="0"/>
                <a:ea typeface="Arial" pitchFamily="34" charset="-122"/>
                <a:cs typeface="Arial" pitchFamily="34" charset="-120"/>
              </a:rPr>
              <a:t>route</a:t>
            </a:r>
            <a:endParaRPr lang="en-US" sz="1200" dirty="0"/>
          </a:p>
        </p:txBody>
      </p:sp>
      <p:sp>
        <p:nvSpPr>
          <p:cNvPr id="28" name="Shape 25"/>
          <p:cNvSpPr/>
          <p:nvPr/>
        </p:nvSpPr>
        <p:spPr>
          <a:xfrm>
            <a:off x="2532888" y="4736592"/>
            <a:ext cx="1664208" cy="1060704"/>
          </a:xfrm>
          <a:prstGeom prst="roundRect">
            <a:avLst>
              <a:gd name="adj" fmla="val 3448"/>
            </a:avLst>
          </a:prstGeom>
          <a:solidFill>
            <a:srgbClr val="FFFFFF"/>
          </a:solidFill>
          <a:ln w="12700">
            <a:solidFill>
              <a:srgbClr val="D7DEE8"/>
            </a:solidFill>
            <a:prstDash val="solid"/>
          </a:ln>
        </p:spPr>
      </p:sp>
      <p:sp>
        <p:nvSpPr>
          <p:cNvPr id="29" name="Text 26"/>
          <p:cNvSpPr txBox="1"/>
          <p:nvPr/>
        </p:nvSpPr>
        <p:spPr>
          <a:xfrm>
            <a:off x="2624328" y="4846320"/>
            <a:ext cx="1481328" cy="457200"/>
          </a:xfrm>
          <a:prstGeom prst="rect">
            <a:avLst/>
          </a:prstGeom>
          <a:noFill/>
          <a:ln/>
        </p:spPr>
        <p:txBody>
          <a:bodyPr wrap="square" lIns="0" tIns="0" rIns="0" bIns="0" rtlCol="0" anchor="ctr">
            <a:normAutofit/>
          </a:bodyPr>
          <a:lstStyle/>
          <a:p>
            <a:pPr marL="0" indent="0" algn="ctr">
              <a:buNone/>
            </a:pPr>
            <a:r>
              <a:rPr lang="en-US" sz="3200" b="1" dirty="0">
                <a:solidFill>
                  <a:srgbClr val="0D2447"/>
                </a:solidFill>
                <a:latin typeface="Arial" pitchFamily="34" charset="0"/>
                <a:ea typeface="Arial" pitchFamily="34" charset="-122"/>
                <a:cs typeface="Arial" pitchFamily="34" charset="-120"/>
              </a:rPr>
              <a:t>1 302</a:t>
            </a:r>
            <a:endParaRPr lang="en-US" sz="3200" dirty="0"/>
          </a:p>
        </p:txBody>
      </p:sp>
      <p:sp>
        <p:nvSpPr>
          <p:cNvPr id="30" name="Text 27"/>
          <p:cNvSpPr txBox="1"/>
          <p:nvPr/>
        </p:nvSpPr>
        <p:spPr>
          <a:xfrm>
            <a:off x="2624328" y="5404104"/>
            <a:ext cx="1481328" cy="237744"/>
          </a:xfrm>
          <a:prstGeom prst="rect">
            <a:avLst/>
          </a:prstGeom>
          <a:noFill/>
          <a:ln/>
        </p:spPr>
        <p:txBody>
          <a:bodyPr wrap="square" lIns="0" tIns="0" rIns="0" bIns="0" rtlCol="0" anchor="ctr">
            <a:normAutofit/>
          </a:bodyPr>
          <a:lstStyle/>
          <a:p>
            <a:pPr marL="0" indent="0" algn="ctr">
              <a:buNone/>
            </a:pPr>
            <a:r>
              <a:rPr lang="en-US" sz="1200" dirty="0">
                <a:solidFill>
                  <a:srgbClr val="5B6B80"/>
                </a:solidFill>
                <a:latin typeface="Arial" pitchFamily="34" charset="0"/>
                <a:ea typeface="Arial" pitchFamily="34" charset="-122"/>
                <a:cs typeface="Arial" pitchFamily="34" charset="-120"/>
              </a:rPr>
              <a:t>lần công thức</a:t>
            </a:r>
            <a:endParaRPr lang="en-US" sz="1200" dirty="0"/>
          </a:p>
        </p:txBody>
      </p:sp>
      <p:sp>
        <p:nvSpPr>
          <p:cNvPr id="31" name="Shape 28"/>
          <p:cNvSpPr/>
          <p:nvPr/>
        </p:nvSpPr>
        <p:spPr>
          <a:xfrm>
            <a:off x="4407408" y="4736592"/>
            <a:ext cx="1664208" cy="1060704"/>
          </a:xfrm>
          <a:prstGeom prst="roundRect">
            <a:avLst>
              <a:gd name="adj" fmla="val 3448"/>
            </a:avLst>
          </a:prstGeom>
          <a:solidFill>
            <a:srgbClr val="FFFFFF"/>
          </a:solidFill>
          <a:ln w="12700">
            <a:solidFill>
              <a:srgbClr val="D7DEE8"/>
            </a:solidFill>
            <a:prstDash val="solid"/>
          </a:ln>
        </p:spPr>
      </p:sp>
      <p:sp>
        <p:nvSpPr>
          <p:cNvPr id="32" name="Text 29"/>
          <p:cNvSpPr txBox="1"/>
          <p:nvPr/>
        </p:nvSpPr>
        <p:spPr>
          <a:xfrm>
            <a:off x="4498848" y="4846320"/>
            <a:ext cx="1481328" cy="457200"/>
          </a:xfrm>
          <a:prstGeom prst="rect">
            <a:avLst/>
          </a:prstGeom>
          <a:noFill/>
          <a:ln/>
        </p:spPr>
        <p:txBody>
          <a:bodyPr wrap="square" lIns="0" tIns="0" rIns="0" bIns="0" rtlCol="0" anchor="ctr">
            <a:normAutofit/>
          </a:bodyPr>
          <a:lstStyle/>
          <a:p>
            <a:pPr marL="0" indent="0" algn="ctr">
              <a:buNone/>
            </a:pPr>
            <a:r>
              <a:rPr lang="en-US" sz="3200" b="1" dirty="0">
                <a:solidFill>
                  <a:srgbClr val="0D2447"/>
                </a:solidFill>
                <a:latin typeface="Arial" pitchFamily="34" charset="0"/>
                <a:ea typeface="Arial" pitchFamily="34" charset="-122"/>
                <a:cs typeface="Arial" pitchFamily="34" charset="-120"/>
              </a:rPr>
              <a:t>300</a:t>
            </a:r>
            <a:endParaRPr lang="en-US" sz="3200" dirty="0"/>
          </a:p>
        </p:txBody>
      </p:sp>
      <p:sp>
        <p:nvSpPr>
          <p:cNvPr id="33" name="Text 30"/>
          <p:cNvSpPr txBox="1"/>
          <p:nvPr/>
        </p:nvSpPr>
        <p:spPr>
          <a:xfrm>
            <a:off x="4498848" y="5404104"/>
            <a:ext cx="1481328" cy="237744"/>
          </a:xfrm>
          <a:prstGeom prst="rect">
            <a:avLst/>
          </a:prstGeom>
          <a:noFill/>
          <a:ln/>
        </p:spPr>
        <p:txBody>
          <a:bodyPr wrap="square" lIns="0" tIns="0" rIns="0" bIns="0" rtlCol="0" anchor="ctr">
            <a:normAutofit/>
          </a:bodyPr>
          <a:lstStyle/>
          <a:p>
            <a:pPr marL="0" indent="0" algn="ctr">
              <a:buNone/>
            </a:pPr>
            <a:r>
              <a:rPr lang="en-US" sz="1200" dirty="0">
                <a:solidFill>
                  <a:srgbClr val="5B6B80"/>
                </a:solidFill>
                <a:latin typeface="Arial" pitchFamily="34" charset="0"/>
                <a:ea typeface="Arial" pitchFamily="34" charset="-122"/>
                <a:cs typeface="Arial" pitchFamily="34" charset="-120"/>
              </a:rPr>
              <a:t>câu hỏi</a:t>
            </a:r>
            <a:endParaRPr lang="en-US" sz="1200" dirty="0"/>
          </a:p>
        </p:txBody>
      </p:sp>
      <p:sp>
        <p:nvSpPr>
          <p:cNvPr id="34" name="Shape 31"/>
          <p:cNvSpPr/>
          <p:nvPr/>
        </p:nvSpPr>
        <p:spPr>
          <a:xfrm>
            <a:off x="6510528" y="4736592"/>
            <a:ext cx="5120640" cy="1060704"/>
          </a:xfrm>
          <a:prstGeom prst="roundRect">
            <a:avLst>
              <a:gd name="adj" fmla="val 3448"/>
            </a:avLst>
          </a:prstGeom>
          <a:solidFill>
            <a:srgbClr val="07182F"/>
          </a:solidFill>
          <a:ln w="12700">
            <a:solidFill>
              <a:srgbClr val="07182F"/>
            </a:solidFill>
            <a:prstDash val="solid"/>
          </a:ln>
        </p:spPr>
      </p:sp>
      <p:sp>
        <p:nvSpPr>
          <p:cNvPr id="35" name="Text 32"/>
          <p:cNvSpPr txBox="1"/>
          <p:nvPr/>
        </p:nvSpPr>
        <p:spPr>
          <a:xfrm>
            <a:off x="6784848" y="4919472"/>
            <a:ext cx="1417320" cy="228600"/>
          </a:xfrm>
          <a:prstGeom prst="rect">
            <a:avLst/>
          </a:prstGeom>
          <a:noFill/>
          <a:ln/>
        </p:spPr>
        <p:txBody>
          <a:bodyPr wrap="square" lIns="0" tIns="0" rIns="0" bIns="0" rtlCol="0" anchor="t">
            <a:normAutofit/>
          </a:bodyPr>
          <a:lstStyle/>
          <a:p>
            <a:pPr marL="0" indent="0" algn="l">
              <a:buNone/>
            </a:pPr>
            <a:r>
              <a:rPr lang="en-US" sz="1200" b="1" dirty="0">
                <a:solidFill>
                  <a:srgbClr val="DBB36A"/>
                </a:solidFill>
                <a:latin typeface="Arial" pitchFamily="34" charset="0"/>
                <a:ea typeface="Arial" pitchFamily="34" charset="-122"/>
                <a:cs typeface="Arial" pitchFamily="34" charset="-120"/>
              </a:rPr>
              <a:t>NGUỒN CHUẨN</a:t>
            </a:r>
            <a:endParaRPr lang="en-US" sz="1200" dirty="0"/>
          </a:p>
        </p:txBody>
      </p:sp>
      <p:sp>
        <p:nvSpPr>
          <p:cNvPr id="36" name="Text 33"/>
          <p:cNvSpPr txBox="1"/>
          <p:nvPr/>
        </p:nvSpPr>
        <p:spPr>
          <a:xfrm>
            <a:off x="8183880" y="4882896"/>
            <a:ext cx="3090672" cy="274320"/>
          </a:xfrm>
          <a:prstGeom prst="rect">
            <a:avLst/>
          </a:prstGeom>
          <a:noFill/>
          <a:ln/>
        </p:spPr>
        <p:txBody>
          <a:bodyPr wrap="square" lIns="0" tIns="0" rIns="0" bIns="0" rtlCol="0" anchor="t">
            <a:normAutofit/>
          </a:bodyPr>
          <a:lstStyle/>
          <a:p>
            <a:pPr marL="0" indent="0" algn="r">
              <a:buNone/>
            </a:pPr>
            <a:r>
              <a:rPr lang="en-US" sz="1700" b="1" dirty="0">
                <a:solidFill>
                  <a:srgbClr val="FFFFFF"/>
                </a:solidFill>
                <a:latin typeface="Arial" pitchFamily="34" charset="0"/>
                <a:ea typeface="Arial" pitchFamily="34" charset="-122"/>
                <a:cs typeface="Arial" pitchFamily="34" charset="-120"/>
              </a:rPr>
              <a:t>CoHocLyThuyet_Full_New.docx</a:t>
            </a:r>
            <a:endParaRPr lang="en-US" sz="1700" dirty="0"/>
          </a:p>
        </p:txBody>
      </p:sp>
      <p:sp>
        <p:nvSpPr>
          <p:cNvPr id="37" name="Text 34"/>
          <p:cNvSpPr txBox="1"/>
          <p:nvPr/>
        </p:nvSpPr>
        <p:spPr>
          <a:xfrm>
            <a:off x="6784848" y="5321808"/>
            <a:ext cx="4480560" cy="237744"/>
          </a:xfrm>
          <a:prstGeom prst="rect">
            <a:avLst/>
          </a:prstGeom>
          <a:noFill/>
          <a:ln/>
        </p:spPr>
        <p:txBody>
          <a:bodyPr wrap="square" lIns="0" tIns="0" rIns="0" bIns="0" rtlCol="0" anchor="t">
            <a:normAutofit/>
          </a:bodyPr>
          <a:lstStyle/>
          <a:p>
            <a:pPr marL="0" indent="0" algn="r">
              <a:buNone/>
            </a:pPr>
            <a:r>
              <a:rPr lang="en-US" sz="1550" dirty="0">
                <a:solidFill>
                  <a:srgbClr val="FFFFFF"/>
                </a:solidFill>
                <a:latin typeface="Arial" pitchFamily="34" charset="0"/>
                <a:ea typeface="Arial" pitchFamily="34" charset="-122"/>
                <a:cs typeface="Arial" pitchFamily="34" charset="-120"/>
              </a:rPr>
              <a:t>→ HTML · PDF · package</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600" b="1" dirty="0">
                <a:solidFill>
                  <a:srgbClr val="07182F"/>
                </a:solidFill>
                <a:latin typeface="Georgia" pitchFamily="34" charset="0"/>
                <a:ea typeface="Georgia" pitchFamily="34" charset="-122"/>
                <a:cs typeface="Georgia" pitchFamily="34" charset="-120"/>
              </a:rPr>
              <a:t>Học viên đi qua một vòng học khép kín</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04</a:t>
            </a:r>
            <a:endParaRPr lang="en-US" sz="1000" dirty="0"/>
          </a:p>
        </p:txBody>
      </p:sp>
      <p:sp>
        <p:nvSpPr>
          <p:cNvPr id="6" name="Shape 4"/>
          <p:cNvSpPr/>
          <p:nvPr/>
        </p:nvSpPr>
        <p:spPr>
          <a:xfrm>
            <a:off x="612648" y="1408176"/>
            <a:ext cx="10972800" cy="457200"/>
          </a:xfrm>
          <a:prstGeom prst="rect">
            <a:avLst/>
          </a:prstGeom>
          <a:solidFill>
            <a:srgbClr val="EEF2F7"/>
          </a:solidFill>
          <a:ln w="12700">
            <a:solidFill>
              <a:srgbClr val="D7DEE8"/>
            </a:solidFill>
            <a:prstDash val="solid"/>
          </a:ln>
        </p:spPr>
      </p:sp>
      <p:sp>
        <p:nvSpPr>
          <p:cNvPr id="7" name="Text 5"/>
          <p:cNvSpPr txBox="1"/>
          <p:nvPr/>
        </p:nvSpPr>
        <p:spPr>
          <a:xfrm>
            <a:off x="822960" y="1481328"/>
            <a:ext cx="10561320" cy="274320"/>
          </a:xfrm>
          <a:prstGeom prst="rect">
            <a:avLst/>
          </a:prstGeom>
          <a:noFill/>
          <a:ln/>
        </p:spPr>
        <p:txBody>
          <a:bodyPr wrap="square" lIns="0" tIns="0" rIns="0" bIns="0" rtlCol="0" anchor="ctr">
            <a:normAutofit/>
          </a:bodyPr>
          <a:lstStyle/>
          <a:p>
            <a:pPr marL="0" indent="0" algn="l">
              <a:buNone/>
            </a:pPr>
            <a:r>
              <a:rPr lang="en-US" sz="1650" b="1" dirty="0">
                <a:solidFill>
                  <a:srgbClr val="0D2447"/>
                </a:solidFill>
                <a:latin typeface="Arial" pitchFamily="34" charset="0"/>
                <a:ea typeface="Arial" pitchFamily="34" charset="-122"/>
                <a:cs typeface="Arial" pitchFamily="34" charset="-120"/>
              </a:rPr>
              <a:t>Tìm → học → quan sát → luyện tập → ghi nhớ.</a:t>
            </a:r>
            <a:endParaRPr lang="en-US" sz="165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README.md:114-118</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4</a:t>
            </a:r>
            <a:endParaRPr lang="en-US" sz="820" dirty="0"/>
          </a:p>
        </p:txBody>
      </p:sp>
      <p:sp>
        <p:nvSpPr>
          <p:cNvPr id="13" name="Text 10"/>
          <p:cNvSpPr txBox="1"/>
          <p:nvPr/>
        </p:nvSpPr>
        <p:spPr>
          <a:xfrm>
            <a:off x="713232" y="2103120"/>
            <a:ext cx="438912" cy="274320"/>
          </a:xfrm>
          <a:prstGeom prst="rect">
            <a:avLst/>
          </a:prstGeom>
          <a:noFill/>
          <a:ln/>
        </p:spPr>
        <p:txBody>
          <a:bodyPr wrap="square" lIns="0" tIns="0" rIns="0" bIns="0" rtlCol="0" anchor="t">
            <a:normAutofit/>
          </a:bodyPr>
          <a:lstStyle/>
          <a:p>
            <a:pPr marL="0" indent="0" algn="ctr">
              <a:buNone/>
            </a:pPr>
            <a:r>
              <a:rPr lang="en-US" sz="1700" b="1" dirty="0">
                <a:solidFill>
                  <a:srgbClr val="C9963A"/>
                </a:solidFill>
                <a:latin typeface="Arial" pitchFamily="34" charset="0"/>
                <a:ea typeface="Arial" pitchFamily="34" charset="-122"/>
                <a:cs typeface="Arial" pitchFamily="34" charset="-120"/>
              </a:rPr>
              <a:t>01</a:t>
            </a:r>
            <a:endParaRPr lang="en-US" sz="1700" dirty="0"/>
          </a:p>
        </p:txBody>
      </p:sp>
      <p:sp>
        <p:nvSpPr>
          <p:cNvPr id="14" name="Text 11"/>
          <p:cNvSpPr txBox="1"/>
          <p:nvPr/>
        </p:nvSpPr>
        <p:spPr>
          <a:xfrm>
            <a:off x="1298448" y="2039112"/>
            <a:ext cx="1024128" cy="310896"/>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Arial" pitchFamily="34" charset="0"/>
                <a:ea typeface="Arial" pitchFamily="34" charset="-122"/>
                <a:cs typeface="Arial" pitchFamily="34" charset="-120"/>
              </a:rPr>
              <a:t>Tìm</a:t>
            </a:r>
            <a:endParaRPr lang="en-US" sz="1800" dirty="0"/>
          </a:p>
        </p:txBody>
      </p:sp>
      <p:sp>
        <p:nvSpPr>
          <p:cNvPr id="15" name="Text 12"/>
          <p:cNvSpPr txBox="1"/>
          <p:nvPr/>
        </p:nvSpPr>
        <p:spPr>
          <a:xfrm>
            <a:off x="2331720" y="2048256"/>
            <a:ext cx="2331720" cy="329184"/>
          </a:xfrm>
          <a:prstGeom prst="rect">
            <a:avLst/>
          </a:prstGeom>
          <a:noFill/>
          <a:ln/>
        </p:spPr>
        <p:txBody>
          <a:bodyPr wrap="square" lIns="0" tIns="0" rIns="0" bIns="0" rtlCol="0" anchor="t">
            <a:normAutofit/>
          </a:bodyPr>
          <a:lstStyle/>
          <a:p>
            <a:pPr marL="0" indent="0" algn="l">
              <a:buNone/>
            </a:pPr>
            <a:r>
              <a:rPr lang="en-US" sz="1550" dirty="0">
                <a:solidFill>
                  <a:srgbClr val="5B6B80"/>
                </a:solidFill>
                <a:latin typeface="Arial" pitchFamily="34" charset="0"/>
                <a:ea typeface="Arial" pitchFamily="34" charset="-122"/>
                <a:cs typeface="Arial" pitchFamily="34" charset="-120"/>
              </a:rPr>
              <a:t>Mục lục · tìm kiếm · 108 route</a:t>
            </a:r>
            <a:endParaRPr lang="en-US" sz="1550" dirty="0"/>
          </a:p>
        </p:txBody>
      </p:sp>
      <p:sp>
        <p:nvSpPr>
          <p:cNvPr id="16" name="Shape 13"/>
          <p:cNvSpPr/>
          <p:nvPr/>
        </p:nvSpPr>
        <p:spPr>
          <a:xfrm>
            <a:off x="914400" y="2450592"/>
            <a:ext cx="36576" cy="0"/>
          </a:xfrm>
          <a:prstGeom prst="line">
            <a:avLst/>
          </a:prstGeom>
          <a:noFill/>
          <a:ln w="12700">
            <a:solidFill>
              <a:srgbClr val="C9963A"/>
            </a:solidFill>
            <a:prstDash val="solid"/>
          </a:ln>
        </p:spPr>
      </p:sp>
      <p:sp>
        <p:nvSpPr>
          <p:cNvPr id="17" name="Text 14"/>
          <p:cNvSpPr txBox="1"/>
          <p:nvPr/>
        </p:nvSpPr>
        <p:spPr>
          <a:xfrm>
            <a:off x="713232" y="2825496"/>
            <a:ext cx="438912" cy="274320"/>
          </a:xfrm>
          <a:prstGeom prst="rect">
            <a:avLst/>
          </a:prstGeom>
          <a:noFill/>
          <a:ln/>
        </p:spPr>
        <p:txBody>
          <a:bodyPr wrap="square" lIns="0" tIns="0" rIns="0" bIns="0" rtlCol="0" anchor="t">
            <a:normAutofit/>
          </a:bodyPr>
          <a:lstStyle/>
          <a:p>
            <a:pPr marL="0" indent="0" algn="ctr">
              <a:buNone/>
            </a:pPr>
            <a:r>
              <a:rPr lang="en-US" sz="1700" b="1" dirty="0">
                <a:solidFill>
                  <a:srgbClr val="C9963A"/>
                </a:solidFill>
                <a:latin typeface="Arial" pitchFamily="34" charset="0"/>
                <a:ea typeface="Arial" pitchFamily="34" charset="-122"/>
                <a:cs typeface="Arial" pitchFamily="34" charset="-120"/>
              </a:rPr>
              <a:t>02</a:t>
            </a:r>
            <a:endParaRPr lang="en-US" sz="1700" dirty="0"/>
          </a:p>
        </p:txBody>
      </p:sp>
      <p:sp>
        <p:nvSpPr>
          <p:cNvPr id="18" name="Text 15"/>
          <p:cNvSpPr txBox="1"/>
          <p:nvPr/>
        </p:nvSpPr>
        <p:spPr>
          <a:xfrm>
            <a:off x="1298448" y="2761488"/>
            <a:ext cx="1024128" cy="310896"/>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Arial" pitchFamily="34" charset="0"/>
                <a:ea typeface="Arial" pitchFamily="34" charset="-122"/>
                <a:cs typeface="Arial" pitchFamily="34" charset="-120"/>
              </a:rPr>
              <a:t>Học</a:t>
            </a:r>
            <a:endParaRPr lang="en-US" sz="1800" dirty="0"/>
          </a:p>
        </p:txBody>
      </p:sp>
      <p:sp>
        <p:nvSpPr>
          <p:cNvPr id="19" name="Text 16"/>
          <p:cNvSpPr txBox="1"/>
          <p:nvPr/>
        </p:nvSpPr>
        <p:spPr>
          <a:xfrm>
            <a:off x="2331720" y="2770632"/>
            <a:ext cx="2331720" cy="329184"/>
          </a:xfrm>
          <a:prstGeom prst="rect">
            <a:avLst/>
          </a:prstGeom>
          <a:noFill/>
          <a:ln/>
        </p:spPr>
        <p:txBody>
          <a:bodyPr wrap="square" lIns="0" tIns="0" rIns="0" bIns="0" rtlCol="0" anchor="t">
            <a:normAutofit/>
          </a:bodyPr>
          <a:lstStyle/>
          <a:p>
            <a:pPr marL="0" indent="0" algn="l">
              <a:buNone/>
            </a:pPr>
            <a:r>
              <a:rPr lang="en-US" sz="1550" dirty="0">
                <a:solidFill>
                  <a:srgbClr val="5B6B80"/>
                </a:solidFill>
                <a:latin typeface="Arial" pitchFamily="34" charset="0"/>
                <a:ea typeface="Arial" pitchFamily="34" charset="-122"/>
                <a:cs typeface="Arial" pitchFamily="34" charset="-120"/>
              </a:rPr>
              <a:t>1 302 lần công thức · 127 hình</a:t>
            </a:r>
            <a:endParaRPr lang="en-US" sz="1550" dirty="0"/>
          </a:p>
        </p:txBody>
      </p:sp>
      <p:sp>
        <p:nvSpPr>
          <p:cNvPr id="20" name="Shape 17"/>
          <p:cNvSpPr/>
          <p:nvPr/>
        </p:nvSpPr>
        <p:spPr>
          <a:xfrm>
            <a:off x="914400" y="3172968"/>
            <a:ext cx="36576" cy="0"/>
          </a:xfrm>
          <a:prstGeom prst="line">
            <a:avLst/>
          </a:prstGeom>
          <a:noFill/>
          <a:ln w="12700">
            <a:solidFill>
              <a:srgbClr val="C9963A"/>
            </a:solidFill>
            <a:prstDash val="solid"/>
          </a:ln>
        </p:spPr>
      </p:sp>
      <p:sp>
        <p:nvSpPr>
          <p:cNvPr id="21" name="Text 18"/>
          <p:cNvSpPr txBox="1"/>
          <p:nvPr/>
        </p:nvSpPr>
        <p:spPr>
          <a:xfrm>
            <a:off x="713232" y="3547872"/>
            <a:ext cx="438912" cy="274320"/>
          </a:xfrm>
          <a:prstGeom prst="rect">
            <a:avLst/>
          </a:prstGeom>
          <a:noFill/>
          <a:ln/>
        </p:spPr>
        <p:txBody>
          <a:bodyPr wrap="square" lIns="0" tIns="0" rIns="0" bIns="0" rtlCol="0" anchor="t">
            <a:normAutofit/>
          </a:bodyPr>
          <a:lstStyle/>
          <a:p>
            <a:pPr marL="0" indent="0" algn="ctr">
              <a:buNone/>
            </a:pPr>
            <a:r>
              <a:rPr lang="en-US" sz="1700" b="1" dirty="0">
                <a:solidFill>
                  <a:srgbClr val="C9963A"/>
                </a:solidFill>
                <a:latin typeface="Arial" pitchFamily="34" charset="0"/>
                <a:ea typeface="Arial" pitchFamily="34" charset="-122"/>
                <a:cs typeface="Arial" pitchFamily="34" charset="-120"/>
              </a:rPr>
              <a:t>03</a:t>
            </a:r>
            <a:endParaRPr lang="en-US" sz="1700" dirty="0"/>
          </a:p>
        </p:txBody>
      </p:sp>
      <p:sp>
        <p:nvSpPr>
          <p:cNvPr id="22" name="Text 19"/>
          <p:cNvSpPr txBox="1"/>
          <p:nvPr/>
        </p:nvSpPr>
        <p:spPr>
          <a:xfrm>
            <a:off x="1298448" y="3483864"/>
            <a:ext cx="1024128" cy="310896"/>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Arial" pitchFamily="34" charset="0"/>
                <a:ea typeface="Arial" pitchFamily="34" charset="-122"/>
                <a:cs typeface="Arial" pitchFamily="34" charset="-120"/>
              </a:rPr>
              <a:t>Quan sát</a:t>
            </a:r>
            <a:endParaRPr lang="en-US" sz="1800" dirty="0"/>
          </a:p>
        </p:txBody>
      </p:sp>
      <p:sp>
        <p:nvSpPr>
          <p:cNvPr id="23" name="Text 20"/>
          <p:cNvSpPr txBox="1"/>
          <p:nvPr/>
        </p:nvSpPr>
        <p:spPr>
          <a:xfrm>
            <a:off x="2331720" y="3493008"/>
            <a:ext cx="2331720" cy="329184"/>
          </a:xfrm>
          <a:prstGeom prst="rect">
            <a:avLst/>
          </a:prstGeom>
          <a:noFill/>
          <a:ln/>
        </p:spPr>
        <p:txBody>
          <a:bodyPr wrap="square" lIns="0" tIns="0" rIns="0" bIns="0" rtlCol="0" anchor="t">
            <a:normAutofit/>
          </a:bodyPr>
          <a:lstStyle/>
          <a:p>
            <a:pPr marL="0" indent="0" algn="l">
              <a:buNone/>
            </a:pPr>
            <a:r>
              <a:rPr lang="en-US" sz="1550" dirty="0">
                <a:solidFill>
                  <a:srgbClr val="5B6B80"/>
                </a:solidFill>
                <a:latin typeface="Arial" pitchFamily="34" charset="0"/>
                <a:ea typeface="Arial" pitchFamily="34" charset="-122"/>
                <a:cs typeface="Arial" pitchFamily="34" charset="-120"/>
              </a:rPr>
              <a:t>25 Sim2 · 10 Sim3 pilot</a:t>
            </a:r>
            <a:endParaRPr lang="en-US" sz="1550" dirty="0"/>
          </a:p>
        </p:txBody>
      </p:sp>
      <p:sp>
        <p:nvSpPr>
          <p:cNvPr id="24" name="Shape 21"/>
          <p:cNvSpPr/>
          <p:nvPr/>
        </p:nvSpPr>
        <p:spPr>
          <a:xfrm>
            <a:off x="914400" y="3895344"/>
            <a:ext cx="36576" cy="0"/>
          </a:xfrm>
          <a:prstGeom prst="line">
            <a:avLst/>
          </a:prstGeom>
          <a:noFill/>
          <a:ln w="12700">
            <a:solidFill>
              <a:srgbClr val="C9963A"/>
            </a:solidFill>
            <a:prstDash val="solid"/>
          </a:ln>
        </p:spPr>
      </p:sp>
      <p:sp>
        <p:nvSpPr>
          <p:cNvPr id="25" name="Text 22"/>
          <p:cNvSpPr txBox="1"/>
          <p:nvPr/>
        </p:nvSpPr>
        <p:spPr>
          <a:xfrm>
            <a:off x="713232" y="4270248"/>
            <a:ext cx="438912" cy="274320"/>
          </a:xfrm>
          <a:prstGeom prst="rect">
            <a:avLst/>
          </a:prstGeom>
          <a:noFill/>
          <a:ln/>
        </p:spPr>
        <p:txBody>
          <a:bodyPr wrap="square" lIns="0" tIns="0" rIns="0" bIns="0" rtlCol="0" anchor="t">
            <a:normAutofit/>
          </a:bodyPr>
          <a:lstStyle/>
          <a:p>
            <a:pPr marL="0" indent="0" algn="ctr">
              <a:buNone/>
            </a:pPr>
            <a:r>
              <a:rPr lang="en-US" sz="1700" b="1" dirty="0">
                <a:solidFill>
                  <a:srgbClr val="C9963A"/>
                </a:solidFill>
                <a:latin typeface="Arial" pitchFamily="34" charset="0"/>
                <a:ea typeface="Arial" pitchFamily="34" charset="-122"/>
                <a:cs typeface="Arial" pitchFamily="34" charset="-120"/>
              </a:rPr>
              <a:t>04</a:t>
            </a:r>
            <a:endParaRPr lang="en-US" sz="1700" dirty="0"/>
          </a:p>
        </p:txBody>
      </p:sp>
      <p:sp>
        <p:nvSpPr>
          <p:cNvPr id="26" name="Text 23"/>
          <p:cNvSpPr txBox="1"/>
          <p:nvPr/>
        </p:nvSpPr>
        <p:spPr>
          <a:xfrm>
            <a:off x="1298448" y="4206240"/>
            <a:ext cx="1024128" cy="310896"/>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Arial" pitchFamily="34" charset="0"/>
                <a:ea typeface="Arial" pitchFamily="34" charset="-122"/>
                <a:cs typeface="Arial" pitchFamily="34" charset="-120"/>
              </a:rPr>
              <a:t>Luyện</a:t>
            </a:r>
            <a:endParaRPr lang="en-US" sz="1800" dirty="0"/>
          </a:p>
        </p:txBody>
      </p:sp>
      <p:sp>
        <p:nvSpPr>
          <p:cNvPr id="27" name="Text 24"/>
          <p:cNvSpPr txBox="1"/>
          <p:nvPr/>
        </p:nvSpPr>
        <p:spPr>
          <a:xfrm>
            <a:off x="2331720" y="4215384"/>
            <a:ext cx="2331720" cy="329184"/>
          </a:xfrm>
          <a:prstGeom prst="rect">
            <a:avLst/>
          </a:prstGeom>
          <a:noFill/>
          <a:ln/>
        </p:spPr>
        <p:txBody>
          <a:bodyPr wrap="square" lIns="0" tIns="0" rIns="0" bIns="0" rtlCol="0" anchor="t">
            <a:normAutofit/>
          </a:bodyPr>
          <a:lstStyle/>
          <a:p>
            <a:pPr marL="0" indent="0" algn="l">
              <a:buNone/>
            </a:pPr>
            <a:r>
              <a:rPr lang="en-US" sz="1550" dirty="0">
                <a:solidFill>
                  <a:srgbClr val="5B6B80"/>
                </a:solidFill>
                <a:latin typeface="Arial" pitchFamily="34" charset="0"/>
                <a:ea typeface="Arial" pitchFamily="34" charset="-122"/>
                <a:cs typeface="Arial" pitchFamily="34" charset="-120"/>
              </a:rPr>
              <a:t>300 câu hỏi · phản hồi tức thì</a:t>
            </a:r>
            <a:endParaRPr lang="en-US" sz="1550" dirty="0"/>
          </a:p>
        </p:txBody>
      </p:sp>
      <p:sp>
        <p:nvSpPr>
          <p:cNvPr id="28" name="Shape 25"/>
          <p:cNvSpPr/>
          <p:nvPr/>
        </p:nvSpPr>
        <p:spPr>
          <a:xfrm>
            <a:off x="914400" y="4617720"/>
            <a:ext cx="36576" cy="0"/>
          </a:xfrm>
          <a:prstGeom prst="line">
            <a:avLst/>
          </a:prstGeom>
          <a:noFill/>
          <a:ln w="12700">
            <a:solidFill>
              <a:srgbClr val="C9963A"/>
            </a:solidFill>
            <a:prstDash val="solid"/>
          </a:ln>
        </p:spPr>
      </p:sp>
      <p:sp>
        <p:nvSpPr>
          <p:cNvPr id="29" name="Text 26"/>
          <p:cNvSpPr txBox="1"/>
          <p:nvPr/>
        </p:nvSpPr>
        <p:spPr>
          <a:xfrm>
            <a:off x="713232" y="4992624"/>
            <a:ext cx="438912" cy="274320"/>
          </a:xfrm>
          <a:prstGeom prst="rect">
            <a:avLst/>
          </a:prstGeom>
          <a:noFill/>
          <a:ln/>
        </p:spPr>
        <p:txBody>
          <a:bodyPr wrap="square" lIns="0" tIns="0" rIns="0" bIns="0" rtlCol="0" anchor="t">
            <a:normAutofit/>
          </a:bodyPr>
          <a:lstStyle/>
          <a:p>
            <a:pPr marL="0" indent="0" algn="ctr">
              <a:buNone/>
            </a:pPr>
            <a:r>
              <a:rPr lang="en-US" sz="1700" b="1" dirty="0">
                <a:solidFill>
                  <a:srgbClr val="C9963A"/>
                </a:solidFill>
                <a:latin typeface="Arial" pitchFamily="34" charset="0"/>
                <a:ea typeface="Arial" pitchFamily="34" charset="-122"/>
                <a:cs typeface="Arial" pitchFamily="34" charset="-120"/>
              </a:rPr>
              <a:t>05</a:t>
            </a:r>
            <a:endParaRPr lang="en-US" sz="1700" dirty="0"/>
          </a:p>
        </p:txBody>
      </p:sp>
      <p:sp>
        <p:nvSpPr>
          <p:cNvPr id="30" name="Text 27"/>
          <p:cNvSpPr txBox="1"/>
          <p:nvPr/>
        </p:nvSpPr>
        <p:spPr>
          <a:xfrm>
            <a:off x="1298448" y="4928616"/>
            <a:ext cx="1024128" cy="310896"/>
          </a:xfrm>
          <a:prstGeom prst="rect">
            <a:avLst/>
          </a:prstGeom>
          <a:noFill/>
          <a:ln/>
        </p:spPr>
        <p:txBody>
          <a:bodyPr wrap="square" lIns="0" tIns="0" rIns="0" bIns="0" rtlCol="0" anchor="t">
            <a:normAutofit/>
          </a:bodyPr>
          <a:lstStyle/>
          <a:p>
            <a:pPr marL="0" indent="0" algn="l">
              <a:buNone/>
            </a:pPr>
            <a:r>
              <a:rPr lang="en-US" sz="1800" b="1" dirty="0">
                <a:solidFill>
                  <a:srgbClr val="07182F"/>
                </a:solidFill>
                <a:latin typeface="Arial" pitchFamily="34" charset="0"/>
                <a:ea typeface="Arial" pitchFamily="34" charset="-122"/>
                <a:cs typeface="Arial" pitchFamily="34" charset="-120"/>
              </a:rPr>
              <a:t>Ghi nhớ</a:t>
            </a:r>
            <a:endParaRPr lang="en-US" sz="1800" dirty="0"/>
          </a:p>
        </p:txBody>
      </p:sp>
      <p:sp>
        <p:nvSpPr>
          <p:cNvPr id="31" name="Text 28"/>
          <p:cNvSpPr txBox="1"/>
          <p:nvPr/>
        </p:nvSpPr>
        <p:spPr>
          <a:xfrm>
            <a:off x="2331720" y="4937760"/>
            <a:ext cx="2331720" cy="329184"/>
          </a:xfrm>
          <a:prstGeom prst="rect">
            <a:avLst/>
          </a:prstGeom>
          <a:noFill/>
          <a:ln/>
        </p:spPr>
        <p:txBody>
          <a:bodyPr wrap="square" lIns="0" tIns="0" rIns="0" bIns="0" rtlCol="0" anchor="t">
            <a:normAutofit/>
          </a:bodyPr>
          <a:lstStyle/>
          <a:p>
            <a:pPr marL="0" indent="0" algn="l">
              <a:buNone/>
            </a:pPr>
            <a:r>
              <a:rPr lang="en-US" sz="1550" dirty="0">
                <a:solidFill>
                  <a:srgbClr val="5B6B80"/>
                </a:solidFill>
                <a:latin typeface="Arial" pitchFamily="34" charset="0"/>
                <a:ea typeface="Arial" pitchFamily="34" charset="-122"/>
                <a:cs typeface="Arial" pitchFamily="34" charset="-120"/>
              </a:rPr>
              <a:t>Tiến độ · dấu trang · ghi chú</a:t>
            </a:r>
            <a:endParaRPr lang="en-US" sz="1550" dirty="0"/>
          </a:p>
        </p:txBody>
      </p:sp>
      <p:sp>
        <p:nvSpPr>
          <p:cNvPr id="32" name="Shape 29"/>
          <p:cNvSpPr/>
          <p:nvPr/>
        </p:nvSpPr>
        <p:spPr>
          <a:xfrm>
            <a:off x="4800600" y="1993392"/>
            <a:ext cx="6748272" cy="4023360"/>
          </a:xfrm>
          <a:prstGeom prst="roundRect">
            <a:avLst>
              <a:gd name="adj" fmla="val 909"/>
            </a:avLst>
          </a:prstGeom>
          <a:solidFill>
            <a:srgbClr val="FFFFFF"/>
          </a:solidFill>
          <a:ln w="12700">
            <a:solidFill>
              <a:srgbClr val="0D2447"/>
            </a:solidFill>
            <a:prstDash val="solid"/>
          </a:ln>
        </p:spPr>
      </p:sp>
      <p:pic>
        <p:nvPicPr>
          <p:cNvPr id="33" name="Image 0" descr="IMG-01 · trang chủ candidate qua HTTP"/>
          <p:cNvPicPr>
            <a:picLocks noChangeAspect="1"/>
          </p:cNvPicPr>
          <p:nvPr/>
        </p:nvPicPr>
        <p:blipFill>
          <a:blip r:embed="rId3"/>
          <a:stretch>
            <a:fillRect/>
          </a:stretch>
        </p:blipFill>
        <p:spPr>
          <a:xfrm>
            <a:off x="5567191" y="2066544"/>
            <a:ext cx="5215089" cy="3621024"/>
          </a:xfrm>
          <a:prstGeom prst="rect">
            <a:avLst/>
          </a:prstGeom>
        </p:spPr>
      </p:pic>
      <p:sp>
        <p:nvSpPr>
          <p:cNvPr id="34" name="Text 30"/>
          <p:cNvSpPr txBox="1"/>
          <p:nvPr/>
        </p:nvSpPr>
        <p:spPr>
          <a:xfrm>
            <a:off x="4910328" y="5797296"/>
            <a:ext cx="6528816"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IMG-01 · trang chủ candidate qua HTTP</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600" b="1" dirty="0">
                <a:solidFill>
                  <a:srgbClr val="07182F"/>
                </a:solidFill>
                <a:latin typeface="Georgia" pitchFamily="34" charset="0"/>
                <a:ea typeface="Georgia" pitchFamily="34" charset="-122"/>
                <a:cs typeface="Georgia" pitchFamily="34" charset="-120"/>
              </a:rPr>
              <a:t>Từ nguồn chuẩn đến gói học ngoại tuyến</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05</a:t>
            </a:r>
            <a:endParaRPr lang="en-US" sz="1000" dirty="0"/>
          </a:p>
        </p:txBody>
      </p:sp>
      <p:sp>
        <p:nvSpPr>
          <p:cNvPr id="6" name="Shape 4"/>
          <p:cNvSpPr/>
          <p:nvPr/>
        </p:nvSpPr>
        <p:spPr>
          <a:xfrm>
            <a:off x="612648" y="1408176"/>
            <a:ext cx="10972800" cy="457200"/>
          </a:xfrm>
          <a:prstGeom prst="rect">
            <a:avLst/>
          </a:prstGeom>
          <a:solidFill>
            <a:srgbClr val="EEF2F7"/>
          </a:solidFill>
          <a:ln w="12700">
            <a:solidFill>
              <a:srgbClr val="D7DEE8"/>
            </a:solidFill>
            <a:prstDash val="solid"/>
          </a:ln>
        </p:spPr>
      </p:sp>
      <p:sp>
        <p:nvSpPr>
          <p:cNvPr id="7" name="Text 5"/>
          <p:cNvSpPr txBox="1"/>
          <p:nvPr/>
        </p:nvSpPr>
        <p:spPr>
          <a:xfrm>
            <a:off x="822960" y="1481328"/>
            <a:ext cx="10561320" cy="274320"/>
          </a:xfrm>
          <a:prstGeom prst="rect">
            <a:avLst/>
          </a:prstGeom>
          <a:noFill/>
          <a:ln/>
        </p:spPr>
        <p:txBody>
          <a:bodyPr wrap="square" lIns="0" tIns="0" rIns="0" bIns="0" rtlCol="0" anchor="ctr">
            <a:normAutofit/>
          </a:bodyPr>
          <a:lstStyle/>
          <a:p>
            <a:pPr marL="0" indent="0" algn="l">
              <a:buNone/>
            </a:pPr>
            <a:r>
              <a:rPr lang="en-US" sz="1650" b="1" dirty="0">
                <a:solidFill>
                  <a:srgbClr val="0D2447"/>
                </a:solidFill>
                <a:latin typeface="Arial" pitchFamily="34" charset="0"/>
                <a:ea typeface="Arial" pitchFamily="34" charset="-122"/>
                <a:cs typeface="Arial" pitchFamily="34" charset="-120"/>
              </a:rPr>
              <a:t>DOCX → chuyển đổi → QA → gói tĩnh → file:// hoặc HTTP.</a:t>
            </a:r>
            <a:endParaRPr lang="en-US" sz="165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README.md:3-13</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5</a:t>
            </a:r>
            <a:endParaRPr lang="en-US" sz="820" dirty="0"/>
          </a:p>
        </p:txBody>
      </p:sp>
      <p:sp>
        <p:nvSpPr>
          <p:cNvPr id="13" name="Shape 10"/>
          <p:cNvSpPr/>
          <p:nvPr/>
        </p:nvSpPr>
        <p:spPr>
          <a:xfrm>
            <a:off x="658368" y="2157984"/>
            <a:ext cx="1664208" cy="1024128"/>
          </a:xfrm>
          <a:prstGeom prst="roundRect">
            <a:avLst>
              <a:gd name="adj" fmla="val 3571"/>
            </a:avLst>
          </a:prstGeom>
          <a:solidFill>
            <a:srgbClr val="FFFFFF"/>
          </a:solidFill>
          <a:ln w="12700">
            <a:solidFill>
              <a:srgbClr val="15355F"/>
            </a:solidFill>
            <a:prstDash val="solid"/>
          </a:ln>
        </p:spPr>
      </p:sp>
      <p:sp>
        <p:nvSpPr>
          <p:cNvPr id="14" name="Text 11"/>
          <p:cNvSpPr txBox="1"/>
          <p:nvPr/>
        </p:nvSpPr>
        <p:spPr>
          <a:xfrm>
            <a:off x="749808" y="2423160"/>
            <a:ext cx="1481328" cy="411480"/>
          </a:xfrm>
          <a:prstGeom prst="rect">
            <a:avLst/>
          </a:prstGeom>
          <a:noFill/>
          <a:ln/>
        </p:spPr>
        <p:txBody>
          <a:bodyPr wrap="square" lIns="0" tIns="0" rIns="0" bIns="0" rtlCol="0" anchor="ctr">
            <a:normAutofit/>
          </a:bodyPr>
          <a:lstStyle/>
          <a:p>
            <a:pPr marL="0" indent="0" algn="ctr">
              <a:buNone/>
            </a:pPr>
            <a:r>
              <a:rPr lang="en-US" sz="1600" b="1" dirty="0">
                <a:solidFill>
                  <a:srgbClr val="07182F"/>
                </a:solidFill>
                <a:latin typeface="Arial" pitchFamily="34" charset="0"/>
                <a:ea typeface="Arial" pitchFamily="34" charset="-122"/>
                <a:cs typeface="Arial" pitchFamily="34" charset="-120"/>
              </a:rPr>
              <a:t>DOCX chuẩn</a:t>
            </a:r>
            <a:endParaRPr lang="en-US" sz="1600" dirty="0"/>
          </a:p>
        </p:txBody>
      </p:sp>
      <p:sp>
        <p:nvSpPr>
          <p:cNvPr id="15" name="Shape 12"/>
          <p:cNvSpPr/>
          <p:nvPr/>
        </p:nvSpPr>
        <p:spPr>
          <a:xfrm>
            <a:off x="2359152" y="2670048"/>
            <a:ext cx="457200" cy="0"/>
          </a:xfrm>
          <a:prstGeom prst="line">
            <a:avLst/>
          </a:prstGeom>
          <a:noFill/>
          <a:ln w="12700">
            <a:solidFill>
              <a:srgbClr val="C9963A"/>
            </a:solidFill>
            <a:prstDash val="solid"/>
          </a:ln>
        </p:spPr>
      </p:sp>
      <p:sp>
        <p:nvSpPr>
          <p:cNvPr id="16" name="Shape 13"/>
          <p:cNvSpPr/>
          <p:nvPr/>
        </p:nvSpPr>
        <p:spPr>
          <a:xfrm>
            <a:off x="2697480" y="2560320"/>
            <a:ext cx="164592" cy="219456"/>
          </a:xfrm>
          <a:prstGeom prst="chevron">
            <a:avLst/>
          </a:prstGeom>
          <a:solidFill>
            <a:srgbClr val="C9963A"/>
          </a:solidFill>
          <a:ln w="12700">
            <a:solidFill>
              <a:srgbClr val="C9963A"/>
            </a:solidFill>
            <a:prstDash val="solid"/>
          </a:ln>
        </p:spPr>
      </p:sp>
      <p:sp>
        <p:nvSpPr>
          <p:cNvPr id="17" name="Shape 14"/>
          <p:cNvSpPr/>
          <p:nvPr/>
        </p:nvSpPr>
        <p:spPr>
          <a:xfrm>
            <a:off x="2871216" y="2157984"/>
            <a:ext cx="1664208" cy="1024128"/>
          </a:xfrm>
          <a:prstGeom prst="roundRect">
            <a:avLst>
              <a:gd name="adj" fmla="val 3571"/>
            </a:avLst>
          </a:prstGeom>
          <a:solidFill>
            <a:srgbClr val="FFFFFF"/>
          </a:solidFill>
          <a:ln w="12700">
            <a:solidFill>
              <a:srgbClr val="15355F"/>
            </a:solidFill>
            <a:prstDash val="solid"/>
          </a:ln>
        </p:spPr>
      </p:sp>
      <p:sp>
        <p:nvSpPr>
          <p:cNvPr id="18" name="Text 15"/>
          <p:cNvSpPr txBox="1"/>
          <p:nvPr/>
        </p:nvSpPr>
        <p:spPr>
          <a:xfrm>
            <a:off x="2962656" y="2423160"/>
            <a:ext cx="1481328" cy="411480"/>
          </a:xfrm>
          <a:prstGeom prst="rect">
            <a:avLst/>
          </a:prstGeom>
          <a:noFill/>
          <a:ln/>
        </p:spPr>
        <p:txBody>
          <a:bodyPr wrap="square" lIns="0" tIns="0" rIns="0" bIns="0" rtlCol="0" anchor="ctr">
            <a:normAutofit/>
          </a:bodyPr>
          <a:lstStyle/>
          <a:p>
            <a:pPr marL="0" indent="0" algn="ctr">
              <a:buNone/>
            </a:pPr>
            <a:r>
              <a:rPr lang="en-US" sz="1600" b="1" dirty="0">
                <a:solidFill>
                  <a:srgbClr val="07182F"/>
                </a:solidFill>
                <a:latin typeface="Arial" pitchFamily="34" charset="0"/>
                <a:ea typeface="Arial" pitchFamily="34" charset="-122"/>
                <a:cs typeface="Arial" pitchFamily="34" charset="-120"/>
              </a:rPr>
              <a:t>Trang + dữ liệu</a:t>
            </a:r>
            <a:endParaRPr lang="en-US" sz="1600" dirty="0"/>
          </a:p>
        </p:txBody>
      </p:sp>
      <p:sp>
        <p:nvSpPr>
          <p:cNvPr id="19" name="Shape 16"/>
          <p:cNvSpPr/>
          <p:nvPr/>
        </p:nvSpPr>
        <p:spPr>
          <a:xfrm>
            <a:off x="4572000" y="2670048"/>
            <a:ext cx="457200" cy="0"/>
          </a:xfrm>
          <a:prstGeom prst="line">
            <a:avLst/>
          </a:prstGeom>
          <a:noFill/>
          <a:ln w="12700">
            <a:solidFill>
              <a:srgbClr val="C9963A"/>
            </a:solidFill>
            <a:prstDash val="solid"/>
          </a:ln>
        </p:spPr>
      </p:sp>
      <p:sp>
        <p:nvSpPr>
          <p:cNvPr id="20" name="Shape 17"/>
          <p:cNvSpPr/>
          <p:nvPr/>
        </p:nvSpPr>
        <p:spPr>
          <a:xfrm>
            <a:off x="4910328" y="2560320"/>
            <a:ext cx="164592" cy="219456"/>
          </a:xfrm>
          <a:prstGeom prst="chevron">
            <a:avLst/>
          </a:prstGeom>
          <a:solidFill>
            <a:srgbClr val="C9963A"/>
          </a:solidFill>
          <a:ln w="12700">
            <a:solidFill>
              <a:srgbClr val="C9963A"/>
            </a:solidFill>
            <a:prstDash val="solid"/>
          </a:ln>
        </p:spPr>
      </p:sp>
      <p:sp>
        <p:nvSpPr>
          <p:cNvPr id="21" name="Shape 18"/>
          <p:cNvSpPr/>
          <p:nvPr/>
        </p:nvSpPr>
        <p:spPr>
          <a:xfrm>
            <a:off x="5084064" y="2157984"/>
            <a:ext cx="1664208" cy="1024128"/>
          </a:xfrm>
          <a:prstGeom prst="roundRect">
            <a:avLst>
              <a:gd name="adj" fmla="val 3571"/>
            </a:avLst>
          </a:prstGeom>
          <a:solidFill>
            <a:srgbClr val="FFFFFF"/>
          </a:solidFill>
          <a:ln w="12700">
            <a:solidFill>
              <a:srgbClr val="15355F"/>
            </a:solidFill>
            <a:prstDash val="solid"/>
          </a:ln>
        </p:spPr>
      </p:sp>
      <p:sp>
        <p:nvSpPr>
          <p:cNvPr id="22" name="Text 19"/>
          <p:cNvSpPr txBox="1"/>
          <p:nvPr/>
        </p:nvSpPr>
        <p:spPr>
          <a:xfrm>
            <a:off x="5175504" y="2423160"/>
            <a:ext cx="1481328" cy="411480"/>
          </a:xfrm>
          <a:prstGeom prst="rect">
            <a:avLst/>
          </a:prstGeom>
          <a:noFill/>
          <a:ln/>
        </p:spPr>
        <p:txBody>
          <a:bodyPr wrap="square" lIns="0" tIns="0" rIns="0" bIns="0" rtlCol="0" anchor="ctr">
            <a:normAutofit/>
          </a:bodyPr>
          <a:lstStyle/>
          <a:p>
            <a:pPr marL="0" indent="0" algn="ctr">
              <a:buNone/>
            </a:pPr>
            <a:r>
              <a:rPr lang="en-US" sz="1600" b="1" dirty="0">
                <a:solidFill>
                  <a:srgbClr val="07182F"/>
                </a:solidFill>
                <a:latin typeface="Arial" pitchFamily="34" charset="0"/>
                <a:ea typeface="Arial" pitchFamily="34" charset="-122"/>
                <a:cs typeface="Arial" pitchFamily="34" charset="-120"/>
              </a:rPr>
              <a:t>QA + manifest</a:t>
            </a:r>
            <a:endParaRPr lang="en-US" sz="1600" dirty="0"/>
          </a:p>
        </p:txBody>
      </p:sp>
      <p:sp>
        <p:nvSpPr>
          <p:cNvPr id="23" name="Shape 20"/>
          <p:cNvSpPr/>
          <p:nvPr/>
        </p:nvSpPr>
        <p:spPr>
          <a:xfrm>
            <a:off x="6784848" y="2670048"/>
            <a:ext cx="457200" cy="0"/>
          </a:xfrm>
          <a:prstGeom prst="line">
            <a:avLst/>
          </a:prstGeom>
          <a:noFill/>
          <a:ln w="12700">
            <a:solidFill>
              <a:srgbClr val="C9963A"/>
            </a:solidFill>
            <a:prstDash val="solid"/>
          </a:ln>
        </p:spPr>
      </p:sp>
      <p:sp>
        <p:nvSpPr>
          <p:cNvPr id="24" name="Shape 21"/>
          <p:cNvSpPr/>
          <p:nvPr/>
        </p:nvSpPr>
        <p:spPr>
          <a:xfrm>
            <a:off x="7123176" y="2560320"/>
            <a:ext cx="164592" cy="219456"/>
          </a:xfrm>
          <a:prstGeom prst="chevron">
            <a:avLst/>
          </a:prstGeom>
          <a:solidFill>
            <a:srgbClr val="C9963A"/>
          </a:solidFill>
          <a:ln w="12700">
            <a:solidFill>
              <a:srgbClr val="C9963A"/>
            </a:solidFill>
            <a:prstDash val="solid"/>
          </a:ln>
        </p:spPr>
      </p:sp>
      <p:sp>
        <p:nvSpPr>
          <p:cNvPr id="25" name="Shape 22"/>
          <p:cNvSpPr/>
          <p:nvPr/>
        </p:nvSpPr>
        <p:spPr>
          <a:xfrm>
            <a:off x="7296912" y="2157984"/>
            <a:ext cx="1664208" cy="1024128"/>
          </a:xfrm>
          <a:prstGeom prst="roundRect">
            <a:avLst>
              <a:gd name="adj" fmla="val 3571"/>
            </a:avLst>
          </a:prstGeom>
          <a:solidFill>
            <a:srgbClr val="FFFFFF"/>
          </a:solidFill>
          <a:ln w="12700">
            <a:solidFill>
              <a:srgbClr val="15355F"/>
            </a:solidFill>
            <a:prstDash val="solid"/>
          </a:ln>
        </p:spPr>
      </p:sp>
      <p:sp>
        <p:nvSpPr>
          <p:cNvPr id="26" name="Text 23"/>
          <p:cNvSpPr txBox="1"/>
          <p:nvPr/>
        </p:nvSpPr>
        <p:spPr>
          <a:xfrm>
            <a:off x="7388352" y="2423160"/>
            <a:ext cx="1481328" cy="411480"/>
          </a:xfrm>
          <a:prstGeom prst="rect">
            <a:avLst/>
          </a:prstGeom>
          <a:noFill/>
          <a:ln/>
        </p:spPr>
        <p:txBody>
          <a:bodyPr wrap="square" lIns="0" tIns="0" rIns="0" bIns="0" rtlCol="0" anchor="ctr">
            <a:normAutofit/>
          </a:bodyPr>
          <a:lstStyle/>
          <a:p>
            <a:pPr marL="0" indent="0" algn="ctr">
              <a:buNone/>
            </a:pPr>
            <a:r>
              <a:rPr lang="en-US" sz="1600" b="1" dirty="0">
                <a:solidFill>
                  <a:srgbClr val="07182F"/>
                </a:solidFill>
                <a:latin typeface="Arial" pitchFamily="34" charset="0"/>
                <a:ea typeface="Arial" pitchFamily="34" charset="-122"/>
                <a:cs typeface="Arial" pitchFamily="34" charset="-120"/>
              </a:rPr>
              <a:t>Gói 372 tệp</a:t>
            </a:r>
            <a:endParaRPr lang="en-US" sz="1600" dirty="0"/>
          </a:p>
        </p:txBody>
      </p:sp>
      <p:sp>
        <p:nvSpPr>
          <p:cNvPr id="27" name="Shape 24"/>
          <p:cNvSpPr/>
          <p:nvPr/>
        </p:nvSpPr>
        <p:spPr>
          <a:xfrm>
            <a:off x="8997696" y="2670048"/>
            <a:ext cx="457200" cy="0"/>
          </a:xfrm>
          <a:prstGeom prst="line">
            <a:avLst/>
          </a:prstGeom>
          <a:noFill/>
          <a:ln w="12700">
            <a:solidFill>
              <a:srgbClr val="C9963A"/>
            </a:solidFill>
            <a:prstDash val="solid"/>
          </a:ln>
        </p:spPr>
      </p:sp>
      <p:sp>
        <p:nvSpPr>
          <p:cNvPr id="28" name="Shape 25"/>
          <p:cNvSpPr/>
          <p:nvPr/>
        </p:nvSpPr>
        <p:spPr>
          <a:xfrm>
            <a:off x="9336024" y="2560320"/>
            <a:ext cx="164592" cy="219456"/>
          </a:xfrm>
          <a:prstGeom prst="chevron">
            <a:avLst/>
          </a:prstGeom>
          <a:solidFill>
            <a:srgbClr val="C9963A"/>
          </a:solidFill>
          <a:ln w="12700">
            <a:solidFill>
              <a:srgbClr val="C9963A"/>
            </a:solidFill>
            <a:prstDash val="solid"/>
          </a:ln>
        </p:spPr>
      </p:sp>
      <p:sp>
        <p:nvSpPr>
          <p:cNvPr id="29" name="Shape 26"/>
          <p:cNvSpPr/>
          <p:nvPr/>
        </p:nvSpPr>
        <p:spPr>
          <a:xfrm>
            <a:off x="9509760" y="2157984"/>
            <a:ext cx="1664208" cy="1024128"/>
          </a:xfrm>
          <a:prstGeom prst="roundRect">
            <a:avLst>
              <a:gd name="adj" fmla="val 3571"/>
            </a:avLst>
          </a:prstGeom>
          <a:solidFill>
            <a:srgbClr val="07182F"/>
          </a:solidFill>
          <a:ln w="12700">
            <a:solidFill>
              <a:srgbClr val="07182F"/>
            </a:solidFill>
            <a:prstDash val="solid"/>
          </a:ln>
        </p:spPr>
      </p:sp>
      <p:sp>
        <p:nvSpPr>
          <p:cNvPr id="30" name="Text 27"/>
          <p:cNvSpPr txBox="1"/>
          <p:nvPr/>
        </p:nvSpPr>
        <p:spPr>
          <a:xfrm>
            <a:off x="9601200" y="2423160"/>
            <a:ext cx="1481328" cy="411480"/>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Arial" pitchFamily="34" charset="0"/>
                <a:ea typeface="Arial" pitchFamily="34" charset="-122"/>
                <a:cs typeface="Arial" pitchFamily="34" charset="-120"/>
              </a:rPr>
              <a:t>file:// · HTTP</a:t>
            </a:r>
            <a:endParaRPr lang="en-US" sz="1600" dirty="0"/>
          </a:p>
        </p:txBody>
      </p:sp>
      <p:sp>
        <p:nvSpPr>
          <p:cNvPr id="31" name="Shape 28"/>
          <p:cNvSpPr/>
          <p:nvPr/>
        </p:nvSpPr>
        <p:spPr>
          <a:xfrm>
            <a:off x="914400" y="4114800"/>
            <a:ext cx="91440" cy="91440"/>
          </a:xfrm>
          <a:prstGeom prst="ellipse">
            <a:avLst/>
          </a:prstGeom>
          <a:solidFill>
            <a:srgbClr val="C9963A"/>
          </a:solidFill>
          <a:ln w="12700">
            <a:solidFill>
              <a:srgbClr val="C9963A"/>
            </a:solidFill>
            <a:prstDash val="solid"/>
          </a:ln>
        </p:spPr>
      </p:sp>
      <p:sp>
        <p:nvSpPr>
          <p:cNvPr id="32" name="Text 29"/>
          <p:cNvSpPr txBox="1"/>
          <p:nvPr/>
        </p:nvSpPr>
        <p:spPr>
          <a:xfrm>
            <a:off x="1133856" y="4005072"/>
            <a:ext cx="10387584" cy="420624"/>
          </a:xfrm>
          <a:prstGeom prst="rect">
            <a:avLst/>
          </a:prstGeom>
          <a:noFill/>
          <a:ln/>
        </p:spPr>
        <p:txBody>
          <a:bodyPr wrap="square" lIns="0" tIns="0" rIns="0" bIns="0" rtlCol="0" anchor="ctr">
            <a:normAutofit/>
          </a:bodyPr>
          <a:lstStyle/>
          <a:p>
            <a:pPr marL="0" indent="0" algn="l">
              <a:buNone/>
            </a:pPr>
            <a:r>
              <a:rPr lang="en-US" sz="1700" dirty="0">
                <a:solidFill>
                  <a:srgbClr val="243247"/>
                </a:solidFill>
                <a:latin typeface="Arial" pitchFamily="34" charset="0"/>
                <a:ea typeface="Arial" pitchFamily="34" charset="-122"/>
                <a:cs typeface="Arial" pitchFamily="34" charset="-120"/>
              </a:rPr>
              <a:t>Không cần backend, Node hoặc Python trên máy học viên</a:t>
            </a:r>
            <a:endParaRPr lang="en-US" sz="1700" dirty="0"/>
          </a:p>
        </p:txBody>
      </p:sp>
      <p:sp>
        <p:nvSpPr>
          <p:cNvPr id="33" name="Shape 30"/>
          <p:cNvSpPr/>
          <p:nvPr/>
        </p:nvSpPr>
        <p:spPr>
          <a:xfrm>
            <a:off x="914400" y="4736592"/>
            <a:ext cx="91440" cy="91440"/>
          </a:xfrm>
          <a:prstGeom prst="ellipse">
            <a:avLst/>
          </a:prstGeom>
          <a:solidFill>
            <a:srgbClr val="C9963A"/>
          </a:solidFill>
          <a:ln w="12700">
            <a:solidFill>
              <a:srgbClr val="C9963A"/>
            </a:solidFill>
            <a:prstDash val="solid"/>
          </a:ln>
        </p:spPr>
      </p:sp>
      <p:sp>
        <p:nvSpPr>
          <p:cNvPr id="34" name="Text 31"/>
          <p:cNvSpPr txBox="1"/>
          <p:nvPr/>
        </p:nvSpPr>
        <p:spPr>
          <a:xfrm>
            <a:off x="1133856" y="4626864"/>
            <a:ext cx="10387584" cy="420624"/>
          </a:xfrm>
          <a:prstGeom prst="rect">
            <a:avLst/>
          </a:prstGeom>
          <a:noFill/>
          <a:ln/>
        </p:spPr>
        <p:txBody>
          <a:bodyPr wrap="square" lIns="0" tIns="0" rIns="0" bIns="0" rtlCol="0" anchor="ctr">
            <a:normAutofit/>
          </a:bodyPr>
          <a:lstStyle/>
          <a:p>
            <a:pPr marL="0" indent="0" algn="l">
              <a:buNone/>
            </a:pPr>
            <a:r>
              <a:rPr lang="en-US" sz="1700" dirty="0">
                <a:solidFill>
                  <a:srgbClr val="243247"/>
                </a:solidFill>
                <a:latin typeface="Arial" pitchFamily="34" charset="0"/>
                <a:ea typeface="Arial" pitchFamily="34" charset="-122"/>
                <a:cs typeface="Arial" pitchFamily="34" charset="-120"/>
              </a:rPr>
              <a:t>KaTeX, PDF.js và Three.js được đóng gói cục bộ</a:t>
            </a:r>
            <a:endParaRPr lang="en-US" sz="1700" dirty="0"/>
          </a:p>
        </p:txBody>
      </p:sp>
      <p:sp>
        <p:nvSpPr>
          <p:cNvPr id="35" name="Shape 32"/>
          <p:cNvSpPr/>
          <p:nvPr/>
        </p:nvSpPr>
        <p:spPr>
          <a:xfrm>
            <a:off x="914400" y="5358384"/>
            <a:ext cx="91440" cy="91440"/>
          </a:xfrm>
          <a:prstGeom prst="ellipse">
            <a:avLst/>
          </a:prstGeom>
          <a:solidFill>
            <a:srgbClr val="C9963A"/>
          </a:solidFill>
          <a:ln w="12700">
            <a:solidFill>
              <a:srgbClr val="C9963A"/>
            </a:solidFill>
            <a:prstDash val="solid"/>
          </a:ln>
        </p:spPr>
      </p:sp>
      <p:sp>
        <p:nvSpPr>
          <p:cNvPr id="36" name="Text 33"/>
          <p:cNvSpPr txBox="1"/>
          <p:nvPr/>
        </p:nvSpPr>
        <p:spPr>
          <a:xfrm>
            <a:off x="1133856" y="5248656"/>
            <a:ext cx="10387584" cy="420624"/>
          </a:xfrm>
          <a:prstGeom prst="rect">
            <a:avLst/>
          </a:prstGeom>
          <a:noFill/>
          <a:ln/>
        </p:spPr>
        <p:txBody>
          <a:bodyPr wrap="square" lIns="0" tIns="0" rIns="0" bIns="0" rtlCol="0" anchor="ctr">
            <a:normAutofit/>
          </a:bodyPr>
          <a:lstStyle/>
          <a:p>
            <a:pPr marL="0" indent="0" algn="l">
              <a:buNone/>
            </a:pPr>
            <a:r>
              <a:rPr lang="en-US" sz="1700" dirty="0">
                <a:solidFill>
                  <a:srgbClr val="243247"/>
                </a:solidFill>
                <a:latin typeface="Arial" pitchFamily="34" charset="0"/>
                <a:ea typeface="Arial" pitchFamily="34" charset="-122"/>
                <a:cs typeface="Arial" pitchFamily="34" charset="-120"/>
              </a:rPr>
              <a:t>Tiến độ, dấu trang và ghi chú lưu trên cùng thiết bị</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600" b="1" dirty="0">
                <a:solidFill>
                  <a:srgbClr val="07182F"/>
                </a:solidFill>
                <a:latin typeface="Georgia" pitchFamily="34" charset="0"/>
                <a:ea typeface="Georgia" pitchFamily="34" charset="-122"/>
                <a:cs typeface="Georgia" pitchFamily="34" charset="-120"/>
              </a:rPr>
              <a:t>Một bài học đặt lý thuyết và hình cùng ngữ cảnh</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06</a:t>
            </a:r>
            <a:endParaRPr lang="en-US" sz="1000" dirty="0"/>
          </a:p>
        </p:txBody>
      </p:sp>
      <p:sp>
        <p:nvSpPr>
          <p:cNvPr id="6" name="Shape 4"/>
          <p:cNvSpPr/>
          <p:nvPr/>
        </p:nvSpPr>
        <p:spPr>
          <a:xfrm>
            <a:off x="612648" y="1408176"/>
            <a:ext cx="10972800" cy="457200"/>
          </a:xfrm>
          <a:prstGeom prst="rect">
            <a:avLst/>
          </a:prstGeom>
          <a:solidFill>
            <a:srgbClr val="EEF2F7"/>
          </a:solidFill>
          <a:ln w="12700">
            <a:solidFill>
              <a:srgbClr val="D7DEE8"/>
            </a:solidFill>
            <a:prstDash val="solid"/>
          </a:ln>
        </p:spPr>
      </p:sp>
      <p:sp>
        <p:nvSpPr>
          <p:cNvPr id="7" name="Text 5"/>
          <p:cNvSpPr txBox="1"/>
          <p:nvPr/>
        </p:nvSpPr>
        <p:spPr>
          <a:xfrm>
            <a:off x="822960" y="1481328"/>
            <a:ext cx="10561320" cy="274320"/>
          </a:xfrm>
          <a:prstGeom prst="rect">
            <a:avLst/>
          </a:prstGeom>
          <a:noFill/>
          <a:ln/>
        </p:spPr>
        <p:txBody>
          <a:bodyPr wrap="square" lIns="0" tIns="0" rIns="0" bIns="0" rtlCol="0" anchor="ctr">
            <a:normAutofit/>
          </a:bodyPr>
          <a:lstStyle/>
          <a:p>
            <a:pPr marL="0" indent="0" algn="l">
              <a:buNone/>
            </a:pPr>
            <a:r>
              <a:rPr lang="en-US" sz="1650" b="1" dirty="0">
                <a:solidFill>
                  <a:srgbClr val="0D2447"/>
                </a:solidFill>
                <a:latin typeface="Arial" pitchFamily="34" charset="0"/>
                <a:ea typeface="Arial" pitchFamily="34" charset="-122"/>
                <a:cs typeface="Arial" pitchFamily="34" charset="-120"/>
              </a:rPr>
              <a:t>127 hình · 1 302 lần công thức · phản hồi và mô phỏng tại đúng vị trí học.</a:t>
            </a:r>
            <a:endParaRPr lang="en-US" sz="165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data/content-manifest.json</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6</a:t>
            </a:r>
            <a:endParaRPr lang="en-US" sz="820" dirty="0"/>
          </a:p>
        </p:txBody>
      </p:sp>
      <p:sp>
        <p:nvSpPr>
          <p:cNvPr id="13" name="Shape 10"/>
          <p:cNvSpPr/>
          <p:nvPr/>
        </p:nvSpPr>
        <p:spPr>
          <a:xfrm>
            <a:off x="658368" y="1975104"/>
            <a:ext cx="6903720" cy="4005072"/>
          </a:xfrm>
          <a:prstGeom prst="roundRect">
            <a:avLst>
              <a:gd name="adj" fmla="val 913"/>
            </a:avLst>
          </a:prstGeom>
          <a:solidFill>
            <a:srgbClr val="FFFFFF"/>
          </a:solidFill>
          <a:ln w="12700">
            <a:solidFill>
              <a:srgbClr val="0D2447"/>
            </a:solidFill>
            <a:prstDash val="solid"/>
          </a:ln>
        </p:spPr>
      </p:sp>
      <p:pic>
        <p:nvPicPr>
          <p:cNvPr id="14" name="Image 0" descr="IMG-03 · học liệu Chương 1"/>
          <p:cNvPicPr>
            <a:picLocks noChangeAspect="1"/>
          </p:cNvPicPr>
          <p:nvPr/>
        </p:nvPicPr>
        <p:blipFill>
          <a:blip r:embed="rId3"/>
          <a:stretch>
            <a:fillRect/>
          </a:stretch>
        </p:blipFill>
        <p:spPr>
          <a:xfrm>
            <a:off x="1515853" y="2048256"/>
            <a:ext cx="5188751" cy="3602736"/>
          </a:xfrm>
          <a:prstGeom prst="rect">
            <a:avLst/>
          </a:prstGeom>
        </p:spPr>
      </p:pic>
      <p:sp>
        <p:nvSpPr>
          <p:cNvPr id="15" name="Text 11"/>
          <p:cNvSpPr txBox="1"/>
          <p:nvPr/>
        </p:nvSpPr>
        <p:spPr>
          <a:xfrm>
            <a:off x="768096" y="5760720"/>
            <a:ext cx="6684264"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IMG-03 · học liệu Chương 1</a:t>
            </a:r>
            <a:endParaRPr lang="en-US" sz="850" dirty="0"/>
          </a:p>
        </p:txBody>
      </p:sp>
      <p:sp>
        <p:nvSpPr>
          <p:cNvPr id="16" name="Shape 12"/>
          <p:cNvSpPr/>
          <p:nvPr/>
        </p:nvSpPr>
        <p:spPr>
          <a:xfrm>
            <a:off x="7772400" y="1975104"/>
            <a:ext cx="3767328" cy="4005072"/>
          </a:xfrm>
          <a:prstGeom prst="roundRect">
            <a:avLst>
              <a:gd name="adj" fmla="val 971"/>
            </a:avLst>
          </a:prstGeom>
          <a:solidFill>
            <a:srgbClr val="FFFFFF"/>
          </a:solidFill>
          <a:ln w="12700">
            <a:solidFill>
              <a:srgbClr val="D7DEE8"/>
            </a:solidFill>
            <a:prstDash val="solid"/>
          </a:ln>
        </p:spPr>
      </p:sp>
      <p:sp>
        <p:nvSpPr>
          <p:cNvPr id="17" name="Text 13"/>
          <p:cNvSpPr txBox="1"/>
          <p:nvPr/>
        </p:nvSpPr>
        <p:spPr>
          <a:xfrm>
            <a:off x="8065008" y="2267712"/>
            <a:ext cx="3182112" cy="329184"/>
          </a:xfrm>
          <a:prstGeom prst="rect">
            <a:avLst/>
          </a:prstGeom>
          <a:noFill/>
          <a:ln/>
        </p:spPr>
        <p:txBody>
          <a:bodyPr wrap="square" lIns="0" tIns="0" rIns="0" bIns="0" rtlCol="0" anchor="t">
            <a:normAutofit/>
          </a:bodyPr>
          <a:lstStyle/>
          <a:p>
            <a:pPr marL="0" indent="0" algn="l">
              <a:buNone/>
            </a:pPr>
            <a:r>
              <a:rPr lang="en-US" sz="2100" b="1" dirty="0">
                <a:solidFill>
                  <a:srgbClr val="07182F"/>
                </a:solidFill>
                <a:latin typeface="Georgia" pitchFamily="34" charset="0"/>
                <a:ea typeface="Georgia" pitchFamily="34" charset="-122"/>
                <a:cs typeface="Georgia" pitchFamily="34" charset="-120"/>
              </a:rPr>
              <a:t>Bằng chứng quan sát</a:t>
            </a:r>
            <a:endParaRPr lang="en-US" sz="2100" dirty="0"/>
          </a:p>
        </p:txBody>
      </p:sp>
      <p:sp>
        <p:nvSpPr>
          <p:cNvPr id="18" name="Shape 14"/>
          <p:cNvSpPr/>
          <p:nvPr/>
        </p:nvSpPr>
        <p:spPr>
          <a:xfrm>
            <a:off x="8065008" y="2926080"/>
            <a:ext cx="91440" cy="91440"/>
          </a:xfrm>
          <a:prstGeom prst="ellipse">
            <a:avLst/>
          </a:prstGeom>
          <a:solidFill>
            <a:srgbClr val="C9963A"/>
          </a:solidFill>
          <a:ln w="12700">
            <a:solidFill>
              <a:srgbClr val="C9963A"/>
            </a:solidFill>
            <a:prstDash val="solid"/>
          </a:ln>
        </p:spPr>
      </p:sp>
      <p:sp>
        <p:nvSpPr>
          <p:cNvPr id="19" name="Text 15"/>
          <p:cNvSpPr txBox="1"/>
          <p:nvPr/>
        </p:nvSpPr>
        <p:spPr>
          <a:xfrm>
            <a:off x="8284464" y="2816352"/>
            <a:ext cx="2907792" cy="420624"/>
          </a:xfrm>
          <a:prstGeom prst="rect">
            <a:avLst/>
          </a:prstGeom>
          <a:noFill/>
          <a:ln/>
        </p:spPr>
        <p:txBody>
          <a:bodyPr wrap="square" lIns="0" tIns="0" rIns="0" bIns="0" rtlCol="0" anchor="ctr">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Hình và công thức vector đặt cạnh phần giải thích</a:t>
            </a:r>
            <a:endParaRPr lang="en-US" sz="1550" dirty="0"/>
          </a:p>
        </p:txBody>
      </p:sp>
      <p:sp>
        <p:nvSpPr>
          <p:cNvPr id="20" name="Shape 16"/>
          <p:cNvSpPr/>
          <p:nvPr/>
        </p:nvSpPr>
        <p:spPr>
          <a:xfrm>
            <a:off x="8065008" y="3584448"/>
            <a:ext cx="91440" cy="91440"/>
          </a:xfrm>
          <a:prstGeom prst="ellipse">
            <a:avLst/>
          </a:prstGeom>
          <a:solidFill>
            <a:srgbClr val="C9963A"/>
          </a:solidFill>
          <a:ln w="12700">
            <a:solidFill>
              <a:srgbClr val="C9963A"/>
            </a:solidFill>
            <a:prstDash val="solid"/>
          </a:ln>
        </p:spPr>
      </p:sp>
      <p:sp>
        <p:nvSpPr>
          <p:cNvPr id="21" name="Text 17"/>
          <p:cNvSpPr txBox="1"/>
          <p:nvPr/>
        </p:nvSpPr>
        <p:spPr>
          <a:xfrm>
            <a:off x="8284464" y="3474720"/>
            <a:ext cx="2907792" cy="420624"/>
          </a:xfrm>
          <a:prstGeom prst="rect">
            <a:avLst/>
          </a:prstGeom>
          <a:noFill/>
          <a:ln/>
        </p:spPr>
        <p:txBody>
          <a:bodyPr wrap="square" lIns="0" tIns="0" rIns="0" bIns="0" rtlCol="0" anchor="ctr">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KaTeX/MathML giữ ký hiệu sắc nét khi phóng to</a:t>
            </a:r>
            <a:endParaRPr lang="en-US" sz="1550" dirty="0"/>
          </a:p>
        </p:txBody>
      </p:sp>
      <p:sp>
        <p:nvSpPr>
          <p:cNvPr id="22" name="Shape 18"/>
          <p:cNvSpPr/>
          <p:nvPr/>
        </p:nvSpPr>
        <p:spPr>
          <a:xfrm>
            <a:off x="8065008" y="4242816"/>
            <a:ext cx="91440" cy="91440"/>
          </a:xfrm>
          <a:prstGeom prst="ellipse">
            <a:avLst/>
          </a:prstGeom>
          <a:solidFill>
            <a:srgbClr val="C9963A"/>
          </a:solidFill>
          <a:ln w="12700">
            <a:solidFill>
              <a:srgbClr val="C9963A"/>
            </a:solidFill>
            <a:prstDash val="solid"/>
          </a:ln>
        </p:spPr>
      </p:sp>
      <p:sp>
        <p:nvSpPr>
          <p:cNvPr id="23" name="Text 19"/>
          <p:cNvSpPr txBox="1"/>
          <p:nvPr/>
        </p:nvSpPr>
        <p:spPr>
          <a:xfrm>
            <a:off x="8284464" y="4133088"/>
            <a:ext cx="2907792" cy="420624"/>
          </a:xfrm>
          <a:prstGeom prst="rect">
            <a:avLst/>
          </a:prstGeom>
          <a:noFill/>
          <a:ln/>
        </p:spPr>
        <p:txBody>
          <a:bodyPr wrap="square" lIns="0" tIns="0" rIns="0" bIns="0" rtlCol="0" anchor="ctr">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Câu hỏi trả phản hồi ngay sau lựa chọn</a:t>
            </a:r>
            <a:endParaRPr lang="en-US" sz="1550" dirty="0"/>
          </a:p>
        </p:txBody>
      </p:sp>
      <p:sp>
        <p:nvSpPr>
          <p:cNvPr id="24" name="Shape 20"/>
          <p:cNvSpPr/>
          <p:nvPr/>
        </p:nvSpPr>
        <p:spPr>
          <a:xfrm>
            <a:off x="8065008" y="4901184"/>
            <a:ext cx="91440" cy="91440"/>
          </a:xfrm>
          <a:prstGeom prst="ellipse">
            <a:avLst/>
          </a:prstGeom>
          <a:solidFill>
            <a:srgbClr val="C9963A"/>
          </a:solidFill>
          <a:ln w="12700">
            <a:solidFill>
              <a:srgbClr val="C9963A"/>
            </a:solidFill>
            <a:prstDash val="solid"/>
          </a:ln>
        </p:spPr>
      </p:sp>
      <p:sp>
        <p:nvSpPr>
          <p:cNvPr id="25" name="Text 21"/>
          <p:cNvSpPr txBox="1"/>
          <p:nvPr/>
        </p:nvSpPr>
        <p:spPr>
          <a:xfrm>
            <a:off x="8284464" y="4791456"/>
            <a:ext cx="2907792" cy="420624"/>
          </a:xfrm>
          <a:prstGeom prst="rect">
            <a:avLst/>
          </a:prstGeom>
          <a:noFill/>
          <a:ln/>
        </p:spPr>
        <p:txBody>
          <a:bodyPr wrap="square" lIns="0" tIns="0" rIns="0" bIns="0" rtlCol="0" anchor="ctr">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Nguồn và giới hạn thẩm định được công bố</a:t>
            </a:r>
            <a:endParaRPr lang="en-US" sz="1550" dirty="0"/>
          </a:p>
        </p:txBody>
      </p:sp>
      <p:sp>
        <p:nvSpPr>
          <p:cNvPr id="26" name="Text 22"/>
          <p:cNvSpPr txBox="1"/>
          <p:nvPr/>
        </p:nvSpPr>
        <p:spPr>
          <a:xfrm>
            <a:off x="8065008" y="5321808"/>
            <a:ext cx="3127248" cy="402336"/>
          </a:xfrm>
          <a:prstGeom prst="rect">
            <a:avLst/>
          </a:prstGeom>
          <a:noFill/>
          <a:ln/>
        </p:spPr>
        <p:txBody>
          <a:bodyPr wrap="square" lIns="0" tIns="0" rIns="0" bIns="0" rtlCol="0" anchor="t">
            <a:normAutofit/>
          </a:bodyPr>
          <a:lstStyle/>
          <a:p>
            <a:pPr marL="0" indent="0" algn="ctr">
              <a:buNone/>
            </a:pPr>
            <a:r>
              <a:rPr lang="en-US" sz="1350" i="1" dirty="0">
                <a:solidFill>
                  <a:srgbClr val="9A5B00"/>
                </a:solidFill>
                <a:latin typeface="Arial" pitchFamily="34" charset="0"/>
                <a:ea typeface="Arial" pitchFamily="34" charset="-122"/>
                <a:cs typeface="Arial" pitchFamily="34" charset="-120"/>
              </a:rPr>
              <a:t>Không suy rộng một ảnh đại diện thành thẩm định toàn bộ ba chương.</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600" b="1" dirty="0">
                <a:solidFill>
                  <a:srgbClr val="07182F"/>
                </a:solidFill>
                <a:latin typeface="Georgia" pitchFamily="34" charset="0"/>
                <a:ea typeface="Georgia" pitchFamily="34" charset="-122"/>
                <a:cs typeface="Georgia" pitchFamily="34" charset="-120"/>
              </a:rPr>
              <a:t>Ví dụ cơ học: mô men và cánh tay đòn</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07</a:t>
            </a:r>
            <a:endParaRPr lang="en-US" sz="1000" dirty="0"/>
          </a:p>
        </p:txBody>
      </p:sp>
      <p:sp>
        <p:nvSpPr>
          <p:cNvPr id="6" name="Shape 4"/>
          <p:cNvSpPr/>
          <p:nvPr/>
        </p:nvSpPr>
        <p:spPr>
          <a:xfrm>
            <a:off x="612648" y="1408176"/>
            <a:ext cx="10972800" cy="457200"/>
          </a:xfrm>
          <a:prstGeom prst="rect">
            <a:avLst/>
          </a:prstGeom>
          <a:solidFill>
            <a:srgbClr val="EEF2F7"/>
          </a:solidFill>
          <a:ln w="12700">
            <a:solidFill>
              <a:srgbClr val="D7DEE8"/>
            </a:solidFill>
            <a:prstDash val="solid"/>
          </a:ln>
        </p:spPr>
      </p:sp>
      <p:sp>
        <p:nvSpPr>
          <p:cNvPr id="7" name="Text 5"/>
          <p:cNvSpPr txBox="1"/>
          <p:nvPr/>
        </p:nvSpPr>
        <p:spPr>
          <a:xfrm>
            <a:off x="822960" y="1481328"/>
            <a:ext cx="10561320" cy="274320"/>
          </a:xfrm>
          <a:prstGeom prst="rect">
            <a:avLst/>
          </a:prstGeom>
          <a:noFill/>
          <a:ln/>
        </p:spPr>
        <p:txBody>
          <a:bodyPr wrap="square" lIns="0" tIns="0" rIns="0" bIns="0" rtlCol="0" anchor="ctr">
            <a:normAutofit/>
          </a:bodyPr>
          <a:lstStyle/>
          <a:p>
            <a:pPr marL="0" indent="0" algn="l">
              <a:buNone/>
            </a:pPr>
            <a:r>
              <a:rPr lang="en-US" sz="1650" b="1" dirty="0">
                <a:solidFill>
                  <a:srgbClr val="0D2447"/>
                </a:solidFill>
                <a:latin typeface="Arial" pitchFamily="34" charset="0"/>
                <a:ea typeface="Arial" pitchFamily="34" charset="-122"/>
                <a:cs typeface="Arial" pitchFamily="34" charset="-120"/>
              </a:rPr>
              <a:t>F = 50 N · d = 4,00 m → M = F·d = 200 N·m.</a:t>
            </a:r>
            <a:endParaRPr lang="en-US" sz="165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assets/designs/bao-cao-nghiem-thu-giao-trinh-dien-tu/assets/img-04-mo-men-ch1-1-4-1440x1000.png</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7</a:t>
            </a:r>
            <a:endParaRPr lang="en-US" sz="820" dirty="0"/>
          </a:p>
        </p:txBody>
      </p:sp>
      <p:sp>
        <p:nvSpPr>
          <p:cNvPr id="13" name="Shape 10"/>
          <p:cNvSpPr/>
          <p:nvPr/>
        </p:nvSpPr>
        <p:spPr>
          <a:xfrm>
            <a:off x="658368" y="1975104"/>
            <a:ext cx="6839712" cy="4023360"/>
          </a:xfrm>
          <a:prstGeom prst="roundRect">
            <a:avLst>
              <a:gd name="adj" fmla="val 909"/>
            </a:avLst>
          </a:prstGeom>
          <a:solidFill>
            <a:srgbClr val="FFFFFF"/>
          </a:solidFill>
          <a:ln w="12700">
            <a:solidFill>
              <a:srgbClr val="0D2447"/>
            </a:solidFill>
            <a:prstDash val="solid"/>
          </a:ln>
        </p:spPr>
      </p:sp>
      <p:pic>
        <p:nvPicPr>
          <p:cNvPr id="14" name="Image 0" descr="IMG-04 · route ch1-1-4 · F = 50 N; d = 4,00 m"/>
          <p:cNvPicPr>
            <a:picLocks noChangeAspect="1"/>
          </p:cNvPicPr>
          <p:nvPr/>
        </p:nvPicPr>
        <p:blipFill>
          <a:blip r:embed="rId3"/>
          <a:stretch>
            <a:fillRect/>
          </a:stretch>
        </p:blipFill>
        <p:spPr>
          <a:xfrm>
            <a:off x="1470679" y="2048256"/>
            <a:ext cx="5215089" cy="3621024"/>
          </a:xfrm>
          <a:prstGeom prst="rect">
            <a:avLst/>
          </a:prstGeom>
        </p:spPr>
      </p:pic>
      <p:sp>
        <p:nvSpPr>
          <p:cNvPr id="15" name="Text 11"/>
          <p:cNvSpPr txBox="1"/>
          <p:nvPr/>
        </p:nvSpPr>
        <p:spPr>
          <a:xfrm>
            <a:off x="768096" y="5779008"/>
            <a:ext cx="6620256"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IMG-04 · route ch1-1-4 · F = 50 N; d = 4,00 m</a:t>
            </a:r>
            <a:endParaRPr lang="en-US" sz="850" dirty="0"/>
          </a:p>
        </p:txBody>
      </p:sp>
      <p:sp>
        <p:nvSpPr>
          <p:cNvPr id="16" name="Shape 12"/>
          <p:cNvSpPr/>
          <p:nvPr/>
        </p:nvSpPr>
        <p:spPr>
          <a:xfrm>
            <a:off x="7735824" y="1975104"/>
            <a:ext cx="3803904" cy="932688"/>
          </a:xfrm>
          <a:prstGeom prst="roundRect">
            <a:avLst>
              <a:gd name="adj" fmla="val 3922"/>
            </a:avLst>
          </a:prstGeom>
          <a:solidFill>
            <a:srgbClr val="07182F"/>
          </a:solidFill>
          <a:ln w="12700">
            <a:solidFill>
              <a:srgbClr val="07182F"/>
            </a:solidFill>
            <a:prstDash val="solid"/>
          </a:ln>
        </p:spPr>
      </p:sp>
      <p:sp>
        <p:nvSpPr>
          <p:cNvPr id="17" name="Text 13"/>
          <p:cNvSpPr txBox="1"/>
          <p:nvPr/>
        </p:nvSpPr>
        <p:spPr>
          <a:xfrm>
            <a:off x="7973568" y="2157984"/>
            <a:ext cx="3328416" cy="438912"/>
          </a:xfrm>
          <a:prstGeom prst="rect">
            <a:avLst/>
          </a:prstGeom>
          <a:noFill/>
          <a:ln/>
        </p:spPr>
        <p:txBody>
          <a:bodyPr wrap="square" lIns="0" tIns="0" rIns="0" bIns="0" rtlCol="0" anchor="t">
            <a:normAutofit/>
          </a:bodyPr>
          <a:lstStyle/>
          <a:p>
            <a:pPr marL="0" indent="0" algn="ctr">
              <a:buNone/>
            </a:pPr>
            <a:r>
              <a:rPr lang="en-US" sz="3200" b="1" dirty="0">
                <a:solidFill>
                  <a:srgbClr val="FFFFFF"/>
                </a:solidFill>
                <a:latin typeface="Georgia" pitchFamily="34" charset="0"/>
                <a:ea typeface="Georgia" pitchFamily="34" charset="-122"/>
                <a:cs typeface="Georgia" pitchFamily="34" charset="-120"/>
              </a:rPr>
              <a:t>M = F · d</a:t>
            </a:r>
            <a:endParaRPr lang="en-US" sz="3200" dirty="0"/>
          </a:p>
        </p:txBody>
      </p:sp>
      <p:sp>
        <p:nvSpPr>
          <p:cNvPr id="18" name="Text 14"/>
          <p:cNvSpPr txBox="1"/>
          <p:nvPr/>
        </p:nvSpPr>
        <p:spPr>
          <a:xfrm>
            <a:off x="7845552" y="3163824"/>
            <a:ext cx="914400" cy="256032"/>
          </a:xfrm>
          <a:prstGeom prst="rect">
            <a:avLst/>
          </a:prstGeom>
          <a:noFill/>
          <a:ln/>
        </p:spPr>
        <p:txBody>
          <a:bodyPr wrap="square" lIns="0" tIns="0" rIns="0" bIns="0" rtlCol="0" anchor="t">
            <a:normAutofit/>
          </a:bodyPr>
          <a:lstStyle/>
          <a:p>
            <a:pPr marL="0" indent="0" algn="l">
              <a:buNone/>
            </a:pPr>
            <a:r>
              <a:rPr lang="en-US" sz="1450" b="1" dirty="0">
                <a:solidFill>
                  <a:srgbClr val="C9963A"/>
                </a:solidFill>
                <a:latin typeface="Arial" pitchFamily="34" charset="0"/>
                <a:ea typeface="Arial" pitchFamily="34" charset="-122"/>
                <a:cs typeface="Arial" pitchFamily="34" charset="-120"/>
              </a:rPr>
              <a:t>Đầu vào</a:t>
            </a:r>
            <a:endParaRPr lang="en-US" sz="1450" dirty="0"/>
          </a:p>
        </p:txBody>
      </p:sp>
      <p:sp>
        <p:nvSpPr>
          <p:cNvPr id="19" name="Text 15"/>
          <p:cNvSpPr txBox="1"/>
          <p:nvPr/>
        </p:nvSpPr>
        <p:spPr>
          <a:xfrm>
            <a:off x="8823960" y="3090672"/>
            <a:ext cx="2542032" cy="420624"/>
          </a:xfrm>
          <a:prstGeom prst="rect">
            <a:avLst/>
          </a:prstGeom>
          <a:noFill/>
          <a:ln/>
        </p:spPr>
        <p:txBody>
          <a:bodyPr wrap="square" lIns="0" tIns="0" rIns="0" bIns="0" rtlCol="0" anchor="ctr">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F = 50 N; kéo điểm đặt lực để đổi d</a:t>
            </a:r>
            <a:endParaRPr lang="en-US" sz="1550" dirty="0"/>
          </a:p>
        </p:txBody>
      </p:sp>
      <p:sp>
        <p:nvSpPr>
          <p:cNvPr id="20" name="Text 16"/>
          <p:cNvSpPr txBox="1"/>
          <p:nvPr/>
        </p:nvSpPr>
        <p:spPr>
          <a:xfrm>
            <a:off x="7845552" y="3858768"/>
            <a:ext cx="914400" cy="256032"/>
          </a:xfrm>
          <a:prstGeom prst="rect">
            <a:avLst/>
          </a:prstGeom>
          <a:noFill/>
          <a:ln/>
        </p:spPr>
        <p:txBody>
          <a:bodyPr wrap="square" lIns="0" tIns="0" rIns="0" bIns="0" rtlCol="0" anchor="t">
            <a:normAutofit/>
          </a:bodyPr>
          <a:lstStyle/>
          <a:p>
            <a:pPr marL="0" indent="0" algn="l">
              <a:buNone/>
            </a:pPr>
            <a:r>
              <a:rPr lang="en-US" sz="1450" b="1" dirty="0">
                <a:solidFill>
                  <a:srgbClr val="C9963A"/>
                </a:solidFill>
                <a:latin typeface="Arial" pitchFamily="34" charset="0"/>
                <a:ea typeface="Arial" pitchFamily="34" charset="-122"/>
                <a:cs typeface="Arial" pitchFamily="34" charset="-120"/>
              </a:rPr>
              <a:t>Mô hình</a:t>
            </a:r>
            <a:endParaRPr lang="en-US" sz="1450" dirty="0"/>
          </a:p>
        </p:txBody>
      </p:sp>
      <p:sp>
        <p:nvSpPr>
          <p:cNvPr id="21" name="Text 17"/>
          <p:cNvSpPr txBox="1"/>
          <p:nvPr/>
        </p:nvSpPr>
        <p:spPr>
          <a:xfrm>
            <a:off x="8823960" y="3785616"/>
            <a:ext cx="2542032" cy="420624"/>
          </a:xfrm>
          <a:prstGeom prst="rect">
            <a:avLst/>
          </a:prstGeom>
          <a:noFill/>
          <a:ln/>
        </p:spPr>
        <p:txBody>
          <a:bodyPr wrap="square" lIns="0" tIns="0" rIns="0" bIns="0" rtlCol="0" anchor="ctr">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Cánh tay đòn d đo vuông góc tới giá lực</a:t>
            </a:r>
            <a:endParaRPr lang="en-US" sz="1550" dirty="0"/>
          </a:p>
        </p:txBody>
      </p:sp>
      <p:sp>
        <p:nvSpPr>
          <p:cNvPr id="22" name="Text 18"/>
          <p:cNvSpPr txBox="1"/>
          <p:nvPr/>
        </p:nvSpPr>
        <p:spPr>
          <a:xfrm>
            <a:off x="7845552" y="4553712"/>
            <a:ext cx="914400" cy="256032"/>
          </a:xfrm>
          <a:prstGeom prst="rect">
            <a:avLst/>
          </a:prstGeom>
          <a:noFill/>
          <a:ln/>
        </p:spPr>
        <p:txBody>
          <a:bodyPr wrap="square" lIns="0" tIns="0" rIns="0" bIns="0" rtlCol="0" anchor="t">
            <a:normAutofit/>
          </a:bodyPr>
          <a:lstStyle/>
          <a:p>
            <a:pPr marL="0" indent="0" algn="l">
              <a:buNone/>
            </a:pPr>
            <a:r>
              <a:rPr lang="en-US" sz="1450" b="1" dirty="0">
                <a:solidFill>
                  <a:srgbClr val="C9963A"/>
                </a:solidFill>
                <a:latin typeface="Arial" pitchFamily="34" charset="0"/>
                <a:ea typeface="Arial" pitchFamily="34" charset="-122"/>
                <a:cs typeface="Arial" pitchFamily="34" charset="-120"/>
              </a:rPr>
              <a:t>Đầu ra</a:t>
            </a:r>
            <a:endParaRPr lang="en-US" sz="1450" dirty="0"/>
          </a:p>
        </p:txBody>
      </p:sp>
      <p:sp>
        <p:nvSpPr>
          <p:cNvPr id="23" name="Text 19"/>
          <p:cNvSpPr txBox="1"/>
          <p:nvPr/>
        </p:nvSpPr>
        <p:spPr>
          <a:xfrm>
            <a:off x="8823960" y="4480560"/>
            <a:ext cx="2542032" cy="420624"/>
          </a:xfrm>
          <a:prstGeom prst="rect">
            <a:avLst/>
          </a:prstGeom>
          <a:noFill/>
          <a:ln/>
        </p:spPr>
        <p:txBody>
          <a:bodyPr wrap="square" lIns="0" tIns="0" rIns="0" bIns="0" rtlCol="0" anchor="ctr">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d = 4,00 m → M = 200 N·m</a:t>
            </a:r>
            <a:endParaRPr lang="en-US" sz="1550" dirty="0"/>
          </a:p>
        </p:txBody>
      </p:sp>
      <p:sp>
        <p:nvSpPr>
          <p:cNvPr id="24" name="Text 20"/>
          <p:cNvSpPr txBox="1"/>
          <p:nvPr/>
        </p:nvSpPr>
        <p:spPr>
          <a:xfrm>
            <a:off x="7845552" y="5248656"/>
            <a:ext cx="914400" cy="256032"/>
          </a:xfrm>
          <a:prstGeom prst="rect">
            <a:avLst/>
          </a:prstGeom>
          <a:noFill/>
          <a:ln/>
        </p:spPr>
        <p:txBody>
          <a:bodyPr wrap="square" lIns="0" tIns="0" rIns="0" bIns="0" rtlCol="0" anchor="t">
            <a:normAutofit/>
          </a:bodyPr>
          <a:lstStyle/>
          <a:p>
            <a:pPr marL="0" indent="0" algn="l">
              <a:buNone/>
            </a:pPr>
            <a:r>
              <a:rPr lang="en-US" sz="1450" b="1" dirty="0">
                <a:solidFill>
                  <a:srgbClr val="C9963A"/>
                </a:solidFill>
                <a:latin typeface="Arial" pitchFamily="34" charset="0"/>
                <a:ea typeface="Arial" pitchFamily="34" charset="-122"/>
                <a:cs typeface="Arial" pitchFamily="34" charset="-120"/>
              </a:rPr>
              <a:t>Phản hồi</a:t>
            </a:r>
            <a:endParaRPr lang="en-US" sz="1450" dirty="0"/>
          </a:p>
        </p:txBody>
      </p:sp>
      <p:sp>
        <p:nvSpPr>
          <p:cNvPr id="25" name="Text 21"/>
          <p:cNvSpPr txBox="1"/>
          <p:nvPr/>
        </p:nvSpPr>
        <p:spPr>
          <a:xfrm>
            <a:off x="8823960" y="5175504"/>
            <a:ext cx="2542032" cy="420624"/>
          </a:xfrm>
          <a:prstGeom prst="rect">
            <a:avLst/>
          </a:prstGeom>
          <a:noFill/>
          <a:ln/>
        </p:spPr>
        <p:txBody>
          <a:bodyPr wrap="square" lIns="0" tIns="0" rIns="0" bIns="0" rtlCol="0" anchor="ctr">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Mũi tên chiều quay và readout cập nhật cùng state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600" b="1" dirty="0">
                <a:solidFill>
                  <a:srgbClr val="07182F"/>
                </a:solidFill>
                <a:latin typeface="Georgia" pitchFamily="34" charset="0"/>
                <a:ea typeface="Georgia" pitchFamily="34" charset="-122"/>
                <a:cs typeface="Georgia" pitchFamily="34" charset="-120"/>
              </a:rPr>
              <a:t>Demo 90 giây: kiểm chứng mô men từ gói offline</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08</a:t>
            </a:r>
            <a:endParaRPr lang="en-US" sz="1000" dirty="0"/>
          </a:p>
        </p:txBody>
      </p:sp>
      <p:sp>
        <p:nvSpPr>
          <p:cNvPr id="6" name="Shape 4"/>
          <p:cNvSpPr/>
          <p:nvPr/>
        </p:nvSpPr>
        <p:spPr>
          <a:xfrm>
            <a:off x="612648" y="1408176"/>
            <a:ext cx="10972800" cy="457200"/>
          </a:xfrm>
          <a:prstGeom prst="rect">
            <a:avLst/>
          </a:prstGeom>
          <a:solidFill>
            <a:srgbClr val="EEF2F7"/>
          </a:solidFill>
          <a:ln w="12700">
            <a:solidFill>
              <a:srgbClr val="D7DEE8"/>
            </a:solidFill>
            <a:prstDash val="solid"/>
          </a:ln>
        </p:spPr>
      </p:sp>
      <p:sp>
        <p:nvSpPr>
          <p:cNvPr id="7" name="Text 5"/>
          <p:cNvSpPr txBox="1"/>
          <p:nvPr/>
        </p:nvSpPr>
        <p:spPr>
          <a:xfrm>
            <a:off x="822960" y="1481328"/>
            <a:ext cx="10561320" cy="274320"/>
          </a:xfrm>
          <a:prstGeom prst="rect">
            <a:avLst/>
          </a:prstGeom>
          <a:noFill/>
          <a:ln/>
        </p:spPr>
        <p:txBody>
          <a:bodyPr wrap="square" lIns="0" tIns="0" rIns="0" bIns="0" rtlCol="0" anchor="ctr">
            <a:normAutofit/>
          </a:bodyPr>
          <a:lstStyle/>
          <a:p>
            <a:pPr marL="0" indent="0" algn="l">
              <a:buNone/>
            </a:pPr>
            <a:r>
              <a:rPr lang="en-US" sz="1650" b="1" dirty="0">
                <a:solidFill>
                  <a:srgbClr val="0D2447"/>
                </a:solidFill>
                <a:latin typeface="Arial" pitchFamily="34" charset="0"/>
                <a:ea typeface="Arial" pitchFamily="34" charset="-122"/>
                <a:cs typeface="Arial" pitchFamily="34" charset="-120"/>
              </a:rPr>
              <a:t>Mở offline → vào bài → thao tác Sim2 → đối chiếu PDF.</a:t>
            </a:r>
            <a:endParaRPr lang="en-US" sz="165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release/2026.09.02-candidate/package/index.html</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8</a:t>
            </a:r>
            <a:endParaRPr lang="en-US" sz="820" dirty="0"/>
          </a:p>
        </p:txBody>
      </p:sp>
      <p:sp>
        <p:nvSpPr>
          <p:cNvPr id="13" name="Shape 10"/>
          <p:cNvSpPr/>
          <p:nvPr/>
        </p:nvSpPr>
        <p:spPr>
          <a:xfrm>
            <a:off x="658368" y="1956816"/>
            <a:ext cx="3456432" cy="2212848"/>
          </a:xfrm>
          <a:prstGeom prst="roundRect">
            <a:avLst>
              <a:gd name="adj" fmla="val 1653"/>
            </a:avLst>
          </a:prstGeom>
          <a:solidFill>
            <a:srgbClr val="FFFFFF"/>
          </a:solidFill>
          <a:ln w="12700">
            <a:solidFill>
              <a:srgbClr val="0D2447"/>
            </a:solidFill>
            <a:prstDash val="solid"/>
          </a:ln>
        </p:spPr>
      </p:sp>
      <p:pic>
        <p:nvPicPr>
          <p:cNvPr id="14" name="Image 0" descr="1 · Mở gói"/>
          <p:cNvPicPr>
            <a:picLocks noChangeAspect="1"/>
          </p:cNvPicPr>
          <p:nvPr/>
        </p:nvPicPr>
        <p:blipFill>
          <a:blip r:embed="rId3"/>
          <a:stretch>
            <a:fillRect/>
          </a:stretch>
        </p:blipFill>
        <p:spPr>
          <a:xfrm>
            <a:off x="1082812" y="2029968"/>
            <a:ext cx="2607545" cy="1810512"/>
          </a:xfrm>
          <a:prstGeom prst="rect">
            <a:avLst/>
          </a:prstGeom>
        </p:spPr>
      </p:pic>
      <p:sp>
        <p:nvSpPr>
          <p:cNvPr id="15" name="Text 11"/>
          <p:cNvSpPr txBox="1"/>
          <p:nvPr/>
        </p:nvSpPr>
        <p:spPr>
          <a:xfrm>
            <a:off x="768096" y="3950208"/>
            <a:ext cx="3236976"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1 · Mở gói</a:t>
            </a:r>
            <a:endParaRPr lang="en-US" sz="850" dirty="0"/>
          </a:p>
        </p:txBody>
      </p:sp>
      <p:sp>
        <p:nvSpPr>
          <p:cNvPr id="16" name="Shape 12"/>
          <p:cNvSpPr/>
          <p:nvPr/>
        </p:nvSpPr>
        <p:spPr>
          <a:xfrm>
            <a:off x="4389120" y="1956816"/>
            <a:ext cx="3456432" cy="2212848"/>
          </a:xfrm>
          <a:prstGeom prst="roundRect">
            <a:avLst>
              <a:gd name="adj" fmla="val 1653"/>
            </a:avLst>
          </a:prstGeom>
          <a:solidFill>
            <a:srgbClr val="FFFFFF"/>
          </a:solidFill>
          <a:ln w="12700">
            <a:solidFill>
              <a:srgbClr val="0D2447"/>
            </a:solidFill>
            <a:prstDash val="solid"/>
          </a:ln>
        </p:spPr>
      </p:sp>
      <p:pic>
        <p:nvPicPr>
          <p:cNvPr id="17" name="Image 1" descr="2 · Thao tác mô men"/>
          <p:cNvPicPr>
            <a:picLocks noChangeAspect="1"/>
          </p:cNvPicPr>
          <p:nvPr/>
        </p:nvPicPr>
        <p:blipFill>
          <a:blip r:embed="rId4"/>
          <a:stretch>
            <a:fillRect/>
          </a:stretch>
        </p:blipFill>
        <p:spPr>
          <a:xfrm>
            <a:off x="4813564" y="2029968"/>
            <a:ext cx="2607545" cy="1810512"/>
          </a:xfrm>
          <a:prstGeom prst="rect">
            <a:avLst/>
          </a:prstGeom>
        </p:spPr>
      </p:pic>
      <p:sp>
        <p:nvSpPr>
          <p:cNvPr id="18" name="Text 13"/>
          <p:cNvSpPr txBox="1"/>
          <p:nvPr/>
        </p:nvSpPr>
        <p:spPr>
          <a:xfrm>
            <a:off x="4498848" y="3950208"/>
            <a:ext cx="3236976"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2 · Thao tác mô men</a:t>
            </a:r>
            <a:endParaRPr lang="en-US" sz="850" dirty="0"/>
          </a:p>
        </p:txBody>
      </p:sp>
      <p:sp>
        <p:nvSpPr>
          <p:cNvPr id="19" name="Shape 14"/>
          <p:cNvSpPr/>
          <p:nvPr/>
        </p:nvSpPr>
        <p:spPr>
          <a:xfrm>
            <a:off x="8119872" y="1956816"/>
            <a:ext cx="3456432" cy="2212848"/>
          </a:xfrm>
          <a:prstGeom prst="roundRect">
            <a:avLst>
              <a:gd name="adj" fmla="val 1653"/>
            </a:avLst>
          </a:prstGeom>
          <a:solidFill>
            <a:srgbClr val="FFFFFF"/>
          </a:solidFill>
          <a:ln w="12700">
            <a:solidFill>
              <a:srgbClr val="0D2447"/>
            </a:solidFill>
            <a:prstDash val="solid"/>
          </a:ln>
        </p:spPr>
      </p:sp>
      <p:pic>
        <p:nvPicPr>
          <p:cNvPr id="20" name="Image 2" descr="3 · Đối chiếu PDF"/>
          <p:cNvPicPr>
            <a:picLocks noChangeAspect="1"/>
          </p:cNvPicPr>
          <p:nvPr/>
        </p:nvPicPr>
        <p:blipFill>
          <a:blip r:embed="rId5"/>
          <a:stretch>
            <a:fillRect/>
          </a:stretch>
        </p:blipFill>
        <p:spPr>
          <a:xfrm>
            <a:off x="8544316" y="2029968"/>
            <a:ext cx="2607545" cy="1810512"/>
          </a:xfrm>
          <a:prstGeom prst="rect">
            <a:avLst/>
          </a:prstGeom>
        </p:spPr>
      </p:pic>
      <p:sp>
        <p:nvSpPr>
          <p:cNvPr id="21" name="Text 15"/>
          <p:cNvSpPr txBox="1"/>
          <p:nvPr/>
        </p:nvSpPr>
        <p:spPr>
          <a:xfrm>
            <a:off x="8229600" y="3950208"/>
            <a:ext cx="3236976"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3 · Đối chiếu PDF</a:t>
            </a:r>
            <a:endParaRPr lang="en-US" sz="850" dirty="0"/>
          </a:p>
        </p:txBody>
      </p:sp>
      <p:sp>
        <p:nvSpPr>
          <p:cNvPr id="22" name="Text 16"/>
          <p:cNvSpPr txBox="1"/>
          <p:nvPr/>
        </p:nvSpPr>
        <p:spPr>
          <a:xfrm>
            <a:off x="658368" y="4480560"/>
            <a:ext cx="1874520" cy="201168"/>
          </a:xfrm>
          <a:prstGeom prst="rect">
            <a:avLst/>
          </a:prstGeom>
          <a:noFill/>
          <a:ln/>
        </p:spPr>
        <p:txBody>
          <a:bodyPr wrap="square" lIns="0" tIns="0" rIns="0" bIns="0" rtlCol="0" anchor="t">
            <a:normAutofit/>
          </a:bodyPr>
          <a:lstStyle/>
          <a:p>
            <a:pPr marL="0" indent="0" algn="ctr">
              <a:buNone/>
            </a:pPr>
            <a:r>
              <a:rPr lang="en-US" sz="1150" b="1" dirty="0">
                <a:solidFill>
                  <a:srgbClr val="C9963A"/>
                </a:solidFill>
                <a:latin typeface="Arial" pitchFamily="34" charset="0"/>
                <a:ea typeface="Arial" pitchFamily="34" charset="-122"/>
                <a:cs typeface="Arial" pitchFamily="34" charset="-120"/>
              </a:rPr>
              <a:t>00:00–00:15</a:t>
            </a:r>
            <a:endParaRPr lang="en-US" sz="1150" dirty="0"/>
          </a:p>
        </p:txBody>
      </p:sp>
      <p:sp>
        <p:nvSpPr>
          <p:cNvPr id="23" name="Shape 17"/>
          <p:cNvSpPr/>
          <p:nvPr/>
        </p:nvSpPr>
        <p:spPr>
          <a:xfrm>
            <a:off x="658368" y="4754880"/>
            <a:ext cx="1874520" cy="914400"/>
          </a:xfrm>
          <a:prstGeom prst="roundRect">
            <a:avLst>
              <a:gd name="adj" fmla="val 4000"/>
            </a:avLst>
          </a:prstGeom>
          <a:solidFill>
            <a:srgbClr val="FFFFFF"/>
          </a:solidFill>
          <a:ln w="12700">
            <a:solidFill>
              <a:srgbClr val="D7DEE8"/>
            </a:solidFill>
            <a:prstDash val="solid"/>
          </a:ln>
        </p:spPr>
      </p:sp>
      <p:sp>
        <p:nvSpPr>
          <p:cNvPr id="24" name="Text 18"/>
          <p:cNvSpPr txBox="1"/>
          <p:nvPr/>
        </p:nvSpPr>
        <p:spPr>
          <a:xfrm>
            <a:off x="749808" y="4919472"/>
            <a:ext cx="1691640" cy="256032"/>
          </a:xfrm>
          <a:prstGeom prst="rect">
            <a:avLst/>
          </a:prstGeom>
          <a:noFill/>
          <a:ln/>
        </p:spPr>
        <p:txBody>
          <a:bodyPr wrap="square" lIns="0" tIns="0" rIns="0" bIns="0" rtlCol="0" anchor="t">
            <a:normAutofit/>
          </a:bodyPr>
          <a:lstStyle/>
          <a:p>
            <a:pPr marL="0" indent="0" algn="ctr">
              <a:buNone/>
            </a:pPr>
            <a:r>
              <a:rPr lang="en-US" sz="1600" b="1" dirty="0">
                <a:solidFill>
                  <a:srgbClr val="07182F"/>
                </a:solidFill>
                <a:latin typeface="Arial" pitchFamily="34" charset="0"/>
                <a:ea typeface="Arial" pitchFamily="34" charset="-122"/>
                <a:cs typeface="Arial" pitchFamily="34" charset="-120"/>
              </a:rPr>
              <a:t>Mở gói</a:t>
            </a:r>
            <a:endParaRPr lang="en-US" sz="1600" dirty="0"/>
          </a:p>
        </p:txBody>
      </p:sp>
      <p:sp>
        <p:nvSpPr>
          <p:cNvPr id="25" name="Text 19"/>
          <p:cNvSpPr txBox="1"/>
          <p:nvPr/>
        </p:nvSpPr>
        <p:spPr>
          <a:xfrm>
            <a:off x="768096" y="5266944"/>
            <a:ext cx="1655064" cy="274320"/>
          </a:xfrm>
          <a:prstGeom prst="rect">
            <a:avLst/>
          </a:prstGeom>
          <a:noFill/>
          <a:ln/>
        </p:spPr>
        <p:txBody>
          <a:bodyPr wrap="square" lIns="0" tIns="0" rIns="0" bIns="0" rtlCol="0" anchor="t">
            <a:normAutofit/>
          </a:bodyPr>
          <a:lstStyle/>
          <a:p>
            <a:pPr marL="0" indent="0" algn="ctr">
              <a:buNone/>
            </a:pPr>
            <a:r>
              <a:rPr lang="en-US" sz="1250" dirty="0">
                <a:solidFill>
                  <a:srgbClr val="5B6B80"/>
                </a:solidFill>
                <a:latin typeface="Arial" pitchFamily="34" charset="0"/>
                <a:ea typeface="Arial" pitchFamily="34" charset="-122"/>
                <a:cs typeface="Arial" pitchFamily="34" charset="-120"/>
              </a:rPr>
              <a:t>package/index.html qua file://</a:t>
            </a:r>
            <a:endParaRPr lang="en-US" sz="1250" dirty="0"/>
          </a:p>
        </p:txBody>
      </p:sp>
      <p:sp>
        <p:nvSpPr>
          <p:cNvPr id="26" name="Shape 20"/>
          <p:cNvSpPr/>
          <p:nvPr/>
        </p:nvSpPr>
        <p:spPr>
          <a:xfrm>
            <a:off x="2551176" y="5212080"/>
            <a:ext cx="292608" cy="0"/>
          </a:xfrm>
          <a:prstGeom prst="line">
            <a:avLst/>
          </a:prstGeom>
          <a:noFill/>
          <a:ln w="12700">
            <a:solidFill>
              <a:srgbClr val="C9963A"/>
            </a:solidFill>
            <a:prstDash val="solid"/>
          </a:ln>
        </p:spPr>
      </p:sp>
      <p:sp>
        <p:nvSpPr>
          <p:cNvPr id="27" name="Shape 21"/>
          <p:cNvSpPr/>
          <p:nvPr/>
        </p:nvSpPr>
        <p:spPr>
          <a:xfrm>
            <a:off x="2770632" y="5111496"/>
            <a:ext cx="128016" cy="201168"/>
          </a:xfrm>
          <a:prstGeom prst="chevron">
            <a:avLst/>
          </a:prstGeom>
          <a:solidFill>
            <a:srgbClr val="C9963A"/>
          </a:solidFill>
          <a:ln w="12700">
            <a:solidFill>
              <a:srgbClr val="C9963A"/>
            </a:solidFill>
            <a:prstDash val="solid"/>
          </a:ln>
        </p:spPr>
      </p:sp>
      <p:sp>
        <p:nvSpPr>
          <p:cNvPr id="28" name="Text 22"/>
          <p:cNvSpPr txBox="1"/>
          <p:nvPr/>
        </p:nvSpPr>
        <p:spPr>
          <a:xfrm>
            <a:off x="2871216" y="4480560"/>
            <a:ext cx="1874520" cy="201168"/>
          </a:xfrm>
          <a:prstGeom prst="rect">
            <a:avLst/>
          </a:prstGeom>
          <a:noFill/>
          <a:ln/>
        </p:spPr>
        <p:txBody>
          <a:bodyPr wrap="square" lIns="0" tIns="0" rIns="0" bIns="0" rtlCol="0" anchor="t">
            <a:normAutofit/>
          </a:bodyPr>
          <a:lstStyle/>
          <a:p>
            <a:pPr marL="0" indent="0" algn="ctr">
              <a:buNone/>
            </a:pPr>
            <a:r>
              <a:rPr lang="en-US" sz="1150" b="1" dirty="0">
                <a:solidFill>
                  <a:srgbClr val="C9963A"/>
                </a:solidFill>
                <a:latin typeface="Arial" pitchFamily="34" charset="0"/>
                <a:ea typeface="Arial" pitchFamily="34" charset="-122"/>
                <a:cs typeface="Arial" pitchFamily="34" charset="-120"/>
              </a:rPr>
              <a:t>00:15–00:30</a:t>
            </a:r>
            <a:endParaRPr lang="en-US" sz="1150" dirty="0"/>
          </a:p>
        </p:txBody>
      </p:sp>
      <p:sp>
        <p:nvSpPr>
          <p:cNvPr id="29" name="Shape 23"/>
          <p:cNvSpPr/>
          <p:nvPr/>
        </p:nvSpPr>
        <p:spPr>
          <a:xfrm>
            <a:off x="2871216" y="4754880"/>
            <a:ext cx="1874520" cy="914400"/>
          </a:xfrm>
          <a:prstGeom prst="roundRect">
            <a:avLst>
              <a:gd name="adj" fmla="val 4000"/>
            </a:avLst>
          </a:prstGeom>
          <a:solidFill>
            <a:srgbClr val="FFFFFF"/>
          </a:solidFill>
          <a:ln w="12700">
            <a:solidFill>
              <a:srgbClr val="D7DEE8"/>
            </a:solidFill>
            <a:prstDash val="solid"/>
          </a:ln>
        </p:spPr>
      </p:sp>
      <p:sp>
        <p:nvSpPr>
          <p:cNvPr id="30" name="Text 24"/>
          <p:cNvSpPr txBox="1"/>
          <p:nvPr/>
        </p:nvSpPr>
        <p:spPr>
          <a:xfrm>
            <a:off x="2962656" y="4919472"/>
            <a:ext cx="1691640" cy="256032"/>
          </a:xfrm>
          <a:prstGeom prst="rect">
            <a:avLst/>
          </a:prstGeom>
          <a:noFill/>
          <a:ln/>
        </p:spPr>
        <p:txBody>
          <a:bodyPr wrap="square" lIns="0" tIns="0" rIns="0" bIns="0" rtlCol="0" anchor="t">
            <a:normAutofit/>
          </a:bodyPr>
          <a:lstStyle/>
          <a:p>
            <a:pPr marL="0" indent="0" algn="ctr">
              <a:buNone/>
            </a:pPr>
            <a:r>
              <a:rPr lang="en-US" sz="1600" b="1" dirty="0">
                <a:solidFill>
                  <a:srgbClr val="07182F"/>
                </a:solidFill>
                <a:latin typeface="Arial" pitchFamily="34" charset="0"/>
                <a:ea typeface="Arial" pitchFamily="34" charset="-122"/>
                <a:cs typeface="Arial" pitchFamily="34" charset="-120"/>
              </a:rPr>
              <a:t>Vào bài</a:t>
            </a:r>
            <a:endParaRPr lang="en-US" sz="1600" dirty="0"/>
          </a:p>
        </p:txBody>
      </p:sp>
      <p:sp>
        <p:nvSpPr>
          <p:cNvPr id="31" name="Text 25"/>
          <p:cNvSpPr txBox="1"/>
          <p:nvPr/>
        </p:nvSpPr>
        <p:spPr>
          <a:xfrm>
            <a:off x="2980944" y="5266944"/>
            <a:ext cx="1655064" cy="274320"/>
          </a:xfrm>
          <a:prstGeom prst="rect">
            <a:avLst/>
          </a:prstGeom>
          <a:noFill/>
          <a:ln/>
        </p:spPr>
        <p:txBody>
          <a:bodyPr wrap="square" lIns="0" tIns="0" rIns="0" bIns="0" rtlCol="0" anchor="t">
            <a:normAutofit/>
          </a:bodyPr>
          <a:lstStyle/>
          <a:p>
            <a:pPr marL="0" indent="0" algn="ctr">
              <a:buNone/>
            </a:pPr>
            <a:r>
              <a:rPr lang="en-US" sz="1250" dirty="0">
                <a:solidFill>
                  <a:srgbClr val="5B6B80"/>
                </a:solidFill>
                <a:latin typeface="Arial" pitchFamily="34" charset="0"/>
                <a:ea typeface="Arial" pitchFamily="34" charset="-122"/>
                <a:cs typeface="Arial" pitchFamily="34" charset="-120"/>
              </a:rPr>
              <a:t>Chương 1 › I › 4. Mô men</a:t>
            </a:r>
            <a:endParaRPr lang="en-US" sz="1250" dirty="0"/>
          </a:p>
        </p:txBody>
      </p:sp>
      <p:sp>
        <p:nvSpPr>
          <p:cNvPr id="32" name="Shape 26"/>
          <p:cNvSpPr/>
          <p:nvPr/>
        </p:nvSpPr>
        <p:spPr>
          <a:xfrm>
            <a:off x="4764024" y="5212080"/>
            <a:ext cx="292608" cy="0"/>
          </a:xfrm>
          <a:prstGeom prst="line">
            <a:avLst/>
          </a:prstGeom>
          <a:noFill/>
          <a:ln w="12700">
            <a:solidFill>
              <a:srgbClr val="C9963A"/>
            </a:solidFill>
            <a:prstDash val="solid"/>
          </a:ln>
        </p:spPr>
      </p:sp>
      <p:sp>
        <p:nvSpPr>
          <p:cNvPr id="33" name="Shape 27"/>
          <p:cNvSpPr/>
          <p:nvPr/>
        </p:nvSpPr>
        <p:spPr>
          <a:xfrm>
            <a:off x="4983480" y="5111496"/>
            <a:ext cx="128016" cy="201168"/>
          </a:xfrm>
          <a:prstGeom prst="chevron">
            <a:avLst/>
          </a:prstGeom>
          <a:solidFill>
            <a:srgbClr val="C9963A"/>
          </a:solidFill>
          <a:ln w="12700">
            <a:solidFill>
              <a:srgbClr val="C9963A"/>
            </a:solidFill>
            <a:prstDash val="solid"/>
          </a:ln>
        </p:spPr>
      </p:sp>
      <p:sp>
        <p:nvSpPr>
          <p:cNvPr id="34" name="Text 28"/>
          <p:cNvSpPr txBox="1"/>
          <p:nvPr/>
        </p:nvSpPr>
        <p:spPr>
          <a:xfrm>
            <a:off x="5084064" y="4480560"/>
            <a:ext cx="1874520" cy="201168"/>
          </a:xfrm>
          <a:prstGeom prst="rect">
            <a:avLst/>
          </a:prstGeom>
          <a:noFill/>
          <a:ln/>
        </p:spPr>
        <p:txBody>
          <a:bodyPr wrap="square" lIns="0" tIns="0" rIns="0" bIns="0" rtlCol="0" anchor="t">
            <a:normAutofit/>
          </a:bodyPr>
          <a:lstStyle/>
          <a:p>
            <a:pPr marL="0" indent="0" algn="ctr">
              <a:buNone/>
            </a:pPr>
            <a:r>
              <a:rPr lang="en-US" sz="1150" b="1" dirty="0">
                <a:solidFill>
                  <a:srgbClr val="C9963A"/>
                </a:solidFill>
                <a:latin typeface="Arial" pitchFamily="34" charset="0"/>
                <a:ea typeface="Arial" pitchFamily="34" charset="-122"/>
                <a:cs typeface="Arial" pitchFamily="34" charset="-120"/>
              </a:rPr>
              <a:t>00:30–01:00</a:t>
            </a:r>
            <a:endParaRPr lang="en-US" sz="1150" dirty="0"/>
          </a:p>
        </p:txBody>
      </p:sp>
      <p:sp>
        <p:nvSpPr>
          <p:cNvPr id="35" name="Shape 29"/>
          <p:cNvSpPr/>
          <p:nvPr/>
        </p:nvSpPr>
        <p:spPr>
          <a:xfrm>
            <a:off x="5084064" y="4754880"/>
            <a:ext cx="1874520" cy="914400"/>
          </a:xfrm>
          <a:prstGeom prst="roundRect">
            <a:avLst>
              <a:gd name="adj" fmla="val 4000"/>
            </a:avLst>
          </a:prstGeom>
          <a:solidFill>
            <a:srgbClr val="EEF7F2"/>
          </a:solidFill>
          <a:ln w="12700">
            <a:solidFill>
              <a:srgbClr val="137A3D"/>
            </a:solidFill>
            <a:prstDash val="solid"/>
          </a:ln>
        </p:spPr>
      </p:sp>
      <p:sp>
        <p:nvSpPr>
          <p:cNvPr id="36" name="Text 30"/>
          <p:cNvSpPr txBox="1"/>
          <p:nvPr/>
        </p:nvSpPr>
        <p:spPr>
          <a:xfrm>
            <a:off x="5175504" y="4919472"/>
            <a:ext cx="1691640" cy="256032"/>
          </a:xfrm>
          <a:prstGeom prst="rect">
            <a:avLst/>
          </a:prstGeom>
          <a:noFill/>
          <a:ln/>
        </p:spPr>
        <p:txBody>
          <a:bodyPr wrap="square" lIns="0" tIns="0" rIns="0" bIns="0" rtlCol="0" anchor="t">
            <a:normAutofit/>
          </a:bodyPr>
          <a:lstStyle/>
          <a:p>
            <a:pPr marL="0" indent="0" algn="ctr">
              <a:buNone/>
            </a:pPr>
            <a:r>
              <a:rPr lang="en-US" sz="1600" b="1" dirty="0">
                <a:solidFill>
                  <a:srgbClr val="07182F"/>
                </a:solidFill>
                <a:latin typeface="Arial" pitchFamily="34" charset="0"/>
                <a:ea typeface="Arial" pitchFamily="34" charset="-122"/>
                <a:cs typeface="Arial" pitchFamily="34" charset="-120"/>
              </a:rPr>
              <a:t>Thao tác</a:t>
            </a:r>
            <a:endParaRPr lang="en-US" sz="1600" dirty="0"/>
          </a:p>
        </p:txBody>
      </p:sp>
      <p:sp>
        <p:nvSpPr>
          <p:cNvPr id="37" name="Text 31"/>
          <p:cNvSpPr txBox="1"/>
          <p:nvPr/>
        </p:nvSpPr>
        <p:spPr>
          <a:xfrm>
            <a:off x="5193792" y="5266944"/>
            <a:ext cx="1655064" cy="274320"/>
          </a:xfrm>
          <a:prstGeom prst="rect">
            <a:avLst/>
          </a:prstGeom>
          <a:noFill/>
          <a:ln/>
        </p:spPr>
        <p:txBody>
          <a:bodyPr wrap="square" lIns="0" tIns="0" rIns="0" bIns="0" rtlCol="0" anchor="t">
            <a:normAutofit/>
          </a:bodyPr>
          <a:lstStyle/>
          <a:p>
            <a:pPr marL="0" indent="0" algn="ctr">
              <a:buNone/>
            </a:pPr>
            <a:r>
              <a:rPr lang="en-US" sz="1250" dirty="0">
                <a:solidFill>
                  <a:srgbClr val="5B6B80"/>
                </a:solidFill>
                <a:latin typeface="Arial" pitchFamily="34" charset="0"/>
                <a:ea typeface="Arial" pitchFamily="34" charset="-122"/>
                <a:cs typeface="Arial" pitchFamily="34" charset="-120"/>
              </a:rPr>
              <a:t>F = 50 N; kéo d đến 4,00 m</a:t>
            </a:r>
            <a:endParaRPr lang="en-US" sz="1250" dirty="0"/>
          </a:p>
        </p:txBody>
      </p:sp>
      <p:sp>
        <p:nvSpPr>
          <p:cNvPr id="38" name="Shape 32"/>
          <p:cNvSpPr/>
          <p:nvPr/>
        </p:nvSpPr>
        <p:spPr>
          <a:xfrm>
            <a:off x="6976872" y="5212080"/>
            <a:ext cx="292608" cy="0"/>
          </a:xfrm>
          <a:prstGeom prst="line">
            <a:avLst/>
          </a:prstGeom>
          <a:noFill/>
          <a:ln w="12700">
            <a:solidFill>
              <a:srgbClr val="C9963A"/>
            </a:solidFill>
            <a:prstDash val="solid"/>
          </a:ln>
        </p:spPr>
      </p:sp>
      <p:sp>
        <p:nvSpPr>
          <p:cNvPr id="39" name="Shape 33"/>
          <p:cNvSpPr/>
          <p:nvPr/>
        </p:nvSpPr>
        <p:spPr>
          <a:xfrm>
            <a:off x="7196328" y="5111496"/>
            <a:ext cx="128016" cy="201168"/>
          </a:xfrm>
          <a:prstGeom prst="chevron">
            <a:avLst/>
          </a:prstGeom>
          <a:solidFill>
            <a:srgbClr val="C9963A"/>
          </a:solidFill>
          <a:ln w="12700">
            <a:solidFill>
              <a:srgbClr val="C9963A"/>
            </a:solidFill>
            <a:prstDash val="solid"/>
          </a:ln>
        </p:spPr>
      </p:sp>
      <p:sp>
        <p:nvSpPr>
          <p:cNvPr id="40" name="Text 34"/>
          <p:cNvSpPr txBox="1"/>
          <p:nvPr/>
        </p:nvSpPr>
        <p:spPr>
          <a:xfrm>
            <a:off x="7296912" y="4480560"/>
            <a:ext cx="1874520" cy="201168"/>
          </a:xfrm>
          <a:prstGeom prst="rect">
            <a:avLst/>
          </a:prstGeom>
          <a:noFill/>
          <a:ln/>
        </p:spPr>
        <p:txBody>
          <a:bodyPr wrap="square" lIns="0" tIns="0" rIns="0" bIns="0" rtlCol="0" anchor="t">
            <a:normAutofit/>
          </a:bodyPr>
          <a:lstStyle/>
          <a:p>
            <a:pPr marL="0" indent="0" algn="ctr">
              <a:buNone/>
            </a:pPr>
            <a:r>
              <a:rPr lang="en-US" sz="1150" b="1" dirty="0">
                <a:solidFill>
                  <a:srgbClr val="C9963A"/>
                </a:solidFill>
                <a:latin typeface="Arial" pitchFamily="34" charset="0"/>
                <a:ea typeface="Arial" pitchFamily="34" charset="-122"/>
                <a:cs typeface="Arial" pitchFamily="34" charset="-120"/>
              </a:rPr>
              <a:t>01:00–01:15</a:t>
            </a:r>
            <a:endParaRPr lang="en-US" sz="1150" dirty="0"/>
          </a:p>
        </p:txBody>
      </p:sp>
      <p:sp>
        <p:nvSpPr>
          <p:cNvPr id="41" name="Shape 35"/>
          <p:cNvSpPr/>
          <p:nvPr/>
        </p:nvSpPr>
        <p:spPr>
          <a:xfrm>
            <a:off x="7296912" y="4754880"/>
            <a:ext cx="1874520" cy="914400"/>
          </a:xfrm>
          <a:prstGeom prst="roundRect">
            <a:avLst>
              <a:gd name="adj" fmla="val 4000"/>
            </a:avLst>
          </a:prstGeom>
          <a:solidFill>
            <a:srgbClr val="FFFFFF"/>
          </a:solidFill>
          <a:ln w="12700">
            <a:solidFill>
              <a:srgbClr val="D7DEE8"/>
            </a:solidFill>
            <a:prstDash val="solid"/>
          </a:ln>
        </p:spPr>
      </p:sp>
      <p:sp>
        <p:nvSpPr>
          <p:cNvPr id="42" name="Text 36"/>
          <p:cNvSpPr txBox="1"/>
          <p:nvPr/>
        </p:nvSpPr>
        <p:spPr>
          <a:xfrm>
            <a:off x="7388352" y="4919472"/>
            <a:ext cx="1691640" cy="256032"/>
          </a:xfrm>
          <a:prstGeom prst="rect">
            <a:avLst/>
          </a:prstGeom>
          <a:noFill/>
          <a:ln/>
        </p:spPr>
        <p:txBody>
          <a:bodyPr wrap="square" lIns="0" tIns="0" rIns="0" bIns="0" rtlCol="0" anchor="t">
            <a:normAutofit/>
          </a:bodyPr>
          <a:lstStyle/>
          <a:p>
            <a:pPr marL="0" indent="0" algn="ctr">
              <a:buNone/>
            </a:pPr>
            <a:r>
              <a:rPr lang="en-US" sz="1600" b="1" dirty="0">
                <a:solidFill>
                  <a:srgbClr val="07182F"/>
                </a:solidFill>
                <a:latin typeface="Arial" pitchFamily="34" charset="0"/>
                <a:ea typeface="Arial" pitchFamily="34" charset="-122"/>
                <a:cs typeface="Arial" pitchFamily="34" charset="-120"/>
              </a:rPr>
              <a:t>Quan sát</a:t>
            </a:r>
            <a:endParaRPr lang="en-US" sz="1600" dirty="0"/>
          </a:p>
        </p:txBody>
      </p:sp>
      <p:sp>
        <p:nvSpPr>
          <p:cNvPr id="43" name="Text 37"/>
          <p:cNvSpPr txBox="1"/>
          <p:nvPr/>
        </p:nvSpPr>
        <p:spPr>
          <a:xfrm>
            <a:off x="7406640" y="5266944"/>
            <a:ext cx="1655064" cy="274320"/>
          </a:xfrm>
          <a:prstGeom prst="rect">
            <a:avLst/>
          </a:prstGeom>
          <a:noFill/>
          <a:ln/>
        </p:spPr>
        <p:txBody>
          <a:bodyPr wrap="square" lIns="0" tIns="0" rIns="0" bIns="0" rtlCol="0" anchor="t">
            <a:normAutofit/>
          </a:bodyPr>
          <a:lstStyle/>
          <a:p>
            <a:pPr marL="0" indent="0" algn="ctr">
              <a:buNone/>
            </a:pPr>
            <a:r>
              <a:rPr lang="en-US" sz="1250" dirty="0">
                <a:solidFill>
                  <a:srgbClr val="5B6B80"/>
                </a:solidFill>
                <a:latin typeface="Arial" pitchFamily="34" charset="0"/>
                <a:ea typeface="Arial" pitchFamily="34" charset="-122"/>
                <a:cs typeface="Arial" pitchFamily="34" charset="-120"/>
              </a:rPr>
              <a:t>M = 200 N·m; chiều quay cập nhật</a:t>
            </a:r>
            <a:endParaRPr lang="en-US" sz="1250" dirty="0"/>
          </a:p>
        </p:txBody>
      </p:sp>
      <p:sp>
        <p:nvSpPr>
          <p:cNvPr id="44" name="Shape 38"/>
          <p:cNvSpPr/>
          <p:nvPr/>
        </p:nvSpPr>
        <p:spPr>
          <a:xfrm>
            <a:off x="9189720" y="5212080"/>
            <a:ext cx="292608" cy="0"/>
          </a:xfrm>
          <a:prstGeom prst="line">
            <a:avLst/>
          </a:prstGeom>
          <a:noFill/>
          <a:ln w="12700">
            <a:solidFill>
              <a:srgbClr val="C9963A"/>
            </a:solidFill>
            <a:prstDash val="solid"/>
          </a:ln>
        </p:spPr>
      </p:sp>
      <p:sp>
        <p:nvSpPr>
          <p:cNvPr id="45" name="Shape 39"/>
          <p:cNvSpPr/>
          <p:nvPr/>
        </p:nvSpPr>
        <p:spPr>
          <a:xfrm>
            <a:off x="9409176" y="5111496"/>
            <a:ext cx="128016" cy="201168"/>
          </a:xfrm>
          <a:prstGeom prst="chevron">
            <a:avLst/>
          </a:prstGeom>
          <a:solidFill>
            <a:srgbClr val="C9963A"/>
          </a:solidFill>
          <a:ln w="12700">
            <a:solidFill>
              <a:srgbClr val="C9963A"/>
            </a:solidFill>
            <a:prstDash val="solid"/>
          </a:ln>
        </p:spPr>
      </p:sp>
      <p:sp>
        <p:nvSpPr>
          <p:cNvPr id="46" name="Text 40"/>
          <p:cNvSpPr txBox="1"/>
          <p:nvPr/>
        </p:nvSpPr>
        <p:spPr>
          <a:xfrm>
            <a:off x="9509760" y="4480560"/>
            <a:ext cx="1874520" cy="201168"/>
          </a:xfrm>
          <a:prstGeom prst="rect">
            <a:avLst/>
          </a:prstGeom>
          <a:noFill/>
          <a:ln/>
        </p:spPr>
        <p:txBody>
          <a:bodyPr wrap="square" lIns="0" tIns="0" rIns="0" bIns="0" rtlCol="0" anchor="t">
            <a:normAutofit/>
          </a:bodyPr>
          <a:lstStyle/>
          <a:p>
            <a:pPr marL="0" indent="0" algn="ctr">
              <a:buNone/>
            </a:pPr>
            <a:r>
              <a:rPr lang="en-US" sz="1150" b="1" dirty="0">
                <a:solidFill>
                  <a:srgbClr val="C9963A"/>
                </a:solidFill>
                <a:latin typeface="Arial" pitchFamily="34" charset="0"/>
                <a:ea typeface="Arial" pitchFamily="34" charset="-122"/>
                <a:cs typeface="Arial" pitchFamily="34" charset="-120"/>
              </a:rPr>
              <a:t>01:15–01:30</a:t>
            </a:r>
            <a:endParaRPr lang="en-US" sz="1150" dirty="0"/>
          </a:p>
        </p:txBody>
      </p:sp>
      <p:sp>
        <p:nvSpPr>
          <p:cNvPr id="47" name="Shape 41"/>
          <p:cNvSpPr/>
          <p:nvPr/>
        </p:nvSpPr>
        <p:spPr>
          <a:xfrm>
            <a:off x="9509760" y="4754880"/>
            <a:ext cx="1874520" cy="914400"/>
          </a:xfrm>
          <a:prstGeom prst="roundRect">
            <a:avLst>
              <a:gd name="adj" fmla="val 4000"/>
            </a:avLst>
          </a:prstGeom>
          <a:solidFill>
            <a:srgbClr val="FFFFFF"/>
          </a:solidFill>
          <a:ln w="12700">
            <a:solidFill>
              <a:srgbClr val="D7DEE8"/>
            </a:solidFill>
            <a:prstDash val="solid"/>
          </a:ln>
        </p:spPr>
      </p:sp>
      <p:sp>
        <p:nvSpPr>
          <p:cNvPr id="48" name="Text 42"/>
          <p:cNvSpPr txBox="1"/>
          <p:nvPr/>
        </p:nvSpPr>
        <p:spPr>
          <a:xfrm>
            <a:off x="9601200" y="4919472"/>
            <a:ext cx="1691640" cy="256032"/>
          </a:xfrm>
          <a:prstGeom prst="rect">
            <a:avLst/>
          </a:prstGeom>
          <a:noFill/>
          <a:ln/>
        </p:spPr>
        <p:txBody>
          <a:bodyPr wrap="square" lIns="0" tIns="0" rIns="0" bIns="0" rtlCol="0" anchor="t">
            <a:normAutofit/>
          </a:bodyPr>
          <a:lstStyle/>
          <a:p>
            <a:pPr marL="0" indent="0" algn="ctr">
              <a:buNone/>
            </a:pPr>
            <a:r>
              <a:rPr lang="en-US" sz="1600" b="1" dirty="0">
                <a:solidFill>
                  <a:srgbClr val="07182F"/>
                </a:solidFill>
                <a:latin typeface="Arial" pitchFamily="34" charset="0"/>
                <a:ea typeface="Arial" pitchFamily="34" charset="-122"/>
                <a:cs typeface="Arial" pitchFamily="34" charset="-120"/>
              </a:rPr>
              <a:t>Đối chiếu</a:t>
            </a:r>
            <a:endParaRPr lang="en-US" sz="1600" dirty="0"/>
          </a:p>
        </p:txBody>
      </p:sp>
      <p:sp>
        <p:nvSpPr>
          <p:cNvPr id="49" name="Text 43"/>
          <p:cNvSpPr txBox="1"/>
          <p:nvPr/>
        </p:nvSpPr>
        <p:spPr>
          <a:xfrm>
            <a:off x="9619488" y="5266944"/>
            <a:ext cx="1655064" cy="274320"/>
          </a:xfrm>
          <a:prstGeom prst="rect">
            <a:avLst/>
          </a:prstGeom>
          <a:noFill/>
          <a:ln/>
        </p:spPr>
        <p:txBody>
          <a:bodyPr wrap="square" lIns="0" tIns="0" rIns="0" bIns="0" rtlCol="0" anchor="t">
            <a:normAutofit/>
          </a:bodyPr>
          <a:lstStyle/>
          <a:p>
            <a:pPr marL="0" indent="0" algn="ctr">
              <a:buNone/>
            </a:pPr>
            <a:r>
              <a:rPr lang="en-US" sz="1250" dirty="0">
                <a:solidFill>
                  <a:srgbClr val="5B6B80"/>
                </a:solidFill>
                <a:latin typeface="Arial" pitchFamily="34" charset="0"/>
                <a:ea typeface="Arial" pitchFamily="34" charset="-122"/>
                <a:cs typeface="Arial" pitchFamily="34" charset="-120"/>
              </a:rPr>
              <a:t>Mở PDF cục bộ rồi quay lại bài</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600" b="1" dirty="0">
                <a:solidFill>
                  <a:srgbClr val="07182F"/>
                </a:solidFill>
                <a:latin typeface="Georgia" pitchFamily="34" charset="0"/>
                <a:ea typeface="Georgia" pitchFamily="34" charset="-122"/>
                <a:cs typeface="Georgia" pitchFamily="34" charset="-120"/>
              </a:rPr>
              <a:t>Máy kiểm kỹ thuật; con người quyết định học thuật</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09</a:t>
            </a:r>
            <a:endParaRPr lang="en-US" sz="1000" dirty="0"/>
          </a:p>
        </p:txBody>
      </p:sp>
      <p:sp>
        <p:nvSpPr>
          <p:cNvPr id="6" name="Shape 4"/>
          <p:cNvSpPr/>
          <p:nvPr/>
        </p:nvSpPr>
        <p:spPr>
          <a:xfrm>
            <a:off x="612648" y="1408176"/>
            <a:ext cx="10972800" cy="457200"/>
          </a:xfrm>
          <a:prstGeom prst="rect">
            <a:avLst/>
          </a:prstGeom>
          <a:solidFill>
            <a:srgbClr val="EEF2F7"/>
          </a:solidFill>
          <a:ln w="12700">
            <a:solidFill>
              <a:srgbClr val="D7DEE8"/>
            </a:solidFill>
            <a:prstDash val="solid"/>
          </a:ln>
        </p:spPr>
      </p:sp>
      <p:sp>
        <p:nvSpPr>
          <p:cNvPr id="7" name="Text 5"/>
          <p:cNvSpPr txBox="1"/>
          <p:nvPr/>
        </p:nvSpPr>
        <p:spPr>
          <a:xfrm>
            <a:off x="822960" y="1481328"/>
            <a:ext cx="10561320" cy="274320"/>
          </a:xfrm>
          <a:prstGeom prst="rect">
            <a:avLst/>
          </a:prstGeom>
          <a:noFill/>
          <a:ln/>
        </p:spPr>
        <p:txBody>
          <a:bodyPr wrap="square" lIns="0" tIns="0" rIns="0" bIns="0" rtlCol="0" anchor="ctr">
            <a:normAutofit/>
          </a:bodyPr>
          <a:lstStyle/>
          <a:p>
            <a:pPr marL="0" indent="0" algn="l">
              <a:buNone/>
            </a:pPr>
            <a:r>
              <a:rPr lang="en-US" sz="1650" b="1" dirty="0">
                <a:solidFill>
                  <a:srgbClr val="0D2447"/>
                </a:solidFill>
                <a:latin typeface="Arial" pitchFamily="34" charset="0"/>
                <a:ea typeface="Arial" pitchFamily="34" charset="-122"/>
                <a:cs typeface="Arial" pitchFamily="34" charset="-120"/>
              </a:rPr>
              <a:t>Bằng chứng tự động hỗ trợ Hội đồng, không thay thế thẩm định độc lập.</a:t>
            </a:r>
            <a:endParaRPr lang="en-US" sz="165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data/acceptance-report.json</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9</a:t>
            </a:r>
            <a:endParaRPr lang="en-US" sz="820" dirty="0"/>
          </a:p>
        </p:txBody>
      </p:sp>
      <p:sp>
        <p:nvSpPr>
          <p:cNvPr id="13" name="Shape 10"/>
          <p:cNvSpPr/>
          <p:nvPr/>
        </p:nvSpPr>
        <p:spPr>
          <a:xfrm>
            <a:off x="658368" y="1938528"/>
            <a:ext cx="2331720" cy="4096512"/>
          </a:xfrm>
          <a:prstGeom prst="roundRect">
            <a:avLst>
              <a:gd name="adj" fmla="val 1569"/>
            </a:avLst>
          </a:prstGeom>
          <a:solidFill>
            <a:srgbClr val="FFFFFF"/>
          </a:solidFill>
          <a:ln w="12700">
            <a:solidFill>
              <a:srgbClr val="0D2447"/>
            </a:solidFill>
            <a:prstDash val="solid"/>
          </a:ln>
        </p:spPr>
      </p:sp>
      <p:pic>
        <p:nvPicPr>
          <p:cNvPr id="14" name="Image 0" descr="Viewport 390 × 844"/>
          <p:cNvPicPr>
            <a:picLocks noChangeAspect="1"/>
          </p:cNvPicPr>
          <p:nvPr/>
        </p:nvPicPr>
        <p:blipFill>
          <a:blip r:embed="rId3"/>
          <a:stretch>
            <a:fillRect/>
          </a:stretch>
        </p:blipFill>
        <p:spPr>
          <a:xfrm>
            <a:off x="970716" y="2011680"/>
            <a:ext cx="1707024" cy="3694176"/>
          </a:xfrm>
          <a:prstGeom prst="rect">
            <a:avLst/>
          </a:prstGeom>
        </p:spPr>
      </p:pic>
      <p:sp>
        <p:nvSpPr>
          <p:cNvPr id="15" name="Text 11"/>
          <p:cNvSpPr txBox="1"/>
          <p:nvPr/>
        </p:nvSpPr>
        <p:spPr>
          <a:xfrm>
            <a:off x="768096" y="5815584"/>
            <a:ext cx="2112264"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Viewport 390 × 844</a:t>
            </a:r>
            <a:endParaRPr lang="en-US" sz="850" dirty="0"/>
          </a:p>
        </p:txBody>
      </p:sp>
      <p:sp>
        <p:nvSpPr>
          <p:cNvPr id="16" name="Shape 12"/>
          <p:cNvSpPr/>
          <p:nvPr/>
        </p:nvSpPr>
        <p:spPr>
          <a:xfrm>
            <a:off x="3200400" y="1938528"/>
            <a:ext cx="8339328" cy="676656"/>
          </a:xfrm>
          <a:prstGeom prst="roundRect">
            <a:avLst>
              <a:gd name="adj" fmla="val 5405"/>
            </a:avLst>
          </a:prstGeom>
          <a:solidFill>
            <a:srgbClr val="EEF2F7"/>
          </a:solidFill>
          <a:ln w="12700">
            <a:solidFill>
              <a:srgbClr val="15355F"/>
            </a:solidFill>
            <a:prstDash val="solid"/>
          </a:ln>
        </p:spPr>
      </p:sp>
      <p:sp>
        <p:nvSpPr>
          <p:cNvPr id="17" name="Text 13"/>
          <p:cNvSpPr txBox="1"/>
          <p:nvPr/>
        </p:nvSpPr>
        <p:spPr>
          <a:xfrm>
            <a:off x="3456432" y="2075688"/>
            <a:ext cx="1371600" cy="274320"/>
          </a:xfrm>
          <a:prstGeom prst="rect">
            <a:avLst/>
          </a:prstGeom>
          <a:noFill/>
          <a:ln/>
        </p:spPr>
        <p:txBody>
          <a:bodyPr wrap="square" lIns="0" tIns="0" rIns="0" bIns="0" rtlCol="0" anchor="t">
            <a:normAutofit/>
          </a:bodyPr>
          <a:lstStyle/>
          <a:p>
            <a:pPr marL="0" indent="0" algn="l">
              <a:buNone/>
            </a:pPr>
            <a:r>
              <a:rPr lang="en-US" sz="1700" b="1" dirty="0">
                <a:solidFill>
                  <a:srgbClr val="15355F"/>
                </a:solidFill>
                <a:latin typeface="Arial" pitchFamily="34" charset="0"/>
                <a:ea typeface="Arial" pitchFamily="34" charset="-122"/>
                <a:cs typeface="Arial" pitchFamily="34" charset="-120"/>
              </a:rPr>
              <a:t>Máy kiểm</a:t>
            </a:r>
            <a:endParaRPr lang="en-US" sz="1700" dirty="0"/>
          </a:p>
        </p:txBody>
      </p:sp>
      <p:sp>
        <p:nvSpPr>
          <p:cNvPr id="18" name="Text 14"/>
          <p:cNvSpPr txBox="1"/>
          <p:nvPr/>
        </p:nvSpPr>
        <p:spPr>
          <a:xfrm>
            <a:off x="4892040" y="2066544"/>
            <a:ext cx="6309360" cy="292608"/>
          </a:xfrm>
          <a:prstGeom prst="rect">
            <a:avLst/>
          </a:prstGeom>
          <a:noFill/>
          <a:ln/>
        </p:spPr>
        <p:txBody>
          <a:bodyPr wrap="square" lIns="0" tIns="0" rIns="0" bIns="0" rtlCol="0" anchor="t">
            <a:normAutofit/>
          </a:bodyPr>
          <a:lstStyle/>
          <a:p>
            <a:pPr marL="0" indent="0" algn="ctr">
              <a:buNone/>
            </a:pPr>
            <a:r>
              <a:rPr lang="en-US" sz="1550" dirty="0">
                <a:solidFill>
                  <a:srgbClr val="243247"/>
                </a:solidFill>
                <a:latin typeface="Arial" pitchFamily="34" charset="0"/>
                <a:ea typeface="Arial" pitchFamily="34" charset="-122"/>
                <a:cs typeface="Arial" pitchFamily="34" charset="-120"/>
              </a:rPr>
              <a:t>route · hình · công thức · bàn phím · reflow · package</a:t>
            </a:r>
            <a:endParaRPr lang="en-US" sz="1550" dirty="0"/>
          </a:p>
        </p:txBody>
      </p:sp>
      <p:sp>
        <p:nvSpPr>
          <p:cNvPr id="19" name="Shape 15"/>
          <p:cNvSpPr/>
          <p:nvPr/>
        </p:nvSpPr>
        <p:spPr>
          <a:xfrm>
            <a:off x="3200400" y="2798064"/>
            <a:ext cx="8339328" cy="676656"/>
          </a:xfrm>
          <a:prstGeom prst="roundRect">
            <a:avLst>
              <a:gd name="adj" fmla="val 5405"/>
            </a:avLst>
          </a:prstGeom>
          <a:solidFill>
            <a:srgbClr val="FFFFFF"/>
          </a:solidFill>
          <a:ln w="12700">
            <a:solidFill>
              <a:srgbClr val="C9963A"/>
            </a:solidFill>
            <a:prstDash val="solid"/>
          </a:ln>
        </p:spPr>
      </p:sp>
      <p:sp>
        <p:nvSpPr>
          <p:cNvPr id="20" name="Text 16"/>
          <p:cNvSpPr txBox="1"/>
          <p:nvPr/>
        </p:nvSpPr>
        <p:spPr>
          <a:xfrm>
            <a:off x="3456432" y="2935224"/>
            <a:ext cx="1371600" cy="274320"/>
          </a:xfrm>
          <a:prstGeom prst="rect">
            <a:avLst/>
          </a:prstGeom>
          <a:noFill/>
          <a:ln/>
        </p:spPr>
        <p:txBody>
          <a:bodyPr wrap="square" lIns="0" tIns="0" rIns="0" bIns="0" rtlCol="0" anchor="t">
            <a:normAutofit/>
          </a:bodyPr>
          <a:lstStyle/>
          <a:p>
            <a:pPr marL="0" indent="0" algn="l">
              <a:buNone/>
            </a:pPr>
            <a:r>
              <a:rPr lang="en-US" sz="1700" b="1" dirty="0">
                <a:solidFill>
                  <a:srgbClr val="C9963A"/>
                </a:solidFill>
                <a:latin typeface="Arial" pitchFamily="34" charset="0"/>
                <a:ea typeface="Arial" pitchFamily="34" charset="-122"/>
                <a:cs typeface="Arial" pitchFamily="34" charset="-120"/>
              </a:rPr>
              <a:t>Người kiểm</a:t>
            </a:r>
            <a:endParaRPr lang="en-US" sz="1700" dirty="0"/>
          </a:p>
        </p:txBody>
      </p:sp>
      <p:sp>
        <p:nvSpPr>
          <p:cNvPr id="21" name="Text 17"/>
          <p:cNvSpPr txBox="1"/>
          <p:nvPr/>
        </p:nvSpPr>
        <p:spPr>
          <a:xfrm>
            <a:off x="4892040" y="2926080"/>
            <a:ext cx="6309360" cy="292608"/>
          </a:xfrm>
          <a:prstGeom prst="rect">
            <a:avLst/>
          </a:prstGeom>
          <a:noFill/>
          <a:ln/>
        </p:spPr>
        <p:txBody>
          <a:bodyPr wrap="square" lIns="0" tIns="0" rIns="0" bIns="0" rtlCol="0" anchor="t">
            <a:normAutofit/>
          </a:bodyPr>
          <a:lstStyle/>
          <a:p>
            <a:pPr marL="0" indent="0" algn="ctr">
              <a:buNone/>
            </a:pPr>
            <a:r>
              <a:rPr lang="en-US" sz="1550" dirty="0">
                <a:solidFill>
                  <a:srgbClr val="243247"/>
                </a:solidFill>
                <a:latin typeface="Arial" pitchFamily="34" charset="0"/>
                <a:ea typeface="Arial" pitchFamily="34" charset="-122"/>
                <a:cs typeface="Arial" pitchFamily="34" charset="-120"/>
              </a:rPr>
              <a:t>thuật ngữ · đơn vị · mô hình · sai số · giá trị sư phạm</a:t>
            </a:r>
            <a:endParaRPr lang="en-US" sz="1550" dirty="0"/>
          </a:p>
        </p:txBody>
      </p:sp>
      <p:sp>
        <p:nvSpPr>
          <p:cNvPr id="22" name="Shape 18"/>
          <p:cNvSpPr/>
          <p:nvPr/>
        </p:nvSpPr>
        <p:spPr>
          <a:xfrm>
            <a:off x="3200400" y="3822192"/>
            <a:ext cx="4050792" cy="1956816"/>
          </a:xfrm>
          <a:prstGeom prst="roundRect">
            <a:avLst>
              <a:gd name="adj" fmla="val 1869"/>
            </a:avLst>
          </a:prstGeom>
          <a:solidFill>
            <a:srgbClr val="FFFFFF"/>
          </a:solidFill>
          <a:ln w="12700">
            <a:solidFill>
              <a:srgbClr val="137A3D"/>
            </a:solidFill>
            <a:prstDash val="solid"/>
          </a:ln>
        </p:spPr>
      </p:sp>
      <p:sp>
        <p:nvSpPr>
          <p:cNvPr id="23" name="Text 19"/>
          <p:cNvSpPr txBox="1"/>
          <p:nvPr/>
        </p:nvSpPr>
        <p:spPr>
          <a:xfrm>
            <a:off x="3401568" y="4041648"/>
            <a:ext cx="3639312" cy="292608"/>
          </a:xfrm>
          <a:prstGeom prst="rect">
            <a:avLst/>
          </a:prstGeom>
          <a:noFill/>
          <a:ln/>
        </p:spPr>
        <p:txBody>
          <a:bodyPr wrap="square" lIns="0" tIns="0" rIns="0" bIns="0" rtlCol="0" anchor="t">
            <a:normAutofit/>
          </a:bodyPr>
          <a:lstStyle/>
          <a:p>
            <a:pPr marL="0" indent="0" algn="ctr">
              <a:buNone/>
            </a:pPr>
            <a:r>
              <a:rPr lang="en-US" sz="1650" b="1" dirty="0">
                <a:solidFill>
                  <a:srgbClr val="137A3D"/>
                </a:solidFill>
                <a:latin typeface="Arial" pitchFamily="34" charset="0"/>
                <a:ea typeface="Arial" pitchFamily="34" charset="-122"/>
                <a:cs typeface="Arial" pitchFamily="34" charset="-120"/>
              </a:rPr>
              <a:t>Đã có bằng chứng kỹ thuật</a:t>
            </a:r>
            <a:endParaRPr lang="en-US" sz="1650" dirty="0"/>
          </a:p>
        </p:txBody>
      </p:sp>
      <p:sp>
        <p:nvSpPr>
          <p:cNvPr id="24" name="Shape 20"/>
          <p:cNvSpPr/>
          <p:nvPr/>
        </p:nvSpPr>
        <p:spPr>
          <a:xfrm>
            <a:off x="3456432" y="4663440"/>
            <a:ext cx="91440" cy="91440"/>
          </a:xfrm>
          <a:prstGeom prst="ellipse">
            <a:avLst/>
          </a:prstGeom>
          <a:solidFill>
            <a:srgbClr val="C9963A"/>
          </a:solidFill>
          <a:ln w="12700">
            <a:solidFill>
              <a:srgbClr val="C9963A"/>
            </a:solidFill>
            <a:prstDash val="solid"/>
          </a:ln>
        </p:spPr>
      </p:sp>
      <p:sp>
        <p:nvSpPr>
          <p:cNvPr id="25" name="Text 21"/>
          <p:cNvSpPr txBox="1"/>
          <p:nvPr/>
        </p:nvSpPr>
        <p:spPr>
          <a:xfrm>
            <a:off x="3675888" y="4553712"/>
            <a:ext cx="3310128" cy="420624"/>
          </a:xfrm>
          <a:prstGeom prst="rect">
            <a:avLst/>
          </a:prstGeom>
          <a:noFill/>
          <a:ln/>
        </p:spPr>
        <p:txBody>
          <a:bodyPr wrap="square" lIns="0" tIns="0" rIns="0" bIns="0" rtlCol="0" anchor="ctr">
            <a:normAutofit/>
          </a:bodyPr>
          <a:lstStyle/>
          <a:p>
            <a:pPr marL="0" indent="0" algn="l">
              <a:buNone/>
            </a:pPr>
            <a:r>
              <a:rPr lang="en-US" sz="1450" dirty="0">
                <a:solidFill>
                  <a:srgbClr val="243247"/>
                </a:solidFill>
                <a:latin typeface="Arial" pitchFamily="34" charset="0"/>
                <a:ea typeface="Arial" pitchFamily="34" charset="-122"/>
                <a:cs typeface="Arial" pitchFamily="34" charset="-120"/>
              </a:rPr>
              <a:t>Responsive 320–1440 px</a:t>
            </a:r>
            <a:endParaRPr lang="en-US" sz="1450" dirty="0"/>
          </a:p>
        </p:txBody>
      </p:sp>
      <p:sp>
        <p:nvSpPr>
          <p:cNvPr id="26" name="Shape 22"/>
          <p:cNvSpPr/>
          <p:nvPr/>
        </p:nvSpPr>
        <p:spPr>
          <a:xfrm>
            <a:off x="3456432" y="5102352"/>
            <a:ext cx="91440" cy="91440"/>
          </a:xfrm>
          <a:prstGeom prst="ellipse">
            <a:avLst/>
          </a:prstGeom>
          <a:solidFill>
            <a:srgbClr val="C9963A"/>
          </a:solidFill>
          <a:ln w="12700">
            <a:solidFill>
              <a:srgbClr val="C9963A"/>
            </a:solidFill>
            <a:prstDash val="solid"/>
          </a:ln>
        </p:spPr>
      </p:sp>
      <p:sp>
        <p:nvSpPr>
          <p:cNvPr id="27" name="Text 23"/>
          <p:cNvSpPr txBox="1"/>
          <p:nvPr/>
        </p:nvSpPr>
        <p:spPr>
          <a:xfrm>
            <a:off x="3675888" y="4992624"/>
            <a:ext cx="3310128" cy="420624"/>
          </a:xfrm>
          <a:prstGeom prst="rect">
            <a:avLst/>
          </a:prstGeom>
          <a:noFill/>
          <a:ln/>
        </p:spPr>
        <p:txBody>
          <a:bodyPr wrap="square" lIns="0" tIns="0" rIns="0" bIns="0" rtlCol="0" anchor="ctr">
            <a:normAutofit/>
          </a:bodyPr>
          <a:lstStyle/>
          <a:p>
            <a:pPr marL="0" indent="0" algn="l">
              <a:buNone/>
            </a:pPr>
            <a:r>
              <a:rPr lang="en-US" sz="1450" dirty="0">
                <a:solidFill>
                  <a:srgbClr val="243247"/>
                </a:solidFill>
                <a:latin typeface="Arial" pitchFamily="34" charset="0"/>
                <a:ea typeface="Arial" pitchFamily="34" charset="-122"/>
                <a:cs typeface="Arial" pitchFamily="34" charset="-120"/>
              </a:rPr>
              <a:t>Keyboard/reflow/contrast contracts</a:t>
            </a:r>
            <a:endParaRPr lang="en-US" sz="1450" dirty="0"/>
          </a:p>
        </p:txBody>
      </p:sp>
      <p:sp>
        <p:nvSpPr>
          <p:cNvPr id="28" name="Shape 24"/>
          <p:cNvSpPr/>
          <p:nvPr/>
        </p:nvSpPr>
        <p:spPr>
          <a:xfrm>
            <a:off x="3456432" y="5541264"/>
            <a:ext cx="91440" cy="91440"/>
          </a:xfrm>
          <a:prstGeom prst="ellipse">
            <a:avLst/>
          </a:prstGeom>
          <a:solidFill>
            <a:srgbClr val="C9963A"/>
          </a:solidFill>
          <a:ln w="12700">
            <a:solidFill>
              <a:srgbClr val="C9963A"/>
            </a:solidFill>
            <a:prstDash val="solid"/>
          </a:ln>
        </p:spPr>
      </p:sp>
      <p:sp>
        <p:nvSpPr>
          <p:cNvPr id="29" name="Text 25"/>
          <p:cNvSpPr txBox="1"/>
          <p:nvPr/>
        </p:nvSpPr>
        <p:spPr>
          <a:xfrm>
            <a:off x="3675888" y="5431536"/>
            <a:ext cx="3310128" cy="420624"/>
          </a:xfrm>
          <a:prstGeom prst="rect">
            <a:avLst/>
          </a:prstGeom>
          <a:noFill/>
          <a:ln/>
        </p:spPr>
        <p:txBody>
          <a:bodyPr wrap="square" lIns="0" tIns="0" rIns="0" bIns="0" rtlCol="0" anchor="ctr">
            <a:normAutofit/>
          </a:bodyPr>
          <a:lstStyle/>
          <a:p>
            <a:pPr marL="0" indent="0" algn="l">
              <a:buNone/>
            </a:pPr>
            <a:r>
              <a:rPr lang="en-US" sz="1450" dirty="0">
                <a:solidFill>
                  <a:srgbClr val="243247"/>
                </a:solidFill>
                <a:latin typeface="Arial" pitchFamily="34" charset="0"/>
                <a:ea typeface="Arial" pitchFamily="34" charset="-122"/>
                <a:cs typeface="Arial" pitchFamily="34" charset="-120"/>
              </a:rPr>
              <a:t>Reduced motion và alt text</a:t>
            </a:r>
            <a:endParaRPr lang="en-US" sz="1450" dirty="0"/>
          </a:p>
        </p:txBody>
      </p:sp>
      <p:sp>
        <p:nvSpPr>
          <p:cNvPr id="30" name="Shape 26"/>
          <p:cNvSpPr/>
          <p:nvPr/>
        </p:nvSpPr>
        <p:spPr>
          <a:xfrm>
            <a:off x="7488936" y="3822192"/>
            <a:ext cx="4050792" cy="1956816"/>
          </a:xfrm>
          <a:prstGeom prst="roundRect">
            <a:avLst>
              <a:gd name="adj" fmla="val 1869"/>
            </a:avLst>
          </a:prstGeom>
          <a:solidFill>
            <a:srgbClr val="FFFFFF"/>
          </a:solidFill>
          <a:ln w="12700">
            <a:solidFill>
              <a:srgbClr val="9A5B00"/>
            </a:solidFill>
            <a:prstDash val="solid"/>
          </a:ln>
        </p:spPr>
      </p:sp>
      <p:sp>
        <p:nvSpPr>
          <p:cNvPr id="31" name="Text 27"/>
          <p:cNvSpPr txBox="1"/>
          <p:nvPr/>
        </p:nvSpPr>
        <p:spPr>
          <a:xfrm>
            <a:off x="7690104" y="4041648"/>
            <a:ext cx="3639312" cy="292608"/>
          </a:xfrm>
          <a:prstGeom prst="rect">
            <a:avLst/>
          </a:prstGeom>
          <a:noFill/>
          <a:ln/>
        </p:spPr>
        <p:txBody>
          <a:bodyPr wrap="square" lIns="0" tIns="0" rIns="0" bIns="0" rtlCol="0" anchor="t">
            <a:normAutofit/>
          </a:bodyPr>
          <a:lstStyle/>
          <a:p>
            <a:pPr marL="0" indent="0" algn="ctr">
              <a:buNone/>
            </a:pPr>
            <a:r>
              <a:rPr lang="en-US" sz="1650" b="1" dirty="0">
                <a:solidFill>
                  <a:srgbClr val="9A5B00"/>
                </a:solidFill>
                <a:latin typeface="Arial" pitchFamily="34" charset="0"/>
                <a:ea typeface="Arial" pitchFamily="34" charset="-122"/>
                <a:cs typeface="Arial" pitchFamily="34" charset="-120"/>
              </a:rPr>
              <a:t>Còn cần đánh giá độc lập</a:t>
            </a:r>
            <a:endParaRPr lang="en-US" sz="1650" dirty="0"/>
          </a:p>
        </p:txBody>
      </p:sp>
      <p:sp>
        <p:nvSpPr>
          <p:cNvPr id="32" name="Shape 28"/>
          <p:cNvSpPr/>
          <p:nvPr/>
        </p:nvSpPr>
        <p:spPr>
          <a:xfrm>
            <a:off x="7744968" y="4663440"/>
            <a:ext cx="91440" cy="91440"/>
          </a:xfrm>
          <a:prstGeom prst="ellipse">
            <a:avLst/>
          </a:prstGeom>
          <a:solidFill>
            <a:srgbClr val="C9963A"/>
          </a:solidFill>
          <a:ln w="12700">
            <a:solidFill>
              <a:srgbClr val="C9963A"/>
            </a:solidFill>
            <a:prstDash val="solid"/>
          </a:ln>
        </p:spPr>
      </p:sp>
      <p:sp>
        <p:nvSpPr>
          <p:cNvPr id="33" name="Text 29"/>
          <p:cNvSpPr txBox="1"/>
          <p:nvPr/>
        </p:nvSpPr>
        <p:spPr>
          <a:xfrm>
            <a:off x="7964424" y="4553712"/>
            <a:ext cx="3310128" cy="420624"/>
          </a:xfrm>
          <a:prstGeom prst="rect">
            <a:avLst/>
          </a:prstGeom>
          <a:noFill/>
          <a:ln/>
        </p:spPr>
        <p:txBody>
          <a:bodyPr wrap="square" lIns="0" tIns="0" rIns="0" bIns="0" rtlCol="0" anchor="ctr">
            <a:normAutofit/>
          </a:bodyPr>
          <a:lstStyle/>
          <a:p>
            <a:pPr marL="0" indent="0" algn="l">
              <a:buNone/>
            </a:pPr>
            <a:r>
              <a:rPr lang="en-US" sz="1450" dirty="0">
                <a:solidFill>
                  <a:srgbClr val="243247"/>
                </a:solidFill>
                <a:latin typeface="Arial" pitchFamily="34" charset="0"/>
                <a:ea typeface="Arial" pitchFamily="34" charset="-122"/>
                <a:cs typeface="Arial" pitchFamily="34" charset="-120"/>
              </a:rPr>
              <a:t>Screen-reader walkthrough</a:t>
            </a:r>
            <a:endParaRPr lang="en-US" sz="1450" dirty="0"/>
          </a:p>
        </p:txBody>
      </p:sp>
      <p:sp>
        <p:nvSpPr>
          <p:cNvPr id="34" name="Shape 30"/>
          <p:cNvSpPr/>
          <p:nvPr/>
        </p:nvSpPr>
        <p:spPr>
          <a:xfrm>
            <a:off x="7744968" y="5102352"/>
            <a:ext cx="91440" cy="91440"/>
          </a:xfrm>
          <a:prstGeom prst="ellipse">
            <a:avLst/>
          </a:prstGeom>
          <a:solidFill>
            <a:srgbClr val="C9963A"/>
          </a:solidFill>
          <a:ln w="12700">
            <a:solidFill>
              <a:srgbClr val="C9963A"/>
            </a:solidFill>
            <a:prstDash val="solid"/>
          </a:ln>
        </p:spPr>
      </p:sp>
      <p:sp>
        <p:nvSpPr>
          <p:cNvPr id="35" name="Text 31"/>
          <p:cNvSpPr txBox="1"/>
          <p:nvPr/>
        </p:nvSpPr>
        <p:spPr>
          <a:xfrm>
            <a:off x="7964424" y="4992624"/>
            <a:ext cx="3310128" cy="420624"/>
          </a:xfrm>
          <a:prstGeom prst="rect">
            <a:avLst/>
          </a:prstGeom>
          <a:noFill/>
          <a:ln/>
        </p:spPr>
        <p:txBody>
          <a:bodyPr wrap="square" lIns="0" tIns="0" rIns="0" bIns="0" rtlCol="0" anchor="ctr">
            <a:normAutofit/>
          </a:bodyPr>
          <a:lstStyle/>
          <a:p>
            <a:pPr marL="0" indent="0" algn="l">
              <a:buNone/>
            </a:pPr>
            <a:r>
              <a:rPr lang="en-US" sz="1450" dirty="0">
                <a:solidFill>
                  <a:srgbClr val="243247"/>
                </a:solidFill>
                <a:latin typeface="Arial" pitchFamily="34" charset="0"/>
                <a:ea typeface="Arial" pitchFamily="34" charset="-122"/>
                <a:cs typeface="Arial" pitchFamily="34" charset="-120"/>
              </a:rPr>
              <a:t>Tương đương trực quan khoa học</a:t>
            </a:r>
            <a:endParaRPr lang="en-US" sz="1450" dirty="0"/>
          </a:p>
        </p:txBody>
      </p:sp>
      <p:sp>
        <p:nvSpPr>
          <p:cNvPr id="36" name="Shape 32"/>
          <p:cNvSpPr/>
          <p:nvPr/>
        </p:nvSpPr>
        <p:spPr>
          <a:xfrm>
            <a:off x="7744968" y="5541264"/>
            <a:ext cx="91440" cy="91440"/>
          </a:xfrm>
          <a:prstGeom prst="ellipse">
            <a:avLst/>
          </a:prstGeom>
          <a:solidFill>
            <a:srgbClr val="C9963A"/>
          </a:solidFill>
          <a:ln w="12700">
            <a:solidFill>
              <a:srgbClr val="C9963A"/>
            </a:solidFill>
            <a:prstDash val="solid"/>
          </a:ln>
        </p:spPr>
      </p:sp>
      <p:sp>
        <p:nvSpPr>
          <p:cNvPr id="37" name="Text 33"/>
          <p:cNvSpPr txBox="1"/>
          <p:nvPr/>
        </p:nvSpPr>
        <p:spPr>
          <a:xfrm>
            <a:off x="7964424" y="5431536"/>
            <a:ext cx="3310128" cy="420624"/>
          </a:xfrm>
          <a:prstGeom prst="rect">
            <a:avLst/>
          </a:prstGeom>
          <a:noFill/>
          <a:ln/>
        </p:spPr>
        <p:txBody>
          <a:bodyPr wrap="square" lIns="0" tIns="0" rIns="0" bIns="0" rtlCol="0" anchor="ctr">
            <a:normAutofit/>
          </a:bodyPr>
          <a:lstStyle/>
          <a:p>
            <a:pPr marL="0" indent="0" algn="l">
              <a:buNone/>
            </a:pPr>
            <a:r>
              <a:rPr lang="en-US" sz="1450" dirty="0">
                <a:solidFill>
                  <a:srgbClr val="243247"/>
                </a:solidFill>
                <a:latin typeface="Arial" pitchFamily="34" charset="0"/>
                <a:ea typeface="Arial" pitchFamily="34" charset="-122"/>
                <a:cs typeface="Arial" pitchFamily="34" charset="-120"/>
              </a:rPr>
              <a:t>Phê duyệt nội dung độc lập</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600" b="1" dirty="0">
                <a:solidFill>
                  <a:srgbClr val="07182F"/>
                </a:solidFill>
                <a:latin typeface="Georgia" pitchFamily="34" charset="0"/>
                <a:ea typeface="Georgia" pitchFamily="34" charset="-122"/>
                <a:cs typeface="Georgia" pitchFamily="34" charset="-120"/>
              </a:rPr>
              <a:t>Ứng viên 2026.09.02 đã khóa hash</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10</a:t>
            </a:r>
            <a:endParaRPr lang="en-US" sz="1000" dirty="0"/>
          </a:p>
        </p:txBody>
      </p:sp>
      <p:sp>
        <p:nvSpPr>
          <p:cNvPr id="6" name="Shape 4"/>
          <p:cNvSpPr/>
          <p:nvPr/>
        </p:nvSpPr>
        <p:spPr>
          <a:xfrm>
            <a:off x="612648" y="1408176"/>
            <a:ext cx="10972800" cy="457200"/>
          </a:xfrm>
          <a:prstGeom prst="rect">
            <a:avLst/>
          </a:prstGeom>
          <a:solidFill>
            <a:srgbClr val="EEF2F7"/>
          </a:solidFill>
          <a:ln w="12700">
            <a:solidFill>
              <a:srgbClr val="D7DEE8"/>
            </a:solidFill>
            <a:prstDash val="solid"/>
          </a:ln>
        </p:spPr>
      </p:sp>
      <p:sp>
        <p:nvSpPr>
          <p:cNvPr id="7" name="Text 5"/>
          <p:cNvSpPr txBox="1"/>
          <p:nvPr/>
        </p:nvSpPr>
        <p:spPr>
          <a:xfrm>
            <a:off x="822960" y="1481328"/>
            <a:ext cx="10561320" cy="274320"/>
          </a:xfrm>
          <a:prstGeom prst="rect">
            <a:avLst/>
          </a:prstGeom>
          <a:noFill/>
          <a:ln/>
        </p:spPr>
        <p:txBody>
          <a:bodyPr wrap="square" lIns="0" tIns="0" rIns="0" bIns="0" rtlCol="0" anchor="ctr">
            <a:normAutofit/>
          </a:bodyPr>
          <a:lstStyle/>
          <a:p>
            <a:pPr marL="0" indent="0" algn="l">
              <a:buNone/>
            </a:pPr>
            <a:r>
              <a:rPr lang="en-US" sz="1650" b="1" dirty="0">
                <a:solidFill>
                  <a:srgbClr val="0D2447"/>
                </a:solidFill>
                <a:latin typeface="Arial" pitchFamily="34" charset="0"/>
                <a:ea typeface="Arial" pitchFamily="34" charset="-122"/>
                <a:cs typeface="Arial" pitchFamily="34" charset="-120"/>
              </a:rPr>
              <a:t>372 tệp · 78,7 MB (75,1 MiB) · Build Epoch 1788307200 · SHA-256 xác thực.</a:t>
            </a:r>
            <a:endParaRPr lang="en-US" sz="165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data/release-candidate.json</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10</a:t>
            </a:r>
            <a:endParaRPr lang="en-US" sz="820" dirty="0"/>
          </a:p>
        </p:txBody>
      </p:sp>
      <p:sp>
        <p:nvSpPr>
          <p:cNvPr id="13" name="Shape 10"/>
          <p:cNvSpPr/>
          <p:nvPr/>
        </p:nvSpPr>
        <p:spPr>
          <a:xfrm>
            <a:off x="658368" y="2029968"/>
            <a:ext cx="1737360" cy="1060704"/>
          </a:xfrm>
          <a:prstGeom prst="roundRect">
            <a:avLst>
              <a:gd name="adj" fmla="val 3448"/>
            </a:avLst>
          </a:prstGeom>
          <a:solidFill>
            <a:srgbClr val="FFFFFF"/>
          </a:solidFill>
          <a:ln w="12700">
            <a:solidFill>
              <a:srgbClr val="D7DEE8"/>
            </a:solidFill>
            <a:prstDash val="solid"/>
          </a:ln>
        </p:spPr>
      </p:sp>
      <p:sp>
        <p:nvSpPr>
          <p:cNvPr id="14" name="Text 11"/>
          <p:cNvSpPr txBox="1"/>
          <p:nvPr/>
        </p:nvSpPr>
        <p:spPr>
          <a:xfrm>
            <a:off x="749808" y="2139696"/>
            <a:ext cx="1554480" cy="457200"/>
          </a:xfrm>
          <a:prstGeom prst="rect">
            <a:avLst/>
          </a:prstGeom>
          <a:noFill/>
          <a:ln/>
        </p:spPr>
        <p:txBody>
          <a:bodyPr wrap="square" lIns="0" tIns="0" rIns="0" bIns="0" rtlCol="0" anchor="ctr">
            <a:normAutofit/>
          </a:bodyPr>
          <a:lstStyle/>
          <a:p>
            <a:pPr marL="0" indent="0" algn="ctr">
              <a:buNone/>
            </a:pPr>
            <a:r>
              <a:rPr lang="en-US" sz="3200" b="1" dirty="0">
                <a:solidFill>
                  <a:srgbClr val="0D2447"/>
                </a:solidFill>
                <a:latin typeface="Arial" pitchFamily="34" charset="0"/>
                <a:ea typeface="Arial" pitchFamily="34" charset="-122"/>
                <a:cs typeface="Arial" pitchFamily="34" charset="-120"/>
              </a:rPr>
              <a:t>372</a:t>
            </a:r>
            <a:endParaRPr lang="en-US" sz="3200" dirty="0"/>
          </a:p>
        </p:txBody>
      </p:sp>
      <p:sp>
        <p:nvSpPr>
          <p:cNvPr id="15" name="Text 12"/>
          <p:cNvSpPr txBox="1"/>
          <p:nvPr/>
        </p:nvSpPr>
        <p:spPr>
          <a:xfrm>
            <a:off x="749808" y="2697480"/>
            <a:ext cx="1554480" cy="237744"/>
          </a:xfrm>
          <a:prstGeom prst="rect">
            <a:avLst/>
          </a:prstGeom>
          <a:noFill/>
          <a:ln/>
        </p:spPr>
        <p:txBody>
          <a:bodyPr wrap="square" lIns="0" tIns="0" rIns="0" bIns="0" rtlCol="0" anchor="ctr">
            <a:normAutofit/>
          </a:bodyPr>
          <a:lstStyle/>
          <a:p>
            <a:pPr marL="0" indent="0" algn="ctr">
              <a:buNone/>
            </a:pPr>
            <a:r>
              <a:rPr lang="en-US" sz="1200" dirty="0">
                <a:solidFill>
                  <a:srgbClr val="5B6B80"/>
                </a:solidFill>
                <a:latin typeface="Arial" pitchFamily="34" charset="0"/>
                <a:ea typeface="Arial" pitchFamily="34" charset="-122"/>
                <a:cs typeface="Arial" pitchFamily="34" charset="-120"/>
              </a:rPr>
              <a:t>tệp staging</a:t>
            </a:r>
            <a:endParaRPr lang="en-US" sz="1200" dirty="0"/>
          </a:p>
        </p:txBody>
      </p:sp>
      <p:sp>
        <p:nvSpPr>
          <p:cNvPr id="16" name="Shape 13"/>
          <p:cNvSpPr/>
          <p:nvPr/>
        </p:nvSpPr>
        <p:spPr>
          <a:xfrm>
            <a:off x="2651760" y="2029968"/>
            <a:ext cx="1737360" cy="1060704"/>
          </a:xfrm>
          <a:prstGeom prst="roundRect">
            <a:avLst>
              <a:gd name="adj" fmla="val 3448"/>
            </a:avLst>
          </a:prstGeom>
          <a:solidFill>
            <a:srgbClr val="FFFFFF"/>
          </a:solidFill>
          <a:ln w="12700">
            <a:solidFill>
              <a:srgbClr val="D7DEE8"/>
            </a:solidFill>
            <a:prstDash val="solid"/>
          </a:ln>
        </p:spPr>
      </p:sp>
      <p:sp>
        <p:nvSpPr>
          <p:cNvPr id="17" name="Text 14"/>
          <p:cNvSpPr txBox="1"/>
          <p:nvPr/>
        </p:nvSpPr>
        <p:spPr>
          <a:xfrm>
            <a:off x="2743200" y="2139696"/>
            <a:ext cx="1554480" cy="457200"/>
          </a:xfrm>
          <a:prstGeom prst="rect">
            <a:avLst/>
          </a:prstGeom>
          <a:noFill/>
          <a:ln/>
        </p:spPr>
        <p:txBody>
          <a:bodyPr wrap="square" lIns="0" tIns="0" rIns="0" bIns="0" rtlCol="0" anchor="ctr">
            <a:normAutofit/>
          </a:bodyPr>
          <a:lstStyle/>
          <a:p>
            <a:pPr marL="0" indent="0" algn="ctr">
              <a:buNone/>
            </a:pPr>
            <a:r>
              <a:rPr lang="en-US" sz="3200" b="1" dirty="0">
                <a:solidFill>
                  <a:srgbClr val="0D2447"/>
                </a:solidFill>
                <a:latin typeface="Arial" pitchFamily="34" charset="0"/>
                <a:ea typeface="Arial" pitchFamily="34" charset="-122"/>
                <a:cs typeface="Arial" pitchFamily="34" charset="-120"/>
              </a:rPr>
              <a:t>78,7 MB</a:t>
            </a:r>
            <a:endParaRPr lang="en-US" sz="3200" dirty="0"/>
          </a:p>
        </p:txBody>
      </p:sp>
      <p:sp>
        <p:nvSpPr>
          <p:cNvPr id="18" name="Text 15"/>
          <p:cNvSpPr txBox="1"/>
          <p:nvPr/>
        </p:nvSpPr>
        <p:spPr>
          <a:xfrm>
            <a:off x="2743200" y="2697480"/>
            <a:ext cx="1554480" cy="237744"/>
          </a:xfrm>
          <a:prstGeom prst="rect">
            <a:avLst/>
          </a:prstGeom>
          <a:noFill/>
          <a:ln/>
        </p:spPr>
        <p:txBody>
          <a:bodyPr wrap="square" lIns="0" tIns="0" rIns="0" bIns="0" rtlCol="0" anchor="ctr">
            <a:normAutofit/>
          </a:bodyPr>
          <a:lstStyle/>
          <a:p>
            <a:pPr marL="0" indent="0" algn="ctr">
              <a:buNone/>
            </a:pPr>
            <a:r>
              <a:rPr lang="en-US" sz="1200" dirty="0">
                <a:solidFill>
                  <a:srgbClr val="5B6B80"/>
                </a:solidFill>
                <a:latin typeface="Arial" pitchFamily="34" charset="0"/>
                <a:ea typeface="Arial" pitchFamily="34" charset="-122"/>
                <a:cs typeface="Arial" pitchFamily="34" charset="-120"/>
              </a:rPr>
              <a:t>kích thước ZIP</a:t>
            </a:r>
            <a:endParaRPr lang="en-US" sz="1200" dirty="0"/>
          </a:p>
        </p:txBody>
      </p:sp>
      <p:sp>
        <p:nvSpPr>
          <p:cNvPr id="19" name="Shape 16"/>
          <p:cNvSpPr/>
          <p:nvPr/>
        </p:nvSpPr>
        <p:spPr>
          <a:xfrm>
            <a:off x="4645152" y="2029968"/>
            <a:ext cx="1737360" cy="1060704"/>
          </a:xfrm>
          <a:prstGeom prst="roundRect">
            <a:avLst>
              <a:gd name="adj" fmla="val 3448"/>
            </a:avLst>
          </a:prstGeom>
          <a:solidFill>
            <a:srgbClr val="FFFFFF"/>
          </a:solidFill>
          <a:ln w="12700">
            <a:solidFill>
              <a:srgbClr val="D7DEE8"/>
            </a:solidFill>
            <a:prstDash val="solid"/>
          </a:ln>
        </p:spPr>
      </p:sp>
      <p:sp>
        <p:nvSpPr>
          <p:cNvPr id="20" name="Text 17"/>
          <p:cNvSpPr txBox="1"/>
          <p:nvPr/>
        </p:nvSpPr>
        <p:spPr>
          <a:xfrm>
            <a:off x="4736592" y="2139696"/>
            <a:ext cx="1554480" cy="457200"/>
          </a:xfrm>
          <a:prstGeom prst="rect">
            <a:avLst/>
          </a:prstGeom>
          <a:noFill/>
          <a:ln/>
        </p:spPr>
        <p:txBody>
          <a:bodyPr wrap="square" lIns="0" tIns="0" rIns="0" bIns="0" rtlCol="0" anchor="ctr">
            <a:normAutofit/>
          </a:bodyPr>
          <a:lstStyle/>
          <a:p>
            <a:pPr marL="0" indent="0" algn="ctr">
              <a:buNone/>
            </a:pPr>
            <a:r>
              <a:rPr lang="en-US" sz="3200" b="1" dirty="0">
                <a:solidFill>
                  <a:srgbClr val="137A3D"/>
                </a:solidFill>
                <a:latin typeface="Arial" pitchFamily="34" charset="0"/>
                <a:ea typeface="Arial" pitchFamily="34" charset="-122"/>
                <a:cs typeface="Arial" pitchFamily="34" charset="-120"/>
              </a:rPr>
              <a:t>0</a:t>
            </a:r>
            <a:endParaRPr lang="en-US" sz="3200" dirty="0"/>
          </a:p>
        </p:txBody>
      </p:sp>
      <p:sp>
        <p:nvSpPr>
          <p:cNvPr id="21" name="Text 18"/>
          <p:cNvSpPr txBox="1"/>
          <p:nvPr/>
        </p:nvSpPr>
        <p:spPr>
          <a:xfrm>
            <a:off x="4736592" y="2697480"/>
            <a:ext cx="1554480" cy="237744"/>
          </a:xfrm>
          <a:prstGeom prst="rect">
            <a:avLst/>
          </a:prstGeom>
          <a:noFill/>
          <a:ln/>
        </p:spPr>
        <p:txBody>
          <a:bodyPr wrap="square" lIns="0" tIns="0" rIns="0" bIns="0" rtlCol="0" anchor="ctr">
            <a:normAutofit/>
          </a:bodyPr>
          <a:lstStyle/>
          <a:p>
            <a:pPr marL="0" indent="0" algn="ctr">
              <a:buNone/>
            </a:pPr>
            <a:r>
              <a:rPr lang="en-US" sz="1200" dirty="0">
                <a:solidFill>
                  <a:srgbClr val="5B6B80"/>
                </a:solidFill>
                <a:latin typeface="Arial" pitchFamily="34" charset="0"/>
                <a:ea typeface="Arial" pitchFamily="34" charset="-122"/>
                <a:cs typeface="Arial" pitchFamily="34" charset="-120"/>
              </a:rPr>
              <a:t>lệch hash</a:t>
            </a:r>
            <a:endParaRPr lang="en-US" sz="1200" dirty="0"/>
          </a:p>
        </p:txBody>
      </p:sp>
      <p:sp>
        <p:nvSpPr>
          <p:cNvPr id="22" name="Shape 19"/>
          <p:cNvSpPr/>
          <p:nvPr/>
        </p:nvSpPr>
        <p:spPr>
          <a:xfrm>
            <a:off x="6812280" y="1993392"/>
            <a:ext cx="4709160" cy="1938528"/>
          </a:xfrm>
          <a:prstGeom prst="roundRect">
            <a:avLst>
              <a:gd name="adj" fmla="val 1887"/>
            </a:avLst>
          </a:prstGeom>
          <a:solidFill>
            <a:srgbClr val="EEF7F2"/>
          </a:solidFill>
          <a:ln w="12700">
            <a:solidFill>
              <a:srgbClr val="137A3D"/>
            </a:solidFill>
            <a:prstDash val="solid"/>
          </a:ln>
        </p:spPr>
      </p:sp>
      <p:sp>
        <p:nvSpPr>
          <p:cNvPr id="23" name="Text 20"/>
          <p:cNvSpPr txBox="1"/>
          <p:nvPr/>
        </p:nvSpPr>
        <p:spPr>
          <a:xfrm>
            <a:off x="7114032" y="2212848"/>
            <a:ext cx="2560320" cy="274320"/>
          </a:xfrm>
          <a:prstGeom prst="rect">
            <a:avLst/>
          </a:prstGeom>
          <a:noFill/>
          <a:ln/>
        </p:spPr>
        <p:txBody>
          <a:bodyPr wrap="square" lIns="0" tIns="0" rIns="0" bIns="0" rtlCol="0" anchor="t">
            <a:normAutofit/>
          </a:bodyPr>
          <a:lstStyle/>
          <a:p>
            <a:pPr marL="0" indent="0" algn="l">
              <a:buNone/>
            </a:pPr>
            <a:r>
              <a:rPr lang="en-US" sz="1300" b="1" dirty="0">
                <a:solidFill>
                  <a:srgbClr val="137A3D"/>
                </a:solidFill>
                <a:latin typeface="Arial" pitchFamily="34" charset="0"/>
                <a:ea typeface="Arial" pitchFamily="34" charset="-122"/>
                <a:cs typeface="Arial" pitchFamily="34" charset="-120"/>
              </a:rPr>
              <a:t>XÁC THỰC HIỆN VẬT</a:t>
            </a:r>
            <a:endParaRPr lang="en-US" sz="1300" dirty="0"/>
          </a:p>
        </p:txBody>
      </p:sp>
      <p:sp>
        <p:nvSpPr>
          <p:cNvPr id="24" name="Text 21"/>
          <p:cNvSpPr txBox="1"/>
          <p:nvPr/>
        </p:nvSpPr>
        <p:spPr>
          <a:xfrm>
            <a:off x="7114032" y="2660904"/>
            <a:ext cx="1737360" cy="219456"/>
          </a:xfrm>
          <a:prstGeom prst="rect">
            <a:avLst/>
          </a:prstGeom>
          <a:noFill/>
          <a:ln/>
        </p:spPr>
        <p:txBody>
          <a:bodyPr wrap="square" lIns="0" tIns="0" rIns="0" bIns="0" rtlCol="0" anchor="t">
            <a:normAutofit/>
          </a:bodyPr>
          <a:lstStyle/>
          <a:p>
            <a:pPr marL="0" indent="0" algn="l">
              <a:buNone/>
            </a:pPr>
            <a:r>
              <a:rPr lang="en-US" sz="1200" dirty="0">
                <a:solidFill>
                  <a:srgbClr val="5B6B80"/>
                </a:solidFill>
                <a:latin typeface="Arial" pitchFamily="34" charset="0"/>
                <a:ea typeface="Arial" pitchFamily="34" charset="-122"/>
                <a:cs typeface="Arial" pitchFamily="34" charset="-120"/>
              </a:rPr>
              <a:t>Release Candidate</a:t>
            </a:r>
            <a:endParaRPr lang="en-US" sz="1200" dirty="0"/>
          </a:p>
        </p:txBody>
      </p:sp>
      <p:sp>
        <p:nvSpPr>
          <p:cNvPr id="25" name="Text 22"/>
          <p:cNvSpPr txBox="1"/>
          <p:nvPr/>
        </p:nvSpPr>
        <p:spPr>
          <a:xfrm>
            <a:off x="8887968" y="2624328"/>
            <a:ext cx="2395728" cy="274320"/>
          </a:xfrm>
          <a:prstGeom prst="rect">
            <a:avLst/>
          </a:prstGeom>
          <a:noFill/>
          <a:ln/>
        </p:spPr>
        <p:txBody>
          <a:bodyPr wrap="square" lIns="0" tIns="0" rIns="0" bIns="0" rtlCol="0" anchor="t">
            <a:normAutofit/>
          </a:bodyPr>
          <a:lstStyle/>
          <a:p>
            <a:pPr marL="0" indent="0" algn="r">
              <a:buNone/>
            </a:pPr>
            <a:r>
              <a:rPr lang="en-US" sz="1350" b="1" dirty="0">
                <a:solidFill>
                  <a:srgbClr val="07182F"/>
                </a:solidFill>
                <a:latin typeface="Arial" pitchFamily="34" charset="0"/>
                <a:ea typeface="Arial" pitchFamily="34" charset="-122"/>
                <a:cs typeface="Arial" pitchFamily="34" charset="-120"/>
              </a:rPr>
              <a:t>2026.09.02-candidate</a:t>
            </a:r>
            <a:endParaRPr lang="en-US" sz="1350" dirty="0"/>
          </a:p>
        </p:txBody>
      </p:sp>
      <p:sp>
        <p:nvSpPr>
          <p:cNvPr id="26" name="Text 23"/>
          <p:cNvSpPr txBox="1"/>
          <p:nvPr/>
        </p:nvSpPr>
        <p:spPr>
          <a:xfrm>
            <a:off x="7114032" y="3118104"/>
            <a:ext cx="1737360" cy="219456"/>
          </a:xfrm>
          <a:prstGeom prst="rect">
            <a:avLst/>
          </a:prstGeom>
          <a:noFill/>
          <a:ln/>
        </p:spPr>
        <p:txBody>
          <a:bodyPr wrap="square" lIns="0" tIns="0" rIns="0" bIns="0" rtlCol="0" anchor="t">
            <a:normAutofit/>
          </a:bodyPr>
          <a:lstStyle/>
          <a:p>
            <a:pPr marL="0" indent="0" algn="l">
              <a:buNone/>
            </a:pPr>
            <a:r>
              <a:rPr lang="en-US" sz="1200" dirty="0">
                <a:solidFill>
                  <a:srgbClr val="5B6B80"/>
                </a:solidFill>
                <a:latin typeface="Arial" pitchFamily="34" charset="0"/>
                <a:ea typeface="Arial" pitchFamily="34" charset="-122"/>
                <a:cs typeface="Arial" pitchFamily="34" charset="-120"/>
              </a:rPr>
              <a:t>ZIP SHA-256</a:t>
            </a:r>
            <a:endParaRPr lang="en-US" sz="1200" dirty="0"/>
          </a:p>
        </p:txBody>
      </p:sp>
      <p:sp>
        <p:nvSpPr>
          <p:cNvPr id="27" name="Text 24"/>
          <p:cNvSpPr txBox="1"/>
          <p:nvPr/>
        </p:nvSpPr>
        <p:spPr>
          <a:xfrm>
            <a:off x="8887968" y="3081528"/>
            <a:ext cx="2395728" cy="274320"/>
          </a:xfrm>
          <a:prstGeom prst="rect">
            <a:avLst/>
          </a:prstGeom>
          <a:noFill/>
          <a:ln/>
        </p:spPr>
        <p:txBody>
          <a:bodyPr wrap="square" lIns="0" tIns="0" rIns="0" bIns="0" rtlCol="0" anchor="t">
            <a:normAutofit/>
          </a:bodyPr>
          <a:lstStyle/>
          <a:p>
            <a:pPr marL="0" indent="0" algn="r">
              <a:buNone/>
            </a:pPr>
            <a:r>
              <a:rPr lang="en-US" sz="1350" b="1" dirty="0">
                <a:solidFill>
                  <a:srgbClr val="07182F"/>
                </a:solidFill>
                <a:latin typeface="Arial" pitchFamily="34" charset="0"/>
                <a:ea typeface="Arial" pitchFamily="34" charset="-122"/>
                <a:cs typeface="Arial" pitchFamily="34" charset="-120"/>
              </a:rPr>
              <a:t>3defec1306ba…df186f005a</a:t>
            </a:r>
            <a:endParaRPr lang="en-US" sz="1350" dirty="0"/>
          </a:p>
        </p:txBody>
      </p:sp>
      <p:sp>
        <p:nvSpPr>
          <p:cNvPr id="28" name="Text 25"/>
          <p:cNvSpPr txBox="1"/>
          <p:nvPr/>
        </p:nvSpPr>
        <p:spPr>
          <a:xfrm>
            <a:off x="7114032" y="3575304"/>
            <a:ext cx="1737360" cy="219456"/>
          </a:xfrm>
          <a:prstGeom prst="rect">
            <a:avLst/>
          </a:prstGeom>
          <a:noFill/>
          <a:ln/>
        </p:spPr>
        <p:txBody>
          <a:bodyPr wrap="square" lIns="0" tIns="0" rIns="0" bIns="0" rtlCol="0" anchor="t">
            <a:normAutofit/>
          </a:bodyPr>
          <a:lstStyle/>
          <a:p>
            <a:pPr marL="0" indent="0" algn="l">
              <a:buNone/>
            </a:pPr>
            <a:r>
              <a:rPr lang="en-US" sz="1200" dirty="0">
                <a:solidFill>
                  <a:srgbClr val="5B6B80"/>
                </a:solidFill>
                <a:latin typeface="Arial" pitchFamily="34" charset="0"/>
                <a:ea typeface="Arial" pitchFamily="34" charset="-122"/>
                <a:cs typeface="Arial" pitchFamily="34" charset="-120"/>
              </a:rPr>
              <a:t>Manifest SHA-256</a:t>
            </a:r>
            <a:endParaRPr lang="en-US" sz="1200" dirty="0"/>
          </a:p>
        </p:txBody>
      </p:sp>
      <p:sp>
        <p:nvSpPr>
          <p:cNvPr id="29" name="Text 26"/>
          <p:cNvSpPr txBox="1"/>
          <p:nvPr/>
        </p:nvSpPr>
        <p:spPr>
          <a:xfrm>
            <a:off x="8887968" y="3538728"/>
            <a:ext cx="2395728" cy="274320"/>
          </a:xfrm>
          <a:prstGeom prst="rect">
            <a:avLst/>
          </a:prstGeom>
          <a:noFill/>
          <a:ln/>
        </p:spPr>
        <p:txBody>
          <a:bodyPr wrap="square" lIns="0" tIns="0" rIns="0" bIns="0" rtlCol="0" anchor="t">
            <a:normAutofit/>
          </a:bodyPr>
          <a:lstStyle/>
          <a:p>
            <a:pPr marL="0" indent="0" algn="r">
              <a:buNone/>
            </a:pPr>
            <a:r>
              <a:rPr lang="en-US" sz="1350" b="1" dirty="0">
                <a:solidFill>
                  <a:srgbClr val="07182F"/>
                </a:solidFill>
                <a:latin typeface="Arial" pitchFamily="34" charset="0"/>
                <a:ea typeface="Arial" pitchFamily="34" charset="-122"/>
                <a:cs typeface="Arial" pitchFamily="34" charset="-120"/>
              </a:rPr>
              <a:t>9b5d87e9f4dc…6c8732eb39</a:t>
            </a:r>
            <a:endParaRPr lang="en-US" sz="1350" dirty="0"/>
          </a:p>
        </p:txBody>
      </p:sp>
      <p:sp>
        <p:nvSpPr>
          <p:cNvPr id="30" name="Shape 27"/>
          <p:cNvSpPr/>
          <p:nvPr/>
        </p:nvSpPr>
        <p:spPr>
          <a:xfrm>
            <a:off x="658368" y="4315968"/>
            <a:ext cx="10863072" cy="1207008"/>
          </a:xfrm>
          <a:prstGeom prst="roundRect">
            <a:avLst>
              <a:gd name="adj" fmla="val 3030"/>
            </a:avLst>
          </a:prstGeom>
          <a:solidFill>
            <a:srgbClr val="FFFFFF"/>
          </a:solidFill>
          <a:ln w="12700">
            <a:solidFill>
              <a:srgbClr val="0D2447"/>
            </a:solidFill>
            <a:prstDash val="solid"/>
          </a:ln>
        </p:spPr>
      </p:sp>
      <p:sp>
        <p:nvSpPr>
          <p:cNvPr id="31" name="Text 28"/>
          <p:cNvSpPr txBox="1"/>
          <p:nvPr/>
        </p:nvSpPr>
        <p:spPr>
          <a:xfrm>
            <a:off x="932688" y="4590288"/>
            <a:ext cx="1097280" cy="292608"/>
          </a:xfrm>
          <a:prstGeom prst="rect">
            <a:avLst/>
          </a:prstGeom>
          <a:noFill/>
          <a:ln/>
        </p:spPr>
        <p:txBody>
          <a:bodyPr wrap="square" lIns="0" tIns="0" rIns="0" bIns="0" rtlCol="0" anchor="t">
            <a:normAutofit/>
          </a:bodyPr>
          <a:lstStyle/>
          <a:p>
            <a:pPr marL="0" indent="0" algn="l">
              <a:buNone/>
            </a:pPr>
            <a:r>
              <a:rPr lang="en-US" sz="1700" b="1" dirty="0">
                <a:solidFill>
                  <a:srgbClr val="07182F"/>
                </a:solidFill>
                <a:latin typeface="Arial" pitchFamily="34" charset="0"/>
                <a:ea typeface="Arial" pitchFamily="34" charset="-122"/>
                <a:cs typeface="Arial" pitchFamily="34" charset="-120"/>
              </a:rPr>
              <a:t>Kết luận</a:t>
            </a:r>
            <a:endParaRPr lang="en-US" sz="1700" dirty="0"/>
          </a:p>
        </p:txBody>
      </p:sp>
      <p:sp>
        <p:nvSpPr>
          <p:cNvPr id="32" name="Text 29"/>
          <p:cNvSpPr txBox="1"/>
          <p:nvPr/>
        </p:nvSpPr>
        <p:spPr>
          <a:xfrm>
            <a:off x="2103120" y="4480560"/>
            <a:ext cx="8961120" cy="475488"/>
          </a:xfrm>
          <a:prstGeom prst="rect">
            <a:avLst/>
          </a:prstGeom>
          <a:noFill/>
          <a:ln/>
        </p:spPr>
        <p:txBody>
          <a:bodyPr wrap="square" lIns="0" tIns="0" rIns="0" bIns="0" rtlCol="0" anchor="ctr">
            <a:normAutofit/>
          </a:bodyPr>
          <a:lstStyle/>
          <a:p>
            <a:pPr marL="0" indent="0" algn="ctr">
              <a:buNone/>
            </a:pPr>
            <a:r>
              <a:rPr lang="en-US" sz="1800" b="1" dirty="0">
                <a:solidFill>
                  <a:srgbClr val="07182F"/>
                </a:solidFill>
                <a:latin typeface="Arial" pitchFamily="34" charset="0"/>
                <a:ea typeface="Arial" pitchFamily="34" charset="-122"/>
                <a:cs typeface="Arial" pitchFamily="34" charset="-120"/>
              </a:rPr>
              <a:t>Gói ứng viên đã khóa hash; sẵn sàng cho bốn bước đánh giá độc lập, chưa phải bản phát hành cuối.</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600" b="1" dirty="0">
                <a:solidFill>
                  <a:srgbClr val="07182F"/>
                </a:solidFill>
                <a:latin typeface="Georgia" pitchFamily="34" charset="0"/>
                <a:ea typeface="Georgia" pitchFamily="34" charset="-122"/>
                <a:cs typeface="Georgia" pitchFamily="34" charset="-120"/>
              </a:rPr>
              <a:t>20 cổng đạt; 4 cổng chờ đánh giá độc lập</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11</a:t>
            </a:r>
            <a:endParaRPr lang="en-US" sz="1000" dirty="0"/>
          </a:p>
        </p:txBody>
      </p:sp>
      <p:sp>
        <p:nvSpPr>
          <p:cNvPr id="6" name="Shape 4"/>
          <p:cNvSpPr/>
          <p:nvPr/>
        </p:nvSpPr>
        <p:spPr>
          <a:xfrm>
            <a:off x="612648" y="1408176"/>
            <a:ext cx="10972800" cy="457200"/>
          </a:xfrm>
          <a:prstGeom prst="rect">
            <a:avLst/>
          </a:prstGeom>
          <a:solidFill>
            <a:srgbClr val="EEF2F7"/>
          </a:solidFill>
          <a:ln w="12700">
            <a:solidFill>
              <a:srgbClr val="D7DEE8"/>
            </a:solidFill>
            <a:prstDash val="solid"/>
          </a:ln>
        </p:spPr>
      </p:sp>
      <p:sp>
        <p:nvSpPr>
          <p:cNvPr id="7" name="Text 5"/>
          <p:cNvSpPr txBox="1"/>
          <p:nvPr/>
        </p:nvSpPr>
        <p:spPr>
          <a:xfrm>
            <a:off x="822960" y="1481328"/>
            <a:ext cx="10561320" cy="274320"/>
          </a:xfrm>
          <a:prstGeom prst="rect">
            <a:avLst/>
          </a:prstGeom>
          <a:noFill/>
          <a:ln/>
        </p:spPr>
        <p:txBody>
          <a:bodyPr wrap="square" lIns="0" tIns="0" rIns="0" bIns="0" rtlCol="0" anchor="ctr">
            <a:normAutofit/>
          </a:bodyPr>
          <a:lstStyle/>
          <a:p>
            <a:pPr marL="0" indent="0" algn="l">
              <a:buNone/>
            </a:pPr>
            <a:r>
              <a:rPr lang="en-US" sz="1650" b="1" dirty="0">
                <a:solidFill>
                  <a:srgbClr val="0D2447"/>
                </a:solidFill>
                <a:latin typeface="Arial" pitchFamily="34" charset="0"/>
                <a:ea typeface="Arial" pitchFamily="34" charset="-122"/>
                <a:cs typeface="Arial" pitchFamily="34" charset="-120"/>
              </a:rPr>
              <a:t>20 pass · 0 fail · 4 blocked · 0 not-run; trạng thái tổng thể vẫn blocked.</a:t>
            </a:r>
            <a:endParaRPr lang="en-US" sz="165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data/acceptance-report.json:3-11,236-255</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11</a:t>
            </a:r>
            <a:endParaRPr lang="en-US" sz="820" dirty="0"/>
          </a:p>
        </p:txBody>
      </p:sp>
      <p:sp>
        <p:nvSpPr>
          <p:cNvPr id="13" name="Shape 10"/>
          <p:cNvSpPr/>
          <p:nvPr/>
        </p:nvSpPr>
        <p:spPr>
          <a:xfrm>
            <a:off x="777240" y="2212848"/>
            <a:ext cx="5486400" cy="530352"/>
          </a:xfrm>
          <a:prstGeom prst="rect">
            <a:avLst/>
          </a:prstGeom>
          <a:solidFill>
            <a:srgbClr val="137A3D"/>
          </a:solidFill>
          <a:ln w="12700">
            <a:solidFill>
              <a:srgbClr val="137A3D"/>
            </a:solidFill>
            <a:prstDash val="solid"/>
          </a:ln>
        </p:spPr>
      </p:sp>
      <p:sp>
        <p:nvSpPr>
          <p:cNvPr id="14" name="Shape 11"/>
          <p:cNvSpPr/>
          <p:nvPr/>
        </p:nvSpPr>
        <p:spPr>
          <a:xfrm>
            <a:off x="6263640" y="2212848"/>
            <a:ext cx="1097280" cy="530352"/>
          </a:xfrm>
          <a:prstGeom prst="rect">
            <a:avLst/>
          </a:prstGeom>
          <a:solidFill>
            <a:srgbClr val="9A5B00"/>
          </a:solidFill>
          <a:ln w="12700">
            <a:solidFill>
              <a:srgbClr val="9A5B00"/>
            </a:solidFill>
            <a:prstDash val="solid"/>
          </a:ln>
        </p:spPr>
      </p:sp>
      <p:sp>
        <p:nvSpPr>
          <p:cNvPr id="15" name="Text 12"/>
          <p:cNvSpPr txBox="1"/>
          <p:nvPr/>
        </p:nvSpPr>
        <p:spPr>
          <a:xfrm>
            <a:off x="914400" y="2322576"/>
            <a:ext cx="1828800" cy="219456"/>
          </a:xfrm>
          <a:prstGeom prst="rect">
            <a:avLst/>
          </a:prstGeom>
          <a:noFill/>
          <a:ln/>
        </p:spPr>
        <p:txBody>
          <a:bodyPr wrap="square" lIns="0" tIns="0" rIns="0" bIns="0" rtlCol="0" anchor="t">
            <a:normAutofit/>
          </a:bodyPr>
          <a:lstStyle/>
          <a:p>
            <a:pPr marL="0" indent="0" algn="l">
              <a:buNone/>
            </a:pPr>
            <a:r>
              <a:rPr lang="en-US" sz="1300" b="1" dirty="0">
                <a:solidFill>
                  <a:srgbClr val="FFFFFF"/>
                </a:solidFill>
                <a:latin typeface="Arial" pitchFamily="34" charset="0"/>
                <a:ea typeface="Arial" pitchFamily="34" charset="-122"/>
                <a:cs typeface="Arial" pitchFamily="34" charset="-120"/>
              </a:rPr>
              <a:t>20 PASS</a:t>
            </a:r>
            <a:endParaRPr lang="en-US" sz="1300" dirty="0"/>
          </a:p>
        </p:txBody>
      </p:sp>
      <p:sp>
        <p:nvSpPr>
          <p:cNvPr id="16" name="Text 13"/>
          <p:cNvSpPr txBox="1"/>
          <p:nvPr/>
        </p:nvSpPr>
        <p:spPr>
          <a:xfrm>
            <a:off x="5806440" y="2322576"/>
            <a:ext cx="1417320" cy="219456"/>
          </a:xfrm>
          <a:prstGeom prst="rect">
            <a:avLst/>
          </a:prstGeom>
          <a:noFill/>
          <a:ln/>
        </p:spPr>
        <p:txBody>
          <a:bodyPr wrap="square" lIns="0" tIns="0" rIns="0" bIns="0" rtlCol="0" anchor="t">
            <a:normAutofit/>
          </a:bodyPr>
          <a:lstStyle/>
          <a:p>
            <a:pPr marL="0" indent="0" algn="r">
              <a:buNone/>
            </a:pPr>
            <a:r>
              <a:rPr lang="en-US" sz="1150" b="1" dirty="0">
                <a:solidFill>
                  <a:srgbClr val="FFFFFF"/>
                </a:solidFill>
                <a:latin typeface="Arial" pitchFamily="34" charset="0"/>
                <a:ea typeface="Arial" pitchFamily="34" charset="-122"/>
                <a:cs typeface="Arial" pitchFamily="34" charset="-120"/>
              </a:rPr>
              <a:t>4 BLOCKED</a:t>
            </a:r>
            <a:endParaRPr lang="en-US" sz="1150" dirty="0"/>
          </a:p>
        </p:txBody>
      </p:sp>
      <p:sp>
        <p:nvSpPr>
          <p:cNvPr id="17" name="Text 14"/>
          <p:cNvSpPr txBox="1"/>
          <p:nvPr/>
        </p:nvSpPr>
        <p:spPr>
          <a:xfrm>
            <a:off x="777240" y="2907792"/>
            <a:ext cx="6583680" cy="256032"/>
          </a:xfrm>
          <a:prstGeom prst="rect">
            <a:avLst/>
          </a:prstGeom>
          <a:noFill/>
          <a:ln/>
        </p:spPr>
        <p:txBody>
          <a:bodyPr wrap="square" lIns="0" tIns="0" rIns="0" bIns="0" rtlCol="0" anchor="t">
            <a:normAutofit/>
          </a:bodyPr>
          <a:lstStyle/>
          <a:p>
            <a:pPr marL="0" indent="0" algn="ctr">
              <a:buNone/>
            </a:pPr>
            <a:r>
              <a:rPr lang="en-US" sz="1400" dirty="0">
                <a:solidFill>
                  <a:srgbClr val="5B6B80"/>
                </a:solidFill>
                <a:latin typeface="Arial" pitchFamily="34" charset="0"/>
                <a:ea typeface="Arial" pitchFamily="34" charset="-122"/>
                <a:cs typeface="Arial" pitchFamily="34" charset="-120"/>
              </a:rPr>
              <a:t>24 cổng · số tuyệt đối, không dùng % như điểm chất lượng</a:t>
            </a:r>
            <a:endParaRPr lang="en-US" sz="1400" dirty="0"/>
          </a:p>
        </p:txBody>
      </p:sp>
      <p:sp>
        <p:nvSpPr>
          <p:cNvPr id="18" name="Text 15"/>
          <p:cNvSpPr txBox="1"/>
          <p:nvPr/>
        </p:nvSpPr>
        <p:spPr>
          <a:xfrm>
            <a:off x="841248" y="3419856"/>
            <a:ext cx="1078992" cy="256032"/>
          </a:xfrm>
          <a:prstGeom prst="rect">
            <a:avLst/>
          </a:prstGeom>
          <a:noFill/>
          <a:ln/>
        </p:spPr>
        <p:txBody>
          <a:bodyPr wrap="square" lIns="0" tIns="0" rIns="0" bIns="0" rtlCol="0" anchor="t">
            <a:normAutofit/>
          </a:bodyPr>
          <a:lstStyle/>
          <a:p>
            <a:pPr marL="0" indent="0" algn="l">
              <a:buNone/>
            </a:pPr>
            <a:r>
              <a:rPr lang="en-US" sz="1300" b="1" dirty="0">
                <a:solidFill>
                  <a:srgbClr val="137A3D"/>
                </a:solidFill>
                <a:latin typeface="Arial" pitchFamily="34" charset="0"/>
                <a:ea typeface="Arial" pitchFamily="34" charset="-122"/>
                <a:cs typeface="Arial" pitchFamily="34" charset="-120"/>
              </a:rPr>
              <a:t>PASS</a:t>
            </a:r>
            <a:endParaRPr lang="en-US" sz="1300" dirty="0"/>
          </a:p>
        </p:txBody>
      </p:sp>
      <p:sp>
        <p:nvSpPr>
          <p:cNvPr id="19" name="Text 16"/>
          <p:cNvSpPr txBox="1"/>
          <p:nvPr/>
        </p:nvSpPr>
        <p:spPr>
          <a:xfrm>
            <a:off x="1938528" y="3383280"/>
            <a:ext cx="530352" cy="310896"/>
          </a:xfrm>
          <a:prstGeom prst="rect">
            <a:avLst/>
          </a:prstGeom>
          <a:noFill/>
          <a:ln/>
        </p:spPr>
        <p:txBody>
          <a:bodyPr wrap="square" lIns="0" tIns="0" rIns="0" bIns="0" rtlCol="0" anchor="t">
            <a:normAutofit/>
          </a:bodyPr>
          <a:lstStyle/>
          <a:p>
            <a:pPr marL="0" indent="0" algn="ctr">
              <a:buNone/>
            </a:pPr>
            <a:r>
              <a:rPr lang="en-US" sz="2000" b="1" dirty="0">
                <a:solidFill>
                  <a:srgbClr val="07182F"/>
                </a:solidFill>
                <a:latin typeface="Arial" pitchFamily="34" charset="0"/>
                <a:ea typeface="Arial" pitchFamily="34" charset="-122"/>
                <a:cs typeface="Arial" pitchFamily="34" charset="-120"/>
              </a:rPr>
              <a:t>20</a:t>
            </a:r>
            <a:endParaRPr lang="en-US" sz="2000" dirty="0"/>
          </a:p>
        </p:txBody>
      </p:sp>
      <p:sp>
        <p:nvSpPr>
          <p:cNvPr id="20" name="Text 17"/>
          <p:cNvSpPr txBox="1"/>
          <p:nvPr/>
        </p:nvSpPr>
        <p:spPr>
          <a:xfrm>
            <a:off x="2633472" y="3419856"/>
            <a:ext cx="4480560" cy="274320"/>
          </a:xfrm>
          <a:prstGeom prst="rect">
            <a:avLst/>
          </a:prstGeom>
          <a:noFill/>
          <a:ln/>
        </p:spPr>
        <p:txBody>
          <a:bodyPr wrap="square" lIns="0" tIns="0" rIns="0" bIns="0" rtlCol="0" anchor="t">
            <a:normAutofit/>
          </a:bodyPr>
          <a:lstStyle/>
          <a:p>
            <a:pPr marL="0" indent="0" algn="l">
              <a:buNone/>
            </a:pPr>
            <a:r>
              <a:rPr lang="en-US" sz="1450" dirty="0">
                <a:solidFill>
                  <a:srgbClr val="243247"/>
                </a:solidFill>
                <a:latin typeface="Arial" pitchFamily="34" charset="0"/>
                <a:ea typeface="Arial" pitchFamily="34" charset="-122"/>
                <a:cs typeface="Arial" pitchFamily="34" charset="-120"/>
              </a:rPr>
              <a:t>Đã kiểm chứng kỹ thuật trong phạm vi công bố</a:t>
            </a:r>
            <a:endParaRPr lang="en-US" sz="1450" dirty="0"/>
          </a:p>
        </p:txBody>
      </p:sp>
      <p:sp>
        <p:nvSpPr>
          <p:cNvPr id="21" name="Text 18"/>
          <p:cNvSpPr txBox="1"/>
          <p:nvPr/>
        </p:nvSpPr>
        <p:spPr>
          <a:xfrm>
            <a:off x="841248" y="3986784"/>
            <a:ext cx="1078992" cy="256032"/>
          </a:xfrm>
          <a:prstGeom prst="rect">
            <a:avLst/>
          </a:prstGeom>
          <a:noFill/>
          <a:ln/>
        </p:spPr>
        <p:txBody>
          <a:bodyPr wrap="square" lIns="0" tIns="0" rIns="0" bIns="0" rtlCol="0" anchor="t">
            <a:normAutofit/>
          </a:bodyPr>
          <a:lstStyle/>
          <a:p>
            <a:pPr marL="0" indent="0" algn="l">
              <a:buNone/>
            </a:pPr>
            <a:r>
              <a:rPr lang="en-US" sz="1300" b="1" dirty="0">
                <a:solidFill>
                  <a:srgbClr val="5B6B80"/>
                </a:solidFill>
                <a:latin typeface="Arial" pitchFamily="34" charset="0"/>
                <a:ea typeface="Arial" pitchFamily="34" charset="-122"/>
                <a:cs typeface="Arial" pitchFamily="34" charset="-120"/>
              </a:rPr>
              <a:t>FAIL</a:t>
            </a:r>
            <a:endParaRPr lang="en-US" sz="1300" dirty="0"/>
          </a:p>
        </p:txBody>
      </p:sp>
      <p:sp>
        <p:nvSpPr>
          <p:cNvPr id="22" name="Text 19"/>
          <p:cNvSpPr txBox="1"/>
          <p:nvPr/>
        </p:nvSpPr>
        <p:spPr>
          <a:xfrm>
            <a:off x="1938528" y="3950208"/>
            <a:ext cx="530352" cy="310896"/>
          </a:xfrm>
          <a:prstGeom prst="rect">
            <a:avLst/>
          </a:prstGeom>
          <a:noFill/>
          <a:ln/>
        </p:spPr>
        <p:txBody>
          <a:bodyPr wrap="square" lIns="0" tIns="0" rIns="0" bIns="0" rtlCol="0" anchor="t">
            <a:normAutofit/>
          </a:bodyPr>
          <a:lstStyle/>
          <a:p>
            <a:pPr marL="0" indent="0" algn="ctr">
              <a:buNone/>
            </a:pPr>
            <a:r>
              <a:rPr lang="en-US" sz="2000" b="1" dirty="0">
                <a:solidFill>
                  <a:srgbClr val="07182F"/>
                </a:solidFill>
                <a:latin typeface="Arial" pitchFamily="34" charset="0"/>
                <a:ea typeface="Arial" pitchFamily="34" charset="-122"/>
                <a:cs typeface="Arial" pitchFamily="34" charset="-120"/>
              </a:rPr>
              <a:t>0</a:t>
            </a:r>
            <a:endParaRPr lang="en-US" sz="2000" dirty="0"/>
          </a:p>
        </p:txBody>
      </p:sp>
      <p:sp>
        <p:nvSpPr>
          <p:cNvPr id="23" name="Text 20"/>
          <p:cNvSpPr txBox="1"/>
          <p:nvPr/>
        </p:nvSpPr>
        <p:spPr>
          <a:xfrm>
            <a:off x="2633472" y="3986784"/>
            <a:ext cx="4480560" cy="274320"/>
          </a:xfrm>
          <a:prstGeom prst="rect">
            <a:avLst/>
          </a:prstGeom>
          <a:noFill/>
          <a:ln/>
        </p:spPr>
        <p:txBody>
          <a:bodyPr wrap="square" lIns="0" tIns="0" rIns="0" bIns="0" rtlCol="0" anchor="t">
            <a:normAutofit/>
          </a:bodyPr>
          <a:lstStyle/>
          <a:p>
            <a:pPr marL="0" indent="0" algn="l">
              <a:buNone/>
            </a:pPr>
            <a:r>
              <a:rPr lang="en-US" sz="1450" dirty="0">
                <a:solidFill>
                  <a:srgbClr val="243247"/>
                </a:solidFill>
                <a:latin typeface="Arial" pitchFamily="34" charset="0"/>
                <a:ea typeface="Arial" pitchFamily="34" charset="-122"/>
                <a:cs typeface="Arial" pitchFamily="34" charset="-120"/>
              </a:rPr>
              <a:t>Không có cổng phân loại fail</a:t>
            </a:r>
            <a:endParaRPr lang="en-US" sz="1450" dirty="0"/>
          </a:p>
        </p:txBody>
      </p:sp>
      <p:sp>
        <p:nvSpPr>
          <p:cNvPr id="24" name="Text 21"/>
          <p:cNvSpPr txBox="1"/>
          <p:nvPr/>
        </p:nvSpPr>
        <p:spPr>
          <a:xfrm>
            <a:off x="841248" y="4553712"/>
            <a:ext cx="1078992" cy="256032"/>
          </a:xfrm>
          <a:prstGeom prst="rect">
            <a:avLst/>
          </a:prstGeom>
          <a:noFill/>
          <a:ln/>
        </p:spPr>
        <p:txBody>
          <a:bodyPr wrap="square" lIns="0" tIns="0" rIns="0" bIns="0" rtlCol="0" anchor="t">
            <a:normAutofit/>
          </a:bodyPr>
          <a:lstStyle/>
          <a:p>
            <a:pPr marL="0" indent="0" algn="l">
              <a:buNone/>
            </a:pPr>
            <a:r>
              <a:rPr lang="en-US" sz="1300" b="1" dirty="0">
                <a:solidFill>
                  <a:srgbClr val="9A5B00"/>
                </a:solidFill>
                <a:latin typeface="Arial" pitchFamily="34" charset="0"/>
                <a:ea typeface="Arial" pitchFamily="34" charset="-122"/>
                <a:cs typeface="Arial" pitchFamily="34" charset="-120"/>
              </a:rPr>
              <a:t>BLOCKED</a:t>
            </a:r>
            <a:endParaRPr lang="en-US" sz="1300" dirty="0"/>
          </a:p>
        </p:txBody>
      </p:sp>
      <p:sp>
        <p:nvSpPr>
          <p:cNvPr id="25" name="Text 22"/>
          <p:cNvSpPr txBox="1"/>
          <p:nvPr/>
        </p:nvSpPr>
        <p:spPr>
          <a:xfrm>
            <a:off x="1938528" y="4517136"/>
            <a:ext cx="530352" cy="310896"/>
          </a:xfrm>
          <a:prstGeom prst="rect">
            <a:avLst/>
          </a:prstGeom>
          <a:noFill/>
          <a:ln/>
        </p:spPr>
        <p:txBody>
          <a:bodyPr wrap="square" lIns="0" tIns="0" rIns="0" bIns="0" rtlCol="0" anchor="t">
            <a:normAutofit/>
          </a:bodyPr>
          <a:lstStyle/>
          <a:p>
            <a:pPr marL="0" indent="0" algn="ctr">
              <a:buNone/>
            </a:pPr>
            <a:r>
              <a:rPr lang="en-US" sz="2000" b="1" dirty="0">
                <a:solidFill>
                  <a:srgbClr val="07182F"/>
                </a:solidFill>
                <a:latin typeface="Arial" pitchFamily="34" charset="0"/>
                <a:ea typeface="Arial" pitchFamily="34" charset="-122"/>
                <a:cs typeface="Arial" pitchFamily="34" charset="-120"/>
              </a:rPr>
              <a:t>4</a:t>
            </a:r>
            <a:endParaRPr lang="en-US" sz="2000" dirty="0"/>
          </a:p>
        </p:txBody>
      </p:sp>
      <p:sp>
        <p:nvSpPr>
          <p:cNvPr id="26" name="Text 23"/>
          <p:cNvSpPr txBox="1"/>
          <p:nvPr/>
        </p:nvSpPr>
        <p:spPr>
          <a:xfrm>
            <a:off x="2633472" y="4553712"/>
            <a:ext cx="4480560" cy="274320"/>
          </a:xfrm>
          <a:prstGeom prst="rect">
            <a:avLst/>
          </a:prstGeom>
          <a:noFill/>
          <a:ln/>
        </p:spPr>
        <p:txBody>
          <a:bodyPr wrap="square" lIns="0" tIns="0" rIns="0" bIns="0" rtlCol="0" anchor="t">
            <a:normAutofit/>
          </a:bodyPr>
          <a:lstStyle/>
          <a:p>
            <a:pPr marL="0" indent="0" algn="l">
              <a:buNone/>
            </a:pPr>
            <a:r>
              <a:rPr lang="en-US" sz="1450" dirty="0">
                <a:solidFill>
                  <a:srgbClr val="243247"/>
                </a:solidFill>
                <a:latin typeface="Arial" pitchFamily="34" charset="0"/>
                <a:ea typeface="Arial" pitchFamily="34" charset="-122"/>
                <a:cs typeface="Arial" pitchFamily="34" charset="-120"/>
              </a:rPr>
              <a:t>Học thuật · tiếp cận · smoke · Word</a:t>
            </a:r>
            <a:endParaRPr lang="en-US" sz="1450" dirty="0"/>
          </a:p>
        </p:txBody>
      </p:sp>
      <p:sp>
        <p:nvSpPr>
          <p:cNvPr id="27" name="Text 24"/>
          <p:cNvSpPr txBox="1"/>
          <p:nvPr/>
        </p:nvSpPr>
        <p:spPr>
          <a:xfrm>
            <a:off x="841248" y="5120640"/>
            <a:ext cx="1078992" cy="256032"/>
          </a:xfrm>
          <a:prstGeom prst="rect">
            <a:avLst/>
          </a:prstGeom>
          <a:noFill/>
          <a:ln/>
        </p:spPr>
        <p:txBody>
          <a:bodyPr wrap="square" lIns="0" tIns="0" rIns="0" bIns="0" rtlCol="0" anchor="t">
            <a:normAutofit/>
          </a:bodyPr>
          <a:lstStyle/>
          <a:p>
            <a:pPr marL="0" indent="0" algn="l">
              <a:buNone/>
            </a:pPr>
            <a:r>
              <a:rPr lang="en-US" sz="1300" b="1" dirty="0">
                <a:solidFill>
                  <a:srgbClr val="5B6B80"/>
                </a:solidFill>
                <a:latin typeface="Arial" pitchFamily="34" charset="0"/>
                <a:ea typeface="Arial" pitchFamily="34" charset="-122"/>
                <a:cs typeface="Arial" pitchFamily="34" charset="-120"/>
              </a:rPr>
              <a:t>NOT-RUN</a:t>
            </a:r>
            <a:endParaRPr lang="en-US" sz="1300" dirty="0"/>
          </a:p>
        </p:txBody>
      </p:sp>
      <p:sp>
        <p:nvSpPr>
          <p:cNvPr id="28" name="Text 25"/>
          <p:cNvSpPr txBox="1"/>
          <p:nvPr/>
        </p:nvSpPr>
        <p:spPr>
          <a:xfrm>
            <a:off x="1938528" y="5084064"/>
            <a:ext cx="530352" cy="310896"/>
          </a:xfrm>
          <a:prstGeom prst="rect">
            <a:avLst/>
          </a:prstGeom>
          <a:noFill/>
          <a:ln/>
        </p:spPr>
        <p:txBody>
          <a:bodyPr wrap="square" lIns="0" tIns="0" rIns="0" bIns="0" rtlCol="0" anchor="t">
            <a:normAutofit/>
          </a:bodyPr>
          <a:lstStyle/>
          <a:p>
            <a:pPr marL="0" indent="0" algn="ctr">
              <a:buNone/>
            </a:pPr>
            <a:r>
              <a:rPr lang="en-US" sz="2000" b="1" dirty="0">
                <a:solidFill>
                  <a:srgbClr val="07182F"/>
                </a:solidFill>
                <a:latin typeface="Arial" pitchFamily="34" charset="0"/>
                <a:ea typeface="Arial" pitchFamily="34" charset="-122"/>
                <a:cs typeface="Arial" pitchFamily="34" charset="-120"/>
              </a:rPr>
              <a:t>0</a:t>
            </a:r>
            <a:endParaRPr lang="en-US" sz="2000" dirty="0"/>
          </a:p>
        </p:txBody>
      </p:sp>
      <p:sp>
        <p:nvSpPr>
          <p:cNvPr id="29" name="Text 26"/>
          <p:cNvSpPr txBox="1"/>
          <p:nvPr/>
        </p:nvSpPr>
        <p:spPr>
          <a:xfrm>
            <a:off x="2633472" y="5120640"/>
            <a:ext cx="4480560" cy="274320"/>
          </a:xfrm>
          <a:prstGeom prst="rect">
            <a:avLst/>
          </a:prstGeom>
          <a:noFill/>
          <a:ln/>
        </p:spPr>
        <p:txBody>
          <a:bodyPr wrap="square" lIns="0" tIns="0" rIns="0" bIns="0" rtlCol="0" anchor="t">
            <a:normAutofit/>
          </a:bodyPr>
          <a:lstStyle/>
          <a:p>
            <a:pPr marL="0" indent="0" algn="l">
              <a:buNone/>
            </a:pPr>
            <a:r>
              <a:rPr lang="en-US" sz="1450" dirty="0">
                <a:solidFill>
                  <a:srgbClr val="243247"/>
                </a:solidFill>
                <a:latin typeface="Arial" pitchFamily="34" charset="0"/>
                <a:ea typeface="Arial" pitchFamily="34" charset="-122"/>
                <a:cs typeface="Arial" pitchFamily="34" charset="-120"/>
              </a:rPr>
              <a:t>Toàn bộ cổng đã được thực thi</a:t>
            </a:r>
            <a:endParaRPr lang="en-US" sz="1450" dirty="0"/>
          </a:p>
        </p:txBody>
      </p:sp>
      <p:sp>
        <p:nvSpPr>
          <p:cNvPr id="30" name="Shape 27"/>
          <p:cNvSpPr/>
          <p:nvPr/>
        </p:nvSpPr>
        <p:spPr>
          <a:xfrm>
            <a:off x="7754112" y="1993392"/>
            <a:ext cx="3767328" cy="3566160"/>
          </a:xfrm>
          <a:prstGeom prst="roundRect">
            <a:avLst>
              <a:gd name="adj" fmla="val 1026"/>
            </a:avLst>
          </a:prstGeom>
          <a:solidFill>
            <a:srgbClr val="FFF4E8"/>
          </a:solidFill>
          <a:ln w="12700">
            <a:solidFill>
              <a:srgbClr val="9A5B00"/>
            </a:solidFill>
            <a:prstDash val="solid"/>
          </a:ln>
        </p:spPr>
      </p:sp>
      <p:sp>
        <p:nvSpPr>
          <p:cNvPr id="31" name="Text 28"/>
          <p:cNvSpPr txBox="1"/>
          <p:nvPr/>
        </p:nvSpPr>
        <p:spPr>
          <a:xfrm>
            <a:off x="8101584" y="2322576"/>
            <a:ext cx="3072384" cy="274320"/>
          </a:xfrm>
          <a:prstGeom prst="rect">
            <a:avLst/>
          </a:prstGeom>
          <a:noFill/>
          <a:ln/>
        </p:spPr>
        <p:txBody>
          <a:bodyPr wrap="square" lIns="0" tIns="0" rIns="0" bIns="0" rtlCol="0" anchor="t">
            <a:normAutofit/>
          </a:bodyPr>
          <a:lstStyle/>
          <a:p>
            <a:pPr marL="0" indent="0" algn="ctr">
              <a:buNone/>
            </a:pPr>
            <a:r>
              <a:rPr lang="en-US" sz="1300" b="1" dirty="0">
                <a:solidFill>
                  <a:srgbClr val="9A5B00"/>
                </a:solidFill>
                <a:latin typeface="Arial" pitchFamily="34" charset="0"/>
                <a:ea typeface="Arial" pitchFamily="34" charset="-122"/>
                <a:cs typeface="Arial" pitchFamily="34" charset="-120"/>
              </a:rPr>
              <a:t>TRẠNG THÁI TỔNG THỂ</a:t>
            </a:r>
            <a:endParaRPr lang="en-US" sz="1300" dirty="0"/>
          </a:p>
        </p:txBody>
      </p:sp>
      <p:sp>
        <p:nvSpPr>
          <p:cNvPr id="32" name="Text 29"/>
          <p:cNvSpPr txBox="1"/>
          <p:nvPr/>
        </p:nvSpPr>
        <p:spPr>
          <a:xfrm>
            <a:off x="8092440" y="2788920"/>
            <a:ext cx="3090672" cy="566928"/>
          </a:xfrm>
          <a:prstGeom prst="rect">
            <a:avLst/>
          </a:prstGeom>
          <a:noFill/>
          <a:ln/>
        </p:spPr>
        <p:txBody>
          <a:bodyPr wrap="square" lIns="0" tIns="0" rIns="0" bIns="0" rtlCol="0" anchor="t">
            <a:normAutofit/>
          </a:bodyPr>
          <a:lstStyle/>
          <a:p>
            <a:pPr marL="0" indent="0" algn="ctr">
              <a:buNone/>
            </a:pPr>
            <a:r>
              <a:rPr lang="en-US" sz="3400" b="1" dirty="0">
                <a:solidFill>
                  <a:srgbClr val="B42318"/>
                </a:solidFill>
                <a:latin typeface="Arial" pitchFamily="34" charset="0"/>
                <a:ea typeface="Arial" pitchFamily="34" charset="-122"/>
                <a:cs typeface="Arial" pitchFamily="34" charset="-120"/>
              </a:rPr>
              <a:t>BLOCKED</a:t>
            </a:r>
            <a:endParaRPr lang="en-US" sz="3400" dirty="0"/>
          </a:p>
        </p:txBody>
      </p:sp>
      <p:sp>
        <p:nvSpPr>
          <p:cNvPr id="33" name="Text 30"/>
          <p:cNvSpPr txBox="1"/>
          <p:nvPr/>
        </p:nvSpPr>
        <p:spPr>
          <a:xfrm>
            <a:off x="8247888" y="3685032"/>
            <a:ext cx="2779776" cy="768096"/>
          </a:xfrm>
          <a:prstGeom prst="rect">
            <a:avLst/>
          </a:prstGeom>
          <a:noFill/>
          <a:ln/>
        </p:spPr>
        <p:txBody>
          <a:bodyPr wrap="square" lIns="0" tIns="0" rIns="0" bIns="0" rtlCol="0" anchor="ctr">
            <a:normAutofit/>
          </a:bodyPr>
          <a:lstStyle/>
          <a:p>
            <a:pPr marL="0" indent="0" algn="ctr">
              <a:buNone/>
            </a:pPr>
            <a:r>
              <a:rPr lang="en-US" sz="1600" dirty="0">
                <a:solidFill>
                  <a:srgbClr val="07182F"/>
                </a:solidFill>
                <a:latin typeface="Arial" pitchFamily="34" charset="0"/>
                <a:ea typeface="Arial" pitchFamily="34" charset="-122"/>
                <a:cs typeface="Arial" pitchFamily="34" charset="-120"/>
              </a:rPr>
              <a:t>Không có gate fail; 4 gate chờ đúng chuyên gia/người dùng độc lập đóng.</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600" b="1" dirty="0">
                <a:solidFill>
                  <a:srgbClr val="07182F"/>
                </a:solidFill>
                <a:latin typeface="Georgia" pitchFamily="34" charset="0"/>
                <a:ea typeface="Georgia" pitchFamily="34" charset="-122"/>
                <a:cs typeface="Georgia" pitchFamily="34" charset="-120"/>
              </a:rPr>
              <a:t>Bốn điều kiện trước bản phát hành cuối</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12</a:t>
            </a:r>
            <a:endParaRPr lang="en-US" sz="1000" dirty="0"/>
          </a:p>
        </p:txBody>
      </p:sp>
      <p:sp>
        <p:nvSpPr>
          <p:cNvPr id="6" name="Shape 4"/>
          <p:cNvSpPr/>
          <p:nvPr/>
        </p:nvSpPr>
        <p:spPr>
          <a:xfrm>
            <a:off x="612648" y="1408176"/>
            <a:ext cx="10972800" cy="457200"/>
          </a:xfrm>
          <a:prstGeom prst="rect">
            <a:avLst/>
          </a:prstGeom>
          <a:solidFill>
            <a:srgbClr val="EEF2F7"/>
          </a:solidFill>
          <a:ln w="12700">
            <a:solidFill>
              <a:srgbClr val="D7DEE8"/>
            </a:solidFill>
            <a:prstDash val="solid"/>
          </a:ln>
        </p:spPr>
      </p:sp>
      <p:sp>
        <p:nvSpPr>
          <p:cNvPr id="7" name="Text 5"/>
          <p:cNvSpPr txBox="1"/>
          <p:nvPr/>
        </p:nvSpPr>
        <p:spPr>
          <a:xfrm>
            <a:off x="822960" y="1481328"/>
            <a:ext cx="10561320" cy="274320"/>
          </a:xfrm>
          <a:prstGeom prst="rect">
            <a:avLst/>
          </a:prstGeom>
          <a:noFill/>
          <a:ln/>
        </p:spPr>
        <p:txBody>
          <a:bodyPr wrap="square" lIns="0" tIns="0" rIns="0" bIns="0" rtlCol="0" anchor="ctr">
            <a:normAutofit/>
          </a:bodyPr>
          <a:lstStyle/>
          <a:p>
            <a:pPr marL="0" indent="0" algn="l">
              <a:buNone/>
            </a:pPr>
            <a:r>
              <a:rPr lang="en-US" sz="1650" b="1" dirty="0">
                <a:solidFill>
                  <a:srgbClr val="0D2447"/>
                </a:solidFill>
                <a:latin typeface="Arial" pitchFamily="34" charset="0"/>
                <a:ea typeface="Arial" pitchFamily="34" charset="-122"/>
                <a:cs typeface="Arial" pitchFamily="34" charset="-120"/>
              </a:rPr>
              <a:t>Mỗi điều kiện có đúng chủ thể, đúng môi trường và đúng hồ sơ minh chứng.</a:t>
            </a:r>
            <a:endParaRPr lang="en-US" sz="165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data/acceptance-report.json</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12</a:t>
            </a:r>
            <a:endParaRPr lang="en-US" sz="820" dirty="0"/>
          </a:p>
        </p:txBody>
      </p:sp>
      <p:sp>
        <p:nvSpPr>
          <p:cNvPr id="13" name="Text 10"/>
          <p:cNvSpPr txBox="1"/>
          <p:nvPr/>
        </p:nvSpPr>
        <p:spPr>
          <a:xfrm>
            <a:off x="713232" y="2093976"/>
            <a:ext cx="384048" cy="292608"/>
          </a:xfrm>
          <a:prstGeom prst="rect">
            <a:avLst/>
          </a:prstGeom>
          <a:noFill/>
          <a:ln/>
        </p:spPr>
        <p:txBody>
          <a:bodyPr wrap="square" lIns="0" tIns="0" rIns="0" bIns="0" rtlCol="0" anchor="t">
            <a:normAutofit/>
          </a:bodyPr>
          <a:lstStyle/>
          <a:p>
            <a:pPr marL="0" indent="0" algn="ctr">
              <a:buNone/>
            </a:pPr>
            <a:r>
              <a:rPr lang="en-US" sz="1800" b="1" dirty="0">
                <a:solidFill>
                  <a:srgbClr val="C9963A"/>
                </a:solidFill>
                <a:latin typeface="Arial" pitchFamily="34" charset="0"/>
                <a:ea typeface="Arial" pitchFamily="34" charset="-122"/>
                <a:cs typeface="Arial" pitchFamily="34" charset="-120"/>
              </a:rPr>
              <a:t>1</a:t>
            </a:r>
            <a:endParaRPr lang="en-US" sz="1800" dirty="0"/>
          </a:p>
        </p:txBody>
      </p:sp>
      <p:sp>
        <p:nvSpPr>
          <p:cNvPr id="14" name="Shape 11"/>
          <p:cNvSpPr/>
          <p:nvPr/>
        </p:nvSpPr>
        <p:spPr>
          <a:xfrm>
            <a:off x="1261872" y="1984248"/>
            <a:ext cx="10222992" cy="621792"/>
          </a:xfrm>
          <a:prstGeom prst="roundRect">
            <a:avLst>
              <a:gd name="adj" fmla="val 5882"/>
            </a:avLst>
          </a:prstGeom>
          <a:solidFill>
            <a:srgbClr val="FFFFFF"/>
          </a:solidFill>
          <a:ln w="12700">
            <a:solidFill>
              <a:srgbClr val="15355F"/>
            </a:solidFill>
            <a:prstDash val="solid"/>
          </a:ln>
        </p:spPr>
      </p:sp>
      <p:sp>
        <p:nvSpPr>
          <p:cNvPr id="15" name="Text 12"/>
          <p:cNvSpPr txBox="1"/>
          <p:nvPr/>
        </p:nvSpPr>
        <p:spPr>
          <a:xfrm>
            <a:off x="1536192" y="2112264"/>
            <a:ext cx="2103120" cy="274320"/>
          </a:xfrm>
          <a:prstGeom prst="rect">
            <a:avLst/>
          </a:prstGeom>
          <a:noFill/>
          <a:ln/>
        </p:spPr>
        <p:txBody>
          <a:bodyPr wrap="square" lIns="0" tIns="0" rIns="0" bIns="0" rtlCol="0" anchor="t">
            <a:normAutofit/>
          </a:bodyPr>
          <a:lstStyle/>
          <a:p>
            <a:pPr marL="0" indent="0" algn="l">
              <a:buNone/>
            </a:pPr>
            <a:r>
              <a:rPr lang="en-US" sz="1650" b="1" dirty="0">
                <a:solidFill>
                  <a:srgbClr val="15355F"/>
                </a:solidFill>
                <a:latin typeface="Arial" pitchFamily="34" charset="0"/>
                <a:ea typeface="Arial" pitchFamily="34" charset="-122"/>
                <a:cs typeface="Arial" pitchFamily="34" charset="-120"/>
              </a:rPr>
              <a:t>Thẩm định học thuật</a:t>
            </a:r>
            <a:endParaRPr lang="en-US" sz="1650" dirty="0"/>
          </a:p>
        </p:txBody>
      </p:sp>
      <p:sp>
        <p:nvSpPr>
          <p:cNvPr id="16" name="Text 13"/>
          <p:cNvSpPr txBox="1"/>
          <p:nvPr/>
        </p:nvSpPr>
        <p:spPr>
          <a:xfrm>
            <a:off x="3767328" y="2103120"/>
            <a:ext cx="7269480" cy="310896"/>
          </a:xfrm>
          <a:prstGeom prst="rect">
            <a:avLst/>
          </a:prstGeom>
          <a:noFill/>
          <a:ln/>
        </p:spPr>
        <p:txBody>
          <a:bodyPr wrap="square" lIns="0" tIns="0" rIns="0" bIns="0" rtlCol="0" anchor="t">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Hội đồng/SME ký quyết định nội dung</a:t>
            </a:r>
            <a:endParaRPr lang="en-US" sz="1550" dirty="0"/>
          </a:p>
        </p:txBody>
      </p:sp>
      <p:sp>
        <p:nvSpPr>
          <p:cNvPr id="17" name="Text 14"/>
          <p:cNvSpPr txBox="1"/>
          <p:nvPr/>
        </p:nvSpPr>
        <p:spPr>
          <a:xfrm>
            <a:off x="713232" y="2880360"/>
            <a:ext cx="384048" cy="292608"/>
          </a:xfrm>
          <a:prstGeom prst="rect">
            <a:avLst/>
          </a:prstGeom>
          <a:noFill/>
          <a:ln/>
        </p:spPr>
        <p:txBody>
          <a:bodyPr wrap="square" lIns="0" tIns="0" rIns="0" bIns="0" rtlCol="0" anchor="t">
            <a:normAutofit/>
          </a:bodyPr>
          <a:lstStyle/>
          <a:p>
            <a:pPr marL="0" indent="0" algn="ctr">
              <a:buNone/>
            </a:pPr>
            <a:r>
              <a:rPr lang="en-US" sz="1800" b="1" dirty="0">
                <a:solidFill>
                  <a:srgbClr val="C9963A"/>
                </a:solidFill>
                <a:latin typeface="Arial" pitchFamily="34" charset="0"/>
                <a:ea typeface="Arial" pitchFamily="34" charset="-122"/>
                <a:cs typeface="Arial" pitchFamily="34" charset="-120"/>
              </a:rPr>
              <a:t>2</a:t>
            </a:r>
            <a:endParaRPr lang="en-US" sz="1800" dirty="0"/>
          </a:p>
        </p:txBody>
      </p:sp>
      <p:sp>
        <p:nvSpPr>
          <p:cNvPr id="18" name="Shape 15"/>
          <p:cNvSpPr/>
          <p:nvPr/>
        </p:nvSpPr>
        <p:spPr>
          <a:xfrm>
            <a:off x="1261872" y="2770632"/>
            <a:ext cx="10222992" cy="621792"/>
          </a:xfrm>
          <a:prstGeom prst="roundRect">
            <a:avLst>
              <a:gd name="adj" fmla="val 5882"/>
            </a:avLst>
          </a:prstGeom>
          <a:solidFill>
            <a:srgbClr val="FFFFFF"/>
          </a:solidFill>
          <a:ln w="12700">
            <a:solidFill>
              <a:srgbClr val="15355F"/>
            </a:solidFill>
            <a:prstDash val="solid"/>
          </a:ln>
        </p:spPr>
      </p:sp>
      <p:sp>
        <p:nvSpPr>
          <p:cNvPr id="19" name="Text 16"/>
          <p:cNvSpPr txBox="1"/>
          <p:nvPr/>
        </p:nvSpPr>
        <p:spPr>
          <a:xfrm>
            <a:off x="1536192" y="2898648"/>
            <a:ext cx="2103120" cy="274320"/>
          </a:xfrm>
          <a:prstGeom prst="rect">
            <a:avLst/>
          </a:prstGeom>
          <a:noFill/>
          <a:ln/>
        </p:spPr>
        <p:txBody>
          <a:bodyPr wrap="square" lIns="0" tIns="0" rIns="0" bIns="0" rtlCol="0" anchor="t">
            <a:normAutofit/>
          </a:bodyPr>
          <a:lstStyle/>
          <a:p>
            <a:pPr marL="0" indent="0" algn="l">
              <a:buNone/>
            </a:pPr>
            <a:r>
              <a:rPr lang="en-US" sz="1650" b="1" dirty="0">
                <a:solidFill>
                  <a:srgbClr val="15355F"/>
                </a:solidFill>
                <a:latin typeface="Arial" pitchFamily="34" charset="0"/>
                <a:ea typeface="Arial" pitchFamily="34" charset="-122"/>
                <a:cs typeface="Arial" pitchFamily="34" charset="-120"/>
              </a:rPr>
              <a:t>Tiếp cận độc lập</a:t>
            </a:r>
            <a:endParaRPr lang="en-US" sz="1650" dirty="0"/>
          </a:p>
        </p:txBody>
      </p:sp>
      <p:sp>
        <p:nvSpPr>
          <p:cNvPr id="20" name="Text 17"/>
          <p:cNvSpPr txBox="1"/>
          <p:nvPr/>
        </p:nvSpPr>
        <p:spPr>
          <a:xfrm>
            <a:off x="3767328" y="2889504"/>
            <a:ext cx="7269480" cy="310896"/>
          </a:xfrm>
          <a:prstGeom prst="rect">
            <a:avLst/>
          </a:prstGeom>
          <a:noFill/>
          <a:ln/>
        </p:spPr>
        <p:txBody>
          <a:bodyPr wrap="square" lIns="0" tIns="0" rIns="0" bIns="0" rtlCol="0" anchor="t">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Chuyên gia đánh giá screen reader, keyboard và reflow</a:t>
            </a:r>
            <a:endParaRPr lang="en-US" sz="1550" dirty="0"/>
          </a:p>
        </p:txBody>
      </p:sp>
      <p:sp>
        <p:nvSpPr>
          <p:cNvPr id="21" name="Text 18"/>
          <p:cNvSpPr txBox="1"/>
          <p:nvPr/>
        </p:nvSpPr>
        <p:spPr>
          <a:xfrm>
            <a:off x="713232" y="3666744"/>
            <a:ext cx="384048" cy="292608"/>
          </a:xfrm>
          <a:prstGeom prst="rect">
            <a:avLst/>
          </a:prstGeom>
          <a:noFill/>
          <a:ln/>
        </p:spPr>
        <p:txBody>
          <a:bodyPr wrap="square" lIns="0" tIns="0" rIns="0" bIns="0" rtlCol="0" anchor="t">
            <a:normAutofit/>
          </a:bodyPr>
          <a:lstStyle/>
          <a:p>
            <a:pPr marL="0" indent="0" algn="ctr">
              <a:buNone/>
            </a:pPr>
            <a:r>
              <a:rPr lang="en-US" sz="1800" b="1" dirty="0">
                <a:solidFill>
                  <a:srgbClr val="C9963A"/>
                </a:solidFill>
                <a:latin typeface="Arial" pitchFamily="34" charset="0"/>
                <a:ea typeface="Arial" pitchFamily="34" charset="-122"/>
                <a:cs typeface="Arial" pitchFamily="34" charset="-120"/>
              </a:rPr>
              <a:t>3</a:t>
            </a:r>
            <a:endParaRPr lang="en-US" sz="1800" dirty="0"/>
          </a:p>
        </p:txBody>
      </p:sp>
      <p:sp>
        <p:nvSpPr>
          <p:cNvPr id="22" name="Shape 19"/>
          <p:cNvSpPr/>
          <p:nvPr/>
        </p:nvSpPr>
        <p:spPr>
          <a:xfrm>
            <a:off x="1261872" y="3557016"/>
            <a:ext cx="10222992" cy="621792"/>
          </a:xfrm>
          <a:prstGeom prst="roundRect">
            <a:avLst>
              <a:gd name="adj" fmla="val 5882"/>
            </a:avLst>
          </a:prstGeom>
          <a:solidFill>
            <a:srgbClr val="FFFFFF"/>
          </a:solidFill>
          <a:ln w="12700">
            <a:solidFill>
              <a:srgbClr val="15355F"/>
            </a:solidFill>
            <a:prstDash val="solid"/>
          </a:ln>
        </p:spPr>
      </p:sp>
      <p:sp>
        <p:nvSpPr>
          <p:cNvPr id="23" name="Text 20"/>
          <p:cNvSpPr txBox="1"/>
          <p:nvPr/>
        </p:nvSpPr>
        <p:spPr>
          <a:xfrm>
            <a:off x="1536192" y="3685032"/>
            <a:ext cx="2103120" cy="274320"/>
          </a:xfrm>
          <a:prstGeom prst="rect">
            <a:avLst/>
          </a:prstGeom>
          <a:noFill/>
          <a:ln/>
        </p:spPr>
        <p:txBody>
          <a:bodyPr wrap="square" lIns="0" tIns="0" rIns="0" bIns="0" rtlCol="0" anchor="t">
            <a:normAutofit/>
          </a:bodyPr>
          <a:lstStyle/>
          <a:p>
            <a:pPr marL="0" indent="0" algn="l">
              <a:buNone/>
            </a:pPr>
            <a:r>
              <a:rPr lang="en-US" sz="1650" b="1" dirty="0">
                <a:solidFill>
                  <a:srgbClr val="15355F"/>
                </a:solidFill>
                <a:latin typeface="Arial" pitchFamily="34" charset="0"/>
                <a:ea typeface="Arial" pitchFamily="34" charset="-122"/>
                <a:cs typeface="Arial" pitchFamily="34" charset="-120"/>
              </a:rPr>
              <a:t>Smoke độc lập</a:t>
            </a:r>
            <a:endParaRPr lang="en-US" sz="1650" dirty="0"/>
          </a:p>
        </p:txBody>
      </p:sp>
      <p:sp>
        <p:nvSpPr>
          <p:cNvPr id="24" name="Text 21"/>
          <p:cNvSpPr txBox="1"/>
          <p:nvPr/>
        </p:nvSpPr>
        <p:spPr>
          <a:xfrm>
            <a:off x="3767328" y="3675888"/>
            <a:ext cx="7269480" cy="310896"/>
          </a:xfrm>
          <a:prstGeom prst="rect">
            <a:avLst/>
          </a:prstGeom>
          <a:noFill/>
          <a:ln/>
        </p:spPr>
        <p:txBody>
          <a:bodyPr wrap="square" lIns="0" tIns="0" rIns="0" bIns="0" rtlCol="0" anchor="t">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Giảng viên/học viên chạy file:// và HTTP trên thiết bị thật</a:t>
            </a:r>
            <a:endParaRPr lang="en-US" sz="1550" dirty="0"/>
          </a:p>
        </p:txBody>
      </p:sp>
      <p:sp>
        <p:nvSpPr>
          <p:cNvPr id="25" name="Text 22"/>
          <p:cNvSpPr txBox="1"/>
          <p:nvPr/>
        </p:nvSpPr>
        <p:spPr>
          <a:xfrm>
            <a:off x="713232" y="4453128"/>
            <a:ext cx="384048" cy="292608"/>
          </a:xfrm>
          <a:prstGeom prst="rect">
            <a:avLst/>
          </a:prstGeom>
          <a:noFill/>
          <a:ln/>
        </p:spPr>
        <p:txBody>
          <a:bodyPr wrap="square" lIns="0" tIns="0" rIns="0" bIns="0" rtlCol="0" anchor="t">
            <a:normAutofit/>
          </a:bodyPr>
          <a:lstStyle/>
          <a:p>
            <a:pPr marL="0" indent="0" algn="ctr">
              <a:buNone/>
            </a:pPr>
            <a:r>
              <a:rPr lang="en-US" sz="1800" b="1" dirty="0">
                <a:solidFill>
                  <a:srgbClr val="C9963A"/>
                </a:solidFill>
                <a:latin typeface="Arial" pitchFamily="34" charset="0"/>
                <a:ea typeface="Arial" pitchFamily="34" charset="-122"/>
                <a:cs typeface="Arial" pitchFamily="34" charset="-120"/>
              </a:rPr>
              <a:t>4</a:t>
            </a:r>
            <a:endParaRPr lang="en-US" sz="1800" dirty="0"/>
          </a:p>
        </p:txBody>
      </p:sp>
      <p:sp>
        <p:nvSpPr>
          <p:cNvPr id="26" name="Shape 23"/>
          <p:cNvSpPr/>
          <p:nvPr/>
        </p:nvSpPr>
        <p:spPr>
          <a:xfrm>
            <a:off x="1261872" y="4343400"/>
            <a:ext cx="10222992" cy="621792"/>
          </a:xfrm>
          <a:prstGeom prst="roundRect">
            <a:avLst>
              <a:gd name="adj" fmla="val 5882"/>
            </a:avLst>
          </a:prstGeom>
          <a:solidFill>
            <a:srgbClr val="FFFFFF"/>
          </a:solidFill>
          <a:ln w="12700">
            <a:solidFill>
              <a:srgbClr val="15355F"/>
            </a:solidFill>
            <a:prstDash val="solid"/>
          </a:ln>
        </p:spPr>
      </p:sp>
      <p:sp>
        <p:nvSpPr>
          <p:cNvPr id="27" name="Text 24"/>
          <p:cNvSpPr txBox="1"/>
          <p:nvPr/>
        </p:nvSpPr>
        <p:spPr>
          <a:xfrm>
            <a:off x="1536192" y="4471416"/>
            <a:ext cx="2103120" cy="274320"/>
          </a:xfrm>
          <a:prstGeom prst="rect">
            <a:avLst/>
          </a:prstGeom>
          <a:noFill/>
          <a:ln/>
        </p:spPr>
        <p:txBody>
          <a:bodyPr wrap="square" lIns="0" tIns="0" rIns="0" bIns="0" rtlCol="0" anchor="t">
            <a:normAutofit/>
          </a:bodyPr>
          <a:lstStyle/>
          <a:p>
            <a:pPr marL="0" indent="0" algn="l">
              <a:buNone/>
            </a:pPr>
            <a:r>
              <a:rPr lang="en-US" sz="1650" b="1" dirty="0">
                <a:solidFill>
                  <a:srgbClr val="15355F"/>
                </a:solidFill>
                <a:latin typeface="Arial" pitchFamily="34" charset="0"/>
                <a:ea typeface="Arial" pitchFamily="34" charset="-122"/>
                <a:cs typeface="Arial" pitchFamily="34" charset="-120"/>
              </a:rPr>
              <a:t>Word round-trip</a:t>
            </a:r>
            <a:endParaRPr lang="en-US" sz="1650" dirty="0"/>
          </a:p>
        </p:txBody>
      </p:sp>
      <p:sp>
        <p:nvSpPr>
          <p:cNvPr id="28" name="Text 25"/>
          <p:cNvSpPr txBox="1"/>
          <p:nvPr/>
        </p:nvSpPr>
        <p:spPr>
          <a:xfrm>
            <a:off x="3767328" y="4462272"/>
            <a:ext cx="7269480" cy="310896"/>
          </a:xfrm>
          <a:prstGeom prst="rect">
            <a:avLst/>
          </a:prstGeom>
          <a:noFill/>
          <a:ln/>
        </p:spPr>
        <p:txBody>
          <a:bodyPr wrap="square" lIns="0" tIns="0" rIns="0" bIns="0" rtlCol="0" anchor="t">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Đối sánh fidelity tài liệu Word xuất ngược</a:t>
            </a:r>
            <a:endParaRPr lang="en-US" sz="1550" dirty="0"/>
          </a:p>
        </p:txBody>
      </p:sp>
      <p:sp>
        <p:nvSpPr>
          <p:cNvPr id="29" name="Shape 26"/>
          <p:cNvSpPr/>
          <p:nvPr/>
        </p:nvSpPr>
        <p:spPr>
          <a:xfrm>
            <a:off x="1261872" y="5358384"/>
            <a:ext cx="10222992" cy="566928"/>
          </a:xfrm>
          <a:prstGeom prst="roundRect">
            <a:avLst>
              <a:gd name="adj" fmla="val 6452"/>
            </a:avLst>
          </a:prstGeom>
          <a:solidFill>
            <a:srgbClr val="EEF7F2"/>
          </a:solidFill>
          <a:ln w="12700">
            <a:solidFill>
              <a:srgbClr val="137A3D"/>
            </a:solidFill>
            <a:prstDash val="solid"/>
          </a:ln>
        </p:spPr>
      </p:sp>
      <p:sp>
        <p:nvSpPr>
          <p:cNvPr id="30" name="Text 27"/>
          <p:cNvSpPr txBox="1"/>
          <p:nvPr/>
        </p:nvSpPr>
        <p:spPr>
          <a:xfrm>
            <a:off x="1554480" y="5504688"/>
            <a:ext cx="9646920" cy="256032"/>
          </a:xfrm>
          <a:prstGeom prst="rect">
            <a:avLst/>
          </a:prstGeom>
          <a:noFill/>
          <a:ln/>
        </p:spPr>
        <p:txBody>
          <a:bodyPr wrap="square" lIns="0" tIns="0" rIns="0" bIns="0" rtlCol="0" anchor="t">
            <a:normAutofit/>
          </a:bodyPr>
          <a:lstStyle/>
          <a:p>
            <a:pPr marL="0" indent="0" algn="ctr">
              <a:buNone/>
            </a:pPr>
            <a:r>
              <a:rPr lang="en-US" sz="1650" b="1" dirty="0">
                <a:solidFill>
                  <a:srgbClr val="137A3D"/>
                </a:solidFill>
                <a:latin typeface="Arial" pitchFamily="34" charset="0"/>
                <a:ea typeface="Arial" pitchFamily="34" charset="-122"/>
                <a:cs typeface="Arial" pitchFamily="34" charset="-120"/>
              </a:rPr>
              <a:t>Đủ 4 bằng chứng → chạy lại 24 gate → khóa bản phát hành chính thức</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182F"/>
        </a:solidFill>
        <a:effectLst/>
      </p:bgPr>
    </p:bg>
    <p:spTree>
      <p:nvGrpSpPr>
        <p:cNvPr id="1" name=""/>
        <p:cNvGrpSpPr/>
        <p:nvPr/>
      </p:nvGrpSpPr>
      <p:grpSpPr>
        <a:xfrm>
          <a:off x="0" y="0"/>
          <a:ext cx="0" cy="0"/>
          <a:chOff x="0" y="0"/>
          <a:chExt cx="0" cy="0"/>
        </a:xfrm>
      </p:grpSpPr>
      <p:sp>
        <p:nvSpPr>
          <p:cNvPr id="2" name="Text 0"/>
          <p:cNvSpPr txBox="1"/>
          <p:nvPr/>
        </p:nvSpPr>
        <p:spPr>
          <a:xfrm>
            <a:off x="10927080" y="402336"/>
            <a:ext cx="411480" cy="201168"/>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13</a:t>
            </a:r>
            <a:endParaRPr lang="en-US" sz="1000" dirty="0"/>
          </a:p>
        </p:txBody>
      </p:sp>
      <p:sp>
        <p:nvSpPr>
          <p:cNvPr id="3" name="Text 1"/>
          <p:cNvSpPr txBox="1"/>
          <p:nvPr/>
        </p:nvSpPr>
        <p:spPr>
          <a:xfrm>
            <a:off x="713232" y="621792"/>
            <a:ext cx="10789920" cy="713232"/>
          </a:xfrm>
          <a:prstGeom prst="rect">
            <a:avLst/>
          </a:prstGeom>
          <a:noFill/>
          <a:ln/>
        </p:spPr>
        <p:txBody>
          <a:bodyPr wrap="square" lIns="0" tIns="0" rIns="0" bIns="0" rtlCol="0" anchor="t">
            <a:normAutofit/>
          </a:bodyPr>
          <a:lstStyle/>
          <a:p>
            <a:pPr marL="0" indent="0" algn="ctr">
              <a:buNone/>
            </a:pPr>
            <a:r>
              <a:rPr lang="en-US" sz="3600" b="1" dirty="0">
                <a:solidFill>
                  <a:srgbClr val="FFFFFF"/>
                </a:solidFill>
                <a:latin typeface="Georgia" pitchFamily="34" charset="0"/>
                <a:ea typeface="Georgia" pitchFamily="34" charset="-122"/>
                <a:cs typeface="Georgia" pitchFamily="34" charset="-120"/>
              </a:rPr>
              <a:t>Đề nghị Hội đồng thông qua có điều kiện</a:t>
            </a:r>
            <a:endParaRPr lang="en-US" sz="3600" dirty="0"/>
          </a:p>
        </p:txBody>
      </p:sp>
      <p:sp>
        <p:nvSpPr>
          <p:cNvPr id="4" name="Text 2"/>
          <p:cNvSpPr txBox="1"/>
          <p:nvPr/>
        </p:nvSpPr>
        <p:spPr>
          <a:xfrm>
            <a:off x="1143000" y="1444752"/>
            <a:ext cx="9921240" cy="475488"/>
          </a:xfrm>
          <a:prstGeom prst="rect">
            <a:avLst/>
          </a:prstGeom>
          <a:noFill/>
          <a:ln/>
        </p:spPr>
        <p:txBody>
          <a:bodyPr wrap="square" lIns="0" tIns="0" rIns="0" bIns="0" rtlCol="0" anchor="t">
            <a:normAutofit/>
          </a:bodyPr>
          <a:lstStyle/>
          <a:p>
            <a:pPr marL="0" indent="0" algn="ctr">
              <a:buNone/>
            </a:pPr>
            <a:r>
              <a:rPr lang="en-US" sz="1800" b="1" dirty="0">
                <a:solidFill>
                  <a:srgbClr val="DBB36A"/>
                </a:solidFill>
                <a:latin typeface="Arial" pitchFamily="34" charset="0"/>
                <a:ea typeface="Arial" pitchFamily="34" charset="-122"/>
                <a:cs typeface="Arial" pitchFamily="34" charset="-120"/>
              </a:rPr>
              <a:t>Thông qua giá trị khoa học–sư phạm; hoàn tất 4 điều kiện trước phát hành chính thức.</a:t>
            </a:r>
            <a:endParaRPr lang="en-US" sz="1800" dirty="0"/>
          </a:p>
        </p:txBody>
      </p:sp>
      <p:sp>
        <p:nvSpPr>
          <p:cNvPr id="5" name="Shape 3"/>
          <p:cNvSpPr/>
          <p:nvPr/>
        </p:nvSpPr>
        <p:spPr>
          <a:xfrm>
            <a:off x="932688" y="2139696"/>
            <a:ext cx="10332720" cy="2907792"/>
          </a:xfrm>
          <a:prstGeom prst="roundRect">
            <a:avLst>
              <a:gd name="adj" fmla="val 1258"/>
            </a:avLst>
          </a:prstGeom>
          <a:solidFill>
            <a:srgbClr val="F7F5EF"/>
          </a:solidFill>
          <a:ln w="12700">
            <a:solidFill>
              <a:srgbClr val="C9963A"/>
            </a:solidFill>
            <a:prstDash val="solid"/>
          </a:ln>
        </p:spPr>
      </p:sp>
      <p:sp>
        <p:nvSpPr>
          <p:cNvPr id="6" name="Text 4"/>
          <p:cNvSpPr txBox="1"/>
          <p:nvPr/>
        </p:nvSpPr>
        <p:spPr>
          <a:xfrm>
            <a:off x="1371600" y="2487168"/>
            <a:ext cx="9464040" cy="2176272"/>
          </a:xfrm>
          <a:prstGeom prst="rect">
            <a:avLst/>
          </a:prstGeom>
          <a:noFill/>
          <a:ln/>
        </p:spPr>
        <p:txBody>
          <a:bodyPr wrap="square" lIns="0" tIns="0" rIns="0" bIns="0" rtlCol="0" anchor="ctr">
            <a:normAutofit/>
          </a:bodyPr>
          <a:lstStyle/>
          <a:p>
            <a:pPr marL="0" indent="0" algn="ctr">
              <a:buNone/>
            </a:pPr>
            <a:r>
              <a:rPr lang="en-US" sz="2000" dirty="0">
                <a:solidFill>
                  <a:srgbClr val="07182F"/>
                </a:solidFill>
                <a:latin typeface="Georgia" pitchFamily="34" charset="0"/>
                <a:ea typeface="Georgia" pitchFamily="34" charset="-122"/>
                <a:cs typeface="Georgia" pitchFamily="34" charset="-120"/>
              </a:rPr>
              <a:t>Hội đồng xem xét thông qua có điều kiện về mặt khoa học–sư phạm đối với Giáo trình điện tử Cơ học lý thuyết; giao nhóm tác giả tiếp thu ý kiến, hoàn tất thẩm định học thuật, rà soát khả năng tiếp cận độc lập, kiểm tra vận hành độc lập và vòng lặp Word trước khi trình xác nhận bản phát hành cuối.</a:t>
            </a:r>
            <a:endParaRPr lang="en-US" sz="2000" dirty="0"/>
          </a:p>
        </p:txBody>
      </p:sp>
      <p:sp>
        <p:nvSpPr>
          <p:cNvPr id="7" name="Text 5"/>
          <p:cNvSpPr txBox="1"/>
          <p:nvPr/>
        </p:nvSpPr>
        <p:spPr>
          <a:xfrm>
            <a:off x="1371600" y="5559552"/>
            <a:ext cx="9464040" cy="365760"/>
          </a:xfrm>
          <a:prstGeom prst="rect">
            <a:avLst/>
          </a:prstGeom>
          <a:noFill/>
          <a:ln/>
        </p:spPr>
        <p:txBody>
          <a:bodyPr wrap="square" lIns="0" tIns="0" rIns="0" bIns="0" rtlCol="0" anchor="t">
            <a:normAutofit/>
          </a:bodyPr>
          <a:lstStyle/>
          <a:p>
            <a:pPr marL="0" indent="0" algn="ctr">
              <a:buNone/>
            </a:pPr>
            <a:r>
              <a:rPr lang="en-US" sz="1800" b="1" dirty="0">
                <a:solidFill>
                  <a:srgbClr val="FFFFFF"/>
                </a:solidFill>
                <a:latin typeface="Arial" pitchFamily="34" charset="0"/>
                <a:ea typeface="Arial" pitchFamily="34" charset="-122"/>
                <a:cs typeface="Arial" pitchFamily="34" charset="-120"/>
              </a:rPr>
              <a:t>Kính đề nghị Hội đồng xem xét và cho ý kiến.</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PHỤ LỤC / DEMO DỰ PHÒNG</a:t>
            </a:r>
            <a:endParaRPr lang="en-US" sz="950" dirty="0"/>
          </a:p>
        </p:txBody>
      </p:sp>
      <p:sp>
        <p:nvSpPr>
          <p:cNvPr id="4" name="Text 2"/>
          <p:cNvSpPr txBox="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600" b="1" dirty="0">
                <a:solidFill>
                  <a:srgbClr val="07182F"/>
                </a:solidFill>
                <a:latin typeface="Georgia" pitchFamily="34" charset="0"/>
                <a:ea typeface="Georgia" pitchFamily="34" charset="-122"/>
                <a:cs typeface="Georgia" pitchFamily="34" charset="-120"/>
              </a:rPr>
              <a:t>Phụ lục · kiến trúc Sim2 và Sim3</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14</a:t>
            </a:r>
            <a:endParaRPr lang="en-US" sz="1000" dirty="0"/>
          </a:p>
        </p:txBody>
      </p:sp>
      <p:sp>
        <p:nvSpPr>
          <p:cNvPr id="6" name="Shape 4"/>
          <p:cNvSpPr/>
          <p:nvPr/>
        </p:nvSpPr>
        <p:spPr>
          <a:xfrm>
            <a:off x="612648" y="1408176"/>
            <a:ext cx="10972800" cy="457200"/>
          </a:xfrm>
          <a:prstGeom prst="rect">
            <a:avLst/>
          </a:prstGeom>
          <a:solidFill>
            <a:srgbClr val="EEF2F7"/>
          </a:solidFill>
          <a:ln w="12700">
            <a:solidFill>
              <a:srgbClr val="D7DEE8"/>
            </a:solidFill>
            <a:prstDash val="solid"/>
          </a:ln>
        </p:spPr>
      </p:sp>
      <p:sp>
        <p:nvSpPr>
          <p:cNvPr id="7" name="Text 5"/>
          <p:cNvSpPr txBox="1"/>
          <p:nvPr/>
        </p:nvSpPr>
        <p:spPr>
          <a:xfrm>
            <a:off x="822960" y="1481328"/>
            <a:ext cx="10561320" cy="274320"/>
          </a:xfrm>
          <a:prstGeom prst="rect">
            <a:avLst/>
          </a:prstGeom>
          <a:noFill/>
          <a:ln/>
        </p:spPr>
        <p:txBody>
          <a:bodyPr wrap="square" lIns="0" tIns="0" rIns="0" bIns="0" rtlCol="0" anchor="ctr">
            <a:normAutofit/>
          </a:bodyPr>
          <a:lstStyle/>
          <a:p>
            <a:pPr marL="0" indent="0" algn="l">
              <a:buNone/>
            </a:pPr>
            <a:r>
              <a:rPr lang="en-US" sz="1650" b="1" dirty="0">
                <a:solidFill>
                  <a:srgbClr val="0D2447"/>
                </a:solidFill>
                <a:latin typeface="Arial" pitchFamily="34" charset="0"/>
                <a:ea typeface="Arial" pitchFamily="34" charset="-122"/>
                <a:cs typeface="Arial" pitchFamily="34" charset="-120"/>
              </a:rPr>
              <a:t>25 route Sim2 canonical · 10 adapter Sim3 pilot · fallback bắt buộc.</a:t>
            </a:r>
            <a:endParaRPr lang="en-US" sz="165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b="1" dirty="0">
                <a:solidFill>
                  <a:srgbClr val="5B6B80"/>
                </a:solidFill>
                <a:latin typeface="Arial" pitchFamily="34" charset="0"/>
                <a:ea typeface="Arial" pitchFamily="34" charset="-122"/>
                <a:cs typeface="Arial" pitchFamily="34" charset="-120"/>
              </a:rPr>
              <a:t>BACKUP</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js/sim2/sim2-route-manifest.js</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14</a:t>
            </a:r>
            <a:endParaRPr lang="en-US" sz="820" dirty="0"/>
          </a:p>
        </p:txBody>
      </p:sp>
      <p:sp>
        <p:nvSpPr>
          <p:cNvPr id="13" name="Shape 10"/>
          <p:cNvSpPr/>
          <p:nvPr/>
        </p:nvSpPr>
        <p:spPr>
          <a:xfrm>
            <a:off x="658368" y="1965960"/>
            <a:ext cx="6949440" cy="4023360"/>
          </a:xfrm>
          <a:prstGeom prst="roundRect">
            <a:avLst>
              <a:gd name="adj" fmla="val 909"/>
            </a:avLst>
          </a:prstGeom>
          <a:solidFill>
            <a:srgbClr val="FFFFFF"/>
          </a:solidFill>
          <a:ln w="12700">
            <a:solidFill>
              <a:srgbClr val="0D2447"/>
            </a:solidFill>
            <a:prstDash val="solid"/>
          </a:ln>
        </p:spPr>
      </p:sp>
      <p:pic>
        <p:nvPicPr>
          <p:cNvPr id="14" name="Image 0" descr="IMG-04 · lớp Sim2 canonical"/>
          <p:cNvPicPr>
            <a:picLocks noChangeAspect="1"/>
          </p:cNvPicPr>
          <p:nvPr/>
        </p:nvPicPr>
        <p:blipFill>
          <a:blip r:embed="rId3"/>
          <a:stretch>
            <a:fillRect/>
          </a:stretch>
        </p:blipFill>
        <p:spPr>
          <a:xfrm>
            <a:off x="1525543" y="2039112"/>
            <a:ext cx="5215089" cy="3621024"/>
          </a:xfrm>
          <a:prstGeom prst="rect">
            <a:avLst/>
          </a:prstGeom>
        </p:spPr>
      </p:pic>
      <p:sp>
        <p:nvSpPr>
          <p:cNvPr id="15" name="Text 11"/>
          <p:cNvSpPr txBox="1"/>
          <p:nvPr/>
        </p:nvSpPr>
        <p:spPr>
          <a:xfrm>
            <a:off x="768096" y="5769864"/>
            <a:ext cx="6729984" cy="128016"/>
          </a:xfrm>
          <a:prstGeom prst="rect">
            <a:avLst/>
          </a:prstGeom>
          <a:noFill/>
          <a:ln/>
        </p:spPr>
        <p:txBody>
          <a:bodyPr wrap="square" lIns="0" tIns="0" rIns="0" bIns="0" rtlCol="0" anchor="t">
            <a:normAutofit/>
          </a:bodyPr>
          <a:lstStyle/>
          <a:p>
            <a:pPr marL="0" indent="0" algn="ctr">
              <a:buNone/>
            </a:pPr>
            <a:r>
              <a:rPr lang="en-US" sz="850" dirty="0">
                <a:solidFill>
                  <a:srgbClr val="5B6B80"/>
                </a:solidFill>
                <a:latin typeface="Arial" pitchFamily="34" charset="0"/>
                <a:ea typeface="Arial" pitchFamily="34" charset="-122"/>
                <a:cs typeface="Arial" pitchFamily="34" charset="-120"/>
              </a:rPr>
              <a:t>IMG-04 · lớp Sim2 canonical</a:t>
            </a:r>
            <a:endParaRPr lang="en-US" sz="850" dirty="0"/>
          </a:p>
        </p:txBody>
      </p:sp>
      <p:sp>
        <p:nvSpPr>
          <p:cNvPr id="16" name="Shape 12"/>
          <p:cNvSpPr/>
          <p:nvPr/>
        </p:nvSpPr>
        <p:spPr>
          <a:xfrm>
            <a:off x="7882128" y="2103120"/>
            <a:ext cx="3657600" cy="1225296"/>
          </a:xfrm>
          <a:prstGeom prst="roundRect">
            <a:avLst>
              <a:gd name="adj" fmla="val 2985"/>
            </a:avLst>
          </a:prstGeom>
          <a:solidFill>
            <a:srgbClr val="FFFFFF"/>
          </a:solidFill>
          <a:ln w="12700">
            <a:solidFill>
              <a:srgbClr val="137A3D"/>
            </a:solidFill>
            <a:prstDash val="solid"/>
          </a:ln>
        </p:spPr>
      </p:sp>
      <p:sp>
        <p:nvSpPr>
          <p:cNvPr id="17" name="Text 13"/>
          <p:cNvSpPr txBox="1"/>
          <p:nvPr/>
        </p:nvSpPr>
        <p:spPr>
          <a:xfrm>
            <a:off x="8138160" y="2249424"/>
            <a:ext cx="960120" cy="365760"/>
          </a:xfrm>
          <a:prstGeom prst="rect">
            <a:avLst/>
          </a:prstGeom>
          <a:noFill/>
          <a:ln/>
        </p:spPr>
        <p:txBody>
          <a:bodyPr wrap="square" lIns="0" tIns="0" rIns="0" bIns="0" rtlCol="0" anchor="t">
            <a:normAutofit/>
          </a:bodyPr>
          <a:lstStyle/>
          <a:p>
            <a:pPr marL="0" indent="0" algn="l">
              <a:buNone/>
            </a:pPr>
            <a:r>
              <a:rPr lang="en-US" sz="2200" b="1" dirty="0">
                <a:solidFill>
                  <a:srgbClr val="137A3D"/>
                </a:solidFill>
                <a:latin typeface="Arial" pitchFamily="34" charset="0"/>
                <a:ea typeface="Arial" pitchFamily="34" charset="-122"/>
                <a:cs typeface="Arial" pitchFamily="34" charset="-120"/>
              </a:rPr>
              <a:t>Sim2</a:t>
            </a:r>
            <a:endParaRPr lang="en-US" sz="2200" dirty="0"/>
          </a:p>
        </p:txBody>
      </p:sp>
      <p:sp>
        <p:nvSpPr>
          <p:cNvPr id="18" name="Text 14"/>
          <p:cNvSpPr txBox="1"/>
          <p:nvPr/>
        </p:nvSpPr>
        <p:spPr>
          <a:xfrm>
            <a:off x="9308592" y="2267712"/>
            <a:ext cx="1810512" cy="329184"/>
          </a:xfrm>
          <a:prstGeom prst="rect">
            <a:avLst/>
          </a:prstGeom>
          <a:noFill/>
          <a:ln/>
        </p:spPr>
        <p:txBody>
          <a:bodyPr wrap="square" lIns="0" tIns="0" rIns="0" bIns="0" rtlCol="0" anchor="t">
            <a:normAutofit/>
          </a:bodyPr>
          <a:lstStyle/>
          <a:p>
            <a:pPr marL="0" indent="0" algn="r">
              <a:buNone/>
            </a:pPr>
            <a:r>
              <a:rPr lang="en-US" sz="1800" b="1" dirty="0">
                <a:solidFill>
                  <a:srgbClr val="07182F"/>
                </a:solidFill>
                <a:latin typeface="Arial" pitchFamily="34" charset="0"/>
                <a:ea typeface="Arial" pitchFamily="34" charset="-122"/>
                <a:cs typeface="Arial" pitchFamily="34" charset="-120"/>
              </a:rPr>
              <a:t>25 route</a:t>
            </a:r>
            <a:endParaRPr lang="en-US" sz="1800" dirty="0"/>
          </a:p>
        </p:txBody>
      </p:sp>
      <p:sp>
        <p:nvSpPr>
          <p:cNvPr id="19" name="Text 15"/>
          <p:cNvSpPr txBox="1"/>
          <p:nvPr/>
        </p:nvSpPr>
        <p:spPr>
          <a:xfrm>
            <a:off x="8138160" y="2798064"/>
            <a:ext cx="3090672" cy="274320"/>
          </a:xfrm>
          <a:prstGeom prst="rect">
            <a:avLst/>
          </a:prstGeom>
          <a:noFill/>
          <a:ln/>
        </p:spPr>
        <p:txBody>
          <a:bodyPr wrap="square" lIns="0" tIns="0" rIns="0" bIns="0" rtlCol="0" anchor="t">
            <a:normAutofit/>
          </a:bodyPr>
          <a:lstStyle/>
          <a:p>
            <a:pPr marL="0" indent="0" algn="l">
              <a:buNone/>
            </a:pPr>
            <a:r>
              <a:rPr lang="en-US" sz="1500" dirty="0">
                <a:solidFill>
                  <a:srgbClr val="5B6B80"/>
                </a:solidFill>
                <a:latin typeface="Arial" pitchFamily="34" charset="0"/>
                <a:ea typeface="Arial" pitchFamily="34" charset="-122"/>
                <a:cs typeface="Arial" pitchFamily="34" charset="-120"/>
              </a:rPr>
              <a:t>SVG-first · đường chạy chuẩn</a:t>
            </a:r>
            <a:endParaRPr lang="en-US" sz="1500" dirty="0"/>
          </a:p>
        </p:txBody>
      </p:sp>
      <p:sp>
        <p:nvSpPr>
          <p:cNvPr id="20" name="Shape 16"/>
          <p:cNvSpPr/>
          <p:nvPr/>
        </p:nvSpPr>
        <p:spPr>
          <a:xfrm>
            <a:off x="7882128" y="3621024"/>
            <a:ext cx="3657600" cy="1225296"/>
          </a:xfrm>
          <a:prstGeom prst="roundRect">
            <a:avLst>
              <a:gd name="adj" fmla="val 2985"/>
            </a:avLst>
          </a:prstGeom>
          <a:solidFill>
            <a:srgbClr val="FFFFFF"/>
          </a:solidFill>
          <a:ln w="12700">
            <a:solidFill>
              <a:srgbClr val="9A5B00"/>
            </a:solidFill>
            <a:prstDash val="solid"/>
          </a:ln>
        </p:spPr>
      </p:sp>
      <p:sp>
        <p:nvSpPr>
          <p:cNvPr id="21" name="Text 17"/>
          <p:cNvSpPr txBox="1"/>
          <p:nvPr/>
        </p:nvSpPr>
        <p:spPr>
          <a:xfrm>
            <a:off x="8138160" y="3767328"/>
            <a:ext cx="960120" cy="365760"/>
          </a:xfrm>
          <a:prstGeom prst="rect">
            <a:avLst/>
          </a:prstGeom>
          <a:noFill/>
          <a:ln/>
        </p:spPr>
        <p:txBody>
          <a:bodyPr wrap="square" lIns="0" tIns="0" rIns="0" bIns="0" rtlCol="0" anchor="t">
            <a:normAutofit/>
          </a:bodyPr>
          <a:lstStyle/>
          <a:p>
            <a:pPr marL="0" indent="0" algn="l">
              <a:buNone/>
            </a:pPr>
            <a:r>
              <a:rPr lang="en-US" sz="2200" b="1" dirty="0">
                <a:solidFill>
                  <a:srgbClr val="9A5B00"/>
                </a:solidFill>
                <a:latin typeface="Arial" pitchFamily="34" charset="0"/>
                <a:ea typeface="Arial" pitchFamily="34" charset="-122"/>
                <a:cs typeface="Arial" pitchFamily="34" charset="-120"/>
              </a:rPr>
              <a:t>Sim3</a:t>
            </a:r>
            <a:endParaRPr lang="en-US" sz="2200" dirty="0"/>
          </a:p>
        </p:txBody>
      </p:sp>
      <p:sp>
        <p:nvSpPr>
          <p:cNvPr id="22" name="Text 18"/>
          <p:cNvSpPr txBox="1"/>
          <p:nvPr/>
        </p:nvSpPr>
        <p:spPr>
          <a:xfrm>
            <a:off x="9308592" y="3785616"/>
            <a:ext cx="1810512" cy="329184"/>
          </a:xfrm>
          <a:prstGeom prst="rect">
            <a:avLst/>
          </a:prstGeom>
          <a:noFill/>
          <a:ln/>
        </p:spPr>
        <p:txBody>
          <a:bodyPr wrap="square" lIns="0" tIns="0" rIns="0" bIns="0" rtlCol="0" anchor="t">
            <a:normAutofit/>
          </a:bodyPr>
          <a:lstStyle/>
          <a:p>
            <a:pPr marL="0" indent="0" algn="r">
              <a:buNone/>
            </a:pPr>
            <a:r>
              <a:rPr lang="en-US" sz="1800" b="1" dirty="0">
                <a:solidFill>
                  <a:srgbClr val="07182F"/>
                </a:solidFill>
                <a:latin typeface="Arial" pitchFamily="34" charset="0"/>
                <a:ea typeface="Arial" pitchFamily="34" charset="-122"/>
                <a:cs typeface="Arial" pitchFamily="34" charset="-120"/>
              </a:rPr>
              <a:t>10 pilot</a:t>
            </a:r>
            <a:endParaRPr lang="en-US" sz="1800" dirty="0"/>
          </a:p>
        </p:txBody>
      </p:sp>
      <p:sp>
        <p:nvSpPr>
          <p:cNvPr id="23" name="Text 19"/>
          <p:cNvSpPr txBox="1"/>
          <p:nvPr/>
        </p:nvSpPr>
        <p:spPr>
          <a:xfrm>
            <a:off x="8138160" y="4315968"/>
            <a:ext cx="3090672" cy="274320"/>
          </a:xfrm>
          <a:prstGeom prst="rect">
            <a:avLst/>
          </a:prstGeom>
          <a:noFill/>
          <a:ln/>
        </p:spPr>
        <p:txBody>
          <a:bodyPr wrap="square" lIns="0" tIns="0" rIns="0" bIns="0" rtlCol="0" anchor="t">
            <a:normAutofit/>
          </a:bodyPr>
          <a:lstStyle/>
          <a:p>
            <a:pPr marL="0" indent="0" algn="l">
              <a:buNone/>
            </a:pPr>
            <a:r>
              <a:rPr lang="en-US" sz="1500" dirty="0">
                <a:solidFill>
                  <a:srgbClr val="5B6B80"/>
                </a:solidFill>
                <a:latin typeface="Arial" pitchFamily="34" charset="0"/>
                <a:ea typeface="Arial" pitchFamily="34" charset="-122"/>
                <a:cs typeface="Arial" pitchFamily="34" charset="-120"/>
              </a:rPr>
              <a:t>3D tùy chọn · lỗi thì về Sim2</a:t>
            </a:r>
            <a:endParaRPr lang="en-US" sz="1500" dirty="0"/>
          </a:p>
        </p:txBody>
      </p:sp>
      <p:sp>
        <p:nvSpPr>
          <p:cNvPr id="24" name="Text 20"/>
          <p:cNvSpPr txBox="1"/>
          <p:nvPr/>
        </p:nvSpPr>
        <p:spPr>
          <a:xfrm>
            <a:off x="7973568" y="5321808"/>
            <a:ext cx="3383280" cy="329184"/>
          </a:xfrm>
          <a:prstGeom prst="rect">
            <a:avLst/>
          </a:prstGeom>
          <a:noFill/>
          <a:ln/>
        </p:spPr>
        <p:txBody>
          <a:bodyPr wrap="square" lIns="0" tIns="0" rIns="0" bIns="0" rtlCol="0" anchor="t">
            <a:normAutofit/>
          </a:bodyPr>
          <a:lstStyle/>
          <a:p>
            <a:pPr marL="0" indent="0" algn="ctr">
              <a:buNone/>
            </a:pPr>
            <a:r>
              <a:rPr lang="en-US" sz="1600" b="1" dirty="0">
                <a:solidFill>
                  <a:srgbClr val="B42318"/>
                </a:solidFill>
                <a:latin typeface="Arial" pitchFamily="34" charset="0"/>
                <a:ea typeface="Arial" pitchFamily="34" charset="-122"/>
                <a:cs typeface="Arial" pitchFamily="34" charset="-120"/>
              </a:rPr>
              <a:t>Không dùng Sim3 để tuyên bố “4D”</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PHỤ LỤC / DEMO DỰ PHÒNG</a:t>
            </a:r>
            <a:endParaRPr lang="en-US" sz="950" dirty="0"/>
          </a:p>
        </p:txBody>
      </p:sp>
      <p:sp>
        <p:nvSpPr>
          <p:cNvPr id="4" name="Text 2"/>
          <p:cNvSpPr txBox="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600" b="1" dirty="0">
                <a:solidFill>
                  <a:srgbClr val="07182F"/>
                </a:solidFill>
                <a:latin typeface="Georgia" pitchFamily="34" charset="0"/>
                <a:ea typeface="Georgia" pitchFamily="34" charset="-122"/>
                <a:cs typeface="Georgia" pitchFamily="34" charset="-120"/>
              </a:rPr>
              <a:t>Phụ lục · 4 cổng mở và bằng chứng cần nộp</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15</a:t>
            </a:r>
            <a:endParaRPr lang="en-US" sz="1000" dirty="0"/>
          </a:p>
        </p:txBody>
      </p:sp>
      <p:sp>
        <p:nvSpPr>
          <p:cNvPr id="6" name="Shape 4"/>
          <p:cNvSpPr/>
          <p:nvPr/>
        </p:nvSpPr>
        <p:spPr>
          <a:xfrm>
            <a:off x="612648" y="1408176"/>
            <a:ext cx="10972800" cy="457200"/>
          </a:xfrm>
          <a:prstGeom prst="rect">
            <a:avLst/>
          </a:prstGeom>
          <a:solidFill>
            <a:srgbClr val="EEF2F7"/>
          </a:solidFill>
          <a:ln w="12700">
            <a:solidFill>
              <a:srgbClr val="D7DEE8"/>
            </a:solidFill>
            <a:prstDash val="solid"/>
          </a:ln>
        </p:spPr>
      </p:sp>
      <p:sp>
        <p:nvSpPr>
          <p:cNvPr id="7" name="Text 5"/>
          <p:cNvSpPr txBox="1"/>
          <p:nvPr/>
        </p:nvSpPr>
        <p:spPr>
          <a:xfrm>
            <a:off x="822960" y="1481328"/>
            <a:ext cx="10561320" cy="274320"/>
          </a:xfrm>
          <a:prstGeom prst="rect">
            <a:avLst/>
          </a:prstGeom>
          <a:noFill/>
          <a:ln/>
        </p:spPr>
        <p:txBody>
          <a:bodyPr wrap="square" lIns="0" tIns="0" rIns="0" bIns="0" rtlCol="0" anchor="ctr">
            <a:normAutofit/>
          </a:bodyPr>
          <a:lstStyle/>
          <a:p>
            <a:pPr marL="0" indent="0" algn="l">
              <a:buNone/>
            </a:pPr>
            <a:r>
              <a:rPr lang="en-US" sz="1650" b="1" dirty="0">
                <a:solidFill>
                  <a:srgbClr val="0D2447"/>
                </a:solidFill>
                <a:latin typeface="Arial" pitchFamily="34" charset="0"/>
                <a:ea typeface="Arial" pitchFamily="34" charset="-122"/>
                <a:cs typeface="Arial" pitchFamily="34" charset="-120"/>
              </a:rPr>
              <a:t>Blocked không đồng nghĩa fail; nhưng chưa có bằng chứng thì chưa được phát hành.</a:t>
            </a:r>
            <a:endParaRPr lang="en-US" sz="165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b="1" dirty="0">
                <a:solidFill>
                  <a:srgbClr val="5B6B80"/>
                </a:solidFill>
                <a:latin typeface="Arial" pitchFamily="34" charset="0"/>
                <a:ea typeface="Arial" pitchFamily="34" charset="-122"/>
                <a:cs typeface="Arial" pitchFamily="34" charset="-120"/>
              </a:rPr>
              <a:t>BACKUP</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data/acceptance-report.json</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15</a:t>
            </a:r>
            <a:endParaRPr lang="en-US" sz="820" dirty="0"/>
          </a:p>
        </p:txBody>
      </p:sp>
      <p:sp>
        <p:nvSpPr>
          <p:cNvPr id="13" name="Shape 10"/>
          <p:cNvSpPr/>
          <p:nvPr/>
        </p:nvSpPr>
        <p:spPr>
          <a:xfrm>
            <a:off x="658368" y="2029968"/>
            <a:ext cx="10972800" cy="676656"/>
          </a:xfrm>
          <a:prstGeom prst="roundRect">
            <a:avLst>
              <a:gd name="adj" fmla="val 5405"/>
            </a:avLst>
          </a:prstGeom>
          <a:solidFill>
            <a:srgbClr val="FFFFFF"/>
          </a:solidFill>
          <a:ln w="12700">
            <a:solidFill>
              <a:srgbClr val="D7DEE8"/>
            </a:solidFill>
            <a:prstDash val="solid"/>
          </a:ln>
        </p:spPr>
      </p:sp>
      <p:sp>
        <p:nvSpPr>
          <p:cNvPr id="14" name="Text 11"/>
          <p:cNvSpPr txBox="1"/>
          <p:nvPr/>
        </p:nvSpPr>
        <p:spPr>
          <a:xfrm>
            <a:off x="896112" y="2185416"/>
            <a:ext cx="3154680" cy="292608"/>
          </a:xfrm>
          <a:prstGeom prst="rect">
            <a:avLst/>
          </a:prstGeom>
          <a:noFill/>
          <a:ln/>
        </p:spPr>
        <p:txBody>
          <a:bodyPr wrap="square" lIns="0" tIns="0" rIns="0" bIns="0" rtlCol="0" anchor="t">
            <a:normAutofit/>
          </a:bodyPr>
          <a:lstStyle/>
          <a:p>
            <a:pPr marL="0" indent="0" algn="l">
              <a:buNone/>
            </a:pPr>
            <a:r>
              <a:rPr lang="en-US" sz="1500" b="1" dirty="0">
                <a:solidFill>
                  <a:srgbClr val="07182F"/>
                </a:solidFill>
                <a:latin typeface="Arial" pitchFamily="34" charset="0"/>
                <a:ea typeface="Arial" pitchFamily="34" charset="-122"/>
                <a:cs typeface="Arial" pitchFamily="34" charset="-120"/>
              </a:rPr>
              <a:t>academic-review-currentness</a:t>
            </a:r>
            <a:endParaRPr lang="en-US" sz="1500" dirty="0"/>
          </a:p>
        </p:txBody>
      </p:sp>
      <p:sp>
        <p:nvSpPr>
          <p:cNvPr id="15" name="Text 12"/>
          <p:cNvSpPr txBox="1"/>
          <p:nvPr/>
        </p:nvSpPr>
        <p:spPr>
          <a:xfrm>
            <a:off x="4315968" y="2185416"/>
            <a:ext cx="1005840" cy="292608"/>
          </a:xfrm>
          <a:prstGeom prst="rect">
            <a:avLst/>
          </a:prstGeom>
          <a:noFill/>
          <a:ln/>
        </p:spPr>
        <p:txBody>
          <a:bodyPr wrap="square" lIns="0" tIns="0" rIns="0" bIns="0" rtlCol="0" anchor="t">
            <a:normAutofit/>
          </a:bodyPr>
          <a:lstStyle/>
          <a:p>
            <a:pPr marL="0" indent="0" algn="ctr">
              <a:buNone/>
            </a:pPr>
            <a:r>
              <a:rPr lang="en-US" sz="1450" b="1" dirty="0">
                <a:solidFill>
                  <a:srgbClr val="9A5B00"/>
                </a:solidFill>
                <a:latin typeface="Arial" pitchFamily="34" charset="0"/>
                <a:ea typeface="Arial" pitchFamily="34" charset="-122"/>
                <a:cs typeface="Arial" pitchFamily="34" charset="-120"/>
              </a:rPr>
              <a:t>Blocked</a:t>
            </a:r>
            <a:endParaRPr lang="en-US" sz="1450" dirty="0"/>
          </a:p>
        </p:txBody>
      </p:sp>
      <p:sp>
        <p:nvSpPr>
          <p:cNvPr id="16" name="Text 13"/>
          <p:cNvSpPr txBox="1"/>
          <p:nvPr/>
        </p:nvSpPr>
        <p:spPr>
          <a:xfrm>
            <a:off x="5577840" y="2148840"/>
            <a:ext cx="5577840" cy="365760"/>
          </a:xfrm>
          <a:prstGeom prst="rect">
            <a:avLst/>
          </a:prstGeom>
          <a:noFill/>
          <a:ln/>
        </p:spPr>
        <p:txBody>
          <a:bodyPr wrap="square" lIns="0" tIns="0" rIns="0" bIns="0" rtlCol="0" anchor="t">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Quyết định học thuật độc lập</a:t>
            </a:r>
            <a:endParaRPr lang="en-US" sz="1550" dirty="0"/>
          </a:p>
        </p:txBody>
      </p:sp>
      <p:sp>
        <p:nvSpPr>
          <p:cNvPr id="17" name="Shape 14"/>
          <p:cNvSpPr/>
          <p:nvPr/>
        </p:nvSpPr>
        <p:spPr>
          <a:xfrm>
            <a:off x="658368" y="2898648"/>
            <a:ext cx="10972800" cy="676656"/>
          </a:xfrm>
          <a:prstGeom prst="roundRect">
            <a:avLst>
              <a:gd name="adj" fmla="val 5405"/>
            </a:avLst>
          </a:prstGeom>
          <a:solidFill>
            <a:srgbClr val="FFFFFF"/>
          </a:solidFill>
          <a:ln w="12700">
            <a:solidFill>
              <a:srgbClr val="D7DEE8"/>
            </a:solidFill>
            <a:prstDash val="solid"/>
          </a:ln>
        </p:spPr>
      </p:sp>
      <p:sp>
        <p:nvSpPr>
          <p:cNvPr id="18" name="Text 15"/>
          <p:cNvSpPr txBox="1"/>
          <p:nvPr/>
        </p:nvSpPr>
        <p:spPr>
          <a:xfrm>
            <a:off x="896112" y="3054096"/>
            <a:ext cx="3154680" cy="292608"/>
          </a:xfrm>
          <a:prstGeom prst="rect">
            <a:avLst/>
          </a:prstGeom>
          <a:noFill/>
          <a:ln/>
        </p:spPr>
        <p:txBody>
          <a:bodyPr wrap="square" lIns="0" tIns="0" rIns="0" bIns="0" rtlCol="0" anchor="t">
            <a:normAutofit/>
          </a:bodyPr>
          <a:lstStyle/>
          <a:p>
            <a:pPr marL="0" indent="0" algn="l">
              <a:buNone/>
            </a:pPr>
            <a:r>
              <a:rPr lang="en-US" sz="1500" b="1" dirty="0">
                <a:solidFill>
                  <a:srgbClr val="07182F"/>
                </a:solidFill>
                <a:latin typeface="Arial" pitchFamily="34" charset="0"/>
                <a:ea typeface="Arial" pitchFamily="34" charset="-122"/>
                <a:cs typeface="Arial" pitchFamily="34" charset="-120"/>
              </a:rPr>
              <a:t>accessibility-independent-review</a:t>
            </a:r>
            <a:endParaRPr lang="en-US" sz="1500" dirty="0"/>
          </a:p>
        </p:txBody>
      </p:sp>
      <p:sp>
        <p:nvSpPr>
          <p:cNvPr id="19" name="Text 16"/>
          <p:cNvSpPr txBox="1"/>
          <p:nvPr/>
        </p:nvSpPr>
        <p:spPr>
          <a:xfrm>
            <a:off x="4315968" y="3054096"/>
            <a:ext cx="1005840" cy="292608"/>
          </a:xfrm>
          <a:prstGeom prst="rect">
            <a:avLst/>
          </a:prstGeom>
          <a:noFill/>
          <a:ln/>
        </p:spPr>
        <p:txBody>
          <a:bodyPr wrap="square" lIns="0" tIns="0" rIns="0" bIns="0" rtlCol="0" anchor="t">
            <a:normAutofit/>
          </a:bodyPr>
          <a:lstStyle/>
          <a:p>
            <a:pPr marL="0" indent="0" algn="ctr">
              <a:buNone/>
            </a:pPr>
            <a:r>
              <a:rPr lang="en-US" sz="1450" b="1" dirty="0">
                <a:solidFill>
                  <a:srgbClr val="9A5B00"/>
                </a:solidFill>
                <a:latin typeface="Arial" pitchFamily="34" charset="0"/>
                <a:ea typeface="Arial" pitchFamily="34" charset="-122"/>
                <a:cs typeface="Arial" pitchFamily="34" charset="-120"/>
              </a:rPr>
              <a:t>Blocked</a:t>
            </a:r>
            <a:endParaRPr lang="en-US" sz="1450" dirty="0"/>
          </a:p>
        </p:txBody>
      </p:sp>
      <p:sp>
        <p:nvSpPr>
          <p:cNvPr id="20" name="Text 17"/>
          <p:cNvSpPr txBox="1"/>
          <p:nvPr/>
        </p:nvSpPr>
        <p:spPr>
          <a:xfrm>
            <a:off x="5577840" y="3017520"/>
            <a:ext cx="5577840" cy="365760"/>
          </a:xfrm>
          <a:prstGeom prst="rect">
            <a:avLst/>
          </a:prstGeom>
          <a:noFill/>
          <a:ln/>
        </p:spPr>
        <p:txBody>
          <a:bodyPr wrap="square" lIns="0" tIns="0" rIns="0" bIns="0" rtlCol="0" anchor="t">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Biên bản screen reader, keyboard, reflow</a:t>
            </a:r>
            <a:endParaRPr lang="en-US" sz="1550" dirty="0"/>
          </a:p>
        </p:txBody>
      </p:sp>
      <p:sp>
        <p:nvSpPr>
          <p:cNvPr id="21" name="Shape 18"/>
          <p:cNvSpPr/>
          <p:nvPr/>
        </p:nvSpPr>
        <p:spPr>
          <a:xfrm>
            <a:off x="658368" y="3767328"/>
            <a:ext cx="10972800" cy="676656"/>
          </a:xfrm>
          <a:prstGeom prst="roundRect">
            <a:avLst>
              <a:gd name="adj" fmla="val 5405"/>
            </a:avLst>
          </a:prstGeom>
          <a:solidFill>
            <a:srgbClr val="FFFFFF"/>
          </a:solidFill>
          <a:ln w="12700">
            <a:solidFill>
              <a:srgbClr val="D7DEE8"/>
            </a:solidFill>
            <a:prstDash val="solid"/>
          </a:ln>
        </p:spPr>
      </p:sp>
      <p:sp>
        <p:nvSpPr>
          <p:cNvPr id="22" name="Text 19"/>
          <p:cNvSpPr txBox="1"/>
          <p:nvPr/>
        </p:nvSpPr>
        <p:spPr>
          <a:xfrm>
            <a:off x="896112" y="3922776"/>
            <a:ext cx="3154680" cy="292608"/>
          </a:xfrm>
          <a:prstGeom prst="rect">
            <a:avLst/>
          </a:prstGeom>
          <a:noFill/>
          <a:ln/>
        </p:spPr>
        <p:txBody>
          <a:bodyPr wrap="square" lIns="0" tIns="0" rIns="0" bIns="0" rtlCol="0" anchor="t">
            <a:normAutofit/>
          </a:bodyPr>
          <a:lstStyle/>
          <a:p>
            <a:pPr marL="0" indent="0" algn="l">
              <a:buNone/>
            </a:pPr>
            <a:r>
              <a:rPr lang="en-US" sz="1500" b="1" dirty="0">
                <a:solidFill>
                  <a:srgbClr val="07182F"/>
                </a:solidFill>
                <a:latin typeface="Arial" pitchFamily="34" charset="0"/>
                <a:ea typeface="Arial" pitchFamily="34" charset="-122"/>
                <a:cs typeface="Arial" pitchFamily="34" charset="-120"/>
              </a:rPr>
              <a:t>release-independent-smoke</a:t>
            </a:r>
            <a:endParaRPr lang="en-US" sz="1500" dirty="0"/>
          </a:p>
        </p:txBody>
      </p:sp>
      <p:sp>
        <p:nvSpPr>
          <p:cNvPr id="23" name="Text 20"/>
          <p:cNvSpPr txBox="1"/>
          <p:nvPr/>
        </p:nvSpPr>
        <p:spPr>
          <a:xfrm>
            <a:off x="4315968" y="3922776"/>
            <a:ext cx="1005840" cy="292608"/>
          </a:xfrm>
          <a:prstGeom prst="rect">
            <a:avLst/>
          </a:prstGeom>
          <a:noFill/>
          <a:ln/>
        </p:spPr>
        <p:txBody>
          <a:bodyPr wrap="square" lIns="0" tIns="0" rIns="0" bIns="0" rtlCol="0" anchor="t">
            <a:normAutofit/>
          </a:bodyPr>
          <a:lstStyle/>
          <a:p>
            <a:pPr marL="0" indent="0" algn="ctr">
              <a:buNone/>
            </a:pPr>
            <a:r>
              <a:rPr lang="en-US" sz="1450" b="1" dirty="0">
                <a:solidFill>
                  <a:srgbClr val="9A5B00"/>
                </a:solidFill>
                <a:latin typeface="Arial" pitchFamily="34" charset="0"/>
                <a:ea typeface="Arial" pitchFamily="34" charset="-122"/>
                <a:cs typeface="Arial" pitchFamily="34" charset="-120"/>
              </a:rPr>
              <a:t>Blocked</a:t>
            </a:r>
            <a:endParaRPr lang="en-US" sz="1450" dirty="0"/>
          </a:p>
        </p:txBody>
      </p:sp>
      <p:sp>
        <p:nvSpPr>
          <p:cNvPr id="24" name="Text 21"/>
          <p:cNvSpPr txBox="1"/>
          <p:nvPr/>
        </p:nvSpPr>
        <p:spPr>
          <a:xfrm>
            <a:off x="5577840" y="3886200"/>
            <a:ext cx="5577840" cy="365760"/>
          </a:xfrm>
          <a:prstGeom prst="rect">
            <a:avLst/>
          </a:prstGeom>
          <a:noFill/>
          <a:ln/>
        </p:spPr>
        <p:txBody>
          <a:bodyPr wrap="square" lIns="0" tIns="0" rIns="0" bIns="0" rtlCol="0" anchor="t">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Phiếu chạy thử trên thiết bị thật</a:t>
            </a:r>
            <a:endParaRPr lang="en-US" sz="1550" dirty="0"/>
          </a:p>
        </p:txBody>
      </p:sp>
      <p:sp>
        <p:nvSpPr>
          <p:cNvPr id="25" name="Shape 22"/>
          <p:cNvSpPr/>
          <p:nvPr/>
        </p:nvSpPr>
        <p:spPr>
          <a:xfrm>
            <a:off x="658368" y="4636008"/>
            <a:ext cx="10972800" cy="676656"/>
          </a:xfrm>
          <a:prstGeom prst="roundRect">
            <a:avLst>
              <a:gd name="adj" fmla="val 5405"/>
            </a:avLst>
          </a:prstGeom>
          <a:solidFill>
            <a:srgbClr val="FFFFFF"/>
          </a:solidFill>
          <a:ln w="12700">
            <a:solidFill>
              <a:srgbClr val="D7DEE8"/>
            </a:solidFill>
            <a:prstDash val="solid"/>
          </a:ln>
        </p:spPr>
      </p:sp>
      <p:sp>
        <p:nvSpPr>
          <p:cNvPr id="26" name="Text 23"/>
          <p:cNvSpPr txBox="1"/>
          <p:nvPr/>
        </p:nvSpPr>
        <p:spPr>
          <a:xfrm>
            <a:off x="896112" y="4791456"/>
            <a:ext cx="3154680" cy="292608"/>
          </a:xfrm>
          <a:prstGeom prst="rect">
            <a:avLst/>
          </a:prstGeom>
          <a:noFill/>
          <a:ln/>
        </p:spPr>
        <p:txBody>
          <a:bodyPr wrap="square" lIns="0" tIns="0" rIns="0" bIns="0" rtlCol="0" anchor="t">
            <a:normAutofit/>
          </a:bodyPr>
          <a:lstStyle/>
          <a:p>
            <a:pPr marL="0" indent="0" algn="l">
              <a:buNone/>
            </a:pPr>
            <a:r>
              <a:rPr lang="en-US" sz="1500" b="1" dirty="0">
                <a:solidFill>
                  <a:srgbClr val="07182F"/>
                </a:solidFill>
                <a:latin typeface="Arial" pitchFamily="34" charset="0"/>
                <a:ea typeface="Arial" pitchFamily="34" charset="-122"/>
                <a:cs typeface="Arial" pitchFamily="34" charset="-120"/>
              </a:rPr>
              <a:t>word-standalone-roundtrip</a:t>
            </a:r>
            <a:endParaRPr lang="en-US" sz="1500" dirty="0"/>
          </a:p>
        </p:txBody>
      </p:sp>
      <p:sp>
        <p:nvSpPr>
          <p:cNvPr id="27" name="Text 24"/>
          <p:cNvSpPr txBox="1"/>
          <p:nvPr/>
        </p:nvSpPr>
        <p:spPr>
          <a:xfrm>
            <a:off x="4315968" y="4791456"/>
            <a:ext cx="1005840" cy="292608"/>
          </a:xfrm>
          <a:prstGeom prst="rect">
            <a:avLst/>
          </a:prstGeom>
          <a:noFill/>
          <a:ln/>
        </p:spPr>
        <p:txBody>
          <a:bodyPr wrap="square" lIns="0" tIns="0" rIns="0" bIns="0" rtlCol="0" anchor="t">
            <a:normAutofit/>
          </a:bodyPr>
          <a:lstStyle/>
          <a:p>
            <a:pPr marL="0" indent="0" algn="ctr">
              <a:buNone/>
            </a:pPr>
            <a:r>
              <a:rPr lang="en-US" sz="1450" b="1" dirty="0">
                <a:solidFill>
                  <a:srgbClr val="9A5B00"/>
                </a:solidFill>
                <a:latin typeface="Arial" pitchFamily="34" charset="0"/>
                <a:ea typeface="Arial" pitchFamily="34" charset="-122"/>
                <a:cs typeface="Arial" pitchFamily="34" charset="-120"/>
              </a:rPr>
              <a:t>Blocked</a:t>
            </a:r>
            <a:endParaRPr lang="en-US" sz="1450" dirty="0"/>
          </a:p>
        </p:txBody>
      </p:sp>
      <p:sp>
        <p:nvSpPr>
          <p:cNvPr id="28" name="Text 25"/>
          <p:cNvSpPr txBox="1"/>
          <p:nvPr/>
        </p:nvSpPr>
        <p:spPr>
          <a:xfrm>
            <a:off x="5577840" y="4754880"/>
            <a:ext cx="5577840" cy="365760"/>
          </a:xfrm>
          <a:prstGeom prst="rect">
            <a:avLst/>
          </a:prstGeom>
          <a:noFill/>
          <a:ln/>
        </p:spPr>
        <p:txBody>
          <a:bodyPr wrap="square" lIns="0" tIns="0" rIns="0" bIns="0" rtlCol="0" anchor="t">
            <a:normAutofit/>
          </a:bodyPr>
          <a:lstStyle/>
          <a:p>
            <a:pPr marL="0" indent="0" algn="l">
              <a:buNone/>
            </a:pPr>
            <a:r>
              <a:rPr lang="en-US" sz="1550" dirty="0">
                <a:solidFill>
                  <a:srgbClr val="243247"/>
                </a:solidFill>
                <a:latin typeface="Arial" pitchFamily="34" charset="0"/>
                <a:ea typeface="Arial" pitchFamily="34" charset="-122"/>
                <a:cs typeface="Arial" pitchFamily="34" charset="-120"/>
              </a:rPr>
              <a:t>Đối sánh fidelity tệp Word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5EF"/>
        </a:solidFill>
        <a:effectLst/>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marL="0" indent="0" algn="l">
              <a:buNone/>
            </a:pPr>
            <a:r>
              <a:rPr lang="en-US" sz="950" b="1" dirty="0">
                <a:solidFill>
                  <a:srgbClr val="5B6B80"/>
                </a:solidFill>
                <a:latin typeface="Arial" pitchFamily="34" charset="0"/>
                <a:ea typeface="Arial" pitchFamily="34" charset="-122"/>
                <a:cs typeface="Arial" pitchFamily="34" charset="-120"/>
              </a:rPr>
              <a:t>PHỤ LỤC / DEMO DỰ PHÒNG</a:t>
            </a:r>
            <a:endParaRPr lang="en-US" sz="950" dirty="0"/>
          </a:p>
        </p:txBody>
      </p:sp>
      <p:sp>
        <p:nvSpPr>
          <p:cNvPr id="4" name="Text 2"/>
          <p:cNvSpPr txBox="1"/>
          <p:nvPr/>
        </p:nvSpPr>
        <p:spPr>
          <a:xfrm>
            <a:off x="612648" y="621792"/>
            <a:ext cx="10972800" cy="713232"/>
          </a:xfrm>
          <a:prstGeom prst="rect">
            <a:avLst/>
          </a:prstGeom>
          <a:noFill/>
          <a:ln/>
        </p:spPr>
        <p:txBody>
          <a:bodyPr wrap="square" lIns="0" tIns="0" rIns="0" bIns="0" rtlCol="0" anchor="ctr">
            <a:normAutofit/>
          </a:bodyPr>
          <a:lstStyle/>
          <a:p>
            <a:pPr marL="0" indent="0" algn="l">
              <a:buNone/>
            </a:pPr>
            <a:r>
              <a:rPr lang="en-US" sz="3600" b="1" dirty="0">
                <a:solidFill>
                  <a:srgbClr val="07182F"/>
                </a:solidFill>
                <a:latin typeface="Georgia" pitchFamily="34" charset="0"/>
                <a:ea typeface="Georgia" pitchFamily="34" charset="-122"/>
                <a:cs typeface="Georgia" pitchFamily="34" charset="-120"/>
              </a:rPr>
              <a:t>Phụ lục · 6 câu hỏi trọng tâm</a:t>
            </a:r>
            <a:endParaRPr lang="en-US" sz="360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marL="0" indent="0" algn="r">
              <a:buNone/>
            </a:pPr>
            <a:r>
              <a:rPr lang="en-US" sz="1000" b="1" dirty="0">
                <a:solidFill>
                  <a:srgbClr val="C9963A"/>
                </a:solidFill>
                <a:latin typeface="Arial" pitchFamily="34" charset="0"/>
                <a:ea typeface="Arial" pitchFamily="34" charset="-122"/>
                <a:cs typeface="Arial" pitchFamily="34" charset="-120"/>
              </a:rPr>
              <a:t>16</a:t>
            </a:r>
            <a:endParaRPr lang="en-US" sz="1000" dirty="0"/>
          </a:p>
        </p:txBody>
      </p:sp>
      <p:sp>
        <p:nvSpPr>
          <p:cNvPr id="6" name="Shape 4"/>
          <p:cNvSpPr/>
          <p:nvPr/>
        </p:nvSpPr>
        <p:spPr>
          <a:xfrm>
            <a:off x="612648" y="1408176"/>
            <a:ext cx="10972800" cy="457200"/>
          </a:xfrm>
          <a:prstGeom prst="rect">
            <a:avLst/>
          </a:prstGeom>
          <a:solidFill>
            <a:srgbClr val="EEF2F7"/>
          </a:solidFill>
          <a:ln w="12700">
            <a:solidFill>
              <a:srgbClr val="D7DEE8"/>
            </a:solidFill>
            <a:prstDash val="solid"/>
          </a:ln>
        </p:spPr>
      </p:sp>
      <p:sp>
        <p:nvSpPr>
          <p:cNvPr id="7" name="Text 5"/>
          <p:cNvSpPr txBox="1"/>
          <p:nvPr/>
        </p:nvSpPr>
        <p:spPr>
          <a:xfrm>
            <a:off x="822960" y="1481328"/>
            <a:ext cx="10561320" cy="274320"/>
          </a:xfrm>
          <a:prstGeom prst="rect">
            <a:avLst/>
          </a:prstGeom>
          <a:noFill/>
          <a:ln/>
        </p:spPr>
        <p:txBody>
          <a:bodyPr wrap="square" lIns="0" tIns="0" rIns="0" bIns="0" rtlCol="0" anchor="ctr">
            <a:normAutofit/>
          </a:bodyPr>
          <a:lstStyle/>
          <a:p>
            <a:pPr marL="0" indent="0" algn="l">
              <a:buNone/>
            </a:pPr>
            <a:r>
              <a:rPr lang="en-US" sz="1650" b="1" dirty="0">
                <a:solidFill>
                  <a:srgbClr val="0D2447"/>
                </a:solidFill>
                <a:latin typeface="Arial" pitchFamily="34" charset="0"/>
                <a:ea typeface="Arial" pitchFamily="34" charset="-122"/>
                <a:cs typeface="Arial" pitchFamily="34" charset="-120"/>
              </a:rPr>
              <a:t>Trả lời bằng nguồn, hiện vật và giới hạn tuyên bố.</a:t>
            </a:r>
            <a:endParaRPr lang="en-US" sz="165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marL="0" indent="0" algn="l">
              <a:buNone/>
            </a:pPr>
            <a:r>
              <a:rPr lang="en-US" sz="820" b="1" dirty="0">
                <a:solidFill>
                  <a:srgbClr val="5B6B80"/>
                </a:solidFill>
                <a:latin typeface="Arial" pitchFamily="34" charset="0"/>
                <a:ea typeface="Arial" pitchFamily="34" charset="-122"/>
                <a:cs typeface="Arial" pitchFamily="34" charset="-120"/>
              </a:rPr>
              <a:t>BACKUP</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marL="0" indent="0" algn="ctr">
              <a:buNone/>
            </a:pPr>
            <a:r>
              <a:rPr lang="en-US" sz="760" dirty="0">
                <a:solidFill>
                  <a:srgbClr val="5B6B80"/>
                </a:solidFill>
                <a:latin typeface="Arial" pitchFamily="34" charset="0"/>
                <a:ea typeface="Arial" pitchFamily="34" charset="-122"/>
                <a:cs typeface="Arial" pitchFamily="34" charset="-120"/>
              </a:rPr>
              <a:t>plans/260827-0817-slides-nghiem-thu-giao-trinh-dien-tu/research/story-research.md:56-82</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marL="0" indent="0" algn="r">
              <a:buNone/>
            </a:pPr>
            <a:r>
              <a:rPr lang="en-US" sz="820" dirty="0">
                <a:solidFill>
                  <a:srgbClr val="5B6B80"/>
                </a:solidFill>
                <a:latin typeface="Arial" pitchFamily="34" charset="0"/>
                <a:ea typeface="Arial" pitchFamily="34" charset="-122"/>
                <a:cs typeface="Arial" pitchFamily="34" charset="-120"/>
              </a:rPr>
              <a:t>16</a:t>
            </a:r>
            <a:endParaRPr lang="en-US" sz="820" dirty="0"/>
          </a:p>
        </p:txBody>
      </p:sp>
      <p:sp>
        <p:nvSpPr>
          <p:cNvPr id="13" name="Shape 10"/>
          <p:cNvSpPr/>
          <p:nvPr/>
        </p:nvSpPr>
        <p:spPr>
          <a:xfrm>
            <a:off x="658368" y="1993392"/>
            <a:ext cx="5321808" cy="914400"/>
          </a:xfrm>
          <a:prstGeom prst="roundRect">
            <a:avLst>
              <a:gd name="adj" fmla="val 4000"/>
            </a:avLst>
          </a:prstGeom>
          <a:solidFill>
            <a:srgbClr val="FFFFFF"/>
          </a:solidFill>
          <a:ln w="12700">
            <a:solidFill>
              <a:srgbClr val="D7DEE8"/>
            </a:solidFill>
            <a:prstDash val="solid"/>
          </a:ln>
        </p:spPr>
      </p:sp>
      <p:sp>
        <p:nvSpPr>
          <p:cNvPr id="14" name="Text 11"/>
          <p:cNvSpPr txBox="1"/>
          <p:nvPr/>
        </p:nvSpPr>
        <p:spPr>
          <a:xfrm>
            <a:off x="822960" y="2267712"/>
            <a:ext cx="411480" cy="256032"/>
          </a:xfrm>
          <a:prstGeom prst="rect">
            <a:avLst/>
          </a:prstGeom>
          <a:noFill/>
          <a:ln/>
        </p:spPr>
        <p:txBody>
          <a:bodyPr wrap="square" lIns="0" tIns="0" rIns="0" bIns="0" rtlCol="0" anchor="t">
            <a:normAutofit/>
          </a:bodyPr>
          <a:lstStyle/>
          <a:p>
            <a:pPr marL="0" indent="0" algn="ctr">
              <a:buNone/>
            </a:pPr>
            <a:r>
              <a:rPr lang="en-US" sz="1500" b="1" dirty="0">
                <a:solidFill>
                  <a:srgbClr val="C9963A"/>
                </a:solidFill>
                <a:latin typeface="Arial" pitchFamily="34" charset="0"/>
                <a:ea typeface="Arial" pitchFamily="34" charset="-122"/>
                <a:cs typeface="Arial" pitchFamily="34" charset="-120"/>
              </a:rPr>
              <a:t>01</a:t>
            </a:r>
            <a:endParaRPr lang="en-US" sz="1500" dirty="0"/>
          </a:p>
        </p:txBody>
      </p:sp>
      <p:sp>
        <p:nvSpPr>
          <p:cNvPr id="15" name="Text 12"/>
          <p:cNvSpPr txBox="1"/>
          <p:nvPr/>
        </p:nvSpPr>
        <p:spPr>
          <a:xfrm>
            <a:off x="1408176" y="2157984"/>
            <a:ext cx="4251960" cy="530352"/>
          </a:xfrm>
          <a:prstGeom prst="rect">
            <a:avLst/>
          </a:prstGeom>
          <a:noFill/>
          <a:ln/>
        </p:spPr>
        <p:txBody>
          <a:bodyPr wrap="square" lIns="0" tIns="0" rIns="0" bIns="0" rtlCol="0" anchor="ctr">
            <a:normAutofit/>
          </a:bodyPr>
          <a:lstStyle/>
          <a:p>
            <a:pPr marL="0" indent="0" algn="l">
              <a:buNone/>
            </a:pPr>
            <a:r>
              <a:rPr lang="en-US" sz="1700" b="1" dirty="0">
                <a:solidFill>
                  <a:srgbClr val="07182F"/>
                </a:solidFill>
                <a:latin typeface="Arial" pitchFamily="34" charset="0"/>
                <a:ea typeface="Arial" pitchFamily="34" charset="-122"/>
                <a:cs typeface="Arial" pitchFamily="34" charset="-120"/>
              </a:rPr>
              <a:t>Nguồn chuẩn là gì?</a:t>
            </a:r>
            <a:endParaRPr lang="en-US" sz="1700" dirty="0"/>
          </a:p>
        </p:txBody>
      </p:sp>
      <p:sp>
        <p:nvSpPr>
          <p:cNvPr id="16" name="Shape 13"/>
          <p:cNvSpPr/>
          <p:nvPr/>
        </p:nvSpPr>
        <p:spPr>
          <a:xfrm>
            <a:off x="6254496" y="1993392"/>
            <a:ext cx="5321808" cy="914400"/>
          </a:xfrm>
          <a:prstGeom prst="roundRect">
            <a:avLst>
              <a:gd name="adj" fmla="val 4000"/>
            </a:avLst>
          </a:prstGeom>
          <a:solidFill>
            <a:srgbClr val="FFFFFF"/>
          </a:solidFill>
          <a:ln w="12700">
            <a:solidFill>
              <a:srgbClr val="D7DEE8"/>
            </a:solidFill>
            <a:prstDash val="solid"/>
          </a:ln>
        </p:spPr>
      </p:sp>
      <p:sp>
        <p:nvSpPr>
          <p:cNvPr id="17" name="Text 14"/>
          <p:cNvSpPr txBox="1"/>
          <p:nvPr/>
        </p:nvSpPr>
        <p:spPr>
          <a:xfrm>
            <a:off x="6419088" y="2267712"/>
            <a:ext cx="411480" cy="256032"/>
          </a:xfrm>
          <a:prstGeom prst="rect">
            <a:avLst/>
          </a:prstGeom>
          <a:noFill/>
          <a:ln/>
        </p:spPr>
        <p:txBody>
          <a:bodyPr wrap="square" lIns="0" tIns="0" rIns="0" bIns="0" rtlCol="0" anchor="t">
            <a:normAutofit/>
          </a:bodyPr>
          <a:lstStyle/>
          <a:p>
            <a:pPr marL="0" indent="0" algn="ctr">
              <a:buNone/>
            </a:pPr>
            <a:r>
              <a:rPr lang="en-US" sz="1500" b="1" dirty="0">
                <a:solidFill>
                  <a:srgbClr val="C9963A"/>
                </a:solidFill>
                <a:latin typeface="Arial" pitchFamily="34" charset="0"/>
                <a:ea typeface="Arial" pitchFamily="34" charset="-122"/>
                <a:cs typeface="Arial" pitchFamily="34" charset="-120"/>
              </a:rPr>
              <a:t>02</a:t>
            </a:r>
            <a:endParaRPr lang="en-US" sz="1500" dirty="0"/>
          </a:p>
        </p:txBody>
      </p:sp>
      <p:sp>
        <p:nvSpPr>
          <p:cNvPr id="18" name="Text 15"/>
          <p:cNvSpPr txBox="1"/>
          <p:nvPr/>
        </p:nvSpPr>
        <p:spPr>
          <a:xfrm>
            <a:off x="7004304" y="2157984"/>
            <a:ext cx="4251960" cy="530352"/>
          </a:xfrm>
          <a:prstGeom prst="rect">
            <a:avLst/>
          </a:prstGeom>
          <a:noFill/>
          <a:ln/>
        </p:spPr>
        <p:txBody>
          <a:bodyPr wrap="square" lIns="0" tIns="0" rIns="0" bIns="0" rtlCol="0" anchor="ctr">
            <a:normAutofit/>
          </a:bodyPr>
          <a:lstStyle/>
          <a:p>
            <a:pPr marL="0" indent="0" algn="l">
              <a:buNone/>
            </a:pPr>
            <a:r>
              <a:rPr lang="en-US" sz="1700" b="1" dirty="0">
                <a:solidFill>
                  <a:srgbClr val="07182F"/>
                </a:solidFill>
                <a:latin typeface="Arial" pitchFamily="34" charset="0"/>
                <a:ea typeface="Arial" pitchFamily="34" charset="-122"/>
                <a:cs typeface="Arial" pitchFamily="34" charset="-120"/>
              </a:rPr>
              <a:t>Ai xác nhận công thức/mô phỏng?</a:t>
            </a:r>
            <a:endParaRPr lang="en-US" sz="1700" dirty="0"/>
          </a:p>
        </p:txBody>
      </p:sp>
      <p:sp>
        <p:nvSpPr>
          <p:cNvPr id="19" name="Shape 16"/>
          <p:cNvSpPr/>
          <p:nvPr/>
        </p:nvSpPr>
        <p:spPr>
          <a:xfrm>
            <a:off x="658368" y="3163824"/>
            <a:ext cx="5321808" cy="914400"/>
          </a:xfrm>
          <a:prstGeom prst="roundRect">
            <a:avLst>
              <a:gd name="adj" fmla="val 4000"/>
            </a:avLst>
          </a:prstGeom>
          <a:solidFill>
            <a:srgbClr val="FFFFFF"/>
          </a:solidFill>
          <a:ln w="12700">
            <a:solidFill>
              <a:srgbClr val="D7DEE8"/>
            </a:solidFill>
            <a:prstDash val="solid"/>
          </a:ln>
        </p:spPr>
      </p:sp>
      <p:sp>
        <p:nvSpPr>
          <p:cNvPr id="20" name="Text 17"/>
          <p:cNvSpPr txBox="1"/>
          <p:nvPr/>
        </p:nvSpPr>
        <p:spPr>
          <a:xfrm>
            <a:off x="822960" y="3438144"/>
            <a:ext cx="411480" cy="256032"/>
          </a:xfrm>
          <a:prstGeom prst="rect">
            <a:avLst/>
          </a:prstGeom>
          <a:noFill/>
          <a:ln/>
        </p:spPr>
        <p:txBody>
          <a:bodyPr wrap="square" lIns="0" tIns="0" rIns="0" bIns="0" rtlCol="0" anchor="t">
            <a:normAutofit/>
          </a:bodyPr>
          <a:lstStyle/>
          <a:p>
            <a:pPr marL="0" indent="0" algn="ctr">
              <a:buNone/>
            </a:pPr>
            <a:r>
              <a:rPr lang="en-US" sz="1500" b="1" dirty="0">
                <a:solidFill>
                  <a:srgbClr val="C9963A"/>
                </a:solidFill>
                <a:latin typeface="Arial" pitchFamily="34" charset="0"/>
                <a:ea typeface="Arial" pitchFamily="34" charset="-122"/>
                <a:cs typeface="Arial" pitchFamily="34" charset="-120"/>
              </a:rPr>
              <a:t>03</a:t>
            </a:r>
            <a:endParaRPr lang="en-US" sz="1500" dirty="0"/>
          </a:p>
        </p:txBody>
      </p:sp>
      <p:sp>
        <p:nvSpPr>
          <p:cNvPr id="21" name="Text 18"/>
          <p:cNvSpPr txBox="1"/>
          <p:nvPr/>
        </p:nvSpPr>
        <p:spPr>
          <a:xfrm>
            <a:off x="1408176" y="3328416"/>
            <a:ext cx="4251960" cy="530352"/>
          </a:xfrm>
          <a:prstGeom prst="rect">
            <a:avLst/>
          </a:prstGeom>
          <a:noFill/>
          <a:ln/>
        </p:spPr>
        <p:txBody>
          <a:bodyPr wrap="square" lIns="0" tIns="0" rIns="0" bIns="0" rtlCol="0" anchor="ctr">
            <a:normAutofit/>
          </a:bodyPr>
          <a:lstStyle/>
          <a:p>
            <a:pPr marL="0" indent="0" algn="l">
              <a:buNone/>
            </a:pPr>
            <a:r>
              <a:rPr lang="en-US" sz="1700" b="1" dirty="0">
                <a:solidFill>
                  <a:srgbClr val="07182F"/>
                </a:solidFill>
                <a:latin typeface="Arial" pitchFamily="34" charset="0"/>
                <a:ea typeface="Arial" pitchFamily="34" charset="-122"/>
                <a:cs typeface="Arial" pitchFamily="34" charset="-120"/>
              </a:rPr>
              <a:t>Vì sao 20/24 chưa đủ?</a:t>
            </a:r>
            <a:endParaRPr lang="en-US" sz="1700" dirty="0"/>
          </a:p>
        </p:txBody>
      </p:sp>
      <p:sp>
        <p:nvSpPr>
          <p:cNvPr id="22" name="Shape 19"/>
          <p:cNvSpPr/>
          <p:nvPr/>
        </p:nvSpPr>
        <p:spPr>
          <a:xfrm>
            <a:off x="6254496" y="3163824"/>
            <a:ext cx="5321808" cy="914400"/>
          </a:xfrm>
          <a:prstGeom prst="roundRect">
            <a:avLst>
              <a:gd name="adj" fmla="val 4000"/>
            </a:avLst>
          </a:prstGeom>
          <a:solidFill>
            <a:srgbClr val="FFFFFF"/>
          </a:solidFill>
          <a:ln w="12700">
            <a:solidFill>
              <a:srgbClr val="D7DEE8"/>
            </a:solidFill>
            <a:prstDash val="solid"/>
          </a:ln>
        </p:spPr>
      </p:sp>
      <p:sp>
        <p:nvSpPr>
          <p:cNvPr id="23" name="Text 20"/>
          <p:cNvSpPr txBox="1"/>
          <p:nvPr/>
        </p:nvSpPr>
        <p:spPr>
          <a:xfrm>
            <a:off x="6419088" y="3438144"/>
            <a:ext cx="411480" cy="256032"/>
          </a:xfrm>
          <a:prstGeom prst="rect">
            <a:avLst/>
          </a:prstGeom>
          <a:noFill/>
          <a:ln/>
        </p:spPr>
        <p:txBody>
          <a:bodyPr wrap="square" lIns="0" tIns="0" rIns="0" bIns="0" rtlCol="0" anchor="t">
            <a:normAutofit/>
          </a:bodyPr>
          <a:lstStyle/>
          <a:p>
            <a:pPr marL="0" indent="0" algn="ctr">
              <a:buNone/>
            </a:pPr>
            <a:r>
              <a:rPr lang="en-US" sz="1500" b="1" dirty="0">
                <a:solidFill>
                  <a:srgbClr val="C9963A"/>
                </a:solidFill>
                <a:latin typeface="Arial" pitchFamily="34" charset="0"/>
                <a:ea typeface="Arial" pitchFamily="34" charset="-122"/>
                <a:cs typeface="Arial" pitchFamily="34" charset="-120"/>
              </a:rPr>
              <a:t>04</a:t>
            </a:r>
            <a:endParaRPr lang="en-US" sz="1500" dirty="0"/>
          </a:p>
        </p:txBody>
      </p:sp>
      <p:sp>
        <p:nvSpPr>
          <p:cNvPr id="24" name="Text 21"/>
          <p:cNvSpPr txBox="1"/>
          <p:nvPr/>
        </p:nvSpPr>
        <p:spPr>
          <a:xfrm>
            <a:off x="7004304" y="3328416"/>
            <a:ext cx="4251960" cy="530352"/>
          </a:xfrm>
          <a:prstGeom prst="rect">
            <a:avLst/>
          </a:prstGeom>
          <a:noFill/>
          <a:ln/>
        </p:spPr>
        <p:txBody>
          <a:bodyPr wrap="square" lIns="0" tIns="0" rIns="0" bIns="0" rtlCol="0" anchor="ctr">
            <a:normAutofit/>
          </a:bodyPr>
          <a:lstStyle/>
          <a:p>
            <a:pPr marL="0" indent="0" algn="l">
              <a:buNone/>
            </a:pPr>
            <a:r>
              <a:rPr lang="en-US" sz="1700" b="1" dirty="0">
                <a:solidFill>
                  <a:srgbClr val="07182F"/>
                </a:solidFill>
                <a:latin typeface="Arial" pitchFamily="34" charset="0"/>
                <a:ea typeface="Arial" pitchFamily="34" charset="-122"/>
                <a:cs typeface="Arial" pitchFamily="34" charset="-120"/>
              </a:rPr>
              <a:t>Có chạy offline thực sự không?</a:t>
            </a:r>
            <a:endParaRPr lang="en-US" sz="1700" dirty="0"/>
          </a:p>
        </p:txBody>
      </p:sp>
      <p:sp>
        <p:nvSpPr>
          <p:cNvPr id="25" name="Shape 22"/>
          <p:cNvSpPr/>
          <p:nvPr/>
        </p:nvSpPr>
        <p:spPr>
          <a:xfrm>
            <a:off x="658368" y="4334256"/>
            <a:ext cx="5321808" cy="914400"/>
          </a:xfrm>
          <a:prstGeom prst="roundRect">
            <a:avLst>
              <a:gd name="adj" fmla="val 4000"/>
            </a:avLst>
          </a:prstGeom>
          <a:solidFill>
            <a:srgbClr val="FFFFFF"/>
          </a:solidFill>
          <a:ln w="12700">
            <a:solidFill>
              <a:srgbClr val="D7DEE8"/>
            </a:solidFill>
            <a:prstDash val="solid"/>
          </a:ln>
        </p:spPr>
      </p:sp>
      <p:sp>
        <p:nvSpPr>
          <p:cNvPr id="26" name="Text 23"/>
          <p:cNvSpPr txBox="1"/>
          <p:nvPr/>
        </p:nvSpPr>
        <p:spPr>
          <a:xfrm>
            <a:off x="822960" y="4608576"/>
            <a:ext cx="411480" cy="256032"/>
          </a:xfrm>
          <a:prstGeom prst="rect">
            <a:avLst/>
          </a:prstGeom>
          <a:noFill/>
          <a:ln/>
        </p:spPr>
        <p:txBody>
          <a:bodyPr wrap="square" lIns="0" tIns="0" rIns="0" bIns="0" rtlCol="0" anchor="t">
            <a:normAutofit/>
          </a:bodyPr>
          <a:lstStyle/>
          <a:p>
            <a:pPr marL="0" indent="0" algn="ctr">
              <a:buNone/>
            </a:pPr>
            <a:r>
              <a:rPr lang="en-US" sz="1500" b="1" dirty="0">
                <a:solidFill>
                  <a:srgbClr val="C9963A"/>
                </a:solidFill>
                <a:latin typeface="Arial" pitchFamily="34" charset="0"/>
                <a:ea typeface="Arial" pitchFamily="34" charset="-122"/>
                <a:cs typeface="Arial" pitchFamily="34" charset="-120"/>
              </a:rPr>
              <a:t>05</a:t>
            </a:r>
            <a:endParaRPr lang="en-US" sz="1500" dirty="0"/>
          </a:p>
        </p:txBody>
      </p:sp>
      <p:sp>
        <p:nvSpPr>
          <p:cNvPr id="27" name="Text 24"/>
          <p:cNvSpPr txBox="1"/>
          <p:nvPr/>
        </p:nvSpPr>
        <p:spPr>
          <a:xfrm>
            <a:off x="1408176" y="4498848"/>
            <a:ext cx="4251960" cy="530352"/>
          </a:xfrm>
          <a:prstGeom prst="rect">
            <a:avLst/>
          </a:prstGeom>
          <a:noFill/>
          <a:ln/>
        </p:spPr>
        <p:txBody>
          <a:bodyPr wrap="square" lIns="0" tIns="0" rIns="0" bIns="0" rtlCol="0" anchor="ctr">
            <a:normAutofit/>
          </a:bodyPr>
          <a:lstStyle/>
          <a:p>
            <a:pPr marL="0" indent="0" algn="l">
              <a:buNone/>
            </a:pPr>
            <a:r>
              <a:rPr lang="en-US" sz="1700" b="1" dirty="0">
                <a:solidFill>
                  <a:srgbClr val="07182F"/>
                </a:solidFill>
                <a:latin typeface="Arial" pitchFamily="34" charset="0"/>
                <a:ea typeface="Arial" pitchFamily="34" charset="-122"/>
                <a:cs typeface="Arial" pitchFamily="34" charset="-120"/>
              </a:rPr>
              <a:t>Đã đạt WCAG/LMS chưa?</a:t>
            </a:r>
            <a:endParaRPr lang="en-US" sz="1700" dirty="0"/>
          </a:p>
        </p:txBody>
      </p:sp>
      <p:sp>
        <p:nvSpPr>
          <p:cNvPr id="28" name="Shape 25"/>
          <p:cNvSpPr/>
          <p:nvPr/>
        </p:nvSpPr>
        <p:spPr>
          <a:xfrm>
            <a:off x="6254496" y="4334256"/>
            <a:ext cx="5321808" cy="914400"/>
          </a:xfrm>
          <a:prstGeom prst="roundRect">
            <a:avLst>
              <a:gd name="adj" fmla="val 4000"/>
            </a:avLst>
          </a:prstGeom>
          <a:solidFill>
            <a:srgbClr val="FFFFFF"/>
          </a:solidFill>
          <a:ln w="12700">
            <a:solidFill>
              <a:srgbClr val="D7DEE8"/>
            </a:solidFill>
            <a:prstDash val="solid"/>
          </a:ln>
        </p:spPr>
      </p:sp>
      <p:sp>
        <p:nvSpPr>
          <p:cNvPr id="29" name="Text 26"/>
          <p:cNvSpPr txBox="1"/>
          <p:nvPr/>
        </p:nvSpPr>
        <p:spPr>
          <a:xfrm>
            <a:off x="6419088" y="4608576"/>
            <a:ext cx="411480" cy="256032"/>
          </a:xfrm>
          <a:prstGeom prst="rect">
            <a:avLst/>
          </a:prstGeom>
          <a:noFill/>
          <a:ln/>
        </p:spPr>
        <p:txBody>
          <a:bodyPr wrap="square" lIns="0" tIns="0" rIns="0" bIns="0" rtlCol="0" anchor="t">
            <a:normAutofit/>
          </a:bodyPr>
          <a:lstStyle/>
          <a:p>
            <a:pPr marL="0" indent="0" algn="ctr">
              <a:buNone/>
            </a:pPr>
            <a:r>
              <a:rPr lang="en-US" sz="1500" b="1" dirty="0">
                <a:solidFill>
                  <a:srgbClr val="C9963A"/>
                </a:solidFill>
                <a:latin typeface="Arial" pitchFamily="34" charset="0"/>
                <a:ea typeface="Arial" pitchFamily="34" charset="-122"/>
                <a:cs typeface="Arial" pitchFamily="34" charset="-120"/>
              </a:rPr>
              <a:t>06</a:t>
            </a:r>
            <a:endParaRPr lang="en-US" sz="1500" dirty="0"/>
          </a:p>
        </p:txBody>
      </p:sp>
      <p:sp>
        <p:nvSpPr>
          <p:cNvPr id="30" name="Text 27"/>
          <p:cNvSpPr txBox="1"/>
          <p:nvPr/>
        </p:nvSpPr>
        <p:spPr>
          <a:xfrm>
            <a:off x="7004304" y="4498848"/>
            <a:ext cx="4251960" cy="530352"/>
          </a:xfrm>
          <a:prstGeom prst="rect">
            <a:avLst/>
          </a:prstGeom>
          <a:noFill/>
          <a:ln/>
        </p:spPr>
        <p:txBody>
          <a:bodyPr wrap="square" lIns="0" tIns="0" rIns="0" bIns="0" rtlCol="0" anchor="ctr">
            <a:normAutofit/>
          </a:bodyPr>
          <a:lstStyle/>
          <a:p>
            <a:pPr marL="0" indent="0" algn="l">
              <a:buNone/>
            </a:pPr>
            <a:r>
              <a:rPr lang="en-US" sz="1700" b="1" dirty="0">
                <a:solidFill>
                  <a:srgbClr val="07182F"/>
                </a:solidFill>
                <a:latin typeface="Arial" pitchFamily="34" charset="0"/>
                <a:ea typeface="Arial" pitchFamily="34" charset="-122"/>
                <a:cs typeface="Arial" pitchFamily="34" charset="-120"/>
              </a:rPr>
              <a:t>Sau Hội đồng cần làm gì?</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2995</Words>
  <Application>Microsoft Office PowerPoint</Application>
  <PresentationFormat>Widescreen</PresentationFormat>
  <Paragraphs>324</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Học viện Hải quân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nghiệm thu Giáo trình điện tử Cơ học lý thuyết</dc:title>
  <dc:subject>Hội đồng Khoa học Khoa Kỹ thuật cơ sở, Học viện Hải quân</dc:subject>
  <dc:creator>Nhóm tác giả Khoa Kỹ thuật cơ sở, Học viện Hải quân</dc:creator>
  <cp:lastModifiedBy>Administrator</cp:lastModifiedBy>
  <cp:revision>1</cp:revision>
  <dcterms:created xsi:type="dcterms:W3CDTF">2026-09-03T02:28:13Z</dcterms:created>
  <dcterms:modified xsi:type="dcterms:W3CDTF">2026-09-03T02:28:14Z</dcterms:modified>
</cp:coreProperties>
</file>