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0:45 · Nguyễn Lê Văn
Nhóm tác giả báo cáo kết quả xây dựng Giáo trình điện tử Cơ học lý thuyết.
Nội dung tập trung vào hiện vật đã xây dựng, cách tổ chức học tập, ba ca đối chiếu khoa học và những điểm cần Hội đồng góp ý.
Nguồn:
- README.md
- data/content-manifest.json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0:55 · Nguyễn Lê Văn
Bốn điểm này là nhu cầu mà nhóm tác giả dùng để định hướng thiết kế học liệu.
Đây là cơ sở thiết kế, không phải tuyên bố rằng hiệu quả học tập đã được chứng minh.
Nguồn:
- README.md
- data/content-manifest.json
- data/simulation-specifications.json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0:55 · Nguyễn Lê Văn
Kết quả tổng thể là một học liệu số gồm các mục và trang hiển thị cho ba mạch kiến thức chính của học phần.
Manifest ghi 108 mục/trang hiển thị: 45 thuộc Chương 1, 29 thuộc Chương 2, 31 thuộc Chương 3 và 3 mục bổ trợ.
Nguồn:
- data/content-manifest.json
- data/quiz-ch1.json
- data/quiz-ch2.json
- data/quiz-ch3.json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1:00 · Nguyễn Lê Văn
Thiết kế hướng tới một vòng học thay vì chỉ trình bày nội dung theo tuyến.
Khả năng vận hành xuyên suốt và hiệu quả đối với người học chưa được xác nhận; câu hỏi tự kiểm tra không phải phép đo chính thức về mức đạt chuẩn đầu ra.
Nguồn:
- data/learning-outcomes.json
- data/content-learning-map.json
- data/quiz-learning-map.json
- README.md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0:45 · Nguyễn Lê Văn
Kính mời Hội đồng quét mã để xem bản web dùng cho trình diễn.
Bản web chưa được chứng minh đồng nhất với ứng viên đang kiểm tra; việc trình diễn không thay thế kiểm tra gói ứng viên qua file hoặc HTTP.
Nguồn:
- README.md
- data/content-manifest.json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0:40 · Đinh Văn Tứ
Ca Tĩnh học đặt sơ đồ, công thức và giá trị hiển thị cạnh nhau; ca này chưa thẩm định độc lập.
Hội đồng có thể đối chiếu bằng tính đối xứng, giới hạn tọa độ và phép cộng diện tích có dấu của hình cụ thể.
Nguồn:
- data/simulation-specifications.json
- tests/sim2-ch1-physics.test.js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0:40 · Đinh Văn Tứ
Ca Động học cho phép đối chiếu chiều của omega, vận tốc tương đối và tích có hướng; ca này chưa thẩm định độc lập.
Trong mô hình phẳng đang xét, omega vuông góc với vận tốc tương đối nên độ lớn là 2ω|vrel|; trường hợp tổng quát phải nhân thêm sin của góc giữa hai vectơ. Đây là thành phần Coriolis, không phải toàn bộ gia tốc.
Nguồn:
- data/simulation-specifications.json
- tests/sim2-ch2-physics.test.js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0:40 · Đinh Văn Tứ
Ca Động lực học đặt tổng động lượng, vận tốc có dấu và hệ số phục hồi trong cùng một tình huống; ca này chưa thẩm định độc lập.
Phát biểu chỉ áp dụng cho mô hình va chạm thẳng một chiều thụ động với xung lực ngoài theo phương va chạm không đáng kể.
Nguồn:
- data/simulation-specifications.json
- tests/sim2-ch3-physics.test.js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1:30 · Bùi Thanh Xuân
Điểm O và phương lực được giữ cố định; đặt F bằng 50 N rồi kéo điểm đặt lực đến d vuông góc bằng 4 mét để đọc mô men dương 200 N·m.
Mở PDF cục bộ để đối chiếu công thức rồi quay lại bài; mô phỏng không minh họa đổi θ hoặc đổi dấu mô men.
Nguồn:
- assets/designs/bao-cao-nghiem-thu-giao-trinh-dien-tu/assets/img-04-mo-men-ch1-1-4-1440x1000.png
- js/sim2/sims/ch1/ch1-1-4.js
- data/simulation-specifications.json
- CoHocLyThuyet.pdf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0:55 · Bùi Thanh Xuân
Hội đồng có thể kiểm tra trực tiếp bốn nhóm căn cứ: nội dung, khoa học, cách tổ chức học và khả năng truy vết.
Các số liệu chỉ cho biết quy mô hiện vật, không tự chứng minh chất lượng hoặc hiệu quả học tập.
Nguồn:
- data/content-manifest.json
- data/equation_mapping.json
- data/quiz-ch1.json
- data/quiz-ch2.json
- data/quiz-ch3.json
- data/academic_signoffs.json
- data/simulation-specifications.json
- CoHocLyThuyet_Full_New.docx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1:00 · Bùi Thanh Xuân
Báo cáo phân biệt hiện vật đã được xây dựng ở mức ứng viên với những nội dung chưa đủ bằng chứng.
Ba ca chỉ là ví dụ để Hội đồng đối chiếu, chưa phải bằng chứng chấp nhận học thuật; trạng thái phát hành được trình bày tại phụ lục.
Nguồn:
- data/academic_signoffs.json
- data/learning-outcomes.json
- data/acceptance-report.json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1:00 · Bùi Thanh Xuân
Nhóm tác giả xin góp ý theo bốn nhóm để việc tiếp thu rõ ràng và có thể kiểm tra lại.
Điều kiện và tiêu chí của bốn đầu ra nằm tại Phụ lục 14; ba câu hỏi đại diện chỉ là mẫu để góp ý, không chứng minh mức đạt chuẩn đầu ra.
Nguồn:
- data/learning-outcomes.json
- data/quiz-ch1.json
- data/quiz-ch2.json
- data/quiz-ch3.json
- data/academic_signoffs.json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1:15 · Nguyễn Lê Văn
Nhóm tác giả kính đề nghị Hội đồng ghi nhận việc đã xây dựng hiện vật giáo trình điện tử và cho ý kiến cụ thể để tiếp tục hoàn thiện.
Phiên này không đề nghị chấp thuận học thuật, nghiệm thu cuối cùng hoặc phát hành sản phẩm.
Nguồn:
- data/academic_signoffs.json
- data/learning-outcomes.json
- data/acceptance-report.json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backup · Nhóm tác giả
Dùng khi Hội đồng cần xem nội dung và trạng thái của từng chuẩn đầu ra dự kiến.
Hồ sơ hiện hành có 0 ký xác nhận; cả bốn chuẩn còn sơ bộ và không có ngoại lệ đánh giá được khai báo.
Nguồn:
- data/learning-outcomes.json
- data/academic_signoffs.json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backup · Nhóm tác giả
Dùng để ngăn suy rộng quá mức từ ba ca minh họa.
Mọi kết luận phải ghi rõ phạm vi đã xem và những phần chưa được lấy mẫu.
Nguồn:
- data/simulation-specifications.json
- data/academic_signoffs.json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backup · Nhóm tác giả
Dùng như checklist hồ sơ còn phải tạo hoặc hoàn tất.
Không đánh dấu hoàn tất nếu chỉ có kiểm thử tự động hoặc trình diễn hiện vật.
Nguồn:
- data/academic_signoffs.json
- data/learning-outcomes.json
- data/acceptance-report.json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backup · Nhóm tác giả
Phụ lục này chỉ dùng khi Hội đồng hỏi về trạng thái kỹ thuật và phát hành.
Snapshot nền ngày 2026-09-21 ghi 11 điều kiện đạt, 9 không đạt và 4 chưa thể thực hiện; bằng chứng mô phỏng được làm mới ngày 2026-09-25, không đồng nghĩa toàn bộ 24 cổng đã chạy lại.
Nguồn:
- data/acceptance-report.json
- data/release-candidate.json
- evidence/command-captures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backup · Nhóm tác giả
Dùng khi cần giải thích đầy đủ chín trạng thái không đạt và bốn nội dung chưa thể thực hiện.
Phân biệt lỗi môi trường chạy kiểm thử với thất bại của phép kiểm tra; không coi việc trình diễn là bằng chứng thay thế.
Nguồn:
- data/acceptance-report.json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backup · Nhóm tác giả
Dùng khi cần trả lời nhanh mà không vượt quá dữ liệu.
Nếu câu hỏi đòi kết luận ngoài phạm vi ba nguồn, ghi nhận để Hội đồng yêu cầu thêm minh chứng.
Nguồn:
- data/academic_signoffs.json
- data/learning-outcomes.json
- data/acceptance-report.json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12648" y="621792"/>
            <a:ext cx="10972800" cy="713232"/>
          </a:xfrm>
          <a:prstGeom prst="rect">
            <a:avLst/>
          </a:prstGeom>
          <a:noFill/>
          <a:ln/>
        </p:spPr>
        <p:txBody>
          <a:bodyPr wrap="square" rtlCol="0"/>
          <a:lstStyle>
            <a:lvl1pPr marL="0" indent="0">
              <a:buNone/>
              <a:defRPr lang="en-US" sz="3600" b="1" dirty="0">
                <a:solidFill>
                  <a:srgbClr val="07182F"/>
                </a:solidFill>
                <a:latin typeface="Georgia" pitchFamily="34" charset="0"/>
                <a:ea typeface="Georgia" pitchFamily="34" charset="-122"/>
                <a:cs typeface="Georgia" pitchFamily="34" charset="-120"/>
              </a:defRPr>
            </a:lvl1pPr>
          </a:lstStyle>
          <a:p>
            <a:pPr marL="0" indent="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82F"/>
        </a:solidFill>
        <a:effectLst/>
      </p:bgPr>
    </p:bg>
    <p:spTree>
      <p:nvGrpSpPr>
        <p:cNvPr id="1" name=""/>
        <p:cNvGrpSpPr/>
        <p:nvPr/>
      </p:nvGrpSpPr>
      <p:grpSpPr>
        <a:xfrm>
          <a:off x="0" y="0"/>
          <a:ext cx="0" cy="0"/>
          <a:chOff x="0" y="0"/>
          <a:chExt cx="0" cy="0"/>
        </a:xfrm>
      </p:grpSpPr>
      <p:sp>
        <p:nvSpPr>
          <p:cNvPr id="2" name="Shape 0"/>
          <p:cNvSpPr/>
          <p:nvPr/>
        </p:nvSpPr>
        <p:spPr>
          <a:xfrm>
            <a:off x="658368" y="384048"/>
            <a:ext cx="640080" cy="0"/>
          </a:xfrm>
          <a:prstGeom prst="line">
            <a:avLst/>
          </a:prstGeom>
          <a:noFill/>
          <a:ln w="12700">
            <a:solidFill>
              <a:srgbClr val="C9963A"/>
            </a:solidFill>
            <a:prstDash val="solid"/>
          </a:ln>
        </p:spPr>
      </p:sp>
      <p:sp>
        <p:nvSpPr>
          <p:cNvPr id="3" name="Text 1"/>
          <p:cNvSpPr txBox="1"/>
          <p:nvPr/>
        </p:nvSpPr>
        <p:spPr>
          <a:xfrm>
            <a:off x="1417320" y="256032"/>
            <a:ext cx="7680960" cy="256032"/>
          </a:xfrm>
          <a:prstGeom prst="rect">
            <a:avLst/>
          </a:prstGeom>
          <a:noFill/>
          <a:ln/>
        </p:spPr>
        <p:txBody>
          <a:bodyPr wrap="square" lIns="0" tIns="0" rIns="0" bIns="0" rtlCol="0" anchor="t">
            <a:normAutofit/>
          </a:bodyPr>
          <a:lstStyle/>
          <a:p>
            <a:pPr marL="0" indent="0" algn="l">
              <a:buNone/>
            </a:pPr>
            <a:r>
              <a:rPr lang="en-US" sz="1150" b="1" dirty="0">
                <a:solidFill>
                  <a:srgbClr val="DBB36A"/>
                </a:solidFill>
                <a:latin typeface="Arial" pitchFamily="34" charset="0"/>
                <a:ea typeface="Arial" pitchFamily="34" charset="-122"/>
                <a:cs typeface="Arial" pitchFamily="34" charset="-120"/>
              </a:rPr>
              <a:t>GIÁO TRÌNH ĐIỆN TỬ CƠ HỌC LÝ THUYẾT</a:t>
            </a:r>
            <a:endParaRPr lang="en-US" sz="1150" dirty="0"/>
          </a:p>
        </p:txBody>
      </p:sp>
      <p:sp>
        <p:nvSpPr>
          <p:cNvPr id="4" name="Text 2"/>
          <p:cNvSpPr txBox="1"/>
          <p:nvPr/>
        </p:nvSpPr>
        <p:spPr>
          <a:xfrm>
            <a:off x="658368" y="713232"/>
            <a:ext cx="5532120" cy="1417320"/>
          </a:xfrm>
          <a:prstGeom prst="rect">
            <a:avLst/>
          </a:prstGeom>
          <a:noFill/>
          <a:ln/>
        </p:spPr>
        <p:txBody>
          <a:bodyPr wrap="square" lIns="0" tIns="0" rIns="0" bIns="0" rtlCol="0" anchor="ctr">
            <a:normAutofit/>
          </a:bodyPr>
          <a:lstStyle/>
          <a:p>
            <a:pPr marL="0" indent="0" algn="l">
              <a:buNone/>
            </a:pPr>
            <a:r>
              <a:rPr lang="en-US" sz="3900" b="1" dirty="0">
                <a:solidFill>
                  <a:srgbClr val="FFFFFF"/>
                </a:solidFill>
                <a:latin typeface="Georgia" pitchFamily="34" charset="0"/>
                <a:ea typeface="Georgia" pitchFamily="34" charset="-122"/>
                <a:cs typeface="Georgia" pitchFamily="34" charset="-120"/>
              </a:rPr>
              <a:t>Kết quả xây dựng</a:t>
            </a:r>
            <a:endParaRPr lang="en-US" sz="3900" dirty="0"/>
          </a:p>
          <a:p>
            <a:pPr marL="0" indent="0" algn="l">
              <a:buNone/>
            </a:pPr>
            <a:r>
              <a:rPr lang="en-US" sz="3900" b="1" dirty="0">
                <a:solidFill>
                  <a:srgbClr val="FFFFFF"/>
                </a:solidFill>
                <a:latin typeface="Georgia" pitchFamily="34" charset="0"/>
                <a:ea typeface="Georgia" pitchFamily="34" charset="-122"/>
                <a:cs typeface="Georgia" pitchFamily="34" charset="-120"/>
              </a:rPr>
              <a:t>Giáo trình điện tử</a:t>
            </a:r>
            <a:endParaRPr lang="en-US" sz="3900" dirty="0"/>
          </a:p>
          <a:p>
            <a:pPr marL="0" indent="0" algn="l">
              <a:buNone/>
            </a:pPr>
            <a:r>
              <a:rPr lang="en-US" sz="3900" b="1" dirty="0">
                <a:solidFill>
                  <a:srgbClr val="FFFFFF"/>
                </a:solidFill>
                <a:latin typeface="Georgia" pitchFamily="34" charset="0"/>
                <a:ea typeface="Georgia" pitchFamily="34" charset="-122"/>
                <a:cs typeface="Georgia" pitchFamily="34" charset="-120"/>
              </a:rPr>
              <a:t>Cơ học lý thuyết</a:t>
            </a:r>
            <a:endParaRPr lang="en-US" sz="3900" dirty="0"/>
          </a:p>
        </p:txBody>
      </p:sp>
      <p:sp>
        <p:nvSpPr>
          <p:cNvPr id="5" name="Text 3"/>
          <p:cNvSpPr txBox="1"/>
          <p:nvPr/>
        </p:nvSpPr>
        <p:spPr>
          <a:xfrm>
            <a:off x="694944" y="2377440"/>
            <a:ext cx="5440680" cy="1078992"/>
          </a:xfrm>
          <a:prstGeom prst="rect">
            <a:avLst/>
          </a:prstGeom>
          <a:noFill/>
          <a:ln/>
        </p:spPr>
        <p:txBody>
          <a:bodyPr wrap="square" lIns="0" tIns="0" rIns="0" bIns="0" rtlCol="0" anchor="ctr">
            <a:normAutofit/>
          </a:bodyPr>
          <a:lstStyle/>
          <a:p>
            <a:pPr marL="0" indent="0" algn="l">
              <a:buNone/>
            </a:pPr>
            <a:r>
              <a:rPr lang="en-US" sz="1900" b="1" dirty="0">
                <a:solidFill>
                  <a:srgbClr val="DBB36A"/>
                </a:solidFill>
                <a:latin typeface="Arial" pitchFamily="34" charset="0"/>
                <a:ea typeface="Arial" pitchFamily="34" charset="-122"/>
                <a:cs typeface="Arial" pitchFamily="34" charset="-120"/>
              </a:rPr>
              <a:t>Báo cáo sản phẩm đã xây dựng, giá trị hỗ trợ dạy–học có thể quan sát và các nội dung xin góp ý.</a:t>
            </a:r>
            <a:endParaRPr lang="en-US" sz="1900" dirty="0"/>
          </a:p>
        </p:txBody>
      </p:sp>
      <p:sp>
        <p:nvSpPr>
          <p:cNvPr id="6" name="Shape 4"/>
          <p:cNvSpPr/>
          <p:nvPr/>
        </p:nvSpPr>
        <p:spPr>
          <a:xfrm>
            <a:off x="658368" y="3794760"/>
            <a:ext cx="5413248" cy="1261872"/>
          </a:xfrm>
          <a:prstGeom prst="roundRect">
            <a:avLst>
              <a:gd name="adj" fmla="val 2899"/>
            </a:avLst>
          </a:prstGeom>
          <a:solidFill>
            <a:srgbClr val="0D2447"/>
          </a:solidFill>
          <a:ln w="12700">
            <a:solidFill>
              <a:srgbClr val="15355F"/>
            </a:solidFill>
            <a:prstDash val="solid"/>
          </a:ln>
        </p:spPr>
      </p:sp>
      <p:sp>
        <p:nvSpPr>
          <p:cNvPr id="7" name="Text 5"/>
          <p:cNvSpPr txBox="1"/>
          <p:nvPr/>
        </p:nvSpPr>
        <p:spPr>
          <a:xfrm>
            <a:off x="914400" y="4023360"/>
            <a:ext cx="1325880" cy="228600"/>
          </a:xfrm>
          <a:prstGeom prst="rect">
            <a:avLst/>
          </a:prstGeom>
          <a:noFill/>
          <a:ln/>
        </p:spPr>
        <p:txBody>
          <a:bodyPr wrap="square" lIns="0" tIns="0" rIns="0" bIns="0" rtlCol="0" anchor="t">
            <a:normAutofit/>
          </a:bodyPr>
          <a:lstStyle/>
          <a:p>
            <a:pPr marL="0" indent="0" algn="l">
              <a:buNone/>
            </a:pPr>
            <a:r>
              <a:rPr lang="en-US" sz="1100" b="1" dirty="0">
                <a:solidFill>
                  <a:srgbClr val="DBB36A"/>
                </a:solidFill>
                <a:latin typeface="Arial" pitchFamily="34" charset="0"/>
                <a:ea typeface="Arial" pitchFamily="34" charset="-122"/>
                <a:cs typeface="Arial" pitchFamily="34" charset="-120"/>
              </a:rPr>
              <a:t>NHÓM TÁC GIẢ</a:t>
            </a:r>
            <a:endParaRPr lang="en-US" sz="1100" dirty="0"/>
          </a:p>
        </p:txBody>
      </p:sp>
      <p:sp>
        <p:nvSpPr>
          <p:cNvPr id="8" name="Text 6"/>
          <p:cNvSpPr txBox="1"/>
          <p:nvPr/>
        </p:nvSpPr>
        <p:spPr>
          <a:xfrm>
            <a:off x="2240280" y="3950208"/>
            <a:ext cx="3474720" cy="228600"/>
          </a:xfrm>
          <a:prstGeom prst="rect">
            <a:avLst/>
          </a:prstGeom>
          <a:noFill/>
          <a:ln/>
        </p:spPr>
        <p:txBody>
          <a:bodyPr wrap="square" lIns="0" tIns="0" rIns="0" bIns="0" rtlCol="0" anchor="t">
            <a:normAutofit/>
          </a:bodyPr>
          <a:lstStyle/>
          <a:p>
            <a:pPr marL="0" indent="0" algn="r">
              <a:buNone/>
            </a:pPr>
            <a:r>
              <a:rPr lang="en-US" sz="1350" dirty="0">
                <a:solidFill>
                  <a:srgbClr val="FFFFFF"/>
                </a:solidFill>
                <a:latin typeface="Arial" pitchFamily="34" charset="0"/>
                <a:ea typeface="Arial" pitchFamily="34" charset="-122"/>
                <a:cs typeface="Arial" pitchFamily="34" charset="-120"/>
              </a:rPr>
              <a:t>TS Nguyễn Lê Văn — Chủ biên</a:t>
            </a:r>
            <a:endParaRPr lang="en-US" sz="1350" dirty="0"/>
          </a:p>
        </p:txBody>
      </p:sp>
      <p:sp>
        <p:nvSpPr>
          <p:cNvPr id="9" name="Text 7"/>
          <p:cNvSpPr txBox="1"/>
          <p:nvPr/>
        </p:nvSpPr>
        <p:spPr>
          <a:xfrm>
            <a:off x="2240280" y="4261104"/>
            <a:ext cx="3474720" cy="228600"/>
          </a:xfrm>
          <a:prstGeom prst="rect">
            <a:avLst/>
          </a:prstGeom>
          <a:noFill/>
          <a:ln/>
        </p:spPr>
        <p:txBody>
          <a:bodyPr wrap="square" lIns="0" tIns="0" rIns="0" bIns="0" rtlCol="0" anchor="t">
            <a:normAutofit/>
          </a:bodyPr>
          <a:lstStyle/>
          <a:p>
            <a:pPr marL="0" indent="0" algn="r">
              <a:buNone/>
            </a:pPr>
            <a:r>
              <a:rPr lang="en-US" sz="1350" dirty="0">
                <a:solidFill>
                  <a:srgbClr val="FFFFFF"/>
                </a:solidFill>
                <a:latin typeface="Arial" pitchFamily="34" charset="0"/>
                <a:ea typeface="Arial" pitchFamily="34" charset="-122"/>
                <a:cs typeface="Arial" pitchFamily="34" charset="-120"/>
              </a:rPr>
              <a:t>ThS Đinh Văn Tứ — Tham gia biên soạn</a:t>
            </a:r>
            <a:endParaRPr lang="en-US" sz="1350" dirty="0"/>
          </a:p>
        </p:txBody>
      </p:sp>
      <p:sp>
        <p:nvSpPr>
          <p:cNvPr id="10" name="Text 8"/>
          <p:cNvSpPr txBox="1"/>
          <p:nvPr/>
        </p:nvSpPr>
        <p:spPr>
          <a:xfrm>
            <a:off x="2240280" y="4572000"/>
            <a:ext cx="3474720" cy="228600"/>
          </a:xfrm>
          <a:prstGeom prst="rect">
            <a:avLst/>
          </a:prstGeom>
          <a:noFill/>
          <a:ln/>
        </p:spPr>
        <p:txBody>
          <a:bodyPr wrap="square" lIns="0" tIns="0" rIns="0" bIns="0" rtlCol="0" anchor="t">
            <a:normAutofit/>
          </a:bodyPr>
          <a:lstStyle/>
          <a:p>
            <a:pPr marL="0" indent="0" algn="r">
              <a:buNone/>
            </a:pPr>
            <a:r>
              <a:rPr lang="en-US" sz="1350" dirty="0">
                <a:solidFill>
                  <a:srgbClr val="FFFFFF"/>
                </a:solidFill>
                <a:latin typeface="Arial" pitchFamily="34" charset="0"/>
                <a:ea typeface="Arial" pitchFamily="34" charset="-122"/>
                <a:cs typeface="Arial" pitchFamily="34" charset="-120"/>
              </a:rPr>
              <a:t>ThS Bùi Thanh Xuân — Tham gia biên soạn</a:t>
            </a:r>
            <a:endParaRPr lang="en-US" sz="1350" dirty="0"/>
          </a:p>
        </p:txBody>
      </p:sp>
      <p:sp>
        <p:nvSpPr>
          <p:cNvPr id="11" name="Shape 9"/>
          <p:cNvSpPr/>
          <p:nvPr/>
        </p:nvSpPr>
        <p:spPr>
          <a:xfrm>
            <a:off x="6419088" y="804672"/>
            <a:ext cx="5120640" cy="3310128"/>
          </a:xfrm>
          <a:prstGeom prst="roundRect">
            <a:avLst>
              <a:gd name="adj" fmla="val 1105"/>
            </a:avLst>
          </a:prstGeom>
          <a:solidFill>
            <a:srgbClr val="FFFFFF"/>
          </a:solidFill>
          <a:ln w="12700">
            <a:solidFill>
              <a:srgbClr val="0D2447"/>
            </a:solidFill>
            <a:prstDash val="solid"/>
          </a:ln>
        </p:spPr>
      </p:sp>
      <p:pic>
        <p:nvPicPr>
          <p:cNvPr id="12" name="Image 0" descr="Ảnh giao diện học liệu · hiện vật dùng để trình diễn"/>
          <p:cNvPicPr>
            <a:picLocks noChangeAspect="1"/>
          </p:cNvPicPr>
          <p:nvPr/>
        </p:nvPicPr>
        <p:blipFill>
          <a:blip r:embed="rId3"/>
          <a:stretch>
            <a:fillRect/>
          </a:stretch>
        </p:blipFill>
        <p:spPr>
          <a:xfrm>
            <a:off x="6885471" y="877824"/>
            <a:ext cx="4187875" cy="2907792"/>
          </a:xfrm>
          <a:prstGeom prst="rect">
            <a:avLst/>
          </a:prstGeom>
        </p:spPr>
      </p:pic>
      <p:sp>
        <p:nvSpPr>
          <p:cNvPr id="13" name="Text 10"/>
          <p:cNvSpPr txBox="1"/>
          <p:nvPr/>
        </p:nvSpPr>
        <p:spPr>
          <a:xfrm>
            <a:off x="6528816" y="3895344"/>
            <a:ext cx="4901184"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Ảnh giao diện học liệu · hiện vật dùng để trình diễn</a:t>
            </a:r>
            <a:endParaRPr lang="en-US" sz="850" dirty="0"/>
          </a:p>
        </p:txBody>
      </p:sp>
      <p:sp>
        <p:nvSpPr>
          <p:cNvPr id="14" name="Shape 11"/>
          <p:cNvSpPr/>
          <p:nvPr/>
        </p:nvSpPr>
        <p:spPr>
          <a:xfrm>
            <a:off x="6419088" y="4315968"/>
            <a:ext cx="1627632" cy="1417320"/>
          </a:xfrm>
          <a:prstGeom prst="roundRect">
            <a:avLst>
              <a:gd name="adj" fmla="val 2581"/>
            </a:avLst>
          </a:prstGeom>
          <a:solidFill>
            <a:srgbClr val="FFFFFF"/>
          </a:solidFill>
          <a:ln w="12700">
            <a:solidFill>
              <a:srgbClr val="0D2447"/>
            </a:solidFill>
            <a:prstDash val="solid"/>
          </a:ln>
        </p:spPr>
      </p:sp>
      <p:pic>
        <p:nvPicPr>
          <p:cNvPr id="15" name="Image 1" descr="Tĩnh học"/>
          <p:cNvPicPr>
            <a:picLocks noChangeAspect="1"/>
          </p:cNvPicPr>
          <p:nvPr/>
        </p:nvPicPr>
        <p:blipFill>
          <a:blip r:embed="rId4"/>
          <a:stretch>
            <a:fillRect/>
          </a:stretch>
        </p:blipFill>
        <p:spPr>
          <a:xfrm>
            <a:off x="6507915" y="4389120"/>
            <a:ext cx="1449977" cy="1014984"/>
          </a:xfrm>
          <a:prstGeom prst="rect">
            <a:avLst/>
          </a:prstGeom>
        </p:spPr>
      </p:pic>
      <p:sp>
        <p:nvSpPr>
          <p:cNvPr id="16" name="Text 12"/>
          <p:cNvSpPr txBox="1"/>
          <p:nvPr/>
        </p:nvSpPr>
        <p:spPr>
          <a:xfrm>
            <a:off x="6528816" y="5513832"/>
            <a:ext cx="1408176"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Tĩnh học</a:t>
            </a:r>
            <a:endParaRPr lang="en-US" sz="850" dirty="0"/>
          </a:p>
        </p:txBody>
      </p:sp>
      <p:sp>
        <p:nvSpPr>
          <p:cNvPr id="17" name="Shape 13"/>
          <p:cNvSpPr/>
          <p:nvPr/>
        </p:nvSpPr>
        <p:spPr>
          <a:xfrm>
            <a:off x="8165592" y="4315968"/>
            <a:ext cx="1627632" cy="1417320"/>
          </a:xfrm>
          <a:prstGeom prst="roundRect">
            <a:avLst>
              <a:gd name="adj" fmla="val 2581"/>
            </a:avLst>
          </a:prstGeom>
          <a:solidFill>
            <a:srgbClr val="FFFFFF"/>
          </a:solidFill>
          <a:ln w="12700">
            <a:solidFill>
              <a:srgbClr val="0D2447"/>
            </a:solidFill>
            <a:prstDash val="solid"/>
          </a:ln>
        </p:spPr>
      </p:sp>
      <p:pic>
        <p:nvPicPr>
          <p:cNvPr id="18" name="Image 2" descr="Động học"/>
          <p:cNvPicPr>
            <a:picLocks noChangeAspect="1"/>
          </p:cNvPicPr>
          <p:nvPr/>
        </p:nvPicPr>
        <p:blipFill>
          <a:blip r:embed="rId5"/>
          <a:stretch>
            <a:fillRect/>
          </a:stretch>
        </p:blipFill>
        <p:spPr>
          <a:xfrm>
            <a:off x="8254419" y="4389120"/>
            <a:ext cx="1449977" cy="1014984"/>
          </a:xfrm>
          <a:prstGeom prst="rect">
            <a:avLst/>
          </a:prstGeom>
        </p:spPr>
      </p:pic>
      <p:sp>
        <p:nvSpPr>
          <p:cNvPr id="19" name="Text 14"/>
          <p:cNvSpPr txBox="1"/>
          <p:nvPr/>
        </p:nvSpPr>
        <p:spPr>
          <a:xfrm>
            <a:off x="8275320" y="5513832"/>
            <a:ext cx="1408176"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Động học</a:t>
            </a:r>
            <a:endParaRPr lang="en-US" sz="850" dirty="0"/>
          </a:p>
        </p:txBody>
      </p:sp>
      <p:sp>
        <p:nvSpPr>
          <p:cNvPr id="20" name="Shape 15"/>
          <p:cNvSpPr/>
          <p:nvPr/>
        </p:nvSpPr>
        <p:spPr>
          <a:xfrm>
            <a:off x="9912096" y="4315968"/>
            <a:ext cx="1627632" cy="1417320"/>
          </a:xfrm>
          <a:prstGeom prst="roundRect">
            <a:avLst>
              <a:gd name="adj" fmla="val 2581"/>
            </a:avLst>
          </a:prstGeom>
          <a:solidFill>
            <a:srgbClr val="FFFFFF"/>
          </a:solidFill>
          <a:ln w="12700">
            <a:solidFill>
              <a:srgbClr val="0D2447"/>
            </a:solidFill>
            <a:prstDash val="solid"/>
          </a:ln>
        </p:spPr>
      </p:sp>
      <p:pic>
        <p:nvPicPr>
          <p:cNvPr id="21" name="Image 3" descr="Động lực học"/>
          <p:cNvPicPr>
            <a:picLocks noChangeAspect="1"/>
          </p:cNvPicPr>
          <p:nvPr/>
        </p:nvPicPr>
        <p:blipFill>
          <a:blip r:embed="rId6"/>
          <a:stretch>
            <a:fillRect/>
          </a:stretch>
        </p:blipFill>
        <p:spPr>
          <a:xfrm>
            <a:off x="10000923" y="4389120"/>
            <a:ext cx="1449977" cy="1014984"/>
          </a:xfrm>
          <a:prstGeom prst="rect">
            <a:avLst/>
          </a:prstGeom>
        </p:spPr>
      </p:pic>
      <p:sp>
        <p:nvSpPr>
          <p:cNvPr id="22" name="Text 16"/>
          <p:cNvSpPr txBox="1"/>
          <p:nvPr/>
        </p:nvSpPr>
        <p:spPr>
          <a:xfrm>
            <a:off x="10021824" y="5513832"/>
            <a:ext cx="1408176"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Động lực học</a:t>
            </a:r>
            <a:endParaRPr lang="en-US" sz="850" dirty="0"/>
          </a:p>
        </p:txBody>
      </p:sp>
      <p:sp>
        <p:nvSpPr>
          <p:cNvPr id="23" name="Text 17"/>
          <p:cNvSpPr txBox="1"/>
          <p:nvPr/>
        </p:nvSpPr>
        <p:spPr>
          <a:xfrm>
            <a:off x="6419088" y="5852160"/>
            <a:ext cx="5120640" cy="164592"/>
          </a:xfrm>
          <a:prstGeom prst="rect">
            <a:avLst/>
          </a:prstGeom>
          <a:noFill/>
          <a:ln/>
        </p:spPr>
        <p:txBody>
          <a:bodyPr wrap="square" lIns="0" tIns="0" rIns="0" bIns="0" rtlCol="0" anchor="t">
            <a:normAutofit/>
          </a:bodyPr>
          <a:lstStyle/>
          <a:p>
            <a:pPr marL="0" indent="0" algn="ctr">
              <a:buNone/>
            </a:pPr>
            <a:r>
              <a:rPr lang="en-US" sz="1000" b="1" dirty="0">
                <a:solidFill>
                  <a:srgbClr val="DBB36A"/>
                </a:solidFill>
                <a:latin typeface="Arial" pitchFamily="34" charset="0"/>
                <a:ea typeface="Arial" pitchFamily="34" charset="-122"/>
                <a:cs typeface="Arial" pitchFamily="34" charset="-120"/>
              </a:rPr>
              <a:t>BA MẠCH KIẾN THỨC · SƠ ĐỒ NGUYÊN LÝ</a:t>
            </a:r>
            <a:endParaRPr lang="en-US" sz="1000" dirty="0"/>
          </a:p>
        </p:txBody>
      </p:sp>
      <p:sp>
        <p:nvSpPr>
          <p:cNvPr id="24" name="Text 18"/>
          <p:cNvSpPr txBox="1"/>
          <p:nvPr/>
        </p:nvSpPr>
        <p:spPr>
          <a:xfrm>
            <a:off x="713232" y="6144768"/>
            <a:ext cx="2743200" cy="219456"/>
          </a:xfrm>
          <a:prstGeom prst="rect">
            <a:avLst/>
          </a:prstGeom>
          <a:noFill/>
          <a:ln/>
        </p:spPr>
        <p:txBody>
          <a:bodyPr wrap="square" lIns="0" tIns="0" rIns="0" bIns="0" rtlCol="0" anchor="t">
            <a:normAutofit/>
          </a:bodyPr>
          <a:lstStyle/>
          <a:p>
            <a:pPr marL="0" indent="0" algn="l">
              <a:buNone/>
            </a:pPr>
            <a:r>
              <a:rPr lang="en-US" sz="1000" b="1" dirty="0">
                <a:solidFill>
                  <a:srgbClr val="DBB36A"/>
                </a:solidFill>
                <a:latin typeface="Arial" pitchFamily="34" charset="0"/>
                <a:ea typeface="Arial" pitchFamily="34" charset="-122"/>
                <a:cs typeface="Arial" pitchFamily="34" charset="-120"/>
              </a:rPr>
              <a:t>KHÁNH HÒA · 2026</a:t>
            </a:r>
            <a:endParaRPr lang="en-US" sz="1000" dirty="0"/>
          </a:p>
        </p:txBody>
      </p:sp>
      <p:sp>
        <p:nvSpPr>
          <p:cNvPr id="25" name="Text 19"/>
          <p:cNvSpPr txBox="1"/>
          <p:nvPr/>
        </p:nvSpPr>
        <p:spPr>
          <a:xfrm>
            <a:off x="8869680" y="6144768"/>
            <a:ext cx="2423160" cy="219456"/>
          </a:xfrm>
          <a:prstGeom prst="rect">
            <a:avLst/>
          </a:prstGeom>
          <a:noFill/>
          <a:ln/>
        </p:spPr>
        <p:txBody>
          <a:bodyPr wrap="square" lIns="0" tIns="0" rIns="0" bIns="0" rtlCol="0" anchor="t">
            <a:normAutofit/>
          </a:bodyPr>
          <a:lstStyle/>
          <a:p>
            <a:pPr marL="0" indent="0" algn="r">
              <a:buNone/>
            </a:pPr>
            <a:r>
              <a:rPr lang="en-US" sz="1000" b="1" dirty="0">
                <a:solidFill>
                  <a:srgbClr val="DBB36A"/>
                </a:solidFill>
                <a:latin typeface="Arial" pitchFamily="34" charset="0"/>
                <a:ea typeface="Arial" pitchFamily="34" charset="-122"/>
                <a:cs typeface="Arial" pitchFamily="34" charset="-120"/>
              </a:rPr>
              <a:t>12:00 nội dung · 3:00 dự phòng</a:t>
            </a:r>
            <a:endParaRPr lang="en-US" sz="1000" dirty="0"/>
          </a:p>
        </p:txBody>
      </p:sp>
      <p:sp>
        <p:nvSpPr>
          <p:cNvPr id="27"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lstStyle/>
          <a:p>
            <a:pPr marL="0" indent="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Nhu cầu dạy–học mà sản phẩm hướng tới</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02</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Sản phẩm được thiết kế để nối nội dung, hình, công thức, mô phỏng và tự kiểm tra trong một luồng học.</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KQ-NHU-CAU</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2</a:t>
            </a:r>
            <a:endParaRPr lang="en-US" sz="820" dirty="0"/>
          </a:p>
        </p:txBody>
      </p:sp>
      <p:sp>
        <p:nvSpPr>
          <p:cNvPr id="13" name="Text 10"/>
          <p:cNvSpPr txBox="1"/>
          <p:nvPr/>
        </p:nvSpPr>
        <p:spPr>
          <a:xfrm>
            <a:off x="713232" y="2011680"/>
            <a:ext cx="5120640" cy="274320"/>
          </a:xfrm>
          <a:prstGeom prst="rect">
            <a:avLst/>
          </a:prstGeom>
          <a:noFill/>
          <a:ln/>
        </p:spPr>
        <p:txBody>
          <a:bodyPr wrap="square" lIns="0" tIns="0" rIns="0" bIns="0" rtlCol="0" anchor="t">
            <a:normAutofit/>
          </a:bodyPr>
          <a:lstStyle/>
          <a:p>
            <a:pPr marL="0" indent="0" algn="ctr">
              <a:buNone/>
            </a:pPr>
            <a:r>
              <a:rPr lang="en-US" sz="1300" b="1" dirty="0">
                <a:solidFill>
                  <a:srgbClr val="B42318"/>
                </a:solidFill>
                <a:latin typeface="Arial" pitchFamily="34" charset="0"/>
                <a:ea typeface="Arial" pitchFamily="34" charset="-122"/>
                <a:cs typeface="Arial" pitchFamily="34" charset="-120"/>
              </a:rPr>
              <a:t>ĐIỂM CẦN HỖ TRỢ</a:t>
            </a:r>
            <a:endParaRPr lang="en-US" sz="1300" dirty="0"/>
          </a:p>
        </p:txBody>
      </p:sp>
      <p:sp>
        <p:nvSpPr>
          <p:cNvPr id="14" name="Text 11"/>
          <p:cNvSpPr txBox="1"/>
          <p:nvPr/>
        </p:nvSpPr>
        <p:spPr>
          <a:xfrm>
            <a:off x="6364224" y="2011680"/>
            <a:ext cx="5120640" cy="274320"/>
          </a:xfrm>
          <a:prstGeom prst="rect">
            <a:avLst/>
          </a:prstGeom>
          <a:noFill/>
          <a:ln/>
        </p:spPr>
        <p:txBody>
          <a:bodyPr wrap="square" lIns="0" tIns="0" rIns="0" bIns="0" rtlCol="0" anchor="t">
            <a:normAutofit/>
          </a:bodyPr>
          <a:lstStyle/>
          <a:p>
            <a:pPr marL="0" indent="0" algn="ctr">
              <a:buNone/>
            </a:pPr>
            <a:r>
              <a:rPr lang="en-US" sz="1300" b="1" dirty="0">
                <a:solidFill>
                  <a:srgbClr val="137A3D"/>
                </a:solidFill>
                <a:latin typeface="Arial" pitchFamily="34" charset="0"/>
                <a:ea typeface="Arial" pitchFamily="34" charset="-122"/>
                <a:cs typeface="Arial" pitchFamily="34" charset="-120"/>
              </a:rPr>
              <a:t>CÁCH SẢN PHẨM ĐÁP ỨNG</a:t>
            </a:r>
            <a:endParaRPr lang="en-US" sz="1300" dirty="0"/>
          </a:p>
        </p:txBody>
      </p:sp>
      <p:sp>
        <p:nvSpPr>
          <p:cNvPr id="15" name="Shape 12"/>
          <p:cNvSpPr/>
          <p:nvPr/>
        </p:nvSpPr>
        <p:spPr>
          <a:xfrm>
            <a:off x="658368" y="2432304"/>
            <a:ext cx="5230368" cy="658368"/>
          </a:xfrm>
          <a:prstGeom prst="roundRect">
            <a:avLst>
              <a:gd name="adj" fmla="val 5556"/>
            </a:avLst>
          </a:prstGeom>
          <a:solidFill>
            <a:srgbClr val="FFF7F5"/>
          </a:solidFill>
          <a:ln w="12700">
            <a:solidFill>
              <a:srgbClr val="B42318"/>
            </a:solidFill>
            <a:prstDash val="solid"/>
          </a:ln>
        </p:spPr>
      </p:sp>
      <p:sp>
        <p:nvSpPr>
          <p:cNvPr id="16" name="Text 13"/>
          <p:cNvSpPr txBox="1"/>
          <p:nvPr/>
        </p:nvSpPr>
        <p:spPr>
          <a:xfrm>
            <a:off x="896112" y="2523744"/>
            <a:ext cx="192024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Quan hệ vectơ khó quan sát</a:t>
            </a:r>
            <a:endParaRPr lang="en-US" sz="1650" dirty="0"/>
          </a:p>
        </p:txBody>
      </p:sp>
      <p:sp>
        <p:nvSpPr>
          <p:cNvPr id="17" name="Text 14"/>
          <p:cNvSpPr txBox="1"/>
          <p:nvPr/>
        </p:nvSpPr>
        <p:spPr>
          <a:xfrm>
            <a:off x="2852928" y="2514600"/>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Dấu, chiều và giả thiết cần được đặt gần công thức</a:t>
            </a:r>
            <a:endParaRPr lang="en-US" sz="1450" dirty="0"/>
          </a:p>
        </p:txBody>
      </p:sp>
      <p:sp>
        <p:nvSpPr>
          <p:cNvPr id="18" name="Shape 15"/>
          <p:cNvSpPr/>
          <p:nvPr/>
        </p:nvSpPr>
        <p:spPr>
          <a:xfrm>
            <a:off x="6007608" y="2633472"/>
            <a:ext cx="228600" cy="256032"/>
          </a:xfrm>
          <a:prstGeom prst="chevron">
            <a:avLst/>
          </a:prstGeom>
          <a:solidFill>
            <a:srgbClr val="C9963A"/>
          </a:solidFill>
          <a:ln w="12700">
            <a:solidFill>
              <a:srgbClr val="C9963A"/>
            </a:solidFill>
            <a:prstDash val="solid"/>
          </a:ln>
        </p:spPr>
      </p:sp>
      <p:sp>
        <p:nvSpPr>
          <p:cNvPr id="19" name="Shape 16"/>
          <p:cNvSpPr/>
          <p:nvPr/>
        </p:nvSpPr>
        <p:spPr>
          <a:xfrm>
            <a:off x="6327648" y="2432304"/>
            <a:ext cx="5230368" cy="658368"/>
          </a:xfrm>
          <a:prstGeom prst="roundRect">
            <a:avLst>
              <a:gd name="adj" fmla="val 5556"/>
            </a:avLst>
          </a:prstGeom>
          <a:solidFill>
            <a:srgbClr val="F3FAF6"/>
          </a:solidFill>
          <a:ln w="12700">
            <a:solidFill>
              <a:srgbClr val="137A3D"/>
            </a:solidFill>
            <a:prstDash val="solid"/>
          </a:ln>
        </p:spPr>
      </p:sp>
      <p:sp>
        <p:nvSpPr>
          <p:cNvPr id="20" name="Text 17"/>
          <p:cNvSpPr txBox="1"/>
          <p:nvPr/>
        </p:nvSpPr>
        <p:spPr>
          <a:xfrm>
            <a:off x="6565392" y="2523744"/>
            <a:ext cx="196596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Đặt biểu diễn cạnh nhau</a:t>
            </a:r>
            <a:endParaRPr lang="en-US" sz="1650" dirty="0"/>
          </a:p>
        </p:txBody>
      </p:sp>
      <p:sp>
        <p:nvSpPr>
          <p:cNvPr id="21" name="Text 18"/>
          <p:cNvSpPr txBox="1"/>
          <p:nvPr/>
        </p:nvSpPr>
        <p:spPr>
          <a:xfrm>
            <a:off x="8558784" y="2514600"/>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Đặt hình, công thức, giả thiết và đơn vị cùng ngữ cảnh</a:t>
            </a:r>
            <a:endParaRPr lang="en-US" sz="1450" dirty="0"/>
          </a:p>
        </p:txBody>
      </p:sp>
      <p:sp>
        <p:nvSpPr>
          <p:cNvPr id="22" name="Shape 19"/>
          <p:cNvSpPr/>
          <p:nvPr/>
        </p:nvSpPr>
        <p:spPr>
          <a:xfrm>
            <a:off x="658368" y="3246120"/>
            <a:ext cx="5230368" cy="658368"/>
          </a:xfrm>
          <a:prstGeom prst="roundRect">
            <a:avLst>
              <a:gd name="adj" fmla="val 5556"/>
            </a:avLst>
          </a:prstGeom>
          <a:solidFill>
            <a:srgbClr val="FFF7F5"/>
          </a:solidFill>
          <a:ln w="12700">
            <a:solidFill>
              <a:srgbClr val="B42318"/>
            </a:solidFill>
            <a:prstDash val="solid"/>
          </a:ln>
        </p:spPr>
      </p:sp>
      <p:sp>
        <p:nvSpPr>
          <p:cNvPr id="23" name="Text 20"/>
          <p:cNvSpPr txBox="1"/>
          <p:nvPr/>
        </p:nvSpPr>
        <p:spPr>
          <a:xfrm>
            <a:off x="896112" y="3337560"/>
            <a:ext cx="192024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Hình tĩnh không thể hiện biến thiên</a:t>
            </a:r>
            <a:endParaRPr lang="en-US" sz="1650" dirty="0"/>
          </a:p>
        </p:txBody>
      </p:sp>
      <p:sp>
        <p:nvSpPr>
          <p:cNvPr id="24" name="Text 21"/>
          <p:cNvSpPr txBox="1"/>
          <p:nvPr/>
        </p:nvSpPr>
        <p:spPr>
          <a:xfrm>
            <a:off x="2852928" y="3328416"/>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Cần thấy đại lượng thay đổi khi tham số thay đổi</a:t>
            </a:r>
            <a:endParaRPr lang="en-US" sz="1450" dirty="0"/>
          </a:p>
        </p:txBody>
      </p:sp>
      <p:sp>
        <p:nvSpPr>
          <p:cNvPr id="25" name="Shape 22"/>
          <p:cNvSpPr/>
          <p:nvPr/>
        </p:nvSpPr>
        <p:spPr>
          <a:xfrm>
            <a:off x="6007608" y="3447288"/>
            <a:ext cx="228600" cy="256032"/>
          </a:xfrm>
          <a:prstGeom prst="chevron">
            <a:avLst/>
          </a:prstGeom>
          <a:solidFill>
            <a:srgbClr val="C9963A"/>
          </a:solidFill>
          <a:ln w="12700">
            <a:solidFill>
              <a:srgbClr val="C9963A"/>
            </a:solidFill>
            <a:prstDash val="solid"/>
          </a:ln>
        </p:spPr>
      </p:sp>
      <p:sp>
        <p:nvSpPr>
          <p:cNvPr id="26" name="Shape 23"/>
          <p:cNvSpPr/>
          <p:nvPr/>
        </p:nvSpPr>
        <p:spPr>
          <a:xfrm>
            <a:off x="6327648" y="3246120"/>
            <a:ext cx="5230368" cy="658368"/>
          </a:xfrm>
          <a:prstGeom prst="roundRect">
            <a:avLst>
              <a:gd name="adj" fmla="val 5556"/>
            </a:avLst>
          </a:prstGeom>
          <a:solidFill>
            <a:srgbClr val="F3FAF6"/>
          </a:solidFill>
          <a:ln w="12700">
            <a:solidFill>
              <a:srgbClr val="137A3D"/>
            </a:solidFill>
            <a:prstDash val="solid"/>
          </a:ln>
        </p:spPr>
      </p:sp>
      <p:sp>
        <p:nvSpPr>
          <p:cNvPr id="27" name="Text 24"/>
          <p:cNvSpPr txBox="1"/>
          <p:nvPr/>
        </p:nvSpPr>
        <p:spPr>
          <a:xfrm>
            <a:off x="6565392" y="3337560"/>
            <a:ext cx="196596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Cho phép thao tác</a:t>
            </a:r>
            <a:endParaRPr lang="en-US" sz="1650" dirty="0"/>
          </a:p>
        </p:txBody>
      </p:sp>
      <p:sp>
        <p:nvSpPr>
          <p:cNvPr id="28" name="Text 25"/>
          <p:cNvSpPr txBox="1"/>
          <p:nvPr/>
        </p:nvSpPr>
        <p:spPr>
          <a:xfrm>
            <a:off x="8558784" y="3328416"/>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Thay đổi tham số và xem giá trị hiển thị theo mô hình</a:t>
            </a:r>
            <a:endParaRPr lang="en-US" sz="1450" dirty="0"/>
          </a:p>
        </p:txBody>
      </p:sp>
      <p:sp>
        <p:nvSpPr>
          <p:cNvPr id="29" name="Shape 26"/>
          <p:cNvSpPr/>
          <p:nvPr/>
        </p:nvSpPr>
        <p:spPr>
          <a:xfrm>
            <a:off x="658368" y="4059936"/>
            <a:ext cx="5230368" cy="658368"/>
          </a:xfrm>
          <a:prstGeom prst="roundRect">
            <a:avLst>
              <a:gd name="adj" fmla="val 5556"/>
            </a:avLst>
          </a:prstGeom>
          <a:solidFill>
            <a:srgbClr val="FFF7F5"/>
          </a:solidFill>
          <a:ln w="12700">
            <a:solidFill>
              <a:srgbClr val="B42318"/>
            </a:solidFill>
            <a:prstDash val="solid"/>
          </a:ln>
        </p:spPr>
      </p:sp>
      <p:sp>
        <p:nvSpPr>
          <p:cNvPr id="30" name="Text 27"/>
          <p:cNvSpPr txBox="1"/>
          <p:nvPr/>
        </p:nvSpPr>
        <p:spPr>
          <a:xfrm>
            <a:off x="896112" y="4151376"/>
            <a:ext cx="192024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Tự học cần phản hồi</a:t>
            </a:r>
            <a:endParaRPr lang="en-US" sz="1650" dirty="0"/>
          </a:p>
        </p:txBody>
      </p:sp>
      <p:sp>
        <p:nvSpPr>
          <p:cNvPr id="31" name="Text 28"/>
          <p:cNvSpPr txBox="1"/>
          <p:nvPr/>
        </p:nvSpPr>
        <p:spPr>
          <a:xfrm>
            <a:off x="2852928" y="4142232"/>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Người học cần tự đối chiếu lựa chọn và xem lại nội dung</a:t>
            </a:r>
            <a:endParaRPr lang="en-US" sz="1450" dirty="0"/>
          </a:p>
        </p:txBody>
      </p:sp>
      <p:sp>
        <p:nvSpPr>
          <p:cNvPr id="32" name="Shape 29"/>
          <p:cNvSpPr/>
          <p:nvPr/>
        </p:nvSpPr>
        <p:spPr>
          <a:xfrm>
            <a:off x="6007608" y="4261104"/>
            <a:ext cx="228600" cy="256032"/>
          </a:xfrm>
          <a:prstGeom prst="chevron">
            <a:avLst/>
          </a:prstGeom>
          <a:solidFill>
            <a:srgbClr val="C9963A"/>
          </a:solidFill>
          <a:ln w="12700">
            <a:solidFill>
              <a:srgbClr val="C9963A"/>
            </a:solidFill>
            <a:prstDash val="solid"/>
          </a:ln>
        </p:spPr>
      </p:sp>
      <p:sp>
        <p:nvSpPr>
          <p:cNvPr id="33" name="Shape 30"/>
          <p:cNvSpPr/>
          <p:nvPr/>
        </p:nvSpPr>
        <p:spPr>
          <a:xfrm>
            <a:off x="6327648" y="4059936"/>
            <a:ext cx="5230368" cy="658368"/>
          </a:xfrm>
          <a:prstGeom prst="roundRect">
            <a:avLst>
              <a:gd name="adj" fmla="val 5556"/>
            </a:avLst>
          </a:prstGeom>
          <a:solidFill>
            <a:srgbClr val="F3FAF6"/>
          </a:solidFill>
          <a:ln w="12700">
            <a:solidFill>
              <a:srgbClr val="137A3D"/>
            </a:solidFill>
            <a:prstDash val="solid"/>
          </a:ln>
        </p:spPr>
      </p:sp>
      <p:sp>
        <p:nvSpPr>
          <p:cNvPr id="34" name="Text 31"/>
          <p:cNvSpPr txBox="1"/>
          <p:nvPr/>
        </p:nvSpPr>
        <p:spPr>
          <a:xfrm>
            <a:off x="6565392" y="4151376"/>
            <a:ext cx="196596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Tự kiểm tra có giải thích</a:t>
            </a:r>
            <a:endParaRPr lang="en-US" sz="1650" dirty="0"/>
          </a:p>
        </p:txBody>
      </p:sp>
      <p:sp>
        <p:nvSpPr>
          <p:cNvPr id="35" name="Text 32"/>
          <p:cNvSpPr txBox="1"/>
          <p:nvPr/>
        </p:nvSpPr>
        <p:spPr>
          <a:xfrm>
            <a:off x="8558784" y="4142232"/>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Phản hồi lựa chọn và dẫn về phần kiến thức liên quan</a:t>
            </a:r>
            <a:endParaRPr lang="en-US" sz="1450" dirty="0"/>
          </a:p>
        </p:txBody>
      </p:sp>
      <p:sp>
        <p:nvSpPr>
          <p:cNvPr id="36" name="Shape 33"/>
          <p:cNvSpPr/>
          <p:nvPr/>
        </p:nvSpPr>
        <p:spPr>
          <a:xfrm>
            <a:off x="658368" y="4873752"/>
            <a:ext cx="5230368" cy="658368"/>
          </a:xfrm>
          <a:prstGeom prst="roundRect">
            <a:avLst>
              <a:gd name="adj" fmla="val 5556"/>
            </a:avLst>
          </a:prstGeom>
          <a:solidFill>
            <a:srgbClr val="FFF7F5"/>
          </a:solidFill>
          <a:ln w="12700">
            <a:solidFill>
              <a:srgbClr val="B42318"/>
            </a:solidFill>
            <a:prstDash val="solid"/>
          </a:ln>
        </p:spPr>
      </p:sp>
      <p:sp>
        <p:nvSpPr>
          <p:cNvPr id="37" name="Text 34"/>
          <p:cNvSpPr txBox="1"/>
          <p:nvPr/>
        </p:nvSpPr>
        <p:spPr>
          <a:xfrm>
            <a:off x="896112" y="4965192"/>
            <a:ext cx="192024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Tài nguyên cần được kết nối</a:t>
            </a:r>
            <a:endParaRPr lang="en-US" sz="1650" dirty="0"/>
          </a:p>
        </p:txBody>
      </p:sp>
      <p:sp>
        <p:nvSpPr>
          <p:cNvPr id="38" name="Text 35"/>
          <p:cNvSpPr txBox="1"/>
          <p:nvPr/>
        </p:nvSpPr>
        <p:spPr>
          <a:xfrm>
            <a:off x="2852928" y="4956048"/>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Bài học, mô phỏng, câu hỏi và PDF nên ở cùng môi trường</a:t>
            </a:r>
            <a:endParaRPr lang="en-US" sz="1450" dirty="0"/>
          </a:p>
        </p:txBody>
      </p:sp>
      <p:sp>
        <p:nvSpPr>
          <p:cNvPr id="39" name="Shape 36"/>
          <p:cNvSpPr/>
          <p:nvPr/>
        </p:nvSpPr>
        <p:spPr>
          <a:xfrm>
            <a:off x="6007608" y="5074920"/>
            <a:ext cx="228600" cy="256032"/>
          </a:xfrm>
          <a:prstGeom prst="chevron">
            <a:avLst/>
          </a:prstGeom>
          <a:solidFill>
            <a:srgbClr val="C9963A"/>
          </a:solidFill>
          <a:ln w="12700">
            <a:solidFill>
              <a:srgbClr val="C9963A"/>
            </a:solidFill>
            <a:prstDash val="solid"/>
          </a:ln>
        </p:spPr>
      </p:sp>
      <p:sp>
        <p:nvSpPr>
          <p:cNvPr id="40" name="Shape 37"/>
          <p:cNvSpPr/>
          <p:nvPr/>
        </p:nvSpPr>
        <p:spPr>
          <a:xfrm>
            <a:off x="6327648" y="4873752"/>
            <a:ext cx="5230368" cy="658368"/>
          </a:xfrm>
          <a:prstGeom prst="roundRect">
            <a:avLst>
              <a:gd name="adj" fmla="val 5556"/>
            </a:avLst>
          </a:prstGeom>
          <a:solidFill>
            <a:srgbClr val="F3FAF6"/>
          </a:solidFill>
          <a:ln w="12700">
            <a:solidFill>
              <a:srgbClr val="137A3D"/>
            </a:solidFill>
            <a:prstDash val="solid"/>
          </a:ln>
        </p:spPr>
      </p:sp>
      <p:sp>
        <p:nvSpPr>
          <p:cNvPr id="41" name="Text 38"/>
          <p:cNvSpPr txBox="1"/>
          <p:nvPr/>
        </p:nvSpPr>
        <p:spPr>
          <a:xfrm>
            <a:off x="6565392" y="4965192"/>
            <a:ext cx="1965960" cy="237744"/>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Một luồng học thống nhất</a:t>
            </a:r>
            <a:endParaRPr lang="en-US" sz="1650" dirty="0"/>
          </a:p>
        </p:txBody>
      </p:sp>
      <p:sp>
        <p:nvSpPr>
          <p:cNvPr id="42" name="Text 39"/>
          <p:cNvSpPr txBox="1"/>
          <p:nvPr/>
        </p:nvSpPr>
        <p:spPr>
          <a:xfrm>
            <a:off x="8558784" y="4956048"/>
            <a:ext cx="2743200" cy="384048"/>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Kết nối nội dung, mô phỏng, câu hỏi và tài liệu đối chiếu</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2800" b="1" dirty="0">
                <a:solidFill>
                  <a:srgbClr val="07182F"/>
                </a:solidFill>
                <a:latin typeface="Georgia" pitchFamily="34" charset="0"/>
                <a:ea typeface="Georgia" pitchFamily="34" charset="-122"/>
                <a:cs typeface="Georgia" pitchFamily="34" charset="-120"/>
              </a:rPr>
              <a:t>Kết quả tổng thể: học liệu số cho ba mạch kiến thức</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03</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Tĩnh học, Động học và Động lực học đã được tổ chức thành nội dung số có hình, công thức, mô phỏng và câu tự kiểm tra.</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KQ-QUY-MO</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3</a:t>
            </a:r>
            <a:endParaRPr lang="en-US" sz="820" dirty="0"/>
          </a:p>
        </p:txBody>
      </p:sp>
      <p:sp>
        <p:nvSpPr>
          <p:cNvPr id="13" name="Shape 10"/>
          <p:cNvSpPr/>
          <p:nvPr/>
        </p:nvSpPr>
        <p:spPr>
          <a:xfrm>
            <a:off x="658368" y="1993392"/>
            <a:ext cx="1389888" cy="1060704"/>
          </a:xfrm>
          <a:prstGeom prst="roundRect">
            <a:avLst>
              <a:gd name="adj" fmla="val 3448"/>
            </a:avLst>
          </a:prstGeom>
          <a:solidFill>
            <a:srgbClr val="FFFFFF"/>
          </a:solidFill>
          <a:ln w="12700">
            <a:solidFill>
              <a:srgbClr val="D7DEE8"/>
            </a:solidFill>
            <a:prstDash val="solid"/>
          </a:ln>
        </p:spPr>
      </p:sp>
      <p:sp>
        <p:nvSpPr>
          <p:cNvPr id="14" name="Text 11"/>
          <p:cNvSpPr txBox="1"/>
          <p:nvPr/>
        </p:nvSpPr>
        <p:spPr>
          <a:xfrm>
            <a:off x="749808" y="2103120"/>
            <a:ext cx="1207008" cy="457200"/>
          </a:xfrm>
          <a:prstGeom prst="rect">
            <a:avLst/>
          </a:prstGeom>
          <a:noFill/>
          <a:ln/>
        </p:spPr>
        <p:txBody>
          <a:bodyPr wrap="square" lIns="0" tIns="0" rIns="0" bIns="0" rtlCol="0" anchor="ctr">
            <a:normAutofit/>
          </a:bodyPr>
          <a:lstStyle/>
          <a:p>
            <a:pPr marL="0" indent="0" algn="ctr">
              <a:buNone/>
            </a:pPr>
            <a:r>
              <a:rPr lang="en-US" sz="3200" b="1" dirty="0">
                <a:solidFill>
                  <a:srgbClr val="2980B9"/>
                </a:solidFill>
                <a:latin typeface="Arial" pitchFamily="34" charset="0"/>
                <a:ea typeface="Arial" pitchFamily="34" charset="-122"/>
                <a:cs typeface="Arial" pitchFamily="34" charset="-120"/>
              </a:rPr>
              <a:t>108</a:t>
            </a:r>
            <a:endParaRPr lang="en-US" sz="3200" dirty="0"/>
          </a:p>
        </p:txBody>
      </p:sp>
      <p:sp>
        <p:nvSpPr>
          <p:cNvPr id="15" name="Text 12"/>
          <p:cNvSpPr txBox="1"/>
          <p:nvPr/>
        </p:nvSpPr>
        <p:spPr>
          <a:xfrm>
            <a:off x="749808" y="2660904"/>
            <a:ext cx="1207008" cy="237744"/>
          </a:xfrm>
          <a:prstGeom prst="rect">
            <a:avLst/>
          </a:prstGeom>
          <a:noFill/>
          <a:ln/>
        </p:spPr>
        <p:txBody>
          <a:bodyPr wrap="square" lIns="0" tIns="0" rIns="0" bIns="0" rtlCol="0" anchor="ctr">
            <a:normAutofit/>
          </a:bodyPr>
          <a:lstStyle/>
          <a:p>
            <a:pPr marL="0" indent="0" algn="ctr">
              <a:buNone/>
            </a:pPr>
            <a:r>
              <a:rPr lang="en-US" sz="1200" dirty="0">
                <a:solidFill>
                  <a:srgbClr val="5B6B80"/>
                </a:solidFill>
                <a:latin typeface="Arial" pitchFamily="34" charset="0"/>
                <a:ea typeface="Arial" pitchFamily="34" charset="-122"/>
                <a:cs typeface="Arial" pitchFamily="34" charset="-120"/>
              </a:rPr>
              <a:t>mục/trang hiển thị</a:t>
            </a:r>
            <a:endParaRPr lang="en-US" sz="1200" dirty="0"/>
          </a:p>
        </p:txBody>
      </p:sp>
      <p:sp>
        <p:nvSpPr>
          <p:cNvPr id="16" name="Shape 13"/>
          <p:cNvSpPr/>
          <p:nvPr/>
        </p:nvSpPr>
        <p:spPr>
          <a:xfrm>
            <a:off x="2231136" y="1993392"/>
            <a:ext cx="1389888" cy="1060704"/>
          </a:xfrm>
          <a:prstGeom prst="roundRect">
            <a:avLst>
              <a:gd name="adj" fmla="val 3448"/>
            </a:avLst>
          </a:prstGeom>
          <a:solidFill>
            <a:srgbClr val="FFFFFF"/>
          </a:solidFill>
          <a:ln w="12700">
            <a:solidFill>
              <a:srgbClr val="D7DEE8"/>
            </a:solidFill>
            <a:prstDash val="solid"/>
          </a:ln>
        </p:spPr>
      </p:sp>
      <p:sp>
        <p:nvSpPr>
          <p:cNvPr id="17" name="Text 14"/>
          <p:cNvSpPr txBox="1"/>
          <p:nvPr/>
        </p:nvSpPr>
        <p:spPr>
          <a:xfrm>
            <a:off x="2322576" y="2103120"/>
            <a:ext cx="1207008" cy="457200"/>
          </a:xfrm>
          <a:prstGeom prst="rect">
            <a:avLst/>
          </a:prstGeom>
          <a:noFill/>
          <a:ln/>
        </p:spPr>
        <p:txBody>
          <a:bodyPr wrap="square" lIns="0" tIns="0" rIns="0" bIns="0" rtlCol="0" anchor="ctr">
            <a:normAutofit/>
          </a:bodyPr>
          <a:lstStyle/>
          <a:p>
            <a:pPr marL="0" indent="0" algn="ctr">
              <a:buNone/>
            </a:pPr>
            <a:r>
              <a:rPr lang="en-US" sz="3200" b="1" dirty="0">
                <a:solidFill>
                  <a:srgbClr val="27AE60"/>
                </a:solidFill>
                <a:latin typeface="Arial" pitchFamily="34" charset="0"/>
                <a:ea typeface="Arial" pitchFamily="34" charset="-122"/>
                <a:cs typeface="Arial" pitchFamily="34" charset="-120"/>
              </a:rPr>
              <a:t>127</a:t>
            </a:r>
            <a:endParaRPr lang="en-US" sz="3200" dirty="0"/>
          </a:p>
        </p:txBody>
      </p:sp>
      <p:sp>
        <p:nvSpPr>
          <p:cNvPr id="18" name="Text 15"/>
          <p:cNvSpPr txBox="1"/>
          <p:nvPr/>
        </p:nvSpPr>
        <p:spPr>
          <a:xfrm>
            <a:off x="2322576" y="2660904"/>
            <a:ext cx="1207008" cy="237744"/>
          </a:xfrm>
          <a:prstGeom prst="rect">
            <a:avLst/>
          </a:prstGeom>
          <a:noFill/>
          <a:ln/>
        </p:spPr>
        <p:txBody>
          <a:bodyPr wrap="square" lIns="0" tIns="0" rIns="0" bIns="0" rtlCol="0" anchor="ctr">
            <a:normAutofit/>
          </a:bodyPr>
          <a:lstStyle/>
          <a:p>
            <a:pPr marL="0" indent="0" algn="ctr">
              <a:buNone/>
            </a:pPr>
            <a:r>
              <a:rPr lang="en-US" sz="1200" dirty="0">
                <a:solidFill>
                  <a:srgbClr val="5B6B80"/>
                </a:solidFill>
                <a:latin typeface="Arial" pitchFamily="34" charset="0"/>
                <a:ea typeface="Arial" pitchFamily="34" charset="-122"/>
                <a:cs typeface="Arial" pitchFamily="34" charset="-120"/>
              </a:rPr>
              <a:t>tham chiếu hình</a:t>
            </a:r>
            <a:endParaRPr lang="en-US" sz="1200" dirty="0"/>
          </a:p>
        </p:txBody>
      </p:sp>
      <p:sp>
        <p:nvSpPr>
          <p:cNvPr id="19" name="Shape 16"/>
          <p:cNvSpPr/>
          <p:nvPr/>
        </p:nvSpPr>
        <p:spPr>
          <a:xfrm>
            <a:off x="3803904" y="1993392"/>
            <a:ext cx="1389888" cy="1060704"/>
          </a:xfrm>
          <a:prstGeom prst="roundRect">
            <a:avLst>
              <a:gd name="adj" fmla="val 3448"/>
            </a:avLst>
          </a:prstGeom>
          <a:solidFill>
            <a:srgbClr val="FFFFFF"/>
          </a:solidFill>
          <a:ln w="12700">
            <a:solidFill>
              <a:srgbClr val="D7DEE8"/>
            </a:solidFill>
            <a:prstDash val="solid"/>
          </a:ln>
        </p:spPr>
      </p:sp>
      <p:sp>
        <p:nvSpPr>
          <p:cNvPr id="20" name="Text 17"/>
          <p:cNvSpPr txBox="1"/>
          <p:nvPr/>
        </p:nvSpPr>
        <p:spPr>
          <a:xfrm>
            <a:off x="3895344" y="2103120"/>
            <a:ext cx="1207008" cy="457200"/>
          </a:xfrm>
          <a:prstGeom prst="rect">
            <a:avLst/>
          </a:prstGeom>
          <a:noFill/>
          <a:ln/>
        </p:spPr>
        <p:txBody>
          <a:bodyPr wrap="square" lIns="0" tIns="0" rIns="0" bIns="0" rtlCol="0" anchor="ctr">
            <a:normAutofit/>
          </a:bodyPr>
          <a:lstStyle/>
          <a:p>
            <a:pPr marL="0" indent="0" algn="ctr">
              <a:buNone/>
            </a:pPr>
            <a:r>
              <a:rPr lang="en-US" sz="3200" b="1" dirty="0">
                <a:solidFill>
                  <a:srgbClr val="8E44AD"/>
                </a:solidFill>
                <a:latin typeface="Arial" pitchFamily="34" charset="0"/>
                <a:ea typeface="Arial" pitchFamily="34" charset="-122"/>
                <a:cs typeface="Arial" pitchFamily="34" charset="-120"/>
              </a:rPr>
              <a:t>1.302</a:t>
            </a:r>
            <a:endParaRPr lang="en-US" sz="3200" dirty="0"/>
          </a:p>
        </p:txBody>
      </p:sp>
      <p:sp>
        <p:nvSpPr>
          <p:cNvPr id="21" name="Text 18"/>
          <p:cNvSpPr txBox="1"/>
          <p:nvPr/>
        </p:nvSpPr>
        <p:spPr>
          <a:xfrm>
            <a:off x="3895344" y="2660904"/>
            <a:ext cx="1207008" cy="237744"/>
          </a:xfrm>
          <a:prstGeom prst="rect">
            <a:avLst/>
          </a:prstGeom>
          <a:noFill/>
          <a:ln/>
        </p:spPr>
        <p:txBody>
          <a:bodyPr wrap="square" lIns="0" tIns="0" rIns="0" bIns="0" rtlCol="0" anchor="ctr">
            <a:normAutofit/>
          </a:bodyPr>
          <a:lstStyle/>
          <a:p>
            <a:pPr marL="0" indent="0" algn="ctr">
              <a:buNone/>
            </a:pPr>
            <a:r>
              <a:rPr lang="en-US" sz="1200" dirty="0">
                <a:solidFill>
                  <a:srgbClr val="5B6B80"/>
                </a:solidFill>
                <a:latin typeface="Arial" pitchFamily="34" charset="0"/>
                <a:ea typeface="Arial" pitchFamily="34" charset="-122"/>
                <a:cs typeface="Arial" pitchFamily="34" charset="-120"/>
              </a:rPr>
              <a:t>tham chiếu công thức</a:t>
            </a:r>
            <a:endParaRPr lang="en-US" sz="1200" dirty="0"/>
          </a:p>
        </p:txBody>
      </p:sp>
      <p:sp>
        <p:nvSpPr>
          <p:cNvPr id="22" name="Shape 19"/>
          <p:cNvSpPr/>
          <p:nvPr/>
        </p:nvSpPr>
        <p:spPr>
          <a:xfrm>
            <a:off x="5376672" y="1993392"/>
            <a:ext cx="1389888" cy="1060704"/>
          </a:xfrm>
          <a:prstGeom prst="roundRect">
            <a:avLst>
              <a:gd name="adj" fmla="val 3448"/>
            </a:avLst>
          </a:prstGeom>
          <a:solidFill>
            <a:srgbClr val="FFFFFF"/>
          </a:solidFill>
          <a:ln w="12700">
            <a:solidFill>
              <a:srgbClr val="D7DEE8"/>
            </a:solidFill>
            <a:prstDash val="solid"/>
          </a:ln>
        </p:spPr>
      </p:sp>
      <p:sp>
        <p:nvSpPr>
          <p:cNvPr id="23" name="Text 20"/>
          <p:cNvSpPr txBox="1"/>
          <p:nvPr/>
        </p:nvSpPr>
        <p:spPr>
          <a:xfrm>
            <a:off x="5468112" y="2103120"/>
            <a:ext cx="1207008" cy="457200"/>
          </a:xfrm>
          <a:prstGeom prst="rect">
            <a:avLst/>
          </a:prstGeom>
          <a:noFill/>
          <a:ln/>
        </p:spPr>
        <p:txBody>
          <a:bodyPr wrap="square" lIns="0" tIns="0" rIns="0" bIns="0" rtlCol="0" anchor="ctr">
            <a:normAutofit/>
          </a:bodyPr>
          <a:lstStyle/>
          <a:p>
            <a:pPr marL="0" indent="0" algn="ctr">
              <a:buNone/>
            </a:pPr>
            <a:r>
              <a:rPr lang="en-US" sz="3200" b="1" dirty="0">
                <a:solidFill>
                  <a:srgbClr val="C9963A"/>
                </a:solidFill>
                <a:latin typeface="Arial" pitchFamily="34" charset="0"/>
                <a:ea typeface="Arial" pitchFamily="34" charset="-122"/>
                <a:cs typeface="Arial" pitchFamily="34" charset="-120"/>
              </a:rPr>
              <a:t>300</a:t>
            </a:r>
            <a:endParaRPr lang="en-US" sz="3200" dirty="0"/>
          </a:p>
        </p:txBody>
      </p:sp>
      <p:sp>
        <p:nvSpPr>
          <p:cNvPr id="24" name="Text 21"/>
          <p:cNvSpPr txBox="1"/>
          <p:nvPr/>
        </p:nvSpPr>
        <p:spPr>
          <a:xfrm>
            <a:off x="5468112" y="2660904"/>
            <a:ext cx="1207008" cy="237744"/>
          </a:xfrm>
          <a:prstGeom prst="rect">
            <a:avLst/>
          </a:prstGeom>
          <a:noFill/>
          <a:ln/>
        </p:spPr>
        <p:txBody>
          <a:bodyPr wrap="square" lIns="0" tIns="0" rIns="0" bIns="0" rtlCol="0" anchor="ctr">
            <a:normAutofit/>
          </a:bodyPr>
          <a:lstStyle/>
          <a:p>
            <a:pPr marL="0" indent="0" algn="ctr">
              <a:buNone/>
            </a:pPr>
            <a:r>
              <a:rPr lang="en-US" sz="1200" dirty="0">
                <a:solidFill>
                  <a:srgbClr val="5B6B80"/>
                </a:solidFill>
                <a:latin typeface="Arial" pitchFamily="34" charset="0"/>
                <a:ea typeface="Arial" pitchFamily="34" charset="-122"/>
                <a:cs typeface="Arial" pitchFamily="34" charset="-120"/>
              </a:rPr>
              <a:t>câu tự kiểm tra</a:t>
            </a:r>
            <a:endParaRPr lang="en-US" sz="1200" dirty="0"/>
          </a:p>
        </p:txBody>
      </p:sp>
      <p:sp>
        <p:nvSpPr>
          <p:cNvPr id="25" name="Shape 22"/>
          <p:cNvSpPr/>
          <p:nvPr/>
        </p:nvSpPr>
        <p:spPr>
          <a:xfrm>
            <a:off x="658368" y="3429000"/>
            <a:ext cx="6035040" cy="566928"/>
          </a:xfrm>
          <a:prstGeom prst="roundRect">
            <a:avLst>
              <a:gd name="adj" fmla="val 6452"/>
            </a:avLst>
          </a:prstGeom>
          <a:solidFill>
            <a:srgbClr val="FFFFFF"/>
          </a:solidFill>
          <a:ln w="12700">
            <a:solidFill>
              <a:srgbClr val="2980B9"/>
            </a:solidFill>
            <a:prstDash val="solid"/>
          </a:ln>
        </p:spPr>
      </p:sp>
      <p:sp>
        <p:nvSpPr>
          <p:cNvPr id="26" name="Text 23"/>
          <p:cNvSpPr txBox="1"/>
          <p:nvPr/>
        </p:nvSpPr>
        <p:spPr>
          <a:xfrm>
            <a:off x="841248" y="3520440"/>
            <a:ext cx="502920" cy="292608"/>
          </a:xfrm>
          <a:prstGeom prst="rect">
            <a:avLst/>
          </a:prstGeom>
          <a:noFill/>
          <a:ln/>
        </p:spPr>
        <p:txBody>
          <a:bodyPr wrap="square" lIns="0" tIns="0" rIns="0" bIns="0" rtlCol="0" anchor="t">
            <a:normAutofit/>
          </a:bodyPr>
          <a:lstStyle/>
          <a:p>
            <a:pPr marL="0" indent="0" algn="ctr">
              <a:buNone/>
            </a:pPr>
            <a:r>
              <a:rPr lang="en-US" sz="2100" b="1" dirty="0">
                <a:solidFill>
                  <a:srgbClr val="2980B9"/>
                </a:solidFill>
                <a:latin typeface="Arial" pitchFamily="34" charset="0"/>
                <a:ea typeface="Arial" pitchFamily="34" charset="-122"/>
                <a:cs typeface="Arial" pitchFamily="34" charset="-120"/>
              </a:rPr>
              <a:t>45</a:t>
            </a:r>
            <a:endParaRPr lang="en-US" sz="2100" dirty="0"/>
          </a:p>
        </p:txBody>
      </p:sp>
      <p:sp>
        <p:nvSpPr>
          <p:cNvPr id="27" name="Text 24"/>
          <p:cNvSpPr txBox="1"/>
          <p:nvPr/>
        </p:nvSpPr>
        <p:spPr>
          <a:xfrm>
            <a:off x="1417320" y="3520440"/>
            <a:ext cx="1627632" cy="256032"/>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Tĩnh học</a:t>
            </a:r>
            <a:endParaRPr lang="en-US" sz="1650" dirty="0"/>
          </a:p>
        </p:txBody>
      </p:sp>
      <p:sp>
        <p:nvSpPr>
          <p:cNvPr id="28" name="Text 25"/>
          <p:cNvSpPr txBox="1"/>
          <p:nvPr/>
        </p:nvSpPr>
        <p:spPr>
          <a:xfrm>
            <a:off x="3090672" y="3511296"/>
            <a:ext cx="3310128" cy="310896"/>
          </a:xfrm>
          <a:prstGeom prst="rect">
            <a:avLst/>
          </a:prstGeom>
          <a:noFill/>
          <a:ln/>
        </p:spPr>
        <p:txBody>
          <a:bodyPr wrap="square" lIns="0" tIns="0" rIns="0" bIns="0" rtlCol="0" anchor="ctr">
            <a:normAutofit/>
          </a:bodyPr>
          <a:lstStyle/>
          <a:p>
            <a:pPr marL="0" indent="0" algn="l">
              <a:buNone/>
            </a:pPr>
            <a:r>
              <a:rPr lang="en-US" sz="1480" dirty="0">
                <a:solidFill>
                  <a:srgbClr val="5B6B80"/>
                </a:solidFill>
                <a:latin typeface="Arial" pitchFamily="34" charset="0"/>
                <a:ea typeface="Arial" pitchFamily="34" charset="-122"/>
                <a:cs typeface="Arial" pitchFamily="34" charset="-120"/>
              </a:rPr>
              <a:t>Lực, mô men, cân bằng, ma sát và trọng tâm</a:t>
            </a:r>
            <a:endParaRPr lang="en-US" sz="1480" dirty="0"/>
          </a:p>
        </p:txBody>
      </p:sp>
      <p:sp>
        <p:nvSpPr>
          <p:cNvPr id="29" name="Shape 26"/>
          <p:cNvSpPr/>
          <p:nvPr/>
        </p:nvSpPr>
        <p:spPr>
          <a:xfrm>
            <a:off x="658368" y="4142232"/>
            <a:ext cx="6035040" cy="566928"/>
          </a:xfrm>
          <a:prstGeom prst="roundRect">
            <a:avLst>
              <a:gd name="adj" fmla="val 6452"/>
            </a:avLst>
          </a:prstGeom>
          <a:solidFill>
            <a:srgbClr val="FFFFFF"/>
          </a:solidFill>
          <a:ln w="12700">
            <a:solidFill>
              <a:srgbClr val="27AE60"/>
            </a:solidFill>
            <a:prstDash val="solid"/>
          </a:ln>
        </p:spPr>
      </p:sp>
      <p:sp>
        <p:nvSpPr>
          <p:cNvPr id="30" name="Text 27"/>
          <p:cNvSpPr txBox="1"/>
          <p:nvPr/>
        </p:nvSpPr>
        <p:spPr>
          <a:xfrm>
            <a:off x="841248" y="4233672"/>
            <a:ext cx="502920" cy="292608"/>
          </a:xfrm>
          <a:prstGeom prst="rect">
            <a:avLst/>
          </a:prstGeom>
          <a:noFill/>
          <a:ln/>
        </p:spPr>
        <p:txBody>
          <a:bodyPr wrap="square" lIns="0" tIns="0" rIns="0" bIns="0" rtlCol="0" anchor="t">
            <a:normAutofit/>
          </a:bodyPr>
          <a:lstStyle/>
          <a:p>
            <a:pPr marL="0" indent="0" algn="ctr">
              <a:buNone/>
            </a:pPr>
            <a:r>
              <a:rPr lang="en-US" sz="2100" b="1" dirty="0">
                <a:solidFill>
                  <a:srgbClr val="27AE60"/>
                </a:solidFill>
                <a:latin typeface="Arial" pitchFamily="34" charset="0"/>
                <a:ea typeface="Arial" pitchFamily="34" charset="-122"/>
                <a:cs typeface="Arial" pitchFamily="34" charset="-120"/>
              </a:rPr>
              <a:t>29</a:t>
            </a:r>
            <a:endParaRPr lang="en-US" sz="2100" dirty="0"/>
          </a:p>
        </p:txBody>
      </p:sp>
      <p:sp>
        <p:nvSpPr>
          <p:cNvPr id="31" name="Text 28"/>
          <p:cNvSpPr txBox="1"/>
          <p:nvPr/>
        </p:nvSpPr>
        <p:spPr>
          <a:xfrm>
            <a:off x="1417320" y="4233672"/>
            <a:ext cx="1627632" cy="256032"/>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Động học</a:t>
            </a:r>
            <a:endParaRPr lang="en-US" sz="1650" dirty="0"/>
          </a:p>
        </p:txBody>
      </p:sp>
      <p:sp>
        <p:nvSpPr>
          <p:cNvPr id="32" name="Text 29"/>
          <p:cNvSpPr txBox="1"/>
          <p:nvPr/>
        </p:nvSpPr>
        <p:spPr>
          <a:xfrm>
            <a:off x="3090672" y="4224528"/>
            <a:ext cx="3310128" cy="310896"/>
          </a:xfrm>
          <a:prstGeom prst="rect">
            <a:avLst/>
          </a:prstGeom>
          <a:noFill/>
          <a:ln/>
        </p:spPr>
        <p:txBody>
          <a:bodyPr wrap="square" lIns="0" tIns="0" rIns="0" bIns="0" rtlCol="0" anchor="ctr">
            <a:normAutofit/>
          </a:bodyPr>
          <a:lstStyle/>
          <a:p>
            <a:pPr marL="0" indent="0" algn="l">
              <a:buNone/>
            </a:pPr>
            <a:r>
              <a:rPr lang="en-US" sz="1480" dirty="0">
                <a:solidFill>
                  <a:srgbClr val="5B6B80"/>
                </a:solidFill>
                <a:latin typeface="Arial" pitchFamily="34" charset="0"/>
                <a:ea typeface="Arial" pitchFamily="34" charset="-122"/>
                <a:cs typeface="Arial" pitchFamily="34" charset="-120"/>
              </a:rPr>
              <a:t>Chuyển động điểm, vật rắn và hợp chuyển động</a:t>
            </a:r>
            <a:endParaRPr lang="en-US" sz="1480" dirty="0"/>
          </a:p>
        </p:txBody>
      </p:sp>
      <p:sp>
        <p:nvSpPr>
          <p:cNvPr id="33" name="Shape 30"/>
          <p:cNvSpPr/>
          <p:nvPr/>
        </p:nvSpPr>
        <p:spPr>
          <a:xfrm>
            <a:off x="658368" y="4855464"/>
            <a:ext cx="6035040" cy="566928"/>
          </a:xfrm>
          <a:prstGeom prst="roundRect">
            <a:avLst>
              <a:gd name="adj" fmla="val 6452"/>
            </a:avLst>
          </a:prstGeom>
          <a:solidFill>
            <a:srgbClr val="FFFFFF"/>
          </a:solidFill>
          <a:ln w="12700">
            <a:solidFill>
              <a:srgbClr val="8E44AD"/>
            </a:solidFill>
            <a:prstDash val="solid"/>
          </a:ln>
        </p:spPr>
      </p:sp>
      <p:sp>
        <p:nvSpPr>
          <p:cNvPr id="34" name="Text 31"/>
          <p:cNvSpPr txBox="1"/>
          <p:nvPr/>
        </p:nvSpPr>
        <p:spPr>
          <a:xfrm>
            <a:off x="841248" y="4946904"/>
            <a:ext cx="502920" cy="292608"/>
          </a:xfrm>
          <a:prstGeom prst="rect">
            <a:avLst/>
          </a:prstGeom>
          <a:noFill/>
          <a:ln/>
        </p:spPr>
        <p:txBody>
          <a:bodyPr wrap="square" lIns="0" tIns="0" rIns="0" bIns="0" rtlCol="0" anchor="t">
            <a:normAutofit/>
          </a:bodyPr>
          <a:lstStyle/>
          <a:p>
            <a:pPr marL="0" indent="0" algn="ctr">
              <a:buNone/>
            </a:pPr>
            <a:r>
              <a:rPr lang="en-US" sz="2100" b="1" dirty="0">
                <a:solidFill>
                  <a:srgbClr val="8E44AD"/>
                </a:solidFill>
                <a:latin typeface="Arial" pitchFamily="34" charset="0"/>
                <a:ea typeface="Arial" pitchFamily="34" charset="-122"/>
                <a:cs typeface="Arial" pitchFamily="34" charset="-120"/>
              </a:rPr>
              <a:t>31</a:t>
            </a:r>
            <a:endParaRPr lang="en-US" sz="2100" dirty="0"/>
          </a:p>
        </p:txBody>
      </p:sp>
      <p:sp>
        <p:nvSpPr>
          <p:cNvPr id="35" name="Text 32"/>
          <p:cNvSpPr txBox="1"/>
          <p:nvPr/>
        </p:nvSpPr>
        <p:spPr>
          <a:xfrm>
            <a:off x="1417320" y="4946904"/>
            <a:ext cx="1627632" cy="256032"/>
          </a:xfrm>
          <a:prstGeom prst="rect">
            <a:avLst/>
          </a:prstGeom>
          <a:noFill/>
          <a:ln/>
        </p:spPr>
        <p:txBody>
          <a:bodyPr wrap="square" lIns="0" tIns="0" rIns="0" bIns="0" rtlCol="0" anchor="t">
            <a:normAutofit/>
          </a:bodyPr>
          <a:lstStyle/>
          <a:p>
            <a:pPr marL="0" indent="0" algn="l">
              <a:buNone/>
            </a:pPr>
            <a:r>
              <a:rPr lang="en-US" sz="1650" b="1" dirty="0">
                <a:solidFill>
                  <a:srgbClr val="07182F"/>
                </a:solidFill>
                <a:latin typeface="Arial" pitchFamily="34" charset="0"/>
                <a:ea typeface="Arial" pitchFamily="34" charset="-122"/>
                <a:cs typeface="Arial" pitchFamily="34" charset="-120"/>
              </a:rPr>
              <a:t>Động lực học</a:t>
            </a:r>
            <a:endParaRPr lang="en-US" sz="1650" dirty="0"/>
          </a:p>
        </p:txBody>
      </p:sp>
      <p:sp>
        <p:nvSpPr>
          <p:cNvPr id="36" name="Text 33"/>
          <p:cNvSpPr txBox="1"/>
          <p:nvPr/>
        </p:nvSpPr>
        <p:spPr>
          <a:xfrm>
            <a:off x="3090672" y="4937760"/>
            <a:ext cx="3310128" cy="310896"/>
          </a:xfrm>
          <a:prstGeom prst="rect">
            <a:avLst/>
          </a:prstGeom>
          <a:noFill/>
          <a:ln/>
        </p:spPr>
        <p:txBody>
          <a:bodyPr wrap="square" lIns="0" tIns="0" rIns="0" bIns="0" rtlCol="0" anchor="ctr">
            <a:normAutofit/>
          </a:bodyPr>
          <a:lstStyle/>
          <a:p>
            <a:pPr marL="0" indent="0" algn="l">
              <a:buNone/>
            </a:pPr>
            <a:r>
              <a:rPr lang="en-US" sz="1480" dirty="0">
                <a:solidFill>
                  <a:srgbClr val="5B6B80"/>
                </a:solidFill>
                <a:latin typeface="Arial" pitchFamily="34" charset="0"/>
                <a:ea typeface="Arial" pitchFamily="34" charset="-122"/>
                <a:cs typeface="Arial" pitchFamily="34" charset="-120"/>
              </a:rPr>
              <a:t>Lực, động lượng, năng lượng và va chạm</a:t>
            </a:r>
            <a:endParaRPr lang="en-US" sz="1480" dirty="0"/>
          </a:p>
        </p:txBody>
      </p:sp>
      <p:sp>
        <p:nvSpPr>
          <p:cNvPr id="37" name="Text 34"/>
          <p:cNvSpPr txBox="1"/>
          <p:nvPr/>
        </p:nvSpPr>
        <p:spPr>
          <a:xfrm>
            <a:off x="868680" y="5650992"/>
            <a:ext cx="5440680" cy="256032"/>
          </a:xfrm>
          <a:prstGeom prst="rect">
            <a:avLst/>
          </a:prstGeom>
          <a:noFill/>
          <a:ln/>
        </p:spPr>
        <p:txBody>
          <a:bodyPr wrap="square" lIns="0" tIns="0" rIns="0" bIns="0" rtlCol="0" anchor="t">
            <a:normAutofit/>
          </a:bodyPr>
          <a:lstStyle/>
          <a:p>
            <a:pPr marL="0" indent="0" algn="ctr">
              <a:buNone/>
            </a:pPr>
            <a:r>
              <a:rPr lang="en-US" sz="1500" b="1" dirty="0">
                <a:solidFill>
                  <a:srgbClr val="0D2447"/>
                </a:solidFill>
                <a:latin typeface="Arial" pitchFamily="34" charset="0"/>
                <a:ea typeface="Arial" pitchFamily="34" charset="-122"/>
                <a:cs typeface="Arial" pitchFamily="34" charset="-120"/>
              </a:rPr>
              <a:t>+ 3 mục tra cứu bổ trợ</a:t>
            </a:r>
            <a:endParaRPr lang="en-US" sz="1500" dirty="0"/>
          </a:p>
        </p:txBody>
      </p:sp>
      <p:sp>
        <p:nvSpPr>
          <p:cNvPr id="38" name="Shape 35"/>
          <p:cNvSpPr/>
          <p:nvPr/>
        </p:nvSpPr>
        <p:spPr>
          <a:xfrm>
            <a:off x="6967728" y="1993392"/>
            <a:ext cx="4572000" cy="4005072"/>
          </a:xfrm>
          <a:prstGeom prst="roundRect">
            <a:avLst>
              <a:gd name="adj" fmla="val 913"/>
            </a:avLst>
          </a:prstGeom>
          <a:solidFill>
            <a:srgbClr val="FFFFFF"/>
          </a:solidFill>
          <a:ln w="12700">
            <a:solidFill>
              <a:srgbClr val="0D2447"/>
            </a:solidFill>
            <a:prstDash val="solid"/>
          </a:ln>
        </p:spPr>
      </p:sp>
      <p:pic>
        <p:nvPicPr>
          <p:cNvPr id="39" name="Image 0" descr="Hình vẽ kỹ thuật · ví dụ hệ lực không gian"/>
          <p:cNvPicPr>
            <a:picLocks noChangeAspect="1"/>
          </p:cNvPicPr>
          <p:nvPr/>
        </p:nvPicPr>
        <p:blipFill>
          <a:blip r:embed="rId3"/>
          <a:stretch>
            <a:fillRect/>
          </a:stretch>
        </p:blipFill>
        <p:spPr>
          <a:xfrm>
            <a:off x="7712281" y="2066544"/>
            <a:ext cx="3082893" cy="3602736"/>
          </a:xfrm>
          <a:prstGeom prst="rect">
            <a:avLst/>
          </a:prstGeom>
        </p:spPr>
      </p:pic>
      <p:sp>
        <p:nvSpPr>
          <p:cNvPr id="40" name="Text 36"/>
          <p:cNvSpPr txBox="1"/>
          <p:nvPr/>
        </p:nvSpPr>
        <p:spPr>
          <a:xfrm>
            <a:off x="7077456" y="5779008"/>
            <a:ext cx="4352544"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Hình vẽ kỹ thuật · ví dụ hệ lực không gian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Vòng học hỗ trợ tự học</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04</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Thiết kế hướng tới vòng học gồm định hướng, nội dung, quan sát hoặc thao tác, tự kiểm tra và điều chỉnh.</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KQ-VONG-HOC</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4</a:t>
            </a:r>
            <a:endParaRPr lang="en-US" sz="820" dirty="0"/>
          </a:p>
        </p:txBody>
      </p:sp>
      <p:sp>
        <p:nvSpPr>
          <p:cNvPr id="13" name="Shape 10"/>
          <p:cNvSpPr/>
          <p:nvPr/>
        </p:nvSpPr>
        <p:spPr>
          <a:xfrm>
            <a:off x="2798064" y="3054096"/>
            <a:ext cx="347472" cy="0"/>
          </a:xfrm>
          <a:prstGeom prst="line">
            <a:avLst/>
          </a:prstGeom>
          <a:noFill/>
          <a:ln w="12700">
            <a:solidFill>
              <a:srgbClr val="C9963A"/>
            </a:solidFill>
            <a:prstDash val="solid"/>
            <a:tailEnd type="triangle"/>
          </a:ln>
        </p:spPr>
      </p:sp>
      <p:sp>
        <p:nvSpPr>
          <p:cNvPr id="14" name="Shape 11"/>
          <p:cNvSpPr/>
          <p:nvPr/>
        </p:nvSpPr>
        <p:spPr>
          <a:xfrm>
            <a:off x="5193792" y="3054096"/>
            <a:ext cx="347472" cy="0"/>
          </a:xfrm>
          <a:prstGeom prst="line">
            <a:avLst/>
          </a:prstGeom>
          <a:noFill/>
          <a:ln w="12700">
            <a:solidFill>
              <a:srgbClr val="C9963A"/>
            </a:solidFill>
            <a:prstDash val="solid"/>
            <a:tailEnd type="triangle"/>
          </a:ln>
        </p:spPr>
      </p:sp>
      <p:sp>
        <p:nvSpPr>
          <p:cNvPr id="15" name="Shape 12"/>
          <p:cNvSpPr/>
          <p:nvPr/>
        </p:nvSpPr>
        <p:spPr>
          <a:xfrm>
            <a:off x="6565392" y="3685032"/>
            <a:ext cx="0" cy="658368"/>
          </a:xfrm>
          <a:prstGeom prst="line">
            <a:avLst/>
          </a:prstGeom>
          <a:noFill/>
          <a:ln w="12700">
            <a:solidFill>
              <a:srgbClr val="C9963A"/>
            </a:solidFill>
            <a:prstDash val="solid"/>
            <a:tailEnd type="triangle"/>
          </a:ln>
        </p:spPr>
      </p:sp>
      <p:sp>
        <p:nvSpPr>
          <p:cNvPr id="16" name="Shape 13"/>
          <p:cNvSpPr/>
          <p:nvPr/>
        </p:nvSpPr>
        <p:spPr>
          <a:xfrm>
            <a:off x="5193792" y="4992624"/>
            <a:ext cx="347472" cy="0"/>
          </a:xfrm>
          <a:prstGeom prst="line">
            <a:avLst/>
          </a:prstGeom>
          <a:noFill/>
          <a:ln w="12700">
            <a:solidFill>
              <a:srgbClr val="C9963A"/>
            </a:solidFill>
            <a:prstDash val="solid"/>
            <a:headEnd type="triangle"/>
          </a:ln>
        </p:spPr>
      </p:sp>
      <p:sp>
        <p:nvSpPr>
          <p:cNvPr id="17" name="Shape 14"/>
          <p:cNvSpPr/>
          <p:nvPr/>
        </p:nvSpPr>
        <p:spPr>
          <a:xfrm>
            <a:off x="2944368" y="4992624"/>
            <a:ext cx="201168" cy="0"/>
          </a:xfrm>
          <a:prstGeom prst="line">
            <a:avLst/>
          </a:prstGeom>
          <a:noFill/>
          <a:ln w="12700">
            <a:solidFill>
              <a:srgbClr val="2980B9"/>
            </a:solidFill>
            <a:prstDash val="solid"/>
          </a:ln>
        </p:spPr>
      </p:sp>
      <p:sp>
        <p:nvSpPr>
          <p:cNvPr id="18" name="Shape 15"/>
          <p:cNvSpPr/>
          <p:nvPr/>
        </p:nvSpPr>
        <p:spPr>
          <a:xfrm>
            <a:off x="2944368" y="4005072"/>
            <a:ext cx="0" cy="987552"/>
          </a:xfrm>
          <a:prstGeom prst="line">
            <a:avLst/>
          </a:prstGeom>
          <a:noFill/>
          <a:ln w="12700">
            <a:solidFill>
              <a:srgbClr val="2980B9"/>
            </a:solidFill>
            <a:prstDash val="solid"/>
          </a:ln>
        </p:spPr>
      </p:sp>
      <p:sp>
        <p:nvSpPr>
          <p:cNvPr id="19" name="Shape 16"/>
          <p:cNvSpPr/>
          <p:nvPr/>
        </p:nvSpPr>
        <p:spPr>
          <a:xfrm>
            <a:off x="2944368" y="4005072"/>
            <a:ext cx="1225296" cy="0"/>
          </a:xfrm>
          <a:prstGeom prst="line">
            <a:avLst/>
          </a:prstGeom>
          <a:noFill/>
          <a:ln w="12700">
            <a:solidFill>
              <a:srgbClr val="2980B9"/>
            </a:solidFill>
            <a:prstDash val="solid"/>
          </a:ln>
        </p:spPr>
      </p:sp>
      <p:sp>
        <p:nvSpPr>
          <p:cNvPr id="20" name="Shape 17"/>
          <p:cNvSpPr/>
          <p:nvPr/>
        </p:nvSpPr>
        <p:spPr>
          <a:xfrm>
            <a:off x="4169664" y="3685032"/>
            <a:ext cx="0" cy="320040"/>
          </a:xfrm>
          <a:prstGeom prst="line">
            <a:avLst/>
          </a:prstGeom>
          <a:noFill/>
          <a:ln w="12700">
            <a:solidFill>
              <a:srgbClr val="2980B9"/>
            </a:solidFill>
            <a:prstDash val="solid"/>
            <a:headEnd type="triangle"/>
          </a:ln>
        </p:spPr>
      </p:sp>
      <p:sp>
        <p:nvSpPr>
          <p:cNvPr id="21" name="Shape 18"/>
          <p:cNvSpPr/>
          <p:nvPr/>
        </p:nvSpPr>
        <p:spPr>
          <a:xfrm>
            <a:off x="749808" y="2404872"/>
            <a:ext cx="2048256" cy="1280160"/>
          </a:xfrm>
          <a:prstGeom prst="roundRect">
            <a:avLst>
              <a:gd name="adj" fmla="val 2857"/>
            </a:avLst>
          </a:prstGeom>
          <a:solidFill>
            <a:srgbClr val="FFFFFF"/>
          </a:solidFill>
          <a:ln w="12700">
            <a:solidFill>
              <a:srgbClr val="15355F"/>
            </a:solidFill>
            <a:prstDash val="solid"/>
          </a:ln>
        </p:spPr>
      </p:sp>
      <p:sp>
        <p:nvSpPr>
          <p:cNvPr id="22" name="Text 19"/>
          <p:cNvSpPr txBox="1"/>
          <p:nvPr/>
        </p:nvSpPr>
        <p:spPr>
          <a:xfrm>
            <a:off x="886968" y="2532888"/>
            <a:ext cx="384048" cy="274320"/>
          </a:xfrm>
          <a:prstGeom prst="rect">
            <a:avLst/>
          </a:prstGeom>
          <a:noFill/>
          <a:ln/>
        </p:spPr>
        <p:txBody>
          <a:bodyPr wrap="square" lIns="0" tIns="0" rIns="0" bIns="0" rtlCol="0" anchor="t">
            <a:normAutofit/>
          </a:bodyPr>
          <a:lstStyle/>
          <a:p>
            <a:pPr marL="0" indent="0" algn="ctr">
              <a:buNone/>
            </a:pPr>
            <a:r>
              <a:rPr lang="en-US" sz="1700" b="1" dirty="0">
                <a:solidFill>
                  <a:srgbClr val="C9963A"/>
                </a:solidFill>
                <a:latin typeface="Arial" pitchFamily="34" charset="0"/>
                <a:ea typeface="Arial" pitchFamily="34" charset="-122"/>
                <a:cs typeface="Arial" pitchFamily="34" charset="-120"/>
              </a:rPr>
              <a:t>01</a:t>
            </a:r>
            <a:endParaRPr lang="en-US" sz="1700" dirty="0"/>
          </a:p>
        </p:txBody>
      </p:sp>
      <p:sp>
        <p:nvSpPr>
          <p:cNvPr id="23" name="Text 20"/>
          <p:cNvSpPr txBox="1"/>
          <p:nvPr/>
        </p:nvSpPr>
        <p:spPr>
          <a:xfrm>
            <a:off x="1271016" y="2514600"/>
            <a:ext cx="1417320" cy="43891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Định hướng</a:t>
            </a:r>
            <a:endParaRPr lang="en-US" sz="1700" dirty="0"/>
          </a:p>
        </p:txBody>
      </p:sp>
      <p:sp>
        <p:nvSpPr>
          <p:cNvPr id="24" name="Text 21"/>
          <p:cNvSpPr txBox="1"/>
          <p:nvPr/>
        </p:nvSpPr>
        <p:spPr>
          <a:xfrm>
            <a:off x="905256" y="3017520"/>
            <a:ext cx="1737360" cy="557784"/>
          </a:xfrm>
          <a:prstGeom prst="rect">
            <a:avLst/>
          </a:prstGeom>
          <a:noFill/>
          <a:ln/>
        </p:spPr>
        <p:txBody>
          <a:bodyPr wrap="square" lIns="0" tIns="0" rIns="0" bIns="0" rtlCol="0" anchor="ctr">
            <a:normAutofit/>
          </a:bodyPr>
          <a:lstStyle/>
          <a:p>
            <a:pPr marL="0" indent="0" algn="l">
              <a:buNone/>
            </a:pPr>
            <a:r>
              <a:rPr lang="en-US" sz="1350" dirty="0">
                <a:solidFill>
                  <a:srgbClr val="5B6B80"/>
                </a:solidFill>
                <a:latin typeface="Arial" pitchFamily="34" charset="0"/>
                <a:ea typeface="Arial" pitchFamily="34" charset="-122"/>
                <a:cs typeface="Arial" pitchFamily="34" charset="-120"/>
              </a:rPr>
              <a:t>Xác định nội dung và nhiệm vụ học tập</a:t>
            </a:r>
            <a:endParaRPr lang="en-US" sz="1350" dirty="0"/>
          </a:p>
        </p:txBody>
      </p:sp>
      <p:sp>
        <p:nvSpPr>
          <p:cNvPr id="25" name="Shape 22"/>
          <p:cNvSpPr/>
          <p:nvPr/>
        </p:nvSpPr>
        <p:spPr>
          <a:xfrm>
            <a:off x="3145536" y="2404872"/>
            <a:ext cx="2048256" cy="1280160"/>
          </a:xfrm>
          <a:prstGeom prst="roundRect">
            <a:avLst>
              <a:gd name="adj" fmla="val 2857"/>
            </a:avLst>
          </a:prstGeom>
          <a:solidFill>
            <a:srgbClr val="FFFFFF"/>
          </a:solidFill>
          <a:ln w="12700">
            <a:solidFill>
              <a:srgbClr val="15355F"/>
            </a:solidFill>
            <a:prstDash val="solid"/>
          </a:ln>
        </p:spPr>
      </p:sp>
      <p:sp>
        <p:nvSpPr>
          <p:cNvPr id="26" name="Text 23"/>
          <p:cNvSpPr txBox="1"/>
          <p:nvPr/>
        </p:nvSpPr>
        <p:spPr>
          <a:xfrm>
            <a:off x="3282696" y="2532888"/>
            <a:ext cx="384048" cy="274320"/>
          </a:xfrm>
          <a:prstGeom prst="rect">
            <a:avLst/>
          </a:prstGeom>
          <a:noFill/>
          <a:ln/>
        </p:spPr>
        <p:txBody>
          <a:bodyPr wrap="square" lIns="0" tIns="0" rIns="0" bIns="0" rtlCol="0" anchor="t">
            <a:normAutofit/>
          </a:bodyPr>
          <a:lstStyle/>
          <a:p>
            <a:pPr marL="0" indent="0" algn="ctr">
              <a:buNone/>
            </a:pPr>
            <a:r>
              <a:rPr lang="en-US" sz="1700" b="1" dirty="0">
                <a:solidFill>
                  <a:srgbClr val="C9963A"/>
                </a:solidFill>
                <a:latin typeface="Arial" pitchFamily="34" charset="0"/>
                <a:ea typeface="Arial" pitchFamily="34" charset="-122"/>
                <a:cs typeface="Arial" pitchFamily="34" charset="-120"/>
              </a:rPr>
              <a:t>02</a:t>
            </a:r>
            <a:endParaRPr lang="en-US" sz="1700" dirty="0"/>
          </a:p>
        </p:txBody>
      </p:sp>
      <p:sp>
        <p:nvSpPr>
          <p:cNvPr id="27" name="Text 24"/>
          <p:cNvSpPr txBox="1"/>
          <p:nvPr/>
        </p:nvSpPr>
        <p:spPr>
          <a:xfrm>
            <a:off x="3666744" y="2514600"/>
            <a:ext cx="1417320" cy="43891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Học nội dung</a:t>
            </a:r>
            <a:endParaRPr lang="en-US" sz="1700" dirty="0"/>
          </a:p>
        </p:txBody>
      </p:sp>
      <p:sp>
        <p:nvSpPr>
          <p:cNvPr id="28" name="Text 25"/>
          <p:cNvSpPr txBox="1"/>
          <p:nvPr/>
        </p:nvSpPr>
        <p:spPr>
          <a:xfrm>
            <a:off x="3300984" y="3017520"/>
            <a:ext cx="1737360" cy="557784"/>
          </a:xfrm>
          <a:prstGeom prst="rect">
            <a:avLst/>
          </a:prstGeom>
          <a:noFill/>
          <a:ln/>
        </p:spPr>
        <p:txBody>
          <a:bodyPr wrap="square" lIns="0" tIns="0" rIns="0" bIns="0" rtlCol="0" anchor="ctr">
            <a:normAutofit/>
          </a:bodyPr>
          <a:lstStyle/>
          <a:p>
            <a:pPr marL="0" indent="0" algn="l">
              <a:buNone/>
            </a:pPr>
            <a:r>
              <a:rPr lang="en-US" sz="1350" dirty="0">
                <a:solidFill>
                  <a:srgbClr val="5B6B80"/>
                </a:solidFill>
                <a:latin typeface="Arial" pitchFamily="34" charset="0"/>
                <a:ea typeface="Arial" pitchFamily="34" charset="-122"/>
                <a:cs typeface="Arial" pitchFamily="34" charset="-120"/>
              </a:rPr>
              <a:t>Đọc lý thuyết, công thức, hình và giả thiết</a:t>
            </a:r>
            <a:endParaRPr lang="en-US" sz="1350" dirty="0"/>
          </a:p>
        </p:txBody>
      </p:sp>
      <p:sp>
        <p:nvSpPr>
          <p:cNvPr id="29" name="Shape 26"/>
          <p:cNvSpPr/>
          <p:nvPr/>
        </p:nvSpPr>
        <p:spPr>
          <a:xfrm>
            <a:off x="5541264" y="2404872"/>
            <a:ext cx="2048256" cy="1280160"/>
          </a:xfrm>
          <a:prstGeom prst="roundRect">
            <a:avLst>
              <a:gd name="adj" fmla="val 2857"/>
            </a:avLst>
          </a:prstGeom>
          <a:solidFill>
            <a:srgbClr val="FFFFFF"/>
          </a:solidFill>
          <a:ln w="12700">
            <a:solidFill>
              <a:srgbClr val="15355F"/>
            </a:solidFill>
            <a:prstDash val="solid"/>
          </a:ln>
        </p:spPr>
      </p:sp>
      <p:sp>
        <p:nvSpPr>
          <p:cNvPr id="30" name="Text 27"/>
          <p:cNvSpPr txBox="1"/>
          <p:nvPr/>
        </p:nvSpPr>
        <p:spPr>
          <a:xfrm>
            <a:off x="5678424" y="2532888"/>
            <a:ext cx="384048" cy="274320"/>
          </a:xfrm>
          <a:prstGeom prst="rect">
            <a:avLst/>
          </a:prstGeom>
          <a:noFill/>
          <a:ln/>
        </p:spPr>
        <p:txBody>
          <a:bodyPr wrap="square" lIns="0" tIns="0" rIns="0" bIns="0" rtlCol="0" anchor="t">
            <a:normAutofit/>
          </a:bodyPr>
          <a:lstStyle/>
          <a:p>
            <a:pPr marL="0" indent="0" algn="ctr">
              <a:buNone/>
            </a:pPr>
            <a:r>
              <a:rPr lang="en-US" sz="1700" b="1" dirty="0">
                <a:solidFill>
                  <a:srgbClr val="C9963A"/>
                </a:solidFill>
                <a:latin typeface="Arial" pitchFamily="34" charset="0"/>
                <a:ea typeface="Arial" pitchFamily="34" charset="-122"/>
                <a:cs typeface="Arial" pitchFamily="34" charset="-120"/>
              </a:rPr>
              <a:t>03</a:t>
            </a:r>
            <a:endParaRPr lang="en-US" sz="1700" dirty="0"/>
          </a:p>
        </p:txBody>
      </p:sp>
      <p:sp>
        <p:nvSpPr>
          <p:cNvPr id="31" name="Text 28"/>
          <p:cNvSpPr txBox="1"/>
          <p:nvPr/>
        </p:nvSpPr>
        <p:spPr>
          <a:xfrm>
            <a:off x="6062472" y="2514600"/>
            <a:ext cx="1417320" cy="43891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Quan sát</a:t>
            </a:r>
            <a:endParaRPr lang="en-US" sz="1700" dirty="0"/>
          </a:p>
        </p:txBody>
      </p:sp>
      <p:sp>
        <p:nvSpPr>
          <p:cNvPr id="32" name="Text 29"/>
          <p:cNvSpPr txBox="1"/>
          <p:nvPr/>
        </p:nvSpPr>
        <p:spPr>
          <a:xfrm>
            <a:off x="5696712" y="3017520"/>
            <a:ext cx="1737360" cy="557784"/>
          </a:xfrm>
          <a:prstGeom prst="rect">
            <a:avLst/>
          </a:prstGeom>
          <a:noFill/>
          <a:ln/>
        </p:spPr>
        <p:txBody>
          <a:bodyPr wrap="square" lIns="0" tIns="0" rIns="0" bIns="0" rtlCol="0" anchor="ctr">
            <a:normAutofit/>
          </a:bodyPr>
          <a:lstStyle/>
          <a:p>
            <a:pPr marL="0" indent="0" algn="l">
              <a:buNone/>
            </a:pPr>
            <a:r>
              <a:rPr lang="en-US" sz="1350" dirty="0">
                <a:solidFill>
                  <a:srgbClr val="5B6B80"/>
                </a:solidFill>
                <a:latin typeface="Arial" pitchFamily="34" charset="0"/>
                <a:ea typeface="Arial" pitchFamily="34" charset="-122"/>
                <a:cs typeface="Arial" pitchFamily="34" charset="-120"/>
              </a:rPr>
              <a:t>Xem hoặc thay đổi tham số trong mô phỏng</a:t>
            </a:r>
            <a:endParaRPr lang="en-US" sz="1350" dirty="0"/>
          </a:p>
        </p:txBody>
      </p:sp>
      <p:sp>
        <p:nvSpPr>
          <p:cNvPr id="33" name="Shape 30"/>
          <p:cNvSpPr/>
          <p:nvPr/>
        </p:nvSpPr>
        <p:spPr>
          <a:xfrm>
            <a:off x="5541264" y="4343400"/>
            <a:ext cx="2048256" cy="1280160"/>
          </a:xfrm>
          <a:prstGeom prst="roundRect">
            <a:avLst>
              <a:gd name="adj" fmla="val 2857"/>
            </a:avLst>
          </a:prstGeom>
          <a:solidFill>
            <a:srgbClr val="FFFFFF"/>
          </a:solidFill>
          <a:ln w="12700">
            <a:solidFill>
              <a:srgbClr val="15355F"/>
            </a:solidFill>
            <a:prstDash val="solid"/>
          </a:ln>
        </p:spPr>
      </p:sp>
      <p:sp>
        <p:nvSpPr>
          <p:cNvPr id="34" name="Text 31"/>
          <p:cNvSpPr txBox="1"/>
          <p:nvPr/>
        </p:nvSpPr>
        <p:spPr>
          <a:xfrm>
            <a:off x="5678424" y="4471416"/>
            <a:ext cx="384048" cy="274320"/>
          </a:xfrm>
          <a:prstGeom prst="rect">
            <a:avLst/>
          </a:prstGeom>
          <a:noFill/>
          <a:ln/>
        </p:spPr>
        <p:txBody>
          <a:bodyPr wrap="square" lIns="0" tIns="0" rIns="0" bIns="0" rtlCol="0" anchor="t">
            <a:normAutofit/>
          </a:bodyPr>
          <a:lstStyle/>
          <a:p>
            <a:pPr marL="0" indent="0" algn="ctr">
              <a:buNone/>
            </a:pPr>
            <a:r>
              <a:rPr lang="en-US" sz="1700" b="1" dirty="0">
                <a:solidFill>
                  <a:srgbClr val="C9963A"/>
                </a:solidFill>
                <a:latin typeface="Arial" pitchFamily="34" charset="0"/>
                <a:ea typeface="Arial" pitchFamily="34" charset="-122"/>
                <a:cs typeface="Arial" pitchFamily="34" charset="-120"/>
              </a:rPr>
              <a:t>04</a:t>
            </a:r>
            <a:endParaRPr lang="en-US" sz="1700" dirty="0"/>
          </a:p>
        </p:txBody>
      </p:sp>
      <p:sp>
        <p:nvSpPr>
          <p:cNvPr id="35" name="Text 32"/>
          <p:cNvSpPr txBox="1"/>
          <p:nvPr/>
        </p:nvSpPr>
        <p:spPr>
          <a:xfrm>
            <a:off x="6062472" y="4453128"/>
            <a:ext cx="1417320" cy="43891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Tự kiểm tra</a:t>
            </a:r>
            <a:endParaRPr lang="en-US" sz="1700" dirty="0"/>
          </a:p>
        </p:txBody>
      </p:sp>
      <p:sp>
        <p:nvSpPr>
          <p:cNvPr id="36" name="Text 33"/>
          <p:cNvSpPr txBox="1"/>
          <p:nvPr/>
        </p:nvSpPr>
        <p:spPr>
          <a:xfrm>
            <a:off x="5696712" y="4956048"/>
            <a:ext cx="1737360" cy="557784"/>
          </a:xfrm>
          <a:prstGeom prst="rect">
            <a:avLst/>
          </a:prstGeom>
          <a:noFill/>
          <a:ln/>
        </p:spPr>
        <p:txBody>
          <a:bodyPr wrap="square" lIns="0" tIns="0" rIns="0" bIns="0" rtlCol="0" anchor="ctr">
            <a:normAutofit/>
          </a:bodyPr>
          <a:lstStyle/>
          <a:p>
            <a:pPr marL="0" indent="0" algn="l">
              <a:buNone/>
            </a:pPr>
            <a:r>
              <a:rPr lang="en-US" sz="1350" dirty="0">
                <a:solidFill>
                  <a:srgbClr val="5B6B80"/>
                </a:solidFill>
                <a:latin typeface="Arial" pitchFamily="34" charset="0"/>
                <a:ea typeface="Arial" pitchFamily="34" charset="-122"/>
                <a:cs typeface="Arial" pitchFamily="34" charset="-120"/>
              </a:rPr>
              <a:t>Nhận phản hồi ngay sau khi chọn câu trả lời</a:t>
            </a:r>
            <a:endParaRPr lang="en-US" sz="1350" dirty="0"/>
          </a:p>
        </p:txBody>
      </p:sp>
      <p:sp>
        <p:nvSpPr>
          <p:cNvPr id="37" name="Shape 34"/>
          <p:cNvSpPr/>
          <p:nvPr/>
        </p:nvSpPr>
        <p:spPr>
          <a:xfrm>
            <a:off x="3145536" y="4343400"/>
            <a:ext cx="2048256" cy="1280160"/>
          </a:xfrm>
          <a:prstGeom prst="roundRect">
            <a:avLst>
              <a:gd name="adj" fmla="val 2857"/>
            </a:avLst>
          </a:prstGeom>
          <a:solidFill>
            <a:srgbClr val="E3F1F6"/>
          </a:solidFill>
          <a:ln w="12700">
            <a:solidFill>
              <a:srgbClr val="2980B9"/>
            </a:solidFill>
            <a:prstDash val="solid"/>
          </a:ln>
        </p:spPr>
      </p:sp>
      <p:sp>
        <p:nvSpPr>
          <p:cNvPr id="38" name="Text 35"/>
          <p:cNvSpPr txBox="1"/>
          <p:nvPr/>
        </p:nvSpPr>
        <p:spPr>
          <a:xfrm>
            <a:off x="3282696" y="4471416"/>
            <a:ext cx="384048" cy="274320"/>
          </a:xfrm>
          <a:prstGeom prst="rect">
            <a:avLst/>
          </a:prstGeom>
          <a:noFill/>
          <a:ln/>
        </p:spPr>
        <p:txBody>
          <a:bodyPr wrap="square" lIns="0" tIns="0" rIns="0" bIns="0" rtlCol="0" anchor="t">
            <a:normAutofit/>
          </a:bodyPr>
          <a:lstStyle/>
          <a:p>
            <a:pPr marL="0" indent="0" algn="ctr">
              <a:buNone/>
            </a:pPr>
            <a:r>
              <a:rPr lang="en-US" sz="1700" b="1" dirty="0">
                <a:solidFill>
                  <a:srgbClr val="C9963A"/>
                </a:solidFill>
                <a:latin typeface="Arial" pitchFamily="34" charset="0"/>
                <a:ea typeface="Arial" pitchFamily="34" charset="-122"/>
                <a:cs typeface="Arial" pitchFamily="34" charset="-120"/>
              </a:rPr>
              <a:t>05</a:t>
            </a:r>
            <a:endParaRPr lang="en-US" sz="1700" dirty="0"/>
          </a:p>
        </p:txBody>
      </p:sp>
      <p:sp>
        <p:nvSpPr>
          <p:cNvPr id="39" name="Text 36"/>
          <p:cNvSpPr txBox="1"/>
          <p:nvPr/>
        </p:nvSpPr>
        <p:spPr>
          <a:xfrm>
            <a:off x="3666744" y="4453128"/>
            <a:ext cx="1417320" cy="43891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Điều chỉnh</a:t>
            </a:r>
            <a:endParaRPr lang="en-US" sz="1700" dirty="0"/>
          </a:p>
        </p:txBody>
      </p:sp>
      <p:sp>
        <p:nvSpPr>
          <p:cNvPr id="40" name="Text 37"/>
          <p:cNvSpPr txBox="1"/>
          <p:nvPr/>
        </p:nvSpPr>
        <p:spPr>
          <a:xfrm>
            <a:off x="3300984" y="4956048"/>
            <a:ext cx="1737360" cy="557784"/>
          </a:xfrm>
          <a:prstGeom prst="rect">
            <a:avLst/>
          </a:prstGeom>
          <a:noFill/>
          <a:ln/>
        </p:spPr>
        <p:txBody>
          <a:bodyPr wrap="square" lIns="0" tIns="0" rIns="0" bIns="0" rtlCol="0" anchor="ctr">
            <a:normAutofit/>
          </a:bodyPr>
          <a:lstStyle/>
          <a:p>
            <a:pPr marL="0" indent="0" algn="l">
              <a:buNone/>
            </a:pPr>
            <a:r>
              <a:rPr lang="en-US" sz="1350" dirty="0">
                <a:solidFill>
                  <a:srgbClr val="5B6B80"/>
                </a:solidFill>
                <a:latin typeface="Arial" pitchFamily="34" charset="0"/>
                <a:ea typeface="Arial" pitchFamily="34" charset="-122"/>
                <a:cs typeface="Arial" pitchFamily="34" charset="-120"/>
              </a:rPr>
              <a:t>Quay lại nội dung; lưu tiến độ, ghi chú và dấu trang</a:t>
            </a:r>
            <a:endParaRPr lang="en-US" sz="1350" dirty="0"/>
          </a:p>
        </p:txBody>
      </p:sp>
      <p:sp>
        <p:nvSpPr>
          <p:cNvPr id="41" name="Text 38"/>
          <p:cNvSpPr txBox="1"/>
          <p:nvPr/>
        </p:nvSpPr>
        <p:spPr>
          <a:xfrm>
            <a:off x="804672" y="4663440"/>
            <a:ext cx="1920240" cy="384048"/>
          </a:xfrm>
          <a:prstGeom prst="rect">
            <a:avLst/>
          </a:prstGeom>
          <a:noFill/>
          <a:ln/>
        </p:spPr>
        <p:txBody>
          <a:bodyPr wrap="square" lIns="0" tIns="0" rIns="0" bIns="0" rtlCol="0" anchor="ctr">
            <a:normAutofit/>
          </a:bodyPr>
          <a:lstStyle/>
          <a:p>
            <a:pPr marL="0" indent="0" algn="r">
              <a:buNone/>
            </a:pPr>
            <a:r>
              <a:rPr lang="en-US" sz="1300" b="1" dirty="0">
                <a:solidFill>
                  <a:srgbClr val="2980B9"/>
                </a:solidFill>
                <a:latin typeface="Arial" pitchFamily="34" charset="0"/>
                <a:ea typeface="Arial" pitchFamily="34" charset="-122"/>
                <a:cs typeface="Arial" pitchFamily="34" charset="-120"/>
              </a:rPr>
              <a:t>QUAY LẠI NỘI DUNG</a:t>
            </a:r>
            <a:endParaRPr lang="en-US" sz="1300" dirty="0"/>
          </a:p>
        </p:txBody>
      </p:sp>
      <p:sp>
        <p:nvSpPr>
          <p:cNvPr id="42" name="Shape 39"/>
          <p:cNvSpPr/>
          <p:nvPr/>
        </p:nvSpPr>
        <p:spPr>
          <a:xfrm>
            <a:off x="7918704" y="2432304"/>
            <a:ext cx="3621024" cy="3163824"/>
          </a:xfrm>
          <a:prstGeom prst="roundRect">
            <a:avLst>
              <a:gd name="adj" fmla="val 1156"/>
            </a:avLst>
          </a:prstGeom>
          <a:solidFill>
            <a:srgbClr val="FFFFFF"/>
          </a:solidFill>
          <a:ln w="12700">
            <a:solidFill>
              <a:srgbClr val="0D2447"/>
            </a:solidFill>
            <a:prstDash val="solid"/>
          </a:ln>
        </p:spPr>
      </p:sp>
      <p:pic>
        <p:nvPicPr>
          <p:cNvPr id="43" name="Image 0" descr="Giao diện giáo trình · ảnh chụp hiện vật"/>
          <p:cNvPicPr>
            <a:picLocks noChangeAspect="1"/>
          </p:cNvPicPr>
          <p:nvPr/>
        </p:nvPicPr>
        <p:blipFill>
          <a:blip r:embed="rId3"/>
          <a:stretch>
            <a:fillRect/>
          </a:stretch>
        </p:blipFill>
        <p:spPr>
          <a:xfrm>
            <a:off x="7991856" y="2679889"/>
            <a:ext cx="3474720" cy="2412623"/>
          </a:xfrm>
          <a:prstGeom prst="rect">
            <a:avLst/>
          </a:prstGeom>
        </p:spPr>
      </p:pic>
      <p:sp>
        <p:nvSpPr>
          <p:cNvPr id="44" name="Text 40"/>
          <p:cNvSpPr txBox="1"/>
          <p:nvPr/>
        </p:nvSpPr>
        <p:spPr>
          <a:xfrm>
            <a:off x="8028432" y="5376672"/>
            <a:ext cx="3401568"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Giao diện giáo trình · ảnh chụp hiện vật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Trải nghiệm hiện vật</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05</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Mã QR mở bản web để trình diễn; bản web chưa được chứng minh đồng nhất với ứng viên đang kiểm tra.</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KQ-TRAI-NGHIEM</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5</a:t>
            </a:r>
            <a:endParaRPr lang="en-US" sz="820" dirty="0"/>
          </a:p>
        </p:txBody>
      </p:sp>
      <p:sp>
        <p:nvSpPr>
          <p:cNvPr id="13" name="Shape 10"/>
          <p:cNvSpPr/>
          <p:nvPr/>
        </p:nvSpPr>
        <p:spPr>
          <a:xfrm>
            <a:off x="658368" y="1993392"/>
            <a:ext cx="3977640" cy="3703320"/>
          </a:xfrm>
          <a:prstGeom prst="roundRect">
            <a:avLst>
              <a:gd name="adj" fmla="val 988"/>
            </a:avLst>
          </a:prstGeom>
          <a:solidFill>
            <a:srgbClr val="FFFFFF"/>
          </a:solidFill>
          <a:ln w="12700">
            <a:solidFill>
              <a:srgbClr val="0D2447"/>
            </a:solidFill>
            <a:prstDash val="solid"/>
          </a:ln>
        </p:spPr>
      </p:sp>
      <p:pic>
        <p:nvPicPr>
          <p:cNvPr id="14" name="Image 0" descr="Quét mã để mở giáo trình trên thiết bị cá nhân"/>
          <p:cNvPicPr>
            <a:picLocks noChangeAspect="1"/>
          </p:cNvPicPr>
          <p:nvPr/>
        </p:nvPicPr>
        <p:blipFill>
          <a:blip r:embed="rId3"/>
          <a:stretch>
            <a:fillRect/>
          </a:stretch>
        </p:blipFill>
        <p:spPr>
          <a:xfrm>
            <a:off x="996696" y="2066544"/>
            <a:ext cx="3300984" cy="3300984"/>
          </a:xfrm>
          <a:prstGeom prst="rect">
            <a:avLst/>
          </a:prstGeom>
        </p:spPr>
      </p:pic>
      <p:sp>
        <p:nvSpPr>
          <p:cNvPr id="15" name="Text 11"/>
          <p:cNvSpPr txBox="1"/>
          <p:nvPr/>
        </p:nvSpPr>
        <p:spPr>
          <a:xfrm>
            <a:off x="768096" y="5477256"/>
            <a:ext cx="3758184"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Quét mã để mở giáo trình trên thiết bị cá nhân</a:t>
            </a:r>
            <a:endParaRPr lang="en-US" sz="850" dirty="0"/>
          </a:p>
        </p:txBody>
      </p:sp>
      <p:sp>
        <p:nvSpPr>
          <p:cNvPr id="16" name="Shape 12"/>
          <p:cNvSpPr/>
          <p:nvPr/>
        </p:nvSpPr>
        <p:spPr>
          <a:xfrm>
            <a:off x="4864608" y="1993392"/>
            <a:ext cx="6766560" cy="841248"/>
          </a:xfrm>
          <a:prstGeom prst="roundRect">
            <a:avLst>
              <a:gd name="adj" fmla="val 4348"/>
            </a:avLst>
          </a:prstGeom>
          <a:solidFill>
            <a:srgbClr val="FFFFFF"/>
          </a:solidFill>
          <a:ln w="12700">
            <a:solidFill>
              <a:srgbClr val="D7DEE8"/>
            </a:solidFill>
            <a:prstDash val="solid"/>
          </a:ln>
        </p:spPr>
      </p:sp>
      <p:sp>
        <p:nvSpPr>
          <p:cNvPr id="17" name="Text 13"/>
          <p:cNvSpPr txBox="1"/>
          <p:nvPr/>
        </p:nvSpPr>
        <p:spPr>
          <a:xfrm>
            <a:off x="5010912" y="2139696"/>
            <a:ext cx="502920" cy="329184"/>
          </a:xfrm>
          <a:prstGeom prst="rect">
            <a:avLst/>
          </a:prstGeom>
          <a:noFill/>
          <a:ln/>
        </p:spPr>
        <p:txBody>
          <a:bodyPr wrap="square" lIns="0" tIns="0" rIns="0" bIns="0" rtlCol="0" anchor="t">
            <a:normAutofit/>
          </a:bodyPr>
          <a:lstStyle/>
          <a:p>
            <a:pPr marL="0" indent="0" algn="ctr">
              <a:buNone/>
            </a:pPr>
            <a:r>
              <a:rPr lang="en-US" sz="1900" b="1" dirty="0">
                <a:solidFill>
                  <a:srgbClr val="C9963A"/>
                </a:solidFill>
                <a:latin typeface="Arial" pitchFamily="34" charset="0"/>
                <a:ea typeface="Arial" pitchFamily="34" charset="-122"/>
                <a:cs typeface="Arial" pitchFamily="34" charset="-120"/>
              </a:rPr>
              <a:t>01</a:t>
            </a:r>
            <a:endParaRPr lang="en-US" sz="1900" dirty="0"/>
          </a:p>
        </p:txBody>
      </p:sp>
      <p:sp>
        <p:nvSpPr>
          <p:cNvPr id="18" name="Text 14"/>
          <p:cNvSpPr txBox="1"/>
          <p:nvPr/>
        </p:nvSpPr>
        <p:spPr>
          <a:xfrm>
            <a:off x="5650992" y="2103120"/>
            <a:ext cx="5806440" cy="292608"/>
          </a:xfrm>
          <a:prstGeom prst="rect">
            <a:avLst/>
          </a:prstGeom>
          <a:noFill/>
          <a:ln/>
        </p:spPr>
        <p:txBody>
          <a:bodyPr wrap="square" lIns="0" tIns="0" rIns="0" bIns="0" rtlCol="0" anchor="t">
            <a:normAutofit/>
          </a:bodyPr>
          <a:lstStyle/>
          <a:p>
            <a:pPr marL="0" indent="0" algn="l">
              <a:buNone/>
            </a:pPr>
            <a:r>
              <a:rPr lang="en-US" sz="1800" b="1" dirty="0">
                <a:solidFill>
                  <a:srgbClr val="07182F"/>
                </a:solidFill>
                <a:latin typeface="Georgia" pitchFamily="34" charset="0"/>
                <a:ea typeface="Georgia" pitchFamily="34" charset="-122"/>
                <a:cs typeface="Georgia" pitchFamily="34" charset="-120"/>
              </a:rPr>
              <a:t>Đọc nội dung</a:t>
            </a:r>
            <a:endParaRPr lang="en-US" sz="1800" dirty="0"/>
          </a:p>
        </p:txBody>
      </p:sp>
      <p:sp>
        <p:nvSpPr>
          <p:cNvPr id="19" name="Text 15"/>
          <p:cNvSpPr txBox="1"/>
          <p:nvPr/>
        </p:nvSpPr>
        <p:spPr>
          <a:xfrm>
            <a:off x="5650992" y="2414016"/>
            <a:ext cx="5806440" cy="347472"/>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Xem cấu trúc ba chương, hình, công thức và tài liệu đối chiếu</a:t>
            </a:r>
            <a:endParaRPr lang="en-US" sz="1450" dirty="0"/>
          </a:p>
        </p:txBody>
      </p:sp>
      <p:sp>
        <p:nvSpPr>
          <p:cNvPr id="20" name="Shape 16"/>
          <p:cNvSpPr/>
          <p:nvPr/>
        </p:nvSpPr>
        <p:spPr>
          <a:xfrm>
            <a:off x="4864608" y="2953512"/>
            <a:ext cx="6766560" cy="841248"/>
          </a:xfrm>
          <a:prstGeom prst="roundRect">
            <a:avLst>
              <a:gd name="adj" fmla="val 4348"/>
            </a:avLst>
          </a:prstGeom>
          <a:solidFill>
            <a:srgbClr val="FFFFFF"/>
          </a:solidFill>
          <a:ln w="12700">
            <a:solidFill>
              <a:srgbClr val="D7DEE8"/>
            </a:solidFill>
            <a:prstDash val="solid"/>
          </a:ln>
        </p:spPr>
      </p:sp>
      <p:sp>
        <p:nvSpPr>
          <p:cNvPr id="21" name="Text 17"/>
          <p:cNvSpPr txBox="1"/>
          <p:nvPr/>
        </p:nvSpPr>
        <p:spPr>
          <a:xfrm>
            <a:off x="5010912" y="3099816"/>
            <a:ext cx="502920" cy="329184"/>
          </a:xfrm>
          <a:prstGeom prst="rect">
            <a:avLst/>
          </a:prstGeom>
          <a:noFill/>
          <a:ln/>
        </p:spPr>
        <p:txBody>
          <a:bodyPr wrap="square" lIns="0" tIns="0" rIns="0" bIns="0" rtlCol="0" anchor="t">
            <a:normAutofit/>
          </a:bodyPr>
          <a:lstStyle/>
          <a:p>
            <a:pPr marL="0" indent="0" algn="ctr">
              <a:buNone/>
            </a:pPr>
            <a:r>
              <a:rPr lang="en-US" sz="1900" b="1" dirty="0">
                <a:solidFill>
                  <a:srgbClr val="C9963A"/>
                </a:solidFill>
                <a:latin typeface="Arial" pitchFamily="34" charset="0"/>
                <a:ea typeface="Arial" pitchFamily="34" charset="-122"/>
                <a:cs typeface="Arial" pitchFamily="34" charset="-120"/>
              </a:rPr>
              <a:t>02</a:t>
            </a:r>
            <a:endParaRPr lang="en-US" sz="1900" dirty="0"/>
          </a:p>
        </p:txBody>
      </p:sp>
      <p:sp>
        <p:nvSpPr>
          <p:cNvPr id="22" name="Text 18"/>
          <p:cNvSpPr txBox="1"/>
          <p:nvPr/>
        </p:nvSpPr>
        <p:spPr>
          <a:xfrm>
            <a:off x="5650992" y="3063240"/>
            <a:ext cx="5806440" cy="292608"/>
          </a:xfrm>
          <a:prstGeom prst="rect">
            <a:avLst/>
          </a:prstGeom>
          <a:noFill/>
          <a:ln/>
        </p:spPr>
        <p:txBody>
          <a:bodyPr wrap="square" lIns="0" tIns="0" rIns="0" bIns="0" rtlCol="0" anchor="t">
            <a:normAutofit/>
          </a:bodyPr>
          <a:lstStyle/>
          <a:p>
            <a:pPr marL="0" indent="0" algn="l">
              <a:buNone/>
            </a:pPr>
            <a:r>
              <a:rPr lang="en-US" sz="1800" b="1" dirty="0">
                <a:solidFill>
                  <a:srgbClr val="07182F"/>
                </a:solidFill>
                <a:latin typeface="Georgia" pitchFamily="34" charset="0"/>
                <a:ea typeface="Georgia" pitchFamily="34" charset="-122"/>
                <a:cs typeface="Georgia" pitchFamily="34" charset="-120"/>
              </a:rPr>
              <a:t>Quan sát mô phỏng</a:t>
            </a:r>
            <a:endParaRPr lang="en-US" sz="1800" dirty="0"/>
          </a:p>
        </p:txBody>
      </p:sp>
      <p:sp>
        <p:nvSpPr>
          <p:cNvPr id="23" name="Text 19"/>
          <p:cNvSpPr txBox="1"/>
          <p:nvPr/>
        </p:nvSpPr>
        <p:spPr>
          <a:xfrm>
            <a:off x="5650992" y="3374136"/>
            <a:ext cx="5806440" cy="347472"/>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Thay đổi tham số và xem giá trị hiển thị theo mô hình</a:t>
            </a:r>
            <a:endParaRPr lang="en-US" sz="1450" dirty="0"/>
          </a:p>
        </p:txBody>
      </p:sp>
      <p:sp>
        <p:nvSpPr>
          <p:cNvPr id="24" name="Shape 20"/>
          <p:cNvSpPr/>
          <p:nvPr/>
        </p:nvSpPr>
        <p:spPr>
          <a:xfrm>
            <a:off x="4864608" y="3913632"/>
            <a:ext cx="6766560" cy="841248"/>
          </a:xfrm>
          <a:prstGeom prst="roundRect">
            <a:avLst>
              <a:gd name="adj" fmla="val 4348"/>
            </a:avLst>
          </a:prstGeom>
          <a:solidFill>
            <a:srgbClr val="FFFFFF"/>
          </a:solidFill>
          <a:ln w="12700">
            <a:solidFill>
              <a:srgbClr val="D7DEE8"/>
            </a:solidFill>
            <a:prstDash val="solid"/>
          </a:ln>
        </p:spPr>
      </p:sp>
      <p:sp>
        <p:nvSpPr>
          <p:cNvPr id="25" name="Text 21"/>
          <p:cNvSpPr txBox="1"/>
          <p:nvPr/>
        </p:nvSpPr>
        <p:spPr>
          <a:xfrm>
            <a:off x="5010912" y="4059936"/>
            <a:ext cx="502920" cy="329184"/>
          </a:xfrm>
          <a:prstGeom prst="rect">
            <a:avLst/>
          </a:prstGeom>
          <a:noFill/>
          <a:ln/>
        </p:spPr>
        <p:txBody>
          <a:bodyPr wrap="square" lIns="0" tIns="0" rIns="0" bIns="0" rtlCol="0" anchor="t">
            <a:normAutofit/>
          </a:bodyPr>
          <a:lstStyle/>
          <a:p>
            <a:pPr marL="0" indent="0" algn="ctr">
              <a:buNone/>
            </a:pPr>
            <a:r>
              <a:rPr lang="en-US" sz="1900" b="1" dirty="0">
                <a:solidFill>
                  <a:srgbClr val="C9963A"/>
                </a:solidFill>
                <a:latin typeface="Arial" pitchFamily="34" charset="0"/>
                <a:ea typeface="Arial" pitchFamily="34" charset="-122"/>
                <a:cs typeface="Arial" pitchFamily="34" charset="-120"/>
              </a:rPr>
              <a:t>03</a:t>
            </a:r>
            <a:endParaRPr lang="en-US" sz="1900" dirty="0"/>
          </a:p>
        </p:txBody>
      </p:sp>
      <p:sp>
        <p:nvSpPr>
          <p:cNvPr id="26" name="Text 22"/>
          <p:cNvSpPr txBox="1"/>
          <p:nvPr/>
        </p:nvSpPr>
        <p:spPr>
          <a:xfrm>
            <a:off x="5650992" y="4023360"/>
            <a:ext cx="5806440" cy="292608"/>
          </a:xfrm>
          <a:prstGeom prst="rect">
            <a:avLst/>
          </a:prstGeom>
          <a:noFill/>
          <a:ln/>
        </p:spPr>
        <p:txBody>
          <a:bodyPr wrap="square" lIns="0" tIns="0" rIns="0" bIns="0" rtlCol="0" anchor="t">
            <a:normAutofit/>
          </a:bodyPr>
          <a:lstStyle/>
          <a:p>
            <a:pPr marL="0" indent="0" algn="l">
              <a:buNone/>
            </a:pPr>
            <a:r>
              <a:rPr lang="en-US" sz="1800" b="1" dirty="0">
                <a:solidFill>
                  <a:srgbClr val="07182F"/>
                </a:solidFill>
                <a:latin typeface="Georgia" pitchFamily="34" charset="0"/>
                <a:ea typeface="Georgia" pitchFamily="34" charset="-122"/>
                <a:cs typeface="Georgia" pitchFamily="34" charset="-120"/>
              </a:rPr>
              <a:t>Tự kiểm tra</a:t>
            </a:r>
            <a:endParaRPr lang="en-US" sz="1800" dirty="0"/>
          </a:p>
        </p:txBody>
      </p:sp>
      <p:sp>
        <p:nvSpPr>
          <p:cNvPr id="27" name="Text 23"/>
          <p:cNvSpPr txBox="1"/>
          <p:nvPr/>
        </p:nvSpPr>
        <p:spPr>
          <a:xfrm>
            <a:off x="5650992" y="4334256"/>
            <a:ext cx="5806440" cy="347472"/>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Làm câu hỏi và nhận phản hồi trong cùng môi trường</a:t>
            </a:r>
            <a:endParaRPr lang="en-US" sz="1450" dirty="0"/>
          </a:p>
        </p:txBody>
      </p:sp>
      <p:sp>
        <p:nvSpPr>
          <p:cNvPr id="28" name="Shape 24"/>
          <p:cNvSpPr/>
          <p:nvPr/>
        </p:nvSpPr>
        <p:spPr>
          <a:xfrm>
            <a:off x="4864608" y="4873752"/>
            <a:ext cx="6766560" cy="841248"/>
          </a:xfrm>
          <a:prstGeom prst="roundRect">
            <a:avLst>
              <a:gd name="adj" fmla="val 4348"/>
            </a:avLst>
          </a:prstGeom>
          <a:solidFill>
            <a:srgbClr val="FFFFFF"/>
          </a:solidFill>
          <a:ln w="12700">
            <a:solidFill>
              <a:srgbClr val="D7DEE8"/>
            </a:solidFill>
            <a:prstDash val="solid"/>
          </a:ln>
        </p:spPr>
      </p:sp>
      <p:sp>
        <p:nvSpPr>
          <p:cNvPr id="29" name="Text 25"/>
          <p:cNvSpPr txBox="1"/>
          <p:nvPr/>
        </p:nvSpPr>
        <p:spPr>
          <a:xfrm>
            <a:off x="5010912" y="5020056"/>
            <a:ext cx="502920" cy="329184"/>
          </a:xfrm>
          <a:prstGeom prst="rect">
            <a:avLst/>
          </a:prstGeom>
          <a:noFill/>
          <a:ln/>
        </p:spPr>
        <p:txBody>
          <a:bodyPr wrap="square" lIns="0" tIns="0" rIns="0" bIns="0" rtlCol="0" anchor="t">
            <a:normAutofit/>
          </a:bodyPr>
          <a:lstStyle/>
          <a:p>
            <a:pPr marL="0" indent="0" algn="ctr">
              <a:buNone/>
            </a:pPr>
            <a:r>
              <a:rPr lang="en-US" sz="1900" b="1" dirty="0">
                <a:solidFill>
                  <a:srgbClr val="C9963A"/>
                </a:solidFill>
                <a:latin typeface="Arial" pitchFamily="34" charset="0"/>
                <a:ea typeface="Arial" pitchFamily="34" charset="-122"/>
                <a:cs typeface="Arial" pitchFamily="34" charset="-120"/>
              </a:rPr>
              <a:t>04</a:t>
            </a:r>
            <a:endParaRPr lang="en-US" sz="1900" dirty="0"/>
          </a:p>
        </p:txBody>
      </p:sp>
      <p:sp>
        <p:nvSpPr>
          <p:cNvPr id="30" name="Text 26"/>
          <p:cNvSpPr txBox="1"/>
          <p:nvPr/>
        </p:nvSpPr>
        <p:spPr>
          <a:xfrm>
            <a:off x="5650992" y="4983480"/>
            <a:ext cx="5806440" cy="292608"/>
          </a:xfrm>
          <a:prstGeom prst="rect">
            <a:avLst/>
          </a:prstGeom>
          <a:noFill/>
          <a:ln/>
        </p:spPr>
        <p:txBody>
          <a:bodyPr wrap="square" lIns="0" tIns="0" rIns="0" bIns="0" rtlCol="0" anchor="t">
            <a:normAutofit/>
          </a:bodyPr>
          <a:lstStyle/>
          <a:p>
            <a:pPr marL="0" indent="0" algn="l">
              <a:buNone/>
            </a:pPr>
            <a:r>
              <a:rPr lang="en-US" sz="1800" b="1" dirty="0">
                <a:solidFill>
                  <a:srgbClr val="07182F"/>
                </a:solidFill>
                <a:latin typeface="Georgia" pitchFamily="34" charset="0"/>
                <a:ea typeface="Georgia" pitchFamily="34" charset="-122"/>
                <a:cs typeface="Georgia" pitchFamily="34" charset="-120"/>
              </a:rPr>
              <a:t>Giới hạn</a:t>
            </a:r>
            <a:endParaRPr lang="en-US" sz="1800" dirty="0"/>
          </a:p>
        </p:txBody>
      </p:sp>
      <p:sp>
        <p:nvSpPr>
          <p:cNvPr id="31" name="Text 27"/>
          <p:cNvSpPr txBox="1"/>
          <p:nvPr/>
        </p:nvSpPr>
        <p:spPr>
          <a:xfrm>
            <a:off x="5650992" y="5294376"/>
            <a:ext cx="5806440" cy="347472"/>
          </a:xfrm>
          <a:prstGeom prst="rect">
            <a:avLst/>
          </a:prstGeom>
          <a:noFill/>
          <a:ln/>
        </p:spPr>
        <p:txBody>
          <a:bodyPr wrap="square" lIns="0" tIns="0" rIns="0" bIns="0" rtlCol="0" anchor="ctr">
            <a:normAutofit/>
          </a:bodyPr>
          <a:lstStyle/>
          <a:p>
            <a:pPr marL="0" indent="0" algn="l">
              <a:buNone/>
            </a:pPr>
            <a:r>
              <a:rPr lang="en-US" sz="1450" dirty="0">
                <a:solidFill>
                  <a:srgbClr val="5B6B80"/>
                </a:solidFill>
                <a:latin typeface="Arial" pitchFamily="34" charset="0"/>
                <a:ea typeface="Arial" pitchFamily="34" charset="-122"/>
                <a:cs typeface="Arial" pitchFamily="34" charset="-120"/>
              </a:rPr>
              <a:t>Chưa chứng minh đồng nhất với ứng viên đang kiểm tra; không thay thế kiểm tra gói ứng viên</a:t>
            </a:r>
            <a:endParaRPr lang="en-US" sz="1450" dirty="0"/>
          </a:p>
        </p:txBody>
      </p:sp>
      <p:sp>
        <p:nvSpPr>
          <p:cNvPr id="32" name="Shape 28"/>
          <p:cNvSpPr/>
          <p:nvPr/>
        </p:nvSpPr>
        <p:spPr>
          <a:xfrm>
            <a:off x="658368" y="5833872"/>
            <a:ext cx="10972800" cy="420624"/>
          </a:xfrm>
          <a:prstGeom prst="roundRect">
            <a:avLst>
              <a:gd name="adj" fmla="val 8696"/>
            </a:avLst>
          </a:prstGeom>
          <a:solidFill>
            <a:srgbClr val="EEF2F7"/>
          </a:solidFill>
          <a:ln w="12700">
            <a:solidFill>
              <a:srgbClr val="C9963A"/>
            </a:solidFill>
            <a:prstDash val="solid"/>
          </a:ln>
        </p:spPr>
      </p:sp>
      <p:sp>
        <p:nvSpPr>
          <p:cNvPr id="33" name="Text 29"/>
          <p:cNvSpPr txBox="1"/>
          <p:nvPr/>
        </p:nvSpPr>
        <p:spPr>
          <a:xfrm>
            <a:off x="868680" y="5888736"/>
            <a:ext cx="10515600" cy="292608"/>
          </a:xfrm>
          <a:prstGeom prst="rect">
            <a:avLst/>
          </a:prstGeom>
          <a:noFill/>
          <a:ln/>
        </p:spPr>
        <p:txBody>
          <a:bodyPr wrap="square" lIns="0" tIns="0" rIns="0" bIns="0" rtlCol="0" anchor="ctr">
            <a:normAutofit/>
          </a:bodyPr>
          <a:lstStyle/>
          <a:p>
            <a:pPr marL="0" indent="0" algn="ctr">
              <a:buNone/>
            </a:pPr>
            <a:r>
              <a:rPr lang="en-US" sz="1350" b="1" dirty="0">
                <a:solidFill>
                  <a:srgbClr val="07182F"/>
                </a:solidFill>
                <a:latin typeface="Arial" pitchFamily="34" charset="0"/>
                <a:ea typeface="Arial" pitchFamily="34" charset="-122"/>
                <a:cs typeface="Arial" pitchFamily="34" charset="-120"/>
              </a:rPr>
              <a:t>Liên kết chính thức: https://xuan2261.github.io/GiaoTrinhDienTu_CoHocLyThuyet/ · Trải nghiệm trực tiếp không cần đăng nhập</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Ca đối chiếu khoa học 1 · Trọng tâm diện tích</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06</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Với hình phẳng ghép, tọa độ trọng tâm diện tích được tính từ tổng mô men diện tích; phần khoét dùng diện tích có dấu âm.</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KQ-KHOA-HOC-1</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6</a:t>
            </a:r>
            <a:endParaRPr lang="en-US" sz="820" dirty="0"/>
          </a:p>
        </p:txBody>
      </p:sp>
      <p:sp>
        <p:nvSpPr>
          <p:cNvPr id="13" name="Shape 10"/>
          <p:cNvSpPr/>
          <p:nvPr/>
        </p:nvSpPr>
        <p:spPr>
          <a:xfrm>
            <a:off x="658368" y="1993392"/>
            <a:ext cx="3794760" cy="4041648"/>
          </a:xfrm>
          <a:prstGeom prst="roundRect">
            <a:avLst>
              <a:gd name="adj" fmla="val 964"/>
            </a:avLst>
          </a:prstGeom>
          <a:solidFill>
            <a:srgbClr val="FFFFFF"/>
          </a:solidFill>
          <a:ln w="12700">
            <a:solidFill>
              <a:srgbClr val="0D2447"/>
            </a:solidFill>
            <a:prstDash val="solid"/>
          </a:ln>
        </p:spPr>
      </p:sp>
      <p:pic>
        <p:nvPicPr>
          <p:cNvPr id="14" name="Image 0" descr="Sơ đồ nguyên lý · minh họa, không theo tỉ lệ"/>
          <p:cNvPicPr>
            <a:picLocks noChangeAspect="1"/>
          </p:cNvPicPr>
          <p:nvPr/>
        </p:nvPicPr>
        <p:blipFill>
          <a:blip r:embed="rId3"/>
          <a:stretch>
            <a:fillRect/>
          </a:stretch>
        </p:blipFill>
        <p:spPr>
          <a:xfrm>
            <a:off x="731520" y="2609240"/>
            <a:ext cx="3648456" cy="2553919"/>
          </a:xfrm>
          <a:prstGeom prst="rect">
            <a:avLst/>
          </a:prstGeom>
        </p:spPr>
      </p:pic>
      <p:sp>
        <p:nvSpPr>
          <p:cNvPr id="15" name="Text 11"/>
          <p:cNvSpPr txBox="1"/>
          <p:nvPr/>
        </p:nvSpPr>
        <p:spPr>
          <a:xfrm>
            <a:off x="768096" y="5815584"/>
            <a:ext cx="3575304"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Sơ đồ nguyên lý · minh họa, không theo tỉ lệ</a:t>
            </a:r>
            <a:endParaRPr lang="en-US" sz="850" dirty="0"/>
          </a:p>
        </p:txBody>
      </p:sp>
      <p:sp>
        <p:nvSpPr>
          <p:cNvPr id="16" name="Shape 12"/>
          <p:cNvSpPr/>
          <p:nvPr/>
        </p:nvSpPr>
        <p:spPr>
          <a:xfrm>
            <a:off x="4617720" y="1993392"/>
            <a:ext cx="6922008" cy="2743200"/>
          </a:xfrm>
          <a:prstGeom prst="roundRect">
            <a:avLst>
              <a:gd name="adj" fmla="val 1333"/>
            </a:avLst>
          </a:prstGeom>
          <a:solidFill>
            <a:srgbClr val="FFFFFF"/>
          </a:solidFill>
          <a:ln w="12700">
            <a:solidFill>
              <a:srgbClr val="0D2447"/>
            </a:solidFill>
            <a:prstDash val="solid"/>
          </a:ln>
        </p:spPr>
      </p:sp>
      <p:pic>
        <p:nvPicPr>
          <p:cNvPr id="17" name="Image 1" descr="ch1-6-3 · mô phỏng và giá trị hiển thị"/>
          <p:cNvPicPr>
            <a:picLocks noChangeAspect="1"/>
          </p:cNvPicPr>
          <p:nvPr/>
        </p:nvPicPr>
        <p:blipFill>
          <a:blip r:embed="rId4"/>
          <a:stretch>
            <a:fillRect/>
          </a:stretch>
        </p:blipFill>
        <p:spPr>
          <a:xfrm>
            <a:off x="5414982" y="2066544"/>
            <a:ext cx="5327484" cy="2340864"/>
          </a:xfrm>
          <a:prstGeom prst="rect">
            <a:avLst/>
          </a:prstGeom>
        </p:spPr>
      </p:pic>
      <p:sp>
        <p:nvSpPr>
          <p:cNvPr id="18" name="Text 13"/>
          <p:cNvSpPr txBox="1"/>
          <p:nvPr/>
        </p:nvSpPr>
        <p:spPr>
          <a:xfrm>
            <a:off x="4727448" y="4517136"/>
            <a:ext cx="6702552"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ch1-6-3 · mô phỏng và giá trị hiển thị</a:t>
            </a:r>
            <a:endParaRPr lang="en-US" sz="850" dirty="0"/>
          </a:p>
        </p:txBody>
      </p:sp>
      <p:sp>
        <p:nvSpPr>
          <p:cNvPr id="19" name="Shape 14"/>
          <p:cNvSpPr/>
          <p:nvPr/>
        </p:nvSpPr>
        <p:spPr>
          <a:xfrm>
            <a:off x="4617720" y="4919472"/>
            <a:ext cx="6922008" cy="1133856"/>
          </a:xfrm>
          <a:prstGeom prst="roundRect">
            <a:avLst>
              <a:gd name="adj" fmla="val 3226"/>
            </a:avLst>
          </a:prstGeom>
          <a:solidFill>
            <a:srgbClr val="FFFFFF"/>
          </a:solidFill>
          <a:ln w="12700">
            <a:solidFill>
              <a:srgbClr val="2980B9"/>
            </a:solidFill>
            <a:prstDash val="solid"/>
          </a:ln>
        </p:spPr>
      </p:sp>
      <p:sp>
        <p:nvSpPr>
          <p:cNvPr id="20" name="Text 15"/>
          <p:cNvSpPr txBox="1"/>
          <p:nvPr/>
        </p:nvSpPr>
        <p:spPr>
          <a:xfrm>
            <a:off x="4828032" y="5047488"/>
            <a:ext cx="1975104" cy="164592"/>
          </a:xfrm>
          <a:prstGeom prst="rect">
            <a:avLst/>
          </a:prstGeom>
          <a:noFill/>
          <a:ln/>
        </p:spPr>
        <p:txBody>
          <a:bodyPr wrap="square" lIns="0" tIns="0" rIns="0" bIns="0" rtlCol="0" anchor="t">
            <a:normAutofit/>
          </a:bodyPr>
          <a:lstStyle/>
          <a:p>
            <a:pPr marL="0" indent="0" algn="l">
              <a:buNone/>
            </a:pPr>
            <a:r>
              <a:rPr lang="en-US" sz="980" b="1" dirty="0">
                <a:solidFill>
                  <a:srgbClr val="2980B9"/>
                </a:solidFill>
                <a:latin typeface="Arial" pitchFamily="34" charset="0"/>
                <a:ea typeface="Arial" pitchFamily="34" charset="-122"/>
                <a:cs typeface="Arial" pitchFamily="34" charset="-120"/>
              </a:rPr>
              <a:t>TĨNH HỌC</a:t>
            </a:r>
            <a:endParaRPr lang="en-US" sz="980" dirty="0"/>
          </a:p>
        </p:txBody>
      </p:sp>
      <p:sp>
        <p:nvSpPr>
          <p:cNvPr id="21" name="Text 16"/>
          <p:cNvSpPr txBox="1"/>
          <p:nvPr/>
        </p:nvSpPr>
        <p:spPr>
          <a:xfrm>
            <a:off x="4828032" y="5230368"/>
            <a:ext cx="2148840" cy="310896"/>
          </a:xfrm>
          <a:prstGeom prst="rect">
            <a:avLst/>
          </a:prstGeom>
          <a:noFill/>
          <a:ln/>
        </p:spPr>
        <p:txBody>
          <a:bodyPr wrap="square" lIns="0" tIns="0" rIns="0" bIns="0" rtlCol="0" anchor="ctr">
            <a:normAutofit/>
          </a:bodyPr>
          <a:lstStyle/>
          <a:p>
            <a:pPr marL="0" indent="0" algn="l">
              <a:buNone/>
            </a:pPr>
            <a:r>
              <a:rPr lang="en-US" sz="1450" b="1" dirty="0">
                <a:solidFill>
                  <a:srgbClr val="07182F"/>
                </a:solidFill>
                <a:latin typeface="Georgia" pitchFamily="34" charset="0"/>
                <a:ea typeface="Georgia" pitchFamily="34" charset="-122"/>
                <a:cs typeface="Georgia" pitchFamily="34" charset="-120"/>
              </a:rPr>
              <a:t>Tọa độ trọng tâm diện tích</a:t>
            </a:r>
            <a:endParaRPr lang="en-US" sz="1450" dirty="0"/>
          </a:p>
        </p:txBody>
      </p:sp>
      <p:sp>
        <p:nvSpPr>
          <p:cNvPr id="22" name="Shape 17"/>
          <p:cNvSpPr/>
          <p:nvPr/>
        </p:nvSpPr>
        <p:spPr>
          <a:xfrm>
            <a:off x="7114032" y="5056632"/>
            <a:ext cx="2395728" cy="493776"/>
          </a:xfrm>
          <a:prstGeom prst="roundRect">
            <a:avLst>
              <a:gd name="adj" fmla="val 7407"/>
            </a:avLst>
          </a:prstGeom>
          <a:solidFill>
            <a:srgbClr val="EEF2F7"/>
          </a:solidFill>
          <a:ln w="12700">
            <a:solidFill>
              <a:srgbClr val="D7DEE8"/>
            </a:solidFill>
            <a:prstDash val="solid"/>
          </a:ln>
        </p:spPr>
      </p:sp>
      <p:sp>
        <p:nvSpPr>
          <p:cNvPr id="23" name="Text 18"/>
          <p:cNvSpPr txBox="1"/>
          <p:nvPr/>
        </p:nvSpPr>
        <p:spPr>
          <a:xfrm>
            <a:off x="7242048" y="5184648"/>
            <a:ext cx="2139696" cy="219456"/>
          </a:xfrm>
          <a:prstGeom prst="rect">
            <a:avLst/>
          </a:prstGeom>
          <a:noFill/>
          <a:ln/>
        </p:spPr>
        <p:txBody>
          <a:bodyPr wrap="square" lIns="0" tIns="0" rIns="0" bIns="0" rtlCol="0" anchor="ctr">
            <a:normAutofit/>
          </a:bodyPr>
          <a:lstStyle/>
          <a:p>
            <a:pPr marL="0" indent="0" algn="ctr">
              <a:buNone/>
            </a:pPr>
            <a:r>
              <a:rPr lang="en-US" sz="1380" b="1" dirty="0">
                <a:solidFill>
                  <a:srgbClr val="0D2447"/>
                </a:solidFill>
                <a:latin typeface="Georgia" pitchFamily="34" charset="0"/>
                <a:ea typeface="Georgia" pitchFamily="34" charset="-122"/>
                <a:cs typeface="Georgia" pitchFamily="34" charset="-120"/>
              </a:rPr>
              <a:t>x̄ = Σ(Aᵢxᵢ)/ΣAᵢ; ȳ = Σ(Aᵢyᵢ)/ΣAᵢ</a:t>
            </a:r>
            <a:endParaRPr lang="en-US" sz="1380" dirty="0"/>
          </a:p>
        </p:txBody>
      </p:sp>
      <p:sp>
        <p:nvSpPr>
          <p:cNvPr id="24" name="Shape 19"/>
          <p:cNvSpPr/>
          <p:nvPr/>
        </p:nvSpPr>
        <p:spPr>
          <a:xfrm>
            <a:off x="9646920" y="5056632"/>
            <a:ext cx="1645920" cy="493776"/>
          </a:xfrm>
          <a:prstGeom prst="roundRect">
            <a:avLst>
              <a:gd name="adj" fmla="val 7407"/>
            </a:avLst>
          </a:prstGeom>
          <a:solidFill>
            <a:srgbClr val="FFF8ED"/>
          </a:solidFill>
          <a:ln w="12700">
            <a:solidFill>
              <a:srgbClr val="9A5B00"/>
            </a:solidFill>
            <a:prstDash val="solid"/>
          </a:ln>
        </p:spPr>
      </p:sp>
      <p:sp>
        <p:nvSpPr>
          <p:cNvPr id="25" name="Text 20"/>
          <p:cNvSpPr txBox="1"/>
          <p:nvPr/>
        </p:nvSpPr>
        <p:spPr>
          <a:xfrm>
            <a:off x="9756648" y="5166360"/>
            <a:ext cx="1426464" cy="237744"/>
          </a:xfrm>
          <a:prstGeom prst="rect">
            <a:avLst/>
          </a:prstGeom>
          <a:noFill/>
          <a:ln/>
        </p:spPr>
        <p:txBody>
          <a:bodyPr wrap="square" lIns="0" tIns="0" rIns="0" bIns="0" rtlCol="0" anchor="ctr">
            <a:normAutofit/>
          </a:bodyPr>
          <a:lstStyle/>
          <a:p>
            <a:pPr marL="0" indent="0" algn="ctr">
              <a:buNone/>
            </a:pPr>
            <a:r>
              <a:rPr lang="en-US" sz="840" b="1" i="1" dirty="0">
                <a:solidFill>
                  <a:srgbClr val="9A5B00"/>
                </a:solidFill>
                <a:latin typeface="Arial" pitchFamily="34" charset="0"/>
                <a:ea typeface="Arial" pitchFamily="34" charset="-122"/>
                <a:cs typeface="Arial" pitchFamily="34" charset="-120"/>
              </a:rPr>
              <a:t>Ca minh họa · chưa thẩm định độc lập</a:t>
            </a:r>
            <a:endParaRPr lang="en-US" sz="840" dirty="0"/>
          </a:p>
        </p:txBody>
      </p:sp>
      <p:sp>
        <p:nvSpPr>
          <p:cNvPr id="26" name="Text 21"/>
          <p:cNvSpPr txBox="1"/>
          <p:nvPr/>
        </p:nvSpPr>
        <p:spPr>
          <a:xfrm>
            <a:off x="4846320" y="5641848"/>
            <a:ext cx="1417320" cy="155448"/>
          </a:xfrm>
          <a:prstGeom prst="rect">
            <a:avLst/>
          </a:prstGeom>
          <a:noFill/>
          <a:ln/>
        </p:spPr>
        <p:txBody>
          <a:bodyPr wrap="square" lIns="0" tIns="0" rIns="0" bIns="0" rtlCol="0" anchor="t">
            <a:normAutofit/>
          </a:bodyPr>
          <a:lstStyle/>
          <a:p>
            <a:pPr marL="0" indent="0" algn="l">
              <a:buNone/>
            </a:pPr>
            <a:r>
              <a:rPr lang="en-US" sz="920" b="1" dirty="0">
                <a:solidFill>
                  <a:srgbClr val="5B6B80"/>
                </a:solidFill>
                <a:latin typeface="Arial" pitchFamily="34" charset="0"/>
                <a:ea typeface="Arial" pitchFamily="34" charset="-122"/>
                <a:cs typeface="Arial" pitchFamily="34" charset="-120"/>
              </a:rPr>
              <a:t>ĐIỂM ĐỐI CHIẾU</a:t>
            </a:r>
            <a:endParaRPr lang="en-US" sz="920" dirty="0"/>
          </a:p>
        </p:txBody>
      </p:sp>
      <p:sp>
        <p:nvSpPr>
          <p:cNvPr id="27" name="Text 22"/>
          <p:cNvSpPr txBox="1"/>
          <p:nvPr/>
        </p:nvSpPr>
        <p:spPr>
          <a:xfrm>
            <a:off x="6236208" y="5568696"/>
            <a:ext cx="4809744" cy="329184"/>
          </a:xfrm>
          <a:prstGeom prst="rect">
            <a:avLst/>
          </a:prstGeom>
          <a:noFill/>
          <a:ln/>
        </p:spPr>
        <p:txBody>
          <a:bodyPr wrap="square" lIns="0" tIns="0" rIns="0" bIns="0" rtlCol="0" anchor="ctr">
            <a:normAutofit/>
          </a:bodyPr>
          <a:lstStyle/>
          <a:p>
            <a:pPr marL="0" indent="0" algn="l">
              <a:buNone/>
            </a:pPr>
            <a:r>
              <a:rPr lang="en-US" sz="1130" dirty="0">
                <a:solidFill>
                  <a:srgbClr val="243247"/>
                </a:solidFill>
                <a:latin typeface="Arial" pitchFamily="34" charset="0"/>
                <a:ea typeface="Arial" pitchFamily="34" charset="-122"/>
                <a:cs typeface="Arial" pitchFamily="34" charset="-120"/>
              </a:rPr>
              <a:t>Phần khoét dùng diện tích có dấu âm trong phép tính.</a:t>
            </a:r>
            <a:endParaRPr lang="en-US" sz="11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Ca đối chiếu khoa học 2 · Gia tốc Coriolis</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07</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Mô phỏng thể hiện aCor = 2(ω × vrel); aCor, ω và vrel đều là vectơ. Đây không phải toàn bộ gia tốc.</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KQ-KHOA-HOC-2</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7</a:t>
            </a:r>
            <a:endParaRPr lang="en-US" sz="820" dirty="0"/>
          </a:p>
        </p:txBody>
      </p:sp>
      <p:sp>
        <p:nvSpPr>
          <p:cNvPr id="13" name="Shape 10"/>
          <p:cNvSpPr/>
          <p:nvPr/>
        </p:nvSpPr>
        <p:spPr>
          <a:xfrm>
            <a:off x="658368" y="1993392"/>
            <a:ext cx="3794760" cy="4041648"/>
          </a:xfrm>
          <a:prstGeom prst="roundRect">
            <a:avLst>
              <a:gd name="adj" fmla="val 964"/>
            </a:avLst>
          </a:prstGeom>
          <a:solidFill>
            <a:srgbClr val="FFFFFF"/>
          </a:solidFill>
          <a:ln w="12700">
            <a:solidFill>
              <a:srgbClr val="0D2447"/>
            </a:solidFill>
            <a:prstDash val="solid"/>
          </a:ln>
        </p:spPr>
      </p:sp>
      <p:pic>
        <p:nvPicPr>
          <p:cNvPr id="14" name="Image 0" descr="Sơ đồ nguyên lý · minh họa, không theo tỉ lệ"/>
          <p:cNvPicPr>
            <a:picLocks noChangeAspect="1"/>
          </p:cNvPicPr>
          <p:nvPr/>
        </p:nvPicPr>
        <p:blipFill>
          <a:blip r:embed="rId3"/>
          <a:stretch>
            <a:fillRect/>
          </a:stretch>
        </p:blipFill>
        <p:spPr>
          <a:xfrm>
            <a:off x="731520" y="2609240"/>
            <a:ext cx="3648456" cy="2553919"/>
          </a:xfrm>
          <a:prstGeom prst="rect">
            <a:avLst/>
          </a:prstGeom>
        </p:spPr>
      </p:pic>
      <p:sp>
        <p:nvSpPr>
          <p:cNvPr id="15" name="Text 11"/>
          <p:cNvSpPr txBox="1"/>
          <p:nvPr/>
        </p:nvSpPr>
        <p:spPr>
          <a:xfrm>
            <a:off x="768096" y="5815584"/>
            <a:ext cx="3575304"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Sơ đồ nguyên lý · minh họa, không theo tỉ lệ</a:t>
            </a:r>
            <a:endParaRPr lang="en-US" sz="850" dirty="0"/>
          </a:p>
        </p:txBody>
      </p:sp>
      <p:sp>
        <p:nvSpPr>
          <p:cNvPr id="16" name="Shape 12"/>
          <p:cNvSpPr/>
          <p:nvPr/>
        </p:nvSpPr>
        <p:spPr>
          <a:xfrm>
            <a:off x="4617720" y="1993392"/>
            <a:ext cx="6922008" cy="2743200"/>
          </a:xfrm>
          <a:prstGeom prst="roundRect">
            <a:avLst>
              <a:gd name="adj" fmla="val 1333"/>
            </a:avLst>
          </a:prstGeom>
          <a:solidFill>
            <a:srgbClr val="FFFFFF"/>
          </a:solidFill>
          <a:ln w="12700">
            <a:solidFill>
              <a:srgbClr val="0D2447"/>
            </a:solidFill>
            <a:prstDash val="solid"/>
          </a:ln>
        </p:spPr>
      </p:sp>
      <p:pic>
        <p:nvPicPr>
          <p:cNvPr id="17" name="Image 1" descr="ch2-4-4 · mô phỏng và giá trị hiển thị"/>
          <p:cNvPicPr>
            <a:picLocks noChangeAspect="1"/>
          </p:cNvPicPr>
          <p:nvPr/>
        </p:nvPicPr>
        <p:blipFill>
          <a:blip r:embed="rId4"/>
          <a:stretch>
            <a:fillRect/>
          </a:stretch>
        </p:blipFill>
        <p:spPr>
          <a:xfrm>
            <a:off x="5414982" y="2066544"/>
            <a:ext cx="5327484" cy="2340864"/>
          </a:xfrm>
          <a:prstGeom prst="rect">
            <a:avLst/>
          </a:prstGeom>
        </p:spPr>
      </p:pic>
      <p:sp>
        <p:nvSpPr>
          <p:cNvPr id="18" name="Text 13"/>
          <p:cNvSpPr txBox="1"/>
          <p:nvPr/>
        </p:nvSpPr>
        <p:spPr>
          <a:xfrm>
            <a:off x="4727448" y="4517136"/>
            <a:ext cx="6702552"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ch2-4-4 · mô phỏng và giá trị hiển thị</a:t>
            </a:r>
            <a:endParaRPr lang="en-US" sz="850" dirty="0"/>
          </a:p>
        </p:txBody>
      </p:sp>
      <p:sp>
        <p:nvSpPr>
          <p:cNvPr id="19" name="Shape 14"/>
          <p:cNvSpPr/>
          <p:nvPr/>
        </p:nvSpPr>
        <p:spPr>
          <a:xfrm>
            <a:off x="4617720" y="4919472"/>
            <a:ext cx="6922008" cy="1133856"/>
          </a:xfrm>
          <a:prstGeom prst="roundRect">
            <a:avLst>
              <a:gd name="adj" fmla="val 3226"/>
            </a:avLst>
          </a:prstGeom>
          <a:solidFill>
            <a:srgbClr val="FFFFFF"/>
          </a:solidFill>
          <a:ln w="12700">
            <a:solidFill>
              <a:srgbClr val="27AE60"/>
            </a:solidFill>
            <a:prstDash val="solid"/>
          </a:ln>
        </p:spPr>
      </p:sp>
      <p:sp>
        <p:nvSpPr>
          <p:cNvPr id="20" name="Text 15"/>
          <p:cNvSpPr txBox="1"/>
          <p:nvPr/>
        </p:nvSpPr>
        <p:spPr>
          <a:xfrm>
            <a:off x="4828032" y="5047488"/>
            <a:ext cx="1975104" cy="164592"/>
          </a:xfrm>
          <a:prstGeom prst="rect">
            <a:avLst/>
          </a:prstGeom>
          <a:noFill/>
          <a:ln/>
        </p:spPr>
        <p:txBody>
          <a:bodyPr wrap="square" lIns="0" tIns="0" rIns="0" bIns="0" rtlCol="0" anchor="t">
            <a:normAutofit/>
          </a:bodyPr>
          <a:lstStyle/>
          <a:p>
            <a:pPr marL="0" indent="0" algn="l">
              <a:buNone/>
            </a:pPr>
            <a:r>
              <a:rPr lang="en-US" sz="980" b="1" dirty="0">
                <a:solidFill>
                  <a:srgbClr val="27AE60"/>
                </a:solidFill>
                <a:latin typeface="Arial" pitchFamily="34" charset="0"/>
                <a:ea typeface="Arial" pitchFamily="34" charset="-122"/>
                <a:cs typeface="Arial" pitchFamily="34" charset="-120"/>
              </a:rPr>
              <a:t>ĐỘNG HỌC</a:t>
            </a:r>
            <a:endParaRPr lang="en-US" sz="980" dirty="0"/>
          </a:p>
        </p:txBody>
      </p:sp>
      <p:sp>
        <p:nvSpPr>
          <p:cNvPr id="21" name="Text 16"/>
          <p:cNvSpPr txBox="1"/>
          <p:nvPr/>
        </p:nvSpPr>
        <p:spPr>
          <a:xfrm>
            <a:off x="4828032" y="5230368"/>
            <a:ext cx="2148840" cy="310896"/>
          </a:xfrm>
          <a:prstGeom prst="rect">
            <a:avLst/>
          </a:prstGeom>
          <a:noFill/>
          <a:ln/>
        </p:spPr>
        <p:txBody>
          <a:bodyPr wrap="square" lIns="0" tIns="0" rIns="0" bIns="0" rtlCol="0" anchor="ctr">
            <a:normAutofit/>
          </a:bodyPr>
          <a:lstStyle/>
          <a:p>
            <a:pPr marL="0" indent="0" algn="l">
              <a:buNone/>
            </a:pPr>
            <a:r>
              <a:rPr lang="en-US" sz="1450" b="1" dirty="0">
                <a:solidFill>
                  <a:srgbClr val="07182F"/>
                </a:solidFill>
                <a:latin typeface="Georgia" pitchFamily="34" charset="0"/>
                <a:ea typeface="Georgia" pitchFamily="34" charset="-122"/>
                <a:cs typeface="Georgia" pitchFamily="34" charset="-120"/>
              </a:rPr>
              <a:t>Thành phần gia tốc Coriolis</a:t>
            </a:r>
            <a:endParaRPr lang="en-US" sz="1450" dirty="0"/>
          </a:p>
        </p:txBody>
      </p:sp>
      <p:sp>
        <p:nvSpPr>
          <p:cNvPr id="22" name="Shape 17"/>
          <p:cNvSpPr/>
          <p:nvPr/>
        </p:nvSpPr>
        <p:spPr>
          <a:xfrm>
            <a:off x="7114032" y="5056632"/>
            <a:ext cx="2395728" cy="493776"/>
          </a:xfrm>
          <a:prstGeom prst="roundRect">
            <a:avLst>
              <a:gd name="adj" fmla="val 7407"/>
            </a:avLst>
          </a:prstGeom>
          <a:solidFill>
            <a:srgbClr val="EEF2F7"/>
          </a:solidFill>
          <a:ln w="12700">
            <a:solidFill>
              <a:srgbClr val="D7DEE8"/>
            </a:solidFill>
            <a:prstDash val="solid"/>
          </a:ln>
        </p:spPr>
      </p:sp>
      <p:sp>
        <p:nvSpPr>
          <p:cNvPr id="23" name="Text 18"/>
          <p:cNvSpPr txBox="1"/>
          <p:nvPr/>
        </p:nvSpPr>
        <p:spPr>
          <a:xfrm>
            <a:off x="7242048" y="5184648"/>
            <a:ext cx="2139696" cy="219456"/>
          </a:xfrm>
          <a:prstGeom prst="rect">
            <a:avLst/>
          </a:prstGeom>
          <a:noFill/>
          <a:ln/>
        </p:spPr>
        <p:txBody>
          <a:bodyPr wrap="square" lIns="0" tIns="0" rIns="0" bIns="0" rtlCol="0" anchor="ctr">
            <a:normAutofit/>
          </a:bodyPr>
          <a:lstStyle/>
          <a:p>
            <a:pPr marL="0" indent="0" algn="ctr">
              <a:buNone/>
            </a:pPr>
            <a:r>
              <a:rPr lang="en-US" sz="1380" b="1" dirty="0">
                <a:solidFill>
                  <a:srgbClr val="0D2447"/>
                </a:solidFill>
                <a:latin typeface="Georgia" pitchFamily="34" charset="0"/>
                <a:ea typeface="Georgia" pitchFamily="34" charset="-122"/>
                <a:cs typeface="Georgia" pitchFamily="34" charset="-120"/>
              </a:rPr>
              <a:t>aCor = 2(ω × vrel)</a:t>
            </a:r>
            <a:endParaRPr lang="en-US" sz="1380" dirty="0"/>
          </a:p>
        </p:txBody>
      </p:sp>
      <p:sp>
        <p:nvSpPr>
          <p:cNvPr id="24" name="Shape 19"/>
          <p:cNvSpPr/>
          <p:nvPr/>
        </p:nvSpPr>
        <p:spPr>
          <a:xfrm>
            <a:off x="9646920" y="5056632"/>
            <a:ext cx="1645920" cy="493776"/>
          </a:xfrm>
          <a:prstGeom prst="roundRect">
            <a:avLst>
              <a:gd name="adj" fmla="val 7407"/>
            </a:avLst>
          </a:prstGeom>
          <a:solidFill>
            <a:srgbClr val="FFF8ED"/>
          </a:solidFill>
          <a:ln w="12700">
            <a:solidFill>
              <a:srgbClr val="9A5B00"/>
            </a:solidFill>
            <a:prstDash val="solid"/>
          </a:ln>
        </p:spPr>
      </p:sp>
      <p:sp>
        <p:nvSpPr>
          <p:cNvPr id="25" name="Text 20"/>
          <p:cNvSpPr txBox="1"/>
          <p:nvPr/>
        </p:nvSpPr>
        <p:spPr>
          <a:xfrm>
            <a:off x="9756648" y="5166360"/>
            <a:ext cx="1426464" cy="237744"/>
          </a:xfrm>
          <a:prstGeom prst="rect">
            <a:avLst/>
          </a:prstGeom>
          <a:noFill/>
          <a:ln/>
        </p:spPr>
        <p:txBody>
          <a:bodyPr wrap="square" lIns="0" tIns="0" rIns="0" bIns="0" rtlCol="0" anchor="ctr">
            <a:normAutofit/>
          </a:bodyPr>
          <a:lstStyle/>
          <a:p>
            <a:pPr marL="0" indent="0" algn="ctr">
              <a:buNone/>
            </a:pPr>
            <a:r>
              <a:rPr lang="en-US" sz="840" b="1" i="1" dirty="0">
                <a:solidFill>
                  <a:srgbClr val="9A5B00"/>
                </a:solidFill>
                <a:latin typeface="Arial" pitchFamily="34" charset="0"/>
                <a:ea typeface="Arial" pitchFamily="34" charset="-122"/>
                <a:cs typeface="Arial" pitchFamily="34" charset="-120"/>
              </a:rPr>
              <a:t>Ca minh họa · chưa thẩm định độc lập</a:t>
            </a:r>
            <a:endParaRPr lang="en-US" sz="840" dirty="0"/>
          </a:p>
        </p:txBody>
      </p:sp>
      <p:sp>
        <p:nvSpPr>
          <p:cNvPr id="26" name="Text 21"/>
          <p:cNvSpPr txBox="1"/>
          <p:nvPr/>
        </p:nvSpPr>
        <p:spPr>
          <a:xfrm>
            <a:off x="4846320" y="5641848"/>
            <a:ext cx="1417320" cy="155448"/>
          </a:xfrm>
          <a:prstGeom prst="rect">
            <a:avLst/>
          </a:prstGeom>
          <a:noFill/>
          <a:ln/>
        </p:spPr>
        <p:txBody>
          <a:bodyPr wrap="square" lIns="0" tIns="0" rIns="0" bIns="0" rtlCol="0" anchor="t">
            <a:normAutofit/>
          </a:bodyPr>
          <a:lstStyle/>
          <a:p>
            <a:pPr marL="0" indent="0" algn="l">
              <a:buNone/>
            </a:pPr>
            <a:r>
              <a:rPr lang="en-US" sz="920" b="1" dirty="0">
                <a:solidFill>
                  <a:srgbClr val="5B6B80"/>
                </a:solidFill>
                <a:latin typeface="Arial" pitchFamily="34" charset="0"/>
                <a:ea typeface="Arial" pitchFamily="34" charset="-122"/>
                <a:cs typeface="Arial" pitchFamily="34" charset="-120"/>
              </a:rPr>
              <a:t>ĐIỂM ĐỐI CHIẾU</a:t>
            </a:r>
            <a:endParaRPr lang="en-US" sz="920" dirty="0"/>
          </a:p>
        </p:txBody>
      </p:sp>
      <p:sp>
        <p:nvSpPr>
          <p:cNvPr id="27" name="Text 22"/>
          <p:cNvSpPr txBox="1"/>
          <p:nvPr/>
        </p:nvSpPr>
        <p:spPr>
          <a:xfrm>
            <a:off x="6236208" y="5568696"/>
            <a:ext cx="4809744" cy="329184"/>
          </a:xfrm>
          <a:prstGeom prst="rect">
            <a:avLst/>
          </a:prstGeom>
          <a:noFill/>
          <a:ln/>
        </p:spPr>
        <p:txBody>
          <a:bodyPr wrap="square" lIns="0" tIns="0" rIns="0" bIns="0" rtlCol="0" anchor="ctr">
            <a:normAutofit/>
          </a:bodyPr>
          <a:lstStyle/>
          <a:p>
            <a:pPr marL="0" indent="0" algn="l">
              <a:buNone/>
            </a:pPr>
            <a:r>
              <a:rPr lang="en-US" sz="1030" dirty="0">
                <a:solidFill>
                  <a:srgbClr val="243247"/>
                </a:solidFill>
                <a:latin typeface="Arial" pitchFamily="34" charset="0"/>
                <a:ea typeface="Arial" pitchFamily="34" charset="-122"/>
                <a:cs typeface="Arial" pitchFamily="34" charset="-120"/>
              </a:rPr>
              <a:t>Trường hợp phẳng: ω ⟂ vrel nên |aCor| = 2ω|vrel|. Đây là một thành phần, không phải toàn bộ gia tốc.</a:t>
            </a:r>
            <a:endParaRPr lang="en-US" sz="1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2800" b="1" dirty="0">
                <a:solidFill>
                  <a:srgbClr val="07182F"/>
                </a:solidFill>
                <a:latin typeface="Georgia" pitchFamily="34" charset="0"/>
                <a:ea typeface="Georgia" pitchFamily="34" charset="-122"/>
                <a:cs typeface="Georgia" pitchFamily="34" charset="-120"/>
              </a:rPr>
              <a:t>Ca đối chiếu khoa học 3 · Va chạm thẳng một chiều</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08</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Trong mô hình va chạm thẳng một chiều thụ động, tổng động lượng được bảo toàn khi xung lực ngoài theo phương va chạm không đáng kể.</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KQ-KHOA-HOC-3</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8</a:t>
            </a:r>
            <a:endParaRPr lang="en-US" sz="820" dirty="0"/>
          </a:p>
        </p:txBody>
      </p:sp>
      <p:sp>
        <p:nvSpPr>
          <p:cNvPr id="13" name="Shape 10"/>
          <p:cNvSpPr/>
          <p:nvPr/>
        </p:nvSpPr>
        <p:spPr>
          <a:xfrm>
            <a:off x="658368" y="1993392"/>
            <a:ext cx="3794760" cy="4041648"/>
          </a:xfrm>
          <a:prstGeom prst="roundRect">
            <a:avLst>
              <a:gd name="adj" fmla="val 964"/>
            </a:avLst>
          </a:prstGeom>
          <a:solidFill>
            <a:srgbClr val="FFFFFF"/>
          </a:solidFill>
          <a:ln w="12700">
            <a:solidFill>
              <a:srgbClr val="0D2447"/>
            </a:solidFill>
            <a:prstDash val="solid"/>
          </a:ln>
        </p:spPr>
      </p:sp>
      <p:pic>
        <p:nvPicPr>
          <p:cNvPr id="14" name="Image 0" descr="Sơ đồ nguyên lý · minh họa, không theo tỉ lệ"/>
          <p:cNvPicPr>
            <a:picLocks noChangeAspect="1"/>
          </p:cNvPicPr>
          <p:nvPr/>
        </p:nvPicPr>
        <p:blipFill>
          <a:blip r:embed="rId3"/>
          <a:stretch>
            <a:fillRect/>
          </a:stretch>
        </p:blipFill>
        <p:spPr>
          <a:xfrm>
            <a:off x="731520" y="2609240"/>
            <a:ext cx="3648456" cy="2553919"/>
          </a:xfrm>
          <a:prstGeom prst="rect">
            <a:avLst/>
          </a:prstGeom>
        </p:spPr>
      </p:pic>
      <p:sp>
        <p:nvSpPr>
          <p:cNvPr id="15" name="Text 11"/>
          <p:cNvSpPr txBox="1"/>
          <p:nvPr/>
        </p:nvSpPr>
        <p:spPr>
          <a:xfrm>
            <a:off x="768096" y="5815584"/>
            <a:ext cx="3575304"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Sơ đồ nguyên lý · minh họa, không theo tỉ lệ</a:t>
            </a:r>
            <a:endParaRPr lang="en-US" sz="850" dirty="0"/>
          </a:p>
        </p:txBody>
      </p:sp>
      <p:sp>
        <p:nvSpPr>
          <p:cNvPr id="16" name="Shape 12"/>
          <p:cNvSpPr/>
          <p:nvPr/>
        </p:nvSpPr>
        <p:spPr>
          <a:xfrm>
            <a:off x="4617720" y="1993392"/>
            <a:ext cx="6922008" cy="2743200"/>
          </a:xfrm>
          <a:prstGeom prst="roundRect">
            <a:avLst>
              <a:gd name="adj" fmla="val 1333"/>
            </a:avLst>
          </a:prstGeom>
          <a:solidFill>
            <a:srgbClr val="FFFFFF"/>
          </a:solidFill>
          <a:ln w="12700">
            <a:solidFill>
              <a:srgbClr val="0D2447"/>
            </a:solidFill>
            <a:prstDash val="solid"/>
          </a:ln>
        </p:spPr>
      </p:sp>
      <p:pic>
        <p:nvPicPr>
          <p:cNvPr id="17" name="Image 1" descr="ch3-6-2 · mô phỏng và giá trị hiển thị"/>
          <p:cNvPicPr>
            <a:picLocks noChangeAspect="1"/>
          </p:cNvPicPr>
          <p:nvPr/>
        </p:nvPicPr>
        <p:blipFill>
          <a:blip r:embed="rId4"/>
          <a:stretch>
            <a:fillRect/>
          </a:stretch>
        </p:blipFill>
        <p:spPr>
          <a:xfrm>
            <a:off x="5414982" y="2066544"/>
            <a:ext cx="5327484" cy="2340864"/>
          </a:xfrm>
          <a:prstGeom prst="rect">
            <a:avLst/>
          </a:prstGeom>
        </p:spPr>
      </p:pic>
      <p:sp>
        <p:nvSpPr>
          <p:cNvPr id="18" name="Text 13"/>
          <p:cNvSpPr txBox="1"/>
          <p:nvPr/>
        </p:nvSpPr>
        <p:spPr>
          <a:xfrm>
            <a:off x="4727448" y="4517136"/>
            <a:ext cx="6702552"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ch3-6-2 · mô phỏng và giá trị hiển thị</a:t>
            </a:r>
            <a:endParaRPr lang="en-US" sz="850" dirty="0"/>
          </a:p>
        </p:txBody>
      </p:sp>
      <p:sp>
        <p:nvSpPr>
          <p:cNvPr id="19" name="Shape 14"/>
          <p:cNvSpPr/>
          <p:nvPr/>
        </p:nvSpPr>
        <p:spPr>
          <a:xfrm>
            <a:off x="4617720" y="4919472"/>
            <a:ext cx="6922008" cy="1133856"/>
          </a:xfrm>
          <a:prstGeom prst="roundRect">
            <a:avLst>
              <a:gd name="adj" fmla="val 3226"/>
            </a:avLst>
          </a:prstGeom>
          <a:solidFill>
            <a:srgbClr val="FFFFFF"/>
          </a:solidFill>
          <a:ln w="12700">
            <a:solidFill>
              <a:srgbClr val="8E44AD"/>
            </a:solidFill>
            <a:prstDash val="solid"/>
          </a:ln>
        </p:spPr>
      </p:sp>
      <p:sp>
        <p:nvSpPr>
          <p:cNvPr id="20" name="Text 15"/>
          <p:cNvSpPr txBox="1"/>
          <p:nvPr/>
        </p:nvSpPr>
        <p:spPr>
          <a:xfrm>
            <a:off x="4828032" y="5047488"/>
            <a:ext cx="1975104" cy="164592"/>
          </a:xfrm>
          <a:prstGeom prst="rect">
            <a:avLst/>
          </a:prstGeom>
          <a:noFill/>
          <a:ln/>
        </p:spPr>
        <p:txBody>
          <a:bodyPr wrap="square" lIns="0" tIns="0" rIns="0" bIns="0" rtlCol="0" anchor="t">
            <a:normAutofit/>
          </a:bodyPr>
          <a:lstStyle/>
          <a:p>
            <a:pPr marL="0" indent="0" algn="l">
              <a:buNone/>
            </a:pPr>
            <a:r>
              <a:rPr lang="en-US" sz="980" b="1" dirty="0">
                <a:solidFill>
                  <a:srgbClr val="8E44AD"/>
                </a:solidFill>
                <a:latin typeface="Arial" pitchFamily="34" charset="0"/>
                <a:ea typeface="Arial" pitchFamily="34" charset="-122"/>
                <a:cs typeface="Arial" pitchFamily="34" charset="-120"/>
              </a:rPr>
              <a:t>ĐỘNG LỰC HỌC</a:t>
            </a:r>
            <a:endParaRPr lang="en-US" sz="980" dirty="0"/>
          </a:p>
        </p:txBody>
      </p:sp>
      <p:sp>
        <p:nvSpPr>
          <p:cNvPr id="21" name="Text 16"/>
          <p:cNvSpPr txBox="1"/>
          <p:nvPr/>
        </p:nvSpPr>
        <p:spPr>
          <a:xfrm>
            <a:off x="4828032" y="5230368"/>
            <a:ext cx="2148840" cy="310896"/>
          </a:xfrm>
          <a:prstGeom prst="rect">
            <a:avLst/>
          </a:prstGeom>
          <a:noFill/>
          <a:ln/>
        </p:spPr>
        <p:txBody>
          <a:bodyPr wrap="square" lIns="0" tIns="0" rIns="0" bIns="0" rtlCol="0" anchor="ctr">
            <a:normAutofit/>
          </a:bodyPr>
          <a:lstStyle/>
          <a:p>
            <a:pPr marL="0" indent="0" algn="l">
              <a:buNone/>
            </a:pPr>
            <a:r>
              <a:rPr lang="en-US" sz="1450" b="1" dirty="0">
                <a:solidFill>
                  <a:srgbClr val="07182F"/>
                </a:solidFill>
                <a:latin typeface="Georgia" pitchFamily="34" charset="0"/>
                <a:ea typeface="Georgia" pitchFamily="34" charset="-122"/>
                <a:cs typeface="Georgia" pitchFamily="34" charset="-120"/>
              </a:rPr>
              <a:t>Va chạm thẳng một chiều</a:t>
            </a:r>
            <a:endParaRPr lang="en-US" sz="1450" dirty="0"/>
          </a:p>
        </p:txBody>
      </p:sp>
      <p:sp>
        <p:nvSpPr>
          <p:cNvPr id="22" name="Shape 17"/>
          <p:cNvSpPr/>
          <p:nvPr/>
        </p:nvSpPr>
        <p:spPr>
          <a:xfrm>
            <a:off x="7114032" y="5056632"/>
            <a:ext cx="2395728" cy="493776"/>
          </a:xfrm>
          <a:prstGeom prst="roundRect">
            <a:avLst>
              <a:gd name="adj" fmla="val 7407"/>
            </a:avLst>
          </a:prstGeom>
          <a:solidFill>
            <a:srgbClr val="EEF2F7"/>
          </a:solidFill>
          <a:ln w="12700">
            <a:solidFill>
              <a:srgbClr val="D7DEE8"/>
            </a:solidFill>
            <a:prstDash val="solid"/>
          </a:ln>
        </p:spPr>
      </p:sp>
      <p:sp>
        <p:nvSpPr>
          <p:cNvPr id="23" name="Text 18"/>
          <p:cNvSpPr txBox="1"/>
          <p:nvPr/>
        </p:nvSpPr>
        <p:spPr>
          <a:xfrm>
            <a:off x="7242048" y="5184648"/>
            <a:ext cx="2139696" cy="219456"/>
          </a:xfrm>
          <a:prstGeom prst="rect">
            <a:avLst/>
          </a:prstGeom>
          <a:noFill/>
          <a:ln/>
        </p:spPr>
        <p:txBody>
          <a:bodyPr wrap="square" lIns="0" tIns="0" rIns="0" bIns="0" rtlCol="0" anchor="ctr">
            <a:normAutofit/>
          </a:bodyPr>
          <a:lstStyle/>
          <a:p>
            <a:pPr marL="0" indent="0" algn="ctr">
              <a:buNone/>
            </a:pPr>
            <a:r>
              <a:rPr lang="en-US" sz="1380" b="1" dirty="0">
                <a:solidFill>
                  <a:srgbClr val="0D2447"/>
                </a:solidFill>
                <a:latin typeface="Georgia" pitchFamily="34" charset="0"/>
                <a:ea typeface="Georgia" pitchFamily="34" charset="-122"/>
                <a:cs typeface="Georgia" pitchFamily="34" charset="-120"/>
              </a:rPr>
              <a:t>m₁u₁ + m₂u₂ = m₁v₁ + m₂v₂</a:t>
            </a:r>
            <a:endParaRPr lang="en-US" sz="1380" dirty="0"/>
          </a:p>
        </p:txBody>
      </p:sp>
      <p:sp>
        <p:nvSpPr>
          <p:cNvPr id="24" name="Shape 19"/>
          <p:cNvSpPr/>
          <p:nvPr/>
        </p:nvSpPr>
        <p:spPr>
          <a:xfrm>
            <a:off x="9646920" y="5056632"/>
            <a:ext cx="1645920" cy="493776"/>
          </a:xfrm>
          <a:prstGeom prst="roundRect">
            <a:avLst>
              <a:gd name="adj" fmla="val 7407"/>
            </a:avLst>
          </a:prstGeom>
          <a:solidFill>
            <a:srgbClr val="FFF8ED"/>
          </a:solidFill>
          <a:ln w="12700">
            <a:solidFill>
              <a:srgbClr val="9A5B00"/>
            </a:solidFill>
            <a:prstDash val="solid"/>
          </a:ln>
        </p:spPr>
      </p:sp>
      <p:sp>
        <p:nvSpPr>
          <p:cNvPr id="25" name="Text 20"/>
          <p:cNvSpPr txBox="1"/>
          <p:nvPr/>
        </p:nvSpPr>
        <p:spPr>
          <a:xfrm>
            <a:off x="9756648" y="5166360"/>
            <a:ext cx="1426464" cy="237744"/>
          </a:xfrm>
          <a:prstGeom prst="rect">
            <a:avLst/>
          </a:prstGeom>
          <a:noFill/>
          <a:ln/>
        </p:spPr>
        <p:txBody>
          <a:bodyPr wrap="square" lIns="0" tIns="0" rIns="0" bIns="0" rtlCol="0" anchor="ctr">
            <a:normAutofit/>
          </a:bodyPr>
          <a:lstStyle/>
          <a:p>
            <a:pPr marL="0" indent="0" algn="ctr">
              <a:buNone/>
            </a:pPr>
            <a:r>
              <a:rPr lang="en-US" sz="840" b="1" i="1" dirty="0">
                <a:solidFill>
                  <a:srgbClr val="9A5B00"/>
                </a:solidFill>
                <a:latin typeface="Arial" pitchFamily="34" charset="0"/>
                <a:ea typeface="Arial" pitchFamily="34" charset="-122"/>
                <a:cs typeface="Arial" pitchFamily="34" charset="-120"/>
              </a:rPr>
              <a:t>Ca minh họa · chưa thẩm định độc lập</a:t>
            </a:r>
            <a:endParaRPr lang="en-US" sz="840" dirty="0"/>
          </a:p>
        </p:txBody>
      </p:sp>
      <p:sp>
        <p:nvSpPr>
          <p:cNvPr id="26" name="Text 21"/>
          <p:cNvSpPr txBox="1"/>
          <p:nvPr/>
        </p:nvSpPr>
        <p:spPr>
          <a:xfrm>
            <a:off x="4846320" y="5641848"/>
            <a:ext cx="1417320" cy="155448"/>
          </a:xfrm>
          <a:prstGeom prst="rect">
            <a:avLst/>
          </a:prstGeom>
          <a:noFill/>
          <a:ln/>
        </p:spPr>
        <p:txBody>
          <a:bodyPr wrap="square" lIns="0" tIns="0" rIns="0" bIns="0" rtlCol="0" anchor="t">
            <a:normAutofit/>
          </a:bodyPr>
          <a:lstStyle/>
          <a:p>
            <a:pPr marL="0" indent="0" algn="l">
              <a:buNone/>
            </a:pPr>
            <a:r>
              <a:rPr lang="en-US" sz="920" b="1" dirty="0">
                <a:solidFill>
                  <a:srgbClr val="5B6B80"/>
                </a:solidFill>
                <a:latin typeface="Arial" pitchFamily="34" charset="0"/>
                <a:ea typeface="Arial" pitchFamily="34" charset="-122"/>
                <a:cs typeface="Arial" pitchFamily="34" charset="-120"/>
              </a:rPr>
              <a:t>ĐIỂM ĐỐI CHIẾU</a:t>
            </a:r>
            <a:endParaRPr lang="en-US" sz="920" dirty="0"/>
          </a:p>
        </p:txBody>
      </p:sp>
      <p:sp>
        <p:nvSpPr>
          <p:cNvPr id="27" name="Text 22"/>
          <p:cNvSpPr txBox="1"/>
          <p:nvPr/>
        </p:nvSpPr>
        <p:spPr>
          <a:xfrm>
            <a:off x="6236208" y="5568696"/>
            <a:ext cx="4809744" cy="329184"/>
          </a:xfrm>
          <a:prstGeom prst="rect">
            <a:avLst/>
          </a:prstGeom>
          <a:noFill/>
          <a:ln/>
        </p:spPr>
        <p:txBody>
          <a:bodyPr wrap="square" lIns="0" tIns="0" rIns="0" bIns="0" rtlCol="0" anchor="ctr">
            <a:normAutofit/>
          </a:bodyPr>
          <a:lstStyle/>
          <a:p>
            <a:pPr marL="0" indent="0" algn="l">
              <a:buNone/>
            </a:pPr>
            <a:r>
              <a:rPr lang="en-US" sz="1130" dirty="0">
                <a:solidFill>
                  <a:srgbClr val="243247"/>
                </a:solidFill>
                <a:latin typeface="Arial" pitchFamily="34" charset="0"/>
                <a:ea typeface="Arial" pitchFamily="34" charset="-122"/>
                <a:cs typeface="Arial" pitchFamily="34" charset="-120"/>
              </a:rPr>
              <a:t>Với 0 ≤ e ≤ 1; tổng động lượng bảo toàn khi xung lực ngoài theo phương va chạm không đáng kể.</a:t>
            </a:r>
            <a:endParaRPr lang="en-US" sz="11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Minh họa thao tác · Mô men của lực</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09</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Trong ca cố định θ = 90°, với F = 50 N và d⊥ = 4,00 m, M_O = +200 N·m nếu quy ước ngược chiều kim đồng hồ là dương.</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KQ-THAO-TAC</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9</a:t>
            </a:r>
            <a:endParaRPr lang="en-US" sz="820" dirty="0"/>
          </a:p>
        </p:txBody>
      </p:sp>
      <p:sp>
        <p:nvSpPr>
          <p:cNvPr id="13" name="Shape 10"/>
          <p:cNvSpPr/>
          <p:nvPr/>
        </p:nvSpPr>
        <p:spPr>
          <a:xfrm>
            <a:off x="658368" y="1956816"/>
            <a:ext cx="6720840" cy="4059936"/>
          </a:xfrm>
          <a:prstGeom prst="roundRect">
            <a:avLst>
              <a:gd name="adj" fmla="val 901"/>
            </a:avLst>
          </a:prstGeom>
          <a:solidFill>
            <a:srgbClr val="FFFFFF"/>
          </a:solidFill>
          <a:ln w="12700">
            <a:solidFill>
              <a:srgbClr val="0D2447"/>
            </a:solidFill>
            <a:prstDash val="solid"/>
          </a:ln>
        </p:spPr>
      </p:sp>
      <p:pic>
        <p:nvPicPr>
          <p:cNvPr id="14" name="Image 0" descr="Mô men của lực · ảnh dự phòng khi không demo trực tiếp"/>
          <p:cNvPicPr>
            <a:picLocks noChangeAspect="1"/>
          </p:cNvPicPr>
          <p:nvPr/>
        </p:nvPicPr>
        <p:blipFill>
          <a:blip r:embed="rId3"/>
          <a:stretch>
            <a:fillRect/>
          </a:stretch>
        </p:blipFill>
        <p:spPr>
          <a:xfrm>
            <a:off x="1384904" y="2029968"/>
            <a:ext cx="5267767" cy="3657600"/>
          </a:xfrm>
          <a:prstGeom prst="rect">
            <a:avLst/>
          </a:prstGeom>
        </p:spPr>
      </p:pic>
      <p:sp>
        <p:nvSpPr>
          <p:cNvPr id="15" name="Text 11"/>
          <p:cNvSpPr txBox="1"/>
          <p:nvPr/>
        </p:nvSpPr>
        <p:spPr>
          <a:xfrm>
            <a:off x="768096" y="5797296"/>
            <a:ext cx="6501384" cy="128016"/>
          </a:xfrm>
          <a:prstGeom prst="rect">
            <a:avLst/>
          </a:prstGeom>
          <a:noFill/>
          <a:ln/>
        </p:spPr>
        <p:txBody>
          <a:bodyPr wrap="square" lIns="0" tIns="0" rIns="0" bIns="0" rtlCol="0" anchor="t">
            <a:normAutofit/>
          </a:bodyPr>
          <a:lstStyle/>
          <a:p>
            <a:pPr marL="0" indent="0" algn="ctr">
              <a:buNone/>
            </a:pPr>
            <a:r>
              <a:rPr lang="en-US" sz="850" dirty="0">
                <a:solidFill>
                  <a:srgbClr val="5B6B80"/>
                </a:solidFill>
                <a:latin typeface="Arial" pitchFamily="34" charset="0"/>
                <a:ea typeface="Arial" pitchFamily="34" charset="-122"/>
                <a:cs typeface="Arial" pitchFamily="34" charset="-120"/>
              </a:rPr>
              <a:t>Mô men của lực · ảnh dự phòng khi không demo trực tiếp</a:t>
            </a:r>
            <a:endParaRPr lang="en-US" sz="850" dirty="0"/>
          </a:p>
        </p:txBody>
      </p:sp>
      <p:sp>
        <p:nvSpPr>
          <p:cNvPr id="16" name="Shape 12"/>
          <p:cNvSpPr/>
          <p:nvPr/>
        </p:nvSpPr>
        <p:spPr>
          <a:xfrm>
            <a:off x="7607808" y="1956816"/>
            <a:ext cx="3931920" cy="658368"/>
          </a:xfrm>
          <a:prstGeom prst="roundRect">
            <a:avLst>
              <a:gd name="adj" fmla="val 5556"/>
            </a:avLst>
          </a:prstGeom>
          <a:solidFill>
            <a:srgbClr val="07182F"/>
          </a:solidFill>
          <a:ln w="12700">
            <a:solidFill>
              <a:srgbClr val="C9963A"/>
            </a:solidFill>
            <a:prstDash val="solid"/>
          </a:ln>
        </p:spPr>
      </p:sp>
      <p:sp>
        <p:nvSpPr>
          <p:cNvPr id="17" name="Text 13"/>
          <p:cNvSpPr txBox="1"/>
          <p:nvPr/>
        </p:nvSpPr>
        <p:spPr>
          <a:xfrm>
            <a:off x="7818120" y="2139696"/>
            <a:ext cx="3511296" cy="292608"/>
          </a:xfrm>
          <a:prstGeom prst="rect">
            <a:avLst/>
          </a:prstGeom>
          <a:noFill/>
          <a:ln/>
        </p:spPr>
        <p:txBody>
          <a:bodyPr wrap="square" lIns="0" tIns="0" rIns="0" bIns="0" rtlCol="0" anchor="ctr">
            <a:normAutofit/>
          </a:bodyPr>
          <a:lstStyle/>
          <a:p>
            <a:pPr marL="0" indent="0" algn="ctr">
              <a:buNone/>
            </a:pPr>
            <a:r>
              <a:rPr lang="en-US" sz="1800" b="1" dirty="0">
                <a:solidFill>
                  <a:srgbClr val="DBB36A"/>
                </a:solidFill>
                <a:latin typeface="Georgia" pitchFamily="34" charset="0"/>
                <a:ea typeface="Georgia" pitchFamily="34" charset="-122"/>
                <a:cs typeface="Georgia" pitchFamily="34" charset="-120"/>
              </a:rPr>
              <a:t>M_O = Fd⊥ = rF sin90° = +200 N·m</a:t>
            </a:r>
            <a:endParaRPr lang="en-US" sz="1800" dirty="0"/>
          </a:p>
        </p:txBody>
      </p:sp>
      <p:sp>
        <p:nvSpPr>
          <p:cNvPr id="18" name="Text 14"/>
          <p:cNvSpPr txBox="1"/>
          <p:nvPr/>
        </p:nvSpPr>
        <p:spPr>
          <a:xfrm>
            <a:off x="7626096" y="2871216"/>
            <a:ext cx="1005840" cy="219456"/>
          </a:xfrm>
          <a:prstGeom prst="rect">
            <a:avLst/>
          </a:prstGeom>
          <a:noFill/>
          <a:ln/>
        </p:spPr>
        <p:txBody>
          <a:bodyPr wrap="square" lIns="0" tIns="0" rIns="0" bIns="0" rtlCol="0" anchor="t">
            <a:normAutofit/>
          </a:bodyPr>
          <a:lstStyle/>
          <a:p>
            <a:pPr marL="0" indent="0" algn="ctr">
              <a:buNone/>
            </a:pPr>
            <a:r>
              <a:rPr lang="en-US" sz="1150" b="1" dirty="0">
                <a:solidFill>
                  <a:srgbClr val="C9963A"/>
                </a:solidFill>
                <a:latin typeface="Arial" pitchFamily="34" charset="0"/>
                <a:ea typeface="Arial" pitchFamily="34" charset="-122"/>
                <a:cs typeface="Arial" pitchFamily="34" charset="-120"/>
              </a:rPr>
              <a:t>00:00–00:15</a:t>
            </a:r>
            <a:endParaRPr lang="en-US" sz="1150" dirty="0"/>
          </a:p>
        </p:txBody>
      </p:sp>
      <p:sp>
        <p:nvSpPr>
          <p:cNvPr id="19" name="Shape 15"/>
          <p:cNvSpPr/>
          <p:nvPr/>
        </p:nvSpPr>
        <p:spPr>
          <a:xfrm>
            <a:off x="8705088" y="2761488"/>
            <a:ext cx="2834640" cy="512064"/>
          </a:xfrm>
          <a:prstGeom prst="roundRect">
            <a:avLst>
              <a:gd name="adj" fmla="val 7143"/>
            </a:avLst>
          </a:prstGeom>
          <a:solidFill>
            <a:srgbClr val="FFFFFF"/>
          </a:solidFill>
          <a:ln w="12700">
            <a:solidFill>
              <a:srgbClr val="D7DEE8"/>
            </a:solidFill>
            <a:prstDash val="solid"/>
          </a:ln>
        </p:spPr>
      </p:sp>
      <p:sp>
        <p:nvSpPr>
          <p:cNvPr id="20" name="Text 16"/>
          <p:cNvSpPr txBox="1"/>
          <p:nvPr/>
        </p:nvSpPr>
        <p:spPr>
          <a:xfrm>
            <a:off x="8869680" y="2825496"/>
            <a:ext cx="914400" cy="219456"/>
          </a:xfrm>
          <a:prstGeom prst="rect">
            <a:avLst/>
          </a:prstGeom>
          <a:noFill/>
          <a:ln/>
        </p:spPr>
        <p:txBody>
          <a:bodyPr wrap="square" lIns="0" tIns="0" rIns="0" bIns="0" rtlCol="0" anchor="t">
            <a:normAutofit/>
          </a:bodyPr>
          <a:lstStyle/>
          <a:p>
            <a:pPr marL="0" indent="0" algn="l">
              <a:buNone/>
            </a:pPr>
            <a:r>
              <a:rPr lang="en-US" sz="1550" b="1" dirty="0">
                <a:solidFill>
                  <a:srgbClr val="07182F"/>
                </a:solidFill>
                <a:latin typeface="Arial" pitchFamily="34" charset="0"/>
                <a:ea typeface="Arial" pitchFamily="34" charset="-122"/>
                <a:cs typeface="Arial" pitchFamily="34" charset="-120"/>
              </a:rPr>
              <a:t>Mở bài</a:t>
            </a:r>
            <a:endParaRPr lang="en-US" sz="1550" dirty="0"/>
          </a:p>
        </p:txBody>
      </p:sp>
      <p:sp>
        <p:nvSpPr>
          <p:cNvPr id="21" name="Text 17"/>
          <p:cNvSpPr txBox="1"/>
          <p:nvPr/>
        </p:nvSpPr>
        <p:spPr>
          <a:xfrm>
            <a:off x="9820656" y="2816352"/>
            <a:ext cx="1554480" cy="310896"/>
          </a:xfrm>
          <a:prstGeom prst="rect">
            <a:avLst/>
          </a:prstGeom>
          <a:noFill/>
          <a:ln/>
        </p:spPr>
        <p:txBody>
          <a:bodyPr wrap="square" lIns="0" tIns="0" rIns="0" bIns="0" rtlCol="0" anchor="ctr">
            <a:normAutofit/>
          </a:bodyPr>
          <a:lstStyle/>
          <a:p>
            <a:pPr marL="0" indent="0" algn="l">
              <a:buNone/>
            </a:pPr>
            <a:r>
              <a:rPr lang="en-US" sz="1320" dirty="0">
                <a:solidFill>
                  <a:srgbClr val="5B6B80"/>
                </a:solidFill>
                <a:latin typeface="Arial" pitchFamily="34" charset="0"/>
                <a:ea typeface="Arial" pitchFamily="34" charset="-122"/>
                <a:cs typeface="Arial" pitchFamily="34" charset="-120"/>
              </a:rPr>
              <a:t>Chương 1 › Mô men của lực</a:t>
            </a:r>
            <a:endParaRPr lang="en-US" sz="1320" dirty="0"/>
          </a:p>
        </p:txBody>
      </p:sp>
      <p:sp>
        <p:nvSpPr>
          <p:cNvPr id="22" name="Text 18"/>
          <p:cNvSpPr txBox="1"/>
          <p:nvPr/>
        </p:nvSpPr>
        <p:spPr>
          <a:xfrm>
            <a:off x="7626096" y="3502152"/>
            <a:ext cx="1005840" cy="219456"/>
          </a:xfrm>
          <a:prstGeom prst="rect">
            <a:avLst/>
          </a:prstGeom>
          <a:noFill/>
          <a:ln/>
        </p:spPr>
        <p:txBody>
          <a:bodyPr wrap="square" lIns="0" tIns="0" rIns="0" bIns="0" rtlCol="0" anchor="t">
            <a:normAutofit/>
          </a:bodyPr>
          <a:lstStyle/>
          <a:p>
            <a:pPr marL="0" indent="0" algn="ctr">
              <a:buNone/>
            </a:pPr>
            <a:r>
              <a:rPr lang="en-US" sz="1150" b="1" dirty="0">
                <a:solidFill>
                  <a:srgbClr val="C9963A"/>
                </a:solidFill>
                <a:latin typeface="Arial" pitchFamily="34" charset="0"/>
                <a:ea typeface="Arial" pitchFamily="34" charset="-122"/>
                <a:cs typeface="Arial" pitchFamily="34" charset="-120"/>
              </a:rPr>
              <a:t>00:15–00:30</a:t>
            </a:r>
            <a:endParaRPr lang="en-US" sz="1150" dirty="0"/>
          </a:p>
        </p:txBody>
      </p:sp>
      <p:sp>
        <p:nvSpPr>
          <p:cNvPr id="23" name="Shape 19"/>
          <p:cNvSpPr/>
          <p:nvPr/>
        </p:nvSpPr>
        <p:spPr>
          <a:xfrm>
            <a:off x="8705088" y="3392424"/>
            <a:ext cx="2834640" cy="512064"/>
          </a:xfrm>
          <a:prstGeom prst="roundRect">
            <a:avLst>
              <a:gd name="adj" fmla="val 7143"/>
            </a:avLst>
          </a:prstGeom>
          <a:solidFill>
            <a:srgbClr val="FFFFFF"/>
          </a:solidFill>
          <a:ln w="12700">
            <a:solidFill>
              <a:srgbClr val="D7DEE8"/>
            </a:solidFill>
            <a:prstDash val="solid"/>
          </a:ln>
        </p:spPr>
      </p:sp>
      <p:sp>
        <p:nvSpPr>
          <p:cNvPr id="24" name="Text 20"/>
          <p:cNvSpPr txBox="1"/>
          <p:nvPr/>
        </p:nvSpPr>
        <p:spPr>
          <a:xfrm>
            <a:off x="8869680" y="3456432"/>
            <a:ext cx="914400" cy="219456"/>
          </a:xfrm>
          <a:prstGeom prst="rect">
            <a:avLst/>
          </a:prstGeom>
          <a:noFill/>
          <a:ln/>
        </p:spPr>
        <p:txBody>
          <a:bodyPr wrap="square" lIns="0" tIns="0" rIns="0" bIns="0" rtlCol="0" anchor="t">
            <a:normAutofit/>
          </a:bodyPr>
          <a:lstStyle/>
          <a:p>
            <a:pPr marL="0" indent="0" algn="l">
              <a:buNone/>
            </a:pPr>
            <a:r>
              <a:rPr lang="en-US" sz="1550" b="1" dirty="0">
                <a:solidFill>
                  <a:srgbClr val="07182F"/>
                </a:solidFill>
                <a:latin typeface="Arial" pitchFamily="34" charset="0"/>
                <a:ea typeface="Arial" pitchFamily="34" charset="-122"/>
                <a:cs typeface="Arial" pitchFamily="34" charset="-120"/>
              </a:rPr>
              <a:t>Xác định hình học</a:t>
            </a:r>
            <a:endParaRPr lang="en-US" sz="1550" dirty="0"/>
          </a:p>
        </p:txBody>
      </p:sp>
      <p:sp>
        <p:nvSpPr>
          <p:cNvPr id="25" name="Text 21"/>
          <p:cNvSpPr txBox="1"/>
          <p:nvPr/>
        </p:nvSpPr>
        <p:spPr>
          <a:xfrm>
            <a:off x="9820656" y="3447288"/>
            <a:ext cx="1554480" cy="310896"/>
          </a:xfrm>
          <a:prstGeom prst="rect">
            <a:avLst/>
          </a:prstGeom>
          <a:noFill/>
          <a:ln/>
        </p:spPr>
        <p:txBody>
          <a:bodyPr wrap="square" lIns="0" tIns="0" rIns="0" bIns="0" rtlCol="0" anchor="ctr">
            <a:normAutofit/>
          </a:bodyPr>
          <a:lstStyle/>
          <a:p>
            <a:pPr marL="0" indent="0" algn="l">
              <a:buNone/>
            </a:pPr>
            <a:r>
              <a:rPr lang="en-US" sz="1320" dirty="0">
                <a:solidFill>
                  <a:srgbClr val="5B6B80"/>
                </a:solidFill>
                <a:latin typeface="Arial" pitchFamily="34" charset="0"/>
                <a:ea typeface="Arial" pitchFamily="34" charset="-122"/>
                <a:cs typeface="Arial" pitchFamily="34" charset="-120"/>
              </a:rPr>
              <a:t>Điểm O cố định; θ = 90°; d⊥ là khoảng cách vuông góc</a:t>
            </a:r>
            <a:endParaRPr lang="en-US" sz="1320" dirty="0"/>
          </a:p>
        </p:txBody>
      </p:sp>
      <p:sp>
        <p:nvSpPr>
          <p:cNvPr id="26" name="Text 22"/>
          <p:cNvSpPr txBox="1"/>
          <p:nvPr/>
        </p:nvSpPr>
        <p:spPr>
          <a:xfrm>
            <a:off x="7626096" y="4133088"/>
            <a:ext cx="1005840" cy="219456"/>
          </a:xfrm>
          <a:prstGeom prst="rect">
            <a:avLst/>
          </a:prstGeom>
          <a:noFill/>
          <a:ln/>
        </p:spPr>
        <p:txBody>
          <a:bodyPr wrap="square" lIns="0" tIns="0" rIns="0" bIns="0" rtlCol="0" anchor="t">
            <a:normAutofit/>
          </a:bodyPr>
          <a:lstStyle/>
          <a:p>
            <a:pPr marL="0" indent="0" algn="ctr">
              <a:buNone/>
            </a:pPr>
            <a:r>
              <a:rPr lang="en-US" sz="1150" b="1" dirty="0">
                <a:solidFill>
                  <a:srgbClr val="C9963A"/>
                </a:solidFill>
                <a:latin typeface="Arial" pitchFamily="34" charset="0"/>
                <a:ea typeface="Arial" pitchFamily="34" charset="-122"/>
                <a:cs typeface="Arial" pitchFamily="34" charset="-120"/>
              </a:rPr>
              <a:t>00:30–01:00</a:t>
            </a:r>
            <a:endParaRPr lang="en-US" sz="1150" dirty="0"/>
          </a:p>
        </p:txBody>
      </p:sp>
      <p:sp>
        <p:nvSpPr>
          <p:cNvPr id="27" name="Shape 23"/>
          <p:cNvSpPr/>
          <p:nvPr/>
        </p:nvSpPr>
        <p:spPr>
          <a:xfrm>
            <a:off x="8705088" y="4023360"/>
            <a:ext cx="2834640" cy="512064"/>
          </a:xfrm>
          <a:prstGeom prst="roundRect">
            <a:avLst>
              <a:gd name="adj" fmla="val 7143"/>
            </a:avLst>
          </a:prstGeom>
          <a:solidFill>
            <a:srgbClr val="EEF7F2"/>
          </a:solidFill>
          <a:ln w="12700">
            <a:solidFill>
              <a:srgbClr val="137A3D"/>
            </a:solidFill>
            <a:prstDash val="solid"/>
          </a:ln>
        </p:spPr>
      </p:sp>
      <p:sp>
        <p:nvSpPr>
          <p:cNvPr id="28" name="Text 24"/>
          <p:cNvSpPr txBox="1"/>
          <p:nvPr/>
        </p:nvSpPr>
        <p:spPr>
          <a:xfrm>
            <a:off x="8869680" y="4087368"/>
            <a:ext cx="914400" cy="219456"/>
          </a:xfrm>
          <a:prstGeom prst="rect">
            <a:avLst/>
          </a:prstGeom>
          <a:noFill/>
          <a:ln/>
        </p:spPr>
        <p:txBody>
          <a:bodyPr wrap="square" lIns="0" tIns="0" rIns="0" bIns="0" rtlCol="0" anchor="t">
            <a:normAutofit/>
          </a:bodyPr>
          <a:lstStyle/>
          <a:p>
            <a:pPr marL="0" indent="0" algn="l">
              <a:buNone/>
            </a:pPr>
            <a:r>
              <a:rPr lang="en-US" sz="1550" b="1" dirty="0">
                <a:solidFill>
                  <a:srgbClr val="07182F"/>
                </a:solidFill>
                <a:latin typeface="Arial" pitchFamily="34" charset="0"/>
                <a:ea typeface="Arial" pitchFamily="34" charset="-122"/>
                <a:cs typeface="Arial" pitchFamily="34" charset="-120"/>
              </a:rPr>
              <a:t>Thay đổi cánh tay đòn</a:t>
            </a:r>
            <a:endParaRPr lang="en-US" sz="1550" dirty="0"/>
          </a:p>
        </p:txBody>
      </p:sp>
      <p:sp>
        <p:nvSpPr>
          <p:cNvPr id="29" name="Text 25"/>
          <p:cNvSpPr txBox="1"/>
          <p:nvPr/>
        </p:nvSpPr>
        <p:spPr>
          <a:xfrm>
            <a:off x="9820656" y="4078224"/>
            <a:ext cx="1554480" cy="310896"/>
          </a:xfrm>
          <a:prstGeom prst="rect">
            <a:avLst/>
          </a:prstGeom>
          <a:noFill/>
          <a:ln/>
        </p:spPr>
        <p:txBody>
          <a:bodyPr wrap="square" lIns="0" tIns="0" rIns="0" bIns="0" rtlCol="0" anchor="ctr">
            <a:normAutofit/>
          </a:bodyPr>
          <a:lstStyle/>
          <a:p>
            <a:pPr marL="0" indent="0" algn="l">
              <a:buNone/>
            </a:pPr>
            <a:r>
              <a:rPr lang="en-US" sz="1320" dirty="0">
                <a:solidFill>
                  <a:srgbClr val="5B6B80"/>
                </a:solidFill>
                <a:latin typeface="Arial" pitchFamily="34" charset="0"/>
                <a:ea typeface="Arial" pitchFamily="34" charset="-122"/>
                <a:cs typeface="Arial" pitchFamily="34" charset="-120"/>
              </a:rPr>
              <a:t>Giữ F = 50 N; kéo điểm đặt lực đến d⊥ = 4,00 m</a:t>
            </a:r>
            <a:endParaRPr lang="en-US" sz="1320" dirty="0"/>
          </a:p>
        </p:txBody>
      </p:sp>
      <p:sp>
        <p:nvSpPr>
          <p:cNvPr id="30" name="Text 26"/>
          <p:cNvSpPr txBox="1"/>
          <p:nvPr/>
        </p:nvSpPr>
        <p:spPr>
          <a:xfrm>
            <a:off x="7626096" y="4764024"/>
            <a:ext cx="1005840" cy="219456"/>
          </a:xfrm>
          <a:prstGeom prst="rect">
            <a:avLst/>
          </a:prstGeom>
          <a:noFill/>
          <a:ln/>
        </p:spPr>
        <p:txBody>
          <a:bodyPr wrap="square" lIns="0" tIns="0" rIns="0" bIns="0" rtlCol="0" anchor="t">
            <a:normAutofit/>
          </a:bodyPr>
          <a:lstStyle/>
          <a:p>
            <a:pPr marL="0" indent="0" algn="ctr">
              <a:buNone/>
            </a:pPr>
            <a:r>
              <a:rPr lang="en-US" sz="1150" b="1" dirty="0">
                <a:solidFill>
                  <a:srgbClr val="C9963A"/>
                </a:solidFill>
                <a:latin typeface="Arial" pitchFamily="34" charset="0"/>
                <a:ea typeface="Arial" pitchFamily="34" charset="-122"/>
                <a:cs typeface="Arial" pitchFamily="34" charset="-120"/>
              </a:rPr>
              <a:t>01:00–01:15</a:t>
            </a:r>
            <a:endParaRPr lang="en-US" sz="1150" dirty="0"/>
          </a:p>
        </p:txBody>
      </p:sp>
      <p:sp>
        <p:nvSpPr>
          <p:cNvPr id="31" name="Shape 27"/>
          <p:cNvSpPr/>
          <p:nvPr/>
        </p:nvSpPr>
        <p:spPr>
          <a:xfrm>
            <a:off x="8705088" y="4654296"/>
            <a:ext cx="2834640" cy="512064"/>
          </a:xfrm>
          <a:prstGeom prst="roundRect">
            <a:avLst>
              <a:gd name="adj" fmla="val 7143"/>
            </a:avLst>
          </a:prstGeom>
          <a:solidFill>
            <a:srgbClr val="FFFFFF"/>
          </a:solidFill>
          <a:ln w="12700">
            <a:solidFill>
              <a:srgbClr val="D7DEE8"/>
            </a:solidFill>
            <a:prstDash val="solid"/>
          </a:ln>
        </p:spPr>
      </p:sp>
      <p:sp>
        <p:nvSpPr>
          <p:cNvPr id="32" name="Text 28"/>
          <p:cNvSpPr txBox="1"/>
          <p:nvPr/>
        </p:nvSpPr>
        <p:spPr>
          <a:xfrm>
            <a:off x="8869680" y="4718304"/>
            <a:ext cx="914400" cy="219456"/>
          </a:xfrm>
          <a:prstGeom prst="rect">
            <a:avLst/>
          </a:prstGeom>
          <a:noFill/>
          <a:ln/>
        </p:spPr>
        <p:txBody>
          <a:bodyPr wrap="square" lIns="0" tIns="0" rIns="0" bIns="0" rtlCol="0" anchor="t">
            <a:normAutofit/>
          </a:bodyPr>
          <a:lstStyle/>
          <a:p>
            <a:pPr marL="0" indent="0" algn="l">
              <a:buNone/>
            </a:pPr>
            <a:r>
              <a:rPr lang="en-US" sz="1550" b="1" dirty="0">
                <a:solidFill>
                  <a:srgbClr val="07182F"/>
                </a:solidFill>
                <a:latin typeface="Arial" pitchFamily="34" charset="0"/>
                <a:ea typeface="Arial" pitchFamily="34" charset="-122"/>
                <a:cs typeface="Arial" pitchFamily="34" charset="-120"/>
              </a:rPr>
              <a:t>Đọc kết quả</a:t>
            </a:r>
            <a:endParaRPr lang="en-US" sz="1550" dirty="0"/>
          </a:p>
        </p:txBody>
      </p:sp>
      <p:sp>
        <p:nvSpPr>
          <p:cNvPr id="33" name="Text 29"/>
          <p:cNvSpPr txBox="1"/>
          <p:nvPr/>
        </p:nvSpPr>
        <p:spPr>
          <a:xfrm>
            <a:off x="9820656" y="4709160"/>
            <a:ext cx="1554480" cy="310896"/>
          </a:xfrm>
          <a:prstGeom prst="rect">
            <a:avLst/>
          </a:prstGeom>
          <a:noFill/>
          <a:ln/>
        </p:spPr>
        <p:txBody>
          <a:bodyPr wrap="square" lIns="0" tIns="0" rIns="0" bIns="0" rtlCol="0" anchor="ctr">
            <a:normAutofit/>
          </a:bodyPr>
          <a:lstStyle/>
          <a:p>
            <a:pPr marL="0" indent="0" algn="l">
              <a:buNone/>
            </a:pPr>
            <a:r>
              <a:rPr lang="en-US" sz="1320" dirty="0">
                <a:solidFill>
                  <a:srgbClr val="5B6B80"/>
                </a:solidFill>
                <a:latin typeface="Arial" pitchFamily="34" charset="0"/>
                <a:ea typeface="Arial" pitchFamily="34" charset="-122"/>
                <a:cs typeface="Arial" pitchFamily="34" charset="-120"/>
              </a:rPr>
              <a:t>F = 50 N → M_O = +200 N·m</a:t>
            </a:r>
            <a:endParaRPr lang="en-US" sz="1320" dirty="0"/>
          </a:p>
        </p:txBody>
      </p:sp>
      <p:sp>
        <p:nvSpPr>
          <p:cNvPr id="34" name="Text 30"/>
          <p:cNvSpPr txBox="1"/>
          <p:nvPr/>
        </p:nvSpPr>
        <p:spPr>
          <a:xfrm>
            <a:off x="7626096" y="5394960"/>
            <a:ext cx="1005840" cy="219456"/>
          </a:xfrm>
          <a:prstGeom prst="rect">
            <a:avLst/>
          </a:prstGeom>
          <a:noFill/>
          <a:ln/>
        </p:spPr>
        <p:txBody>
          <a:bodyPr wrap="square" lIns="0" tIns="0" rIns="0" bIns="0" rtlCol="0" anchor="t">
            <a:normAutofit/>
          </a:bodyPr>
          <a:lstStyle/>
          <a:p>
            <a:pPr marL="0" indent="0" algn="ctr">
              <a:buNone/>
            </a:pPr>
            <a:r>
              <a:rPr lang="en-US" sz="1150" b="1" dirty="0">
                <a:solidFill>
                  <a:srgbClr val="C9963A"/>
                </a:solidFill>
                <a:latin typeface="Arial" pitchFamily="34" charset="0"/>
                <a:ea typeface="Arial" pitchFamily="34" charset="-122"/>
                <a:cs typeface="Arial" pitchFamily="34" charset="-120"/>
              </a:rPr>
              <a:t>01:15–01:30</a:t>
            </a:r>
            <a:endParaRPr lang="en-US" sz="1150" dirty="0"/>
          </a:p>
        </p:txBody>
      </p:sp>
      <p:sp>
        <p:nvSpPr>
          <p:cNvPr id="35" name="Shape 31"/>
          <p:cNvSpPr/>
          <p:nvPr/>
        </p:nvSpPr>
        <p:spPr>
          <a:xfrm>
            <a:off x="8705088" y="5285232"/>
            <a:ext cx="2834640" cy="512064"/>
          </a:xfrm>
          <a:prstGeom prst="roundRect">
            <a:avLst>
              <a:gd name="adj" fmla="val 7143"/>
            </a:avLst>
          </a:prstGeom>
          <a:solidFill>
            <a:srgbClr val="FFFFFF"/>
          </a:solidFill>
          <a:ln w="12700">
            <a:solidFill>
              <a:srgbClr val="D7DEE8"/>
            </a:solidFill>
            <a:prstDash val="solid"/>
          </a:ln>
        </p:spPr>
      </p:sp>
      <p:sp>
        <p:nvSpPr>
          <p:cNvPr id="36" name="Text 32"/>
          <p:cNvSpPr txBox="1"/>
          <p:nvPr/>
        </p:nvSpPr>
        <p:spPr>
          <a:xfrm>
            <a:off x="8869680" y="5349240"/>
            <a:ext cx="914400" cy="219456"/>
          </a:xfrm>
          <a:prstGeom prst="rect">
            <a:avLst/>
          </a:prstGeom>
          <a:noFill/>
          <a:ln/>
        </p:spPr>
        <p:txBody>
          <a:bodyPr wrap="square" lIns="0" tIns="0" rIns="0" bIns="0" rtlCol="0" anchor="t">
            <a:normAutofit/>
          </a:bodyPr>
          <a:lstStyle/>
          <a:p>
            <a:pPr marL="0" indent="0" algn="l">
              <a:buNone/>
            </a:pPr>
            <a:r>
              <a:rPr lang="en-US" sz="1550" b="1" dirty="0">
                <a:solidFill>
                  <a:srgbClr val="07182F"/>
                </a:solidFill>
                <a:latin typeface="Arial" pitchFamily="34" charset="0"/>
                <a:ea typeface="Arial" pitchFamily="34" charset="-122"/>
                <a:cs typeface="Arial" pitchFamily="34" charset="-120"/>
              </a:rPr>
              <a:t>Đối chiếu nguồn</a:t>
            </a:r>
            <a:endParaRPr lang="en-US" sz="1550" dirty="0"/>
          </a:p>
        </p:txBody>
      </p:sp>
      <p:sp>
        <p:nvSpPr>
          <p:cNvPr id="37" name="Text 33"/>
          <p:cNvSpPr txBox="1"/>
          <p:nvPr/>
        </p:nvSpPr>
        <p:spPr>
          <a:xfrm>
            <a:off x="9820656" y="5340096"/>
            <a:ext cx="1554480" cy="310896"/>
          </a:xfrm>
          <a:prstGeom prst="rect">
            <a:avLst/>
          </a:prstGeom>
          <a:noFill/>
          <a:ln/>
        </p:spPr>
        <p:txBody>
          <a:bodyPr wrap="square" lIns="0" tIns="0" rIns="0" bIns="0" rtlCol="0" anchor="ctr">
            <a:normAutofit/>
          </a:bodyPr>
          <a:lstStyle/>
          <a:p>
            <a:pPr marL="0" indent="0" algn="l">
              <a:buNone/>
            </a:pPr>
            <a:r>
              <a:rPr lang="en-US" sz="1320" dirty="0">
                <a:solidFill>
                  <a:srgbClr val="5B6B80"/>
                </a:solidFill>
                <a:latin typeface="Arial" pitchFamily="34" charset="0"/>
                <a:ea typeface="Arial" pitchFamily="34" charset="-122"/>
                <a:cs typeface="Arial" pitchFamily="34" charset="-120"/>
              </a:rPr>
              <a:t>Mở PDF cục bộ, đối chiếu công thức rồi quay lại bài</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Căn cứ Hội đồng có thể kiểm tra</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10</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108 mục/trang hiển thị (45 Chương 1 · 29 Chương 2 · 31 Chương 3 · 3 mục bổ trợ) là số liệu phạm vi, không phải điểm chất lượng.</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KQ-CAN-CU</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10</a:t>
            </a:r>
            <a:endParaRPr lang="en-US" sz="820" dirty="0"/>
          </a:p>
        </p:txBody>
      </p:sp>
      <p:sp>
        <p:nvSpPr>
          <p:cNvPr id="13" name="Text 10"/>
          <p:cNvSpPr txBox="1"/>
          <p:nvPr/>
        </p:nvSpPr>
        <p:spPr>
          <a:xfrm>
            <a:off x="768096" y="2029968"/>
            <a:ext cx="3657600" cy="237744"/>
          </a:xfrm>
          <a:prstGeom prst="rect">
            <a:avLst/>
          </a:prstGeom>
          <a:noFill/>
          <a:ln/>
        </p:spPr>
        <p:txBody>
          <a:bodyPr wrap="square" lIns="0" tIns="0" rIns="0" bIns="0" rtlCol="0" anchor="t">
            <a:normAutofit/>
          </a:bodyPr>
          <a:lstStyle/>
          <a:p>
            <a:pPr marL="0" indent="0" algn="l">
              <a:buNone/>
            </a:pPr>
            <a:r>
              <a:rPr lang="en-US" sz="1300" b="1" dirty="0">
                <a:solidFill>
                  <a:srgbClr val="15355F"/>
                </a:solidFill>
                <a:latin typeface="Arial" pitchFamily="34" charset="0"/>
                <a:ea typeface="Arial" pitchFamily="34" charset="-122"/>
                <a:cs typeface="Arial" pitchFamily="34" charset="-120"/>
              </a:rPr>
              <a:t>NGUỒN CÓ THỂ MỞ</a:t>
            </a:r>
            <a:endParaRPr lang="en-US" sz="1300" dirty="0"/>
          </a:p>
        </p:txBody>
      </p:sp>
      <p:sp>
        <p:nvSpPr>
          <p:cNvPr id="14" name="Text 11"/>
          <p:cNvSpPr txBox="1"/>
          <p:nvPr/>
        </p:nvSpPr>
        <p:spPr>
          <a:xfrm>
            <a:off x="5010912" y="2029968"/>
            <a:ext cx="6309360" cy="237744"/>
          </a:xfrm>
          <a:prstGeom prst="rect">
            <a:avLst/>
          </a:prstGeom>
          <a:noFill/>
          <a:ln/>
        </p:spPr>
        <p:txBody>
          <a:bodyPr wrap="square" lIns="0" tIns="0" rIns="0" bIns="0" rtlCol="0" anchor="t">
            <a:normAutofit/>
          </a:bodyPr>
          <a:lstStyle/>
          <a:p>
            <a:pPr marL="0" indent="0" algn="l">
              <a:buNone/>
            </a:pPr>
            <a:r>
              <a:rPr lang="en-US" sz="1300" b="1" dirty="0">
                <a:solidFill>
                  <a:srgbClr val="15355F"/>
                </a:solidFill>
                <a:latin typeface="Arial" pitchFamily="34" charset="0"/>
                <a:ea typeface="Arial" pitchFamily="34" charset="-122"/>
                <a:cs typeface="Arial" pitchFamily="34" charset="-120"/>
              </a:rPr>
              <a:t>NHÓM CĂN CỨ CÓ THỂ ĐỐI CHIẾU</a:t>
            </a:r>
            <a:endParaRPr lang="en-US" sz="1300" dirty="0"/>
          </a:p>
        </p:txBody>
      </p:sp>
      <p:sp>
        <p:nvSpPr>
          <p:cNvPr id="15" name="Shape 12"/>
          <p:cNvSpPr/>
          <p:nvPr/>
        </p:nvSpPr>
        <p:spPr>
          <a:xfrm>
            <a:off x="4425696" y="2715768"/>
            <a:ext cx="512064" cy="0"/>
          </a:xfrm>
          <a:prstGeom prst="line">
            <a:avLst/>
          </a:prstGeom>
          <a:noFill/>
          <a:ln w="12700">
            <a:solidFill>
              <a:srgbClr val="2980B9"/>
            </a:solidFill>
            <a:prstDash val="solid"/>
            <a:tailEnd type="triangle"/>
          </a:ln>
        </p:spPr>
      </p:sp>
      <p:sp>
        <p:nvSpPr>
          <p:cNvPr id="16" name="Shape 13"/>
          <p:cNvSpPr/>
          <p:nvPr/>
        </p:nvSpPr>
        <p:spPr>
          <a:xfrm>
            <a:off x="713232" y="2395728"/>
            <a:ext cx="3712464" cy="640080"/>
          </a:xfrm>
          <a:prstGeom prst="roundRect">
            <a:avLst>
              <a:gd name="adj" fmla="val 5714"/>
            </a:avLst>
          </a:prstGeom>
          <a:solidFill>
            <a:srgbClr val="FFFFFF"/>
          </a:solidFill>
          <a:ln w="12700">
            <a:solidFill>
              <a:srgbClr val="D7DEE8"/>
            </a:solidFill>
            <a:prstDash val="solid"/>
          </a:ln>
        </p:spPr>
      </p:sp>
      <p:sp>
        <p:nvSpPr>
          <p:cNvPr id="17" name="Text 14"/>
          <p:cNvSpPr txBox="1"/>
          <p:nvPr/>
        </p:nvSpPr>
        <p:spPr>
          <a:xfrm>
            <a:off x="932688" y="2450592"/>
            <a:ext cx="3310128" cy="521208"/>
          </a:xfrm>
          <a:prstGeom prst="rect">
            <a:avLst/>
          </a:prstGeom>
          <a:noFill/>
          <a:ln/>
        </p:spPr>
        <p:txBody>
          <a:bodyPr wrap="square" lIns="0" tIns="0" rIns="0" bIns="0" rtlCol="0" anchor="ctr">
            <a:normAutofit/>
          </a:bodyPr>
          <a:lstStyle/>
          <a:p>
            <a:pPr marL="0" indent="0" algn="l">
              <a:buNone/>
            </a:pPr>
            <a:r>
              <a:rPr lang="en-US" sz="1340" dirty="0">
                <a:solidFill>
                  <a:srgbClr val="243247"/>
                </a:solidFill>
                <a:latin typeface="Arial" pitchFamily="34" charset="0"/>
                <a:ea typeface="Arial" pitchFamily="34" charset="-122"/>
                <a:cs typeface="Arial" pitchFamily="34" charset="-120"/>
              </a:rPr>
              <a:t>Danh mục nội dung</a:t>
            </a:r>
            <a:endParaRPr lang="en-US" sz="1340" dirty="0"/>
          </a:p>
          <a:p>
            <a:pPr marL="0" indent="0" algn="l">
              <a:buNone/>
            </a:pPr>
            <a:r>
              <a:rPr lang="en-US" sz="1340" dirty="0">
                <a:solidFill>
                  <a:srgbClr val="243247"/>
                </a:solidFill>
                <a:latin typeface="Arial" pitchFamily="34" charset="0"/>
                <a:ea typeface="Arial" pitchFamily="34" charset="-122"/>
                <a:cs typeface="Arial" pitchFamily="34" charset="-120"/>
              </a:rPr>
              <a:t>Đối chiếu nguồn DOCX</a:t>
            </a:r>
            <a:endParaRPr lang="en-US" sz="1340" dirty="0"/>
          </a:p>
        </p:txBody>
      </p:sp>
      <p:sp>
        <p:nvSpPr>
          <p:cNvPr id="18" name="Shape 15"/>
          <p:cNvSpPr/>
          <p:nvPr/>
        </p:nvSpPr>
        <p:spPr>
          <a:xfrm>
            <a:off x="4937760" y="2395728"/>
            <a:ext cx="6565392" cy="640080"/>
          </a:xfrm>
          <a:prstGeom prst="roundRect">
            <a:avLst>
              <a:gd name="adj" fmla="val 5714"/>
            </a:avLst>
          </a:prstGeom>
          <a:solidFill>
            <a:srgbClr val="FFFFFF"/>
          </a:solidFill>
          <a:ln w="12700">
            <a:solidFill>
              <a:srgbClr val="2980B9"/>
            </a:solidFill>
            <a:prstDash val="solid"/>
          </a:ln>
        </p:spPr>
      </p:sp>
      <p:sp>
        <p:nvSpPr>
          <p:cNvPr id="19" name="Text 16"/>
          <p:cNvSpPr txBox="1"/>
          <p:nvPr/>
        </p:nvSpPr>
        <p:spPr>
          <a:xfrm>
            <a:off x="5138928" y="2560320"/>
            <a:ext cx="1152144" cy="283464"/>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Nội dung</a:t>
            </a:r>
            <a:endParaRPr lang="en-US" sz="1700" dirty="0"/>
          </a:p>
        </p:txBody>
      </p:sp>
      <p:sp>
        <p:nvSpPr>
          <p:cNvPr id="20" name="Text 17"/>
          <p:cNvSpPr txBox="1"/>
          <p:nvPr/>
        </p:nvSpPr>
        <p:spPr>
          <a:xfrm>
            <a:off x="6437376" y="2478024"/>
            <a:ext cx="4828032" cy="466344"/>
          </a:xfrm>
          <a:prstGeom prst="rect">
            <a:avLst/>
          </a:prstGeom>
          <a:noFill/>
          <a:ln/>
        </p:spPr>
        <p:txBody>
          <a:bodyPr wrap="square" lIns="0" tIns="0" rIns="0" bIns="0" rtlCol="0" anchor="ctr">
            <a:normAutofit/>
          </a:bodyPr>
          <a:lstStyle/>
          <a:p>
            <a:pPr marL="0" indent="0" algn="l">
              <a:buNone/>
            </a:pPr>
            <a:r>
              <a:rPr lang="en-US" sz="1540" dirty="0">
                <a:solidFill>
                  <a:srgbClr val="5B6B80"/>
                </a:solidFill>
                <a:latin typeface="Arial" pitchFamily="34" charset="0"/>
                <a:ea typeface="Arial" pitchFamily="34" charset="-122"/>
                <a:cs typeface="Arial" pitchFamily="34" charset="-120"/>
              </a:rPr>
              <a:t>Mở từng mục và đối chiếu với nguồn chuẩn</a:t>
            </a:r>
            <a:endParaRPr lang="en-US" sz="1540" dirty="0"/>
          </a:p>
        </p:txBody>
      </p:sp>
      <p:sp>
        <p:nvSpPr>
          <p:cNvPr id="21" name="Shape 18"/>
          <p:cNvSpPr/>
          <p:nvPr/>
        </p:nvSpPr>
        <p:spPr>
          <a:xfrm>
            <a:off x="4425696" y="3465576"/>
            <a:ext cx="512064" cy="0"/>
          </a:xfrm>
          <a:prstGeom prst="line">
            <a:avLst/>
          </a:prstGeom>
          <a:noFill/>
          <a:ln w="12700">
            <a:solidFill>
              <a:srgbClr val="27AE60"/>
            </a:solidFill>
            <a:prstDash val="solid"/>
            <a:tailEnd type="triangle"/>
          </a:ln>
        </p:spPr>
      </p:sp>
      <p:sp>
        <p:nvSpPr>
          <p:cNvPr id="22" name="Shape 19"/>
          <p:cNvSpPr/>
          <p:nvPr/>
        </p:nvSpPr>
        <p:spPr>
          <a:xfrm>
            <a:off x="713232" y="3145536"/>
            <a:ext cx="3712464" cy="640080"/>
          </a:xfrm>
          <a:prstGeom prst="roundRect">
            <a:avLst>
              <a:gd name="adj" fmla="val 5714"/>
            </a:avLst>
          </a:prstGeom>
          <a:solidFill>
            <a:srgbClr val="FFFFFF"/>
          </a:solidFill>
          <a:ln w="12700">
            <a:solidFill>
              <a:srgbClr val="D7DEE8"/>
            </a:solidFill>
            <a:prstDash val="solid"/>
          </a:ln>
        </p:spPr>
      </p:sp>
      <p:sp>
        <p:nvSpPr>
          <p:cNvPr id="23" name="Text 20"/>
          <p:cNvSpPr txBox="1"/>
          <p:nvPr/>
        </p:nvSpPr>
        <p:spPr>
          <a:xfrm>
            <a:off x="932688" y="3200400"/>
            <a:ext cx="3310128" cy="521208"/>
          </a:xfrm>
          <a:prstGeom prst="rect">
            <a:avLst/>
          </a:prstGeom>
          <a:noFill/>
          <a:ln/>
        </p:spPr>
        <p:txBody>
          <a:bodyPr wrap="square" lIns="0" tIns="0" rIns="0" bIns="0" rtlCol="0" anchor="ctr">
            <a:normAutofit/>
          </a:bodyPr>
          <a:lstStyle/>
          <a:p>
            <a:pPr marL="0" indent="0" algn="l">
              <a:buNone/>
            </a:pPr>
            <a:r>
              <a:rPr lang="en-US" sz="1340" dirty="0">
                <a:solidFill>
                  <a:srgbClr val="243247"/>
                </a:solidFill>
                <a:latin typeface="Arial" pitchFamily="34" charset="0"/>
                <a:ea typeface="Arial" pitchFamily="34" charset="-122"/>
                <a:cs typeface="Arial" pitchFamily="34" charset="-120"/>
              </a:rPr>
              <a:t>Bản đồ công thức</a:t>
            </a:r>
            <a:endParaRPr lang="en-US" sz="1340" dirty="0"/>
          </a:p>
          <a:p>
            <a:pPr marL="0" indent="0" algn="l">
              <a:buNone/>
            </a:pPr>
            <a:r>
              <a:rPr lang="en-US" sz="1340" dirty="0">
                <a:solidFill>
                  <a:srgbClr val="243247"/>
                </a:solidFill>
                <a:latin typeface="Arial" pitchFamily="34" charset="0"/>
                <a:ea typeface="Arial" pitchFamily="34" charset="-122"/>
                <a:cs typeface="Arial" pitchFamily="34" charset="-120"/>
              </a:rPr>
              <a:t>Đặc tả mô phỏng</a:t>
            </a:r>
            <a:endParaRPr lang="en-US" sz="1340" dirty="0"/>
          </a:p>
        </p:txBody>
      </p:sp>
      <p:sp>
        <p:nvSpPr>
          <p:cNvPr id="24" name="Shape 21"/>
          <p:cNvSpPr/>
          <p:nvPr/>
        </p:nvSpPr>
        <p:spPr>
          <a:xfrm>
            <a:off x="4937760" y="3145536"/>
            <a:ext cx="6565392" cy="640080"/>
          </a:xfrm>
          <a:prstGeom prst="roundRect">
            <a:avLst>
              <a:gd name="adj" fmla="val 5714"/>
            </a:avLst>
          </a:prstGeom>
          <a:solidFill>
            <a:srgbClr val="FFFFFF"/>
          </a:solidFill>
          <a:ln w="12700">
            <a:solidFill>
              <a:srgbClr val="27AE60"/>
            </a:solidFill>
            <a:prstDash val="solid"/>
          </a:ln>
        </p:spPr>
      </p:sp>
      <p:sp>
        <p:nvSpPr>
          <p:cNvPr id="25" name="Text 22"/>
          <p:cNvSpPr txBox="1"/>
          <p:nvPr/>
        </p:nvSpPr>
        <p:spPr>
          <a:xfrm>
            <a:off x="5138928" y="3310128"/>
            <a:ext cx="1152144" cy="283464"/>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Khoa học</a:t>
            </a:r>
            <a:endParaRPr lang="en-US" sz="1700" dirty="0"/>
          </a:p>
        </p:txBody>
      </p:sp>
      <p:sp>
        <p:nvSpPr>
          <p:cNvPr id="26" name="Text 23"/>
          <p:cNvSpPr txBox="1"/>
          <p:nvPr/>
        </p:nvSpPr>
        <p:spPr>
          <a:xfrm>
            <a:off x="6437376" y="3227832"/>
            <a:ext cx="4828032" cy="466344"/>
          </a:xfrm>
          <a:prstGeom prst="rect">
            <a:avLst/>
          </a:prstGeom>
          <a:noFill/>
          <a:ln/>
        </p:spPr>
        <p:txBody>
          <a:bodyPr wrap="square" lIns="0" tIns="0" rIns="0" bIns="0" rtlCol="0" anchor="ctr">
            <a:normAutofit/>
          </a:bodyPr>
          <a:lstStyle/>
          <a:p>
            <a:pPr marL="0" indent="0" algn="l">
              <a:buNone/>
            </a:pPr>
            <a:r>
              <a:rPr lang="en-US" sz="1540" dirty="0">
                <a:solidFill>
                  <a:srgbClr val="5B6B80"/>
                </a:solidFill>
                <a:latin typeface="Arial" pitchFamily="34" charset="0"/>
                <a:ea typeface="Arial" pitchFamily="34" charset="-122"/>
                <a:cs typeface="Arial" pitchFamily="34" charset="-120"/>
              </a:rPr>
              <a:t>Xem công thức, giả thiết và ba ca đối chiếu</a:t>
            </a:r>
            <a:endParaRPr lang="en-US" sz="1540" dirty="0"/>
          </a:p>
        </p:txBody>
      </p:sp>
      <p:sp>
        <p:nvSpPr>
          <p:cNvPr id="27" name="Shape 24"/>
          <p:cNvSpPr/>
          <p:nvPr/>
        </p:nvSpPr>
        <p:spPr>
          <a:xfrm>
            <a:off x="4425696" y="4215384"/>
            <a:ext cx="512064" cy="0"/>
          </a:xfrm>
          <a:prstGeom prst="line">
            <a:avLst/>
          </a:prstGeom>
          <a:noFill/>
          <a:ln w="12700">
            <a:solidFill>
              <a:srgbClr val="8E44AD"/>
            </a:solidFill>
            <a:prstDash val="solid"/>
            <a:tailEnd type="triangle"/>
          </a:ln>
        </p:spPr>
      </p:sp>
      <p:sp>
        <p:nvSpPr>
          <p:cNvPr id="28" name="Shape 25"/>
          <p:cNvSpPr/>
          <p:nvPr/>
        </p:nvSpPr>
        <p:spPr>
          <a:xfrm>
            <a:off x="713232" y="3895344"/>
            <a:ext cx="3712464" cy="640080"/>
          </a:xfrm>
          <a:prstGeom prst="roundRect">
            <a:avLst>
              <a:gd name="adj" fmla="val 5714"/>
            </a:avLst>
          </a:prstGeom>
          <a:solidFill>
            <a:srgbClr val="FFFFFF"/>
          </a:solidFill>
          <a:ln w="12700">
            <a:solidFill>
              <a:srgbClr val="D7DEE8"/>
            </a:solidFill>
            <a:prstDash val="solid"/>
          </a:ln>
        </p:spPr>
      </p:sp>
      <p:sp>
        <p:nvSpPr>
          <p:cNvPr id="29" name="Text 26"/>
          <p:cNvSpPr txBox="1"/>
          <p:nvPr/>
        </p:nvSpPr>
        <p:spPr>
          <a:xfrm>
            <a:off x="932688" y="3950208"/>
            <a:ext cx="3310128" cy="521208"/>
          </a:xfrm>
          <a:prstGeom prst="rect">
            <a:avLst/>
          </a:prstGeom>
          <a:noFill/>
          <a:ln/>
        </p:spPr>
        <p:txBody>
          <a:bodyPr wrap="square" lIns="0" tIns="0" rIns="0" bIns="0" rtlCol="0" anchor="ctr">
            <a:normAutofit/>
          </a:bodyPr>
          <a:lstStyle/>
          <a:p>
            <a:pPr marL="0" indent="0" algn="l">
              <a:buNone/>
            </a:pPr>
            <a:r>
              <a:rPr lang="en-US" sz="1230" dirty="0">
                <a:solidFill>
                  <a:srgbClr val="243247"/>
                </a:solidFill>
                <a:latin typeface="Arial" pitchFamily="34" charset="0"/>
                <a:ea typeface="Arial" pitchFamily="34" charset="-122"/>
                <a:cs typeface="Arial" pitchFamily="34" charset="-120"/>
              </a:rPr>
              <a:t>Ngân hàng câu hỏi</a:t>
            </a:r>
            <a:endParaRPr lang="en-US" sz="1230" dirty="0"/>
          </a:p>
          <a:p>
            <a:pPr marL="0" indent="0" algn="l">
              <a:buNone/>
            </a:pPr>
            <a:r>
              <a:rPr lang="en-US" sz="1230" dirty="0">
                <a:solidFill>
                  <a:srgbClr val="243247"/>
                </a:solidFill>
                <a:latin typeface="Arial" pitchFamily="34" charset="0"/>
                <a:ea typeface="Arial" pitchFamily="34" charset="-122"/>
                <a:cs typeface="Arial" pitchFamily="34" charset="-120"/>
              </a:rPr>
              <a:t>Phản hồi cho người học</a:t>
            </a:r>
            <a:endParaRPr lang="en-US" sz="1230" dirty="0"/>
          </a:p>
        </p:txBody>
      </p:sp>
      <p:sp>
        <p:nvSpPr>
          <p:cNvPr id="30" name="Shape 27"/>
          <p:cNvSpPr/>
          <p:nvPr/>
        </p:nvSpPr>
        <p:spPr>
          <a:xfrm>
            <a:off x="4937760" y="3895344"/>
            <a:ext cx="6565392" cy="640080"/>
          </a:xfrm>
          <a:prstGeom prst="roundRect">
            <a:avLst>
              <a:gd name="adj" fmla="val 5714"/>
            </a:avLst>
          </a:prstGeom>
          <a:solidFill>
            <a:srgbClr val="FFFFFF"/>
          </a:solidFill>
          <a:ln w="12700">
            <a:solidFill>
              <a:srgbClr val="8E44AD"/>
            </a:solidFill>
            <a:prstDash val="solid"/>
          </a:ln>
        </p:spPr>
      </p:sp>
      <p:sp>
        <p:nvSpPr>
          <p:cNvPr id="31" name="Text 28"/>
          <p:cNvSpPr txBox="1"/>
          <p:nvPr/>
        </p:nvSpPr>
        <p:spPr>
          <a:xfrm>
            <a:off x="5138928" y="4059936"/>
            <a:ext cx="1152144" cy="283464"/>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Sư phạm</a:t>
            </a:r>
            <a:endParaRPr lang="en-US" sz="1700" dirty="0"/>
          </a:p>
        </p:txBody>
      </p:sp>
      <p:sp>
        <p:nvSpPr>
          <p:cNvPr id="32" name="Text 29"/>
          <p:cNvSpPr txBox="1"/>
          <p:nvPr/>
        </p:nvSpPr>
        <p:spPr>
          <a:xfrm>
            <a:off x="6437376" y="3977640"/>
            <a:ext cx="4828032" cy="466344"/>
          </a:xfrm>
          <a:prstGeom prst="rect">
            <a:avLst/>
          </a:prstGeom>
          <a:noFill/>
          <a:ln/>
        </p:spPr>
        <p:txBody>
          <a:bodyPr wrap="square" lIns="0" tIns="0" rIns="0" bIns="0" rtlCol="0" anchor="ctr">
            <a:normAutofit/>
          </a:bodyPr>
          <a:lstStyle/>
          <a:p>
            <a:pPr marL="0" indent="0" algn="l">
              <a:buNone/>
            </a:pPr>
            <a:r>
              <a:rPr lang="en-US" sz="1540" dirty="0">
                <a:solidFill>
                  <a:srgbClr val="5B6B80"/>
                </a:solidFill>
                <a:latin typeface="Arial" pitchFamily="34" charset="0"/>
                <a:ea typeface="Arial" pitchFamily="34" charset="-122"/>
                <a:cs typeface="Arial" pitchFamily="34" charset="-120"/>
              </a:rPr>
              <a:t>Quan sát vòng học và phản hồi tự kiểm tra</a:t>
            </a:r>
            <a:endParaRPr lang="en-US" sz="1540" dirty="0"/>
          </a:p>
        </p:txBody>
      </p:sp>
      <p:sp>
        <p:nvSpPr>
          <p:cNvPr id="33" name="Shape 30"/>
          <p:cNvSpPr/>
          <p:nvPr/>
        </p:nvSpPr>
        <p:spPr>
          <a:xfrm>
            <a:off x="4425696" y="4965192"/>
            <a:ext cx="512064" cy="0"/>
          </a:xfrm>
          <a:prstGeom prst="line">
            <a:avLst/>
          </a:prstGeom>
          <a:noFill/>
          <a:ln w="12700">
            <a:solidFill>
              <a:srgbClr val="C9963A"/>
            </a:solidFill>
            <a:prstDash val="solid"/>
            <a:tailEnd type="triangle"/>
          </a:ln>
        </p:spPr>
      </p:sp>
      <p:sp>
        <p:nvSpPr>
          <p:cNvPr id="34" name="Shape 31"/>
          <p:cNvSpPr/>
          <p:nvPr/>
        </p:nvSpPr>
        <p:spPr>
          <a:xfrm>
            <a:off x="713232" y="4645152"/>
            <a:ext cx="3712464" cy="640080"/>
          </a:xfrm>
          <a:prstGeom prst="roundRect">
            <a:avLst>
              <a:gd name="adj" fmla="val 5714"/>
            </a:avLst>
          </a:prstGeom>
          <a:solidFill>
            <a:srgbClr val="FFFFFF"/>
          </a:solidFill>
          <a:ln w="12700">
            <a:solidFill>
              <a:srgbClr val="D7DEE8"/>
            </a:solidFill>
            <a:prstDash val="solid"/>
          </a:ln>
        </p:spPr>
      </p:sp>
      <p:sp>
        <p:nvSpPr>
          <p:cNvPr id="35" name="Text 32"/>
          <p:cNvSpPr txBox="1"/>
          <p:nvPr/>
        </p:nvSpPr>
        <p:spPr>
          <a:xfrm>
            <a:off x="932688" y="4700016"/>
            <a:ext cx="3310128" cy="521208"/>
          </a:xfrm>
          <a:prstGeom prst="rect">
            <a:avLst/>
          </a:prstGeom>
          <a:noFill/>
          <a:ln/>
        </p:spPr>
        <p:txBody>
          <a:bodyPr wrap="square" lIns="0" tIns="0" rIns="0" bIns="0" rtlCol="0" anchor="ctr">
            <a:normAutofit/>
          </a:bodyPr>
          <a:lstStyle/>
          <a:p>
            <a:pPr marL="0" indent="0" algn="l">
              <a:buNone/>
            </a:pPr>
            <a:r>
              <a:rPr lang="en-US" sz="1340" dirty="0">
                <a:solidFill>
                  <a:srgbClr val="243247"/>
                </a:solidFill>
                <a:latin typeface="Arial" pitchFamily="34" charset="0"/>
                <a:ea typeface="Arial" pitchFamily="34" charset="-122"/>
                <a:cs typeface="Arial" pitchFamily="34" charset="-120"/>
              </a:rPr>
              <a:t>Ảnh, tài liệu kèm theo</a:t>
            </a:r>
            <a:endParaRPr lang="en-US" sz="1340" dirty="0"/>
          </a:p>
          <a:p>
            <a:pPr marL="0" indent="0" algn="l">
              <a:buNone/>
            </a:pPr>
            <a:r>
              <a:rPr lang="en-US" sz="1340" dirty="0">
                <a:solidFill>
                  <a:srgbClr val="243247"/>
                </a:solidFill>
                <a:latin typeface="Arial" pitchFamily="34" charset="0"/>
                <a:ea typeface="Arial" pitchFamily="34" charset="-122"/>
                <a:cs typeface="Arial" pitchFamily="34" charset="-120"/>
              </a:rPr>
              <a:t>Hồ sơ ký xác nhận</a:t>
            </a:r>
            <a:endParaRPr lang="en-US" sz="1340" dirty="0"/>
          </a:p>
        </p:txBody>
      </p:sp>
      <p:sp>
        <p:nvSpPr>
          <p:cNvPr id="36" name="Shape 33"/>
          <p:cNvSpPr/>
          <p:nvPr/>
        </p:nvSpPr>
        <p:spPr>
          <a:xfrm>
            <a:off x="4937760" y="4645152"/>
            <a:ext cx="6565392" cy="640080"/>
          </a:xfrm>
          <a:prstGeom prst="roundRect">
            <a:avLst>
              <a:gd name="adj" fmla="val 5714"/>
            </a:avLst>
          </a:prstGeom>
          <a:solidFill>
            <a:srgbClr val="FFFFFF"/>
          </a:solidFill>
          <a:ln w="12700">
            <a:solidFill>
              <a:srgbClr val="C9963A"/>
            </a:solidFill>
            <a:prstDash val="solid"/>
          </a:ln>
        </p:spPr>
      </p:sp>
      <p:sp>
        <p:nvSpPr>
          <p:cNvPr id="37" name="Text 34"/>
          <p:cNvSpPr txBox="1"/>
          <p:nvPr/>
        </p:nvSpPr>
        <p:spPr>
          <a:xfrm>
            <a:off x="5138928" y="4809744"/>
            <a:ext cx="1152144" cy="283464"/>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Truy vết</a:t>
            </a:r>
            <a:endParaRPr lang="en-US" sz="1700" dirty="0"/>
          </a:p>
        </p:txBody>
      </p:sp>
      <p:sp>
        <p:nvSpPr>
          <p:cNvPr id="38" name="Text 35"/>
          <p:cNvSpPr txBox="1"/>
          <p:nvPr/>
        </p:nvSpPr>
        <p:spPr>
          <a:xfrm>
            <a:off x="6437376" y="4727448"/>
            <a:ext cx="4828032" cy="466344"/>
          </a:xfrm>
          <a:prstGeom prst="rect">
            <a:avLst/>
          </a:prstGeom>
          <a:noFill/>
          <a:ln/>
        </p:spPr>
        <p:txBody>
          <a:bodyPr wrap="square" lIns="0" tIns="0" rIns="0" bIns="0" rtlCol="0" anchor="ctr">
            <a:normAutofit/>
          </a:bodyPr>
          <a:lstStyle/>
          <a:p>
            <a:pPr marL="0" indent="0" algn="l">
              <a:buNone/>
            </a:pPr>
            <a:r>
              <a:rPr lang="en-US" sz="1540" dirty="0">
                <a:solidFill>
                  <a:srgbClr val="5B6B80"/>
                </a:solidFill>
                <a:latin typeface="Arial" pitchFamily="34" charset="0"/>
                <a:ea typeface="Arial" pitchFamily="34" charset="-122"/>
                <a:cs typeface="Arial" pitchFamily="34" charset="-120"/>
              </a:rPr>
              <a:t>Đối chiếu dữ liệu nguồn, ảnh và tài liệu kèm theo</a:t>
            </a:r>
            <a:endParaRPr lang="en-US" sz="1540" dirty="0"/>
          </a:p>
        </p:txBody>
      </p:sp>
      <p:sp>
        <p:nvSpPr>
          <p:cNvPr id="39" name="Text 36"/>
          <p:cNvSpPr txBox="1"/>
          <p:nvPr/>
        </p:nvSpPr>
        <p:spPr>
          <a:xfrm>
            <a:off x="768096" y="5468112"/>
            <a:ext cx="10753344" cy="246888"/>
          </a:xfrm>
          <a:prstGeom prst="rect">
            <a:avLst/>
          </a:prstGeom>
          <a:noFill/>
          <a:ln/>
        </p:spPr>
        <p:txBody>
          <a:bodyPr wrap="square" lIns="0" tIns="0" rIns="0" bIns="0" rtlCol="0" anchor="t">
            <a:normAutofit/>
          </a:bodyPr>
          <a:lstStyle/>
          <a:p>
            <a:pPr marL="0" indent="0" algn="l">
              <a:buNone/>
            </a:pPr>
            <a:r>
              <a:rPr lang="en-US" sz="1340" b="1" dirty="0">
                <a:solidFill>
                  <a:srgbClr val="9A5B00"/>
                </a:solidFill>
                <a:latin typeface="Arial" pitchFamily="34" charset="0"/>
                <a:ea typeface="Arial" pitchFamily="34" charset="-122"/>
                <a:cs typeface="Arial" pitchFamily="34" charset="-120"/>
              </a:rPr>
              <a:t>Mũi tên = truy vết nguồn → căn cứ; không biểu thị thẩm định, ký duyệt hay đo hiệu quả.</a:t>
            </a:r>
            <a:endParaRPr lang="en-US" sz="1340" dirty="0"/>
          </a:p>
        </p:txBody>
      </p:sp>
      <p:sp>
        <p:nvSpPr>
          <p:cNvPr id="40" name="Shape 37"/>
          <p:cNvSpPr/>
          <p:nvPr/>
        </p:nvSpPr>
        <p:spPr>
          <a:xfrm>
            <a:off x="713232" y="5806440"/>
            <a:ext cx="10789920" cy="402336"/>
          </a:xfrm>
          <a:prstGeom prst="roundRect">
            <a:avLst>
              <a:gd name="adj" fmla="val 9091"/>
            </a:avLst>
          </a:prstGeom>
          <a:solidFill>
            <a:srgbClr val="EEF2F7"/>
          </a:solidFill>
          <a:ln w="12700">
            <a:solidFill>
              <a:srgbClr val="D7DEE8"/>
            </a:solidFill>
            <a:prstDash val="solid"/>
          </a:ln>
        </p:spPr>
      </p:sp>
      <p:sp>
        <p:nvSpPr>
          <p:cNvPr id="41" name="Text 38"/>
          <p:cNvSpPr txBox="1"/>
          <p:nvPr/>
        </p:nvSpPr>
        <p:spPr>
          <a:xfrm>
            <a:off x="896112" y="5879592"/>
            <a:ext cx="676656" cy="228600"/>
          </a:xfrm>
          <a:prstGeom prst="rect">
            <a:avLst/>
          </a:prstGeom>
          <a:noFill/>
          <a:ln/>
        </p:spPr>
        <p:txBody>
          <a:bodyPr wrap="square" lIns="0" tIns="0" rIns="0" bIns="0" rtlCol="0" anchor="t">
            <a:normAutofit/>
          </a:bodyPr>
          <a:lstStyle/>
          <a:p>
            <a:pPr marL="0" indent="0" algn="l">
              <a:buNone/>
            </a:pPr>
            <a:r>
              <a:rPr lang="en-US" sz="1700" b="1" dirty="0">
                <a:solidFill>
                  <a:srgbClr val="2980B9"/>
                </a:solidFill>
                <a:latin typeface="Arial" pitchFamily="34" charset="0"/>
                <a:ea typeface="Arial" pitchFamily="34" charset="-122"/>
                <a:cs typeface="Arial" pitchFamily="34" charset="-120"/>
              </a:rPr>
              <a:t>108</a:t>
            </a:r>
            <a:endParaRPr lang="en-US" sz="1700" dirty="0"/>
          </a:p>
        </p:txBody>
      </p:sp>
      <p:sp>
        <p:nvSpPr>
          <p:cNvPr id="42" name="Text 39"/>
          <p:cNvSpPr txBox="1"/>
          <p:nvPr/>
        </p:nvSpPr>
        <p:spPr>
          <a:xfrm>
            <a:off x="1618488" y="5907024"/>
            <a:ext cx="1810512" cy="182880"/>
          </a:xfrm>
          <a:prstGeom prst="rect">
            <a:avLst/>
          </a:prstGeom>
          <a:noFill/>
          <a:ln/>
        </p:spPr>
        <p:txBody>
          <a:bodyPr wrap="square" lIns="0" tIns="0" rIns="0" bIns="0" rtlCol="0" anchor="ctr">
            <a:normAutofit/>
          </a:bodyPr>
          <a:lstStyle/>
          <a:p>
            <a:pPr marL="0" indent="0" algn="l">
              <a:buNone/>
            </a:pPr>
            <a:r>
              <a:rPr lang="en-US" sz="1150" dirty="0">
                <a:solidFill>
                  <a:srgbClr val="243247"/>
                </a:solidFill>
                <a:latin typeface="Arial" pitchFamily="34" charset="0"/>
                <a:ea typeface="Arial" pitchFamily="34" charset="-122"/>
                <a:cs typeface="Arial" pitchFamily="34" charset="-120"/>
              </a:rPr>
              <a:t>mục/trang hiển thị</a:t>
            </a:r>
            <a:endParaRPr lang="en-US" sz="1150" dirty="0"/>
          </a:p>
        </p:txBody>
      </p:sp>
      <p:sp>
        <p:nvSpPr>
          <p:cNvPr id="43" name="Text 40"/>
          <p:cNvSpPr txBox="1"/>
          <p:nvPr/>
        </p:nvSpPr>
        <p:spPr>
          <a:xfrm>
            <a:off x="3547872" y="5879592"/>
            <a:ext cx="676656" cy="228600"/>
          </a:xfrm>
          <a:prstGeom prst="rect">
            <a:avLst/>
          </a:prstGeom>
          <a:noFill/>
          <a:ln/>
        </p:spPr>
        <p:txBody>
          <a:bodyPr wrap="square" lIns="0" tIns="0" rIns="0" bIns="0" rtlCol="0" anchor="t">
            <a:normAutofit/>
          </a:bodyPr>
          <a:lstStyle/>
          <a:p>
            <a:pPr marL="0" indent="0" algn="l">
              <a:buNone/>
            </a:pPr>
            <a:r>
              <a:rPr lang="en-US" sz="1700" b="1" dirty="0">
                <a:solidFill>
                  <a:srgbClr val="27AE60"/>
                </a:solidFill>
                <a:latin typeface="Arial" pitchFamily="34" charset="0"/>
                <a:ea typeface="Arial" pitchFamily="34" charset="-122"/>
                <a:cs typeface="Arial" pitchFamily="34" charset="-120"/>
              </a:rPr>
              <a:t>127</a:t>
            </a:r>
            <a:endParaRPr lang="en-US" sz="1700" dirty="0"/>
          </a:p>
        </p:txBody>
      </p:sp>
      <p:sp>
        <p:nvSpPr>
          <p:cNvPr id="44" name="Text 41"/>
          <p:cNvSpPr txBox="1"/>
          <p:nvPr/>
        </p:nvSpPr>
        <p:spPr>
          <a:xfrm>
            <a:off x="4270248" y="5907024"/>
            <a:ext cx="1810512" cy="182880"/>
          </a:xfrm>
          <a:prstGeom prst="rect">
            <a:avLst/>
          </a:prstGeom>
          <a:noFill/>
          <a:ln/>
        </p:spPr>
        <p:txBody>
          <a:bodyPr wrap="square" lIns="0" tIns="0" rIns="0" bIns="0" rtlCol="0" anchor="ctr">
            <a:normAutofit/>
          </a:bodyPr>
          <a:lstStyle/>
          <a:p>
            <a:pPr marL="0" indent="0" algn="l">
              <a:buNone/>
            </a:pPr>
            <a:r>
              <a:rPr lang="en-US" sz="1150" dirty="0">
                <a:solidFill>
                  <a:srgbClr val="243247"/>
                </a:solidFill>
                <a:latin typeface="Arial" pitchFamily="34" charset="0"/>
                <a:ea typeface="Arial" pitchFamily="34" charset="-122"/>
                <a:cs typeface="Arial" pitchFamily="34" charset="-120"/>
              </a:rPr>
              <a:t>tham chiếu hình duy nhất</a:t>
            </a:r>
            <a:endParaRPr lang="en-US" sz="1150" dirty="0"/>
          </a:p>
        </p:txBody>
      </p:sp>
      <p:sp>
        <p:nvSpPr>
          <p:cNvPr id="45" name="Text 42"/>
          <p:cNvSpPr txBox="1"/>
          <p:nvPr/>
        </p:nvSpPr>
        <p:spPr>
          <a:xfrm>
            <a:off x="6199632" y="5879592"/>
            <a:ext cx="676656" cy="228600"/>
          </a:xfrm>
          <a:prstGeom prst="rect">
            <a:avLst/>
          </a:prstGeom>
          <a:noFill/>
          <a:ln/>
        </p:spPr>
        <p:txBody>
          <a:bodyPr wrap="square" lIns="0" tIns="0" rIns="0" bIns="0" rtlCol="0" anchor="t">
            <a:normAutofit/>
          </a:bodyPr>
          <a:lstStyle/>
          <a:p>
            <a:pPr marL="0" indent="0" algn="l">
              <a:buNone/>
            </a:pPr>
            <a:r>
              <a:rPr lang="en-US" sz="1700" b="1" dirty="0">
                <a:solidFill>
                  <a:srgbClr val="8E44AD"/>
                </a:solidFill>
                <a:latin typeface="Arial" pitchFamily="34" charset="0"/>
                <a:ea typeface="Arial" pitchFamily="34" charset="-122"/>
                <a:cs typeface="Arial" pitchFamily="34" charset="-120"/>
              </a:rPr>
              <a:t>1.302</a:t>
            </a:r>
            <a:endParaRPr lang="en-US" sz="1700" dirty="0"/>
          </a:p>
        </p:txBody>
      </p:sp>
      <p:sp>
        <p:nvSpPr>
          <p:cNvPr id="46" name="Text 43"/>
          <p:cNvSpPr txBox="1"/>
          <p:nvPr/>
        </p:nvSpPr>
        <p:spPr>
          <a:xfrm>
            <a:off x="6922008" y="5907024"/>
            <a:ext cx="1810512" cy="182880"/>
          </a:xfrm>
          <a:prstGeom prst="rect">
            <a:avLst/>
          </a:prstGeom>
          <a:noFill/>
          <a:ln/>
        </p:spPr>
        <p:txBody>
          <a:bodyPr wrap="square" lIns="0" tIns="0" rIns="0" bIns="0" rtlCol="0" anchor="ctr">
            <a:normAutofit/>
          </a:bodyPr>
          <a:lstStyle/>
          <a:p>
            <a:pPr marL="0" indent="0" algn="l">
              <a:buNone/>
            </a:pPr>
            <a:r>
              <a:rPr lang="en-US" sz="1150" dirty="0">
                <a:solidFill>
                  <a:srgbClr val="243247"/>
                </a:solidFill>
                <a:latin typeface="Arial" pitchFamily="34" charset="0"/>
                <a:ea typeface="Arial" pitchFamily="34" charset="-122"/>
                <a:cs typeface="Arial" pitchFamily="34" charset="-120"/>
              </a:rPr>
              <a:t>tham chiếu công thức</a:t>
            </a:r>
            <a:endParaRPr lang="en-US" sz="1150" dirty="0"/>
          </a:p>
        </p:txBody>
      </p:sp>
      <p:sp>
        <p:nvSpPr>
          <p:cNvPr id="47" name="Text 44"/>
          <p:cNvSpPr txBox="1"/>
          <p:nvPr/>
        </p:nvSpPr>
        <p:spPr>
          <a:xfrm>
            <a:off x="8851392" y="5879592"/>
            <a:ext cx="676656" cy="228600"/>
          </a:xfrm>
          <a:prstGeom prst="rect">
            <a:avLst/>
          </a:prstGeom>
          <a:noFill/>
          <a:ln/>
        </p:spPr>
        <p:txBody>
          <a:bodyPr wrap="square" lIns="0" tIns="0" rIns="0" bIns="0" rtlCol="0" anchor="t">
            <a:normAutofit/>
          </a:bodyPr>
          <a:lstStyle/>
          <a:p>
            <a:pPr marL="0" indent="0" algn="l">
              <a:buNone/>
            </a:pPr>
            <a:r>
              <a:rPr lang="en-US" sz="1700" b="1" dirty="0">
                <a:solidFill>
                  <a:srgbClr val="C9963A"/>
                </a:solidFill>
                <a:latin typeface="Arial" pitchFamily="34" charset="0"/>
                <a:ea typeface="Arial" pitchFamily="34" charset="-122"/>
                <a:cs typeface="Arial" pitchFamily="34" charset="-120"/>
              </a:rPr>
              <a:t>300</a:t>
            </a:r>
            <a:endParaRPr lang="en-US" sz="1700" dirty="0"/>
          </a:p>
        </p:txBody>
      </p:sp>
      <p:sp>
        <p:nvSpPr>
          <p:cNvPr id="48" name="Text 45"/>
          <p:cNvSpPr txBox="1"/>
          <p:nvPr/>
        </p:nvSpPr>
        <p:spPr>
          <a:xfrm>
            <a:off x="9573768" y="5907024"/>
            <a:ext cx="1810512" cy="182880"/>
          </a:xfrm>
          <a:prstGeom prst="rect">
            <a:avLst/>
          </a:prstGeom>
          <a:noFill/>
          <a:ln/>
        </p:spPr>
        <p:txBody>
          <a:bodyPr wrap="square" lIns="0" tIns="0" rIns="0" bIns="0" rtlCol="0" anchor="ctr">
            <a:normAutofit/>
          </a:bodyPr>
          <a:lstStyle/>
          <a:p>
            <a:pPr marL="0" indent="0" algn="l">
              <a:buNone/>
            </a:pPr>
            <a:r>
              <a:rPr lang="en-US" sz="1150" dirty="0">
                <a:solidFill>
                  <a:srgbClr val="243247"/>
                </a:solidFill>
                <a:latin typeface="Arial" pitchFamily="34" charset="0"/>
                <a:ea typeface="Arial" pitchFamily="34" charset="-122"/>
                <a:cs typeface="Arial" pitchFamily="34" charset="-120"/>
              </a:rPr>
              <a:t>câu tự kiểm tra</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Kết quả đã có và giới hạn còn lại</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11</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Hiện vật mức ứng viên đã hình thành; vận hành xuyên suốt, hiệu quả học tập, xác nhận học thuật và phát hành chưa được xác nhận.</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KQ-VA-GIOI-HAN</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11</a:t>
            </a:r>
            <a:endParaRPr lang="en-US" sz="820" dirty="0"/>
          </a:p>
        </p:txBody>
      </p:sp>
      <p:sp>
        <p:nvSpPr>
          <p:cNvPr id="13" name="Text 10"/>
          <p:cNvSpPr txBox="1"/>
          <p:nvPr/>
        </p:nvSpPr>
        <p:spPr>
          <a:xfrm>
            <a:off x="749808" y="2011680"/>
            <a:ext cx="5212080" cy="256032"/>
          </a:xfrm>
          <a:prstGeom prst="rect">
            <a:avLst/>
          </a:prstGeom>
          <a:noFill/>
          <a:ln/>
        </p:spPr>
        <p:txBody>
          <a:bodyPr wrap="square" lIns="0" tIns="0" rIns="0" bIns="0" rtlCol="0" anchor="t">
            <a:normAutofit/>
          </a:bodyPr>
          <a:lstStyle/>
          <a:p>
            <a:pPr marL="0" indent="0" algn="ctr">
              <a:buNone/>
            </a:pPr>
            <a:r>
              <a:rPr lang="en-US" sz="1300" b="1" dirty="0">
                <a:solidFill>
                  <a:srgbClr val="137A3D"/>
                </a:solidFill>
                <a:latin typeface="Arial" pitchFamily="34" charset="0"/>
                <a:ea typeface="Arial" pitchFamily="34" charset="-122"/>
                <a:cs typeface="Arial" pitchFamily="34" charset="-120"/>
              </a:rPr>
              <a:t>KẾT QUẢ ĐÃ CÓ</a:t>
            </a:r>
            <a:endParaRPr lang="en-US" sz="1300" dirty="0"/>
          </a:p>
        </p:txBody>
      </p:sp>
      <p:sp>
        <p:nvSpPr>
          <p:cNvPr id="14" name="Text 11"/>
          <p:cNvSpPr txBox="1"/>
          <p:nvPr/>
        </p:nvSpPr>
        <p:spPr>
          <a:xfrm>
            <a:off x="6236208" y="2011680"/>
            <a:ext cx="5212080" cy="256032"/>
          </a:xfrm>
          <a:prstGeom prst="rect">
            <a:avLst/>
          </a:prstGeom>
          <a:noFill/>
          <a:ln/>
        </p:spPr>
        <p:txBody>
          <a:bodyPr wrap="square" lIns="0" tIns="0" rIns="0" bIns="0" rtlCol="0" anchor="t">
            <a:normAutofit/>
          </a:bodyPr>
          <a:lstStyle/>
          <a:p>
            <a:pPr marL="0" indent="0" algn="ctr">
              <a:buNone/>
            </a:pPr>
            <a:r>
              <a:rPr lang="en-US" sz="1300" b="1" dirty="0">
                <a:solidFill>
                  <a:srgbClr val="9A5B00"/>
                </a:solidFill>
                <a:latin typeface="Arial" pitchFamily="34" charset="0"/>
                <a:ea typeface="Arial" pitchFamily="34" charset="-122"/>
                <a:cs typeface="Arial" pitchFamily="34" charset="-120"/>
              </a:rPr>
              <a:t>GIỚI HẠN CÒN LẠI</a:t>
            </a:r>
            <a:endParaRPr lang="en-US" sz="1300" dirty="0"/>
          </a:p>
        </p:txBody>
      </p:sp>
      <p:sp>
        <p:nvSpPr>
          <p:cNvPr id="15" name="Shape 12"/>
          <p:cNvSpPr/>
          <p:nvPr/>
        </p:nvSpPr>
        <p:spPr>
          <a:xfrm>
            <a:off x="658368" y="2441448"/>
            <a:ext cx="5321808" cy="804672"/>
          </a:xfrm>
          <a:prstGeom prst="roundRect">
            <a:avLst>
              <a:gd name="adj" fmla="val 4545"/>
            </a:avLst>
          </a:prstGeom>
          <a:solidFill>
            <a:srgbClr val="F3FAF6"/>
          </a:solidFill>
          <a:ln w="12700">
            <a:solidFill>
              <a:srgbClr val="137A3D"/>
            </a:solidFill>
            <a:prstDash val="solid"/>
          </a:ln>
        </p:spPr>
      </p:sp>
      <p:sp>
        <p:nvSpPr>
          <p:cNvPr id="16" name="Text 13"/>
          <p:cNvSpPr txBox="1"/>
          <p:nvPr/>
        </p:nvSpPr>
        <p:spPr>
          <a:xfrm>
            <a:off x="896112" y="2560320"/>
            <a:ext cx="1234440" cy="274320"/>
          </a:xfrm>
          <a:prstGeom prst="rect">
            <a:avLst/>
          </a:prstGeom>
          <a:noFill/>
          <a:ln/>
        </p:spPr>
        <p:txBody>
          <a:bodyPr wrap="square" lIns="0" tIns="0" rIns="0" bIns="0" rtlCol="0" anchor="t">
            <a:normAutofit/>
          </a:bodyPr>
          <a:lstStyle/>
          <a:p>
            <a:pPr marL="0" indent="0" algn="l">
              <a:buNone/>
            </a:pPr>
            <a:r>
              <a:rPr lang="en-US" sz="1800" b="1" dirty="0">
                <a:solidFill>
                  <a:srgbClr val="137A3D"/>
                </a:solidFill>
                <a:latin typeface="Arial" pitchFamily="34" charset="0"/>
                <a:ea typeface="Arial" pitchFamily="34" charset="-122"/>
                <a:cs typeface="Arial" pitchFamily="34" charset="-120"/>
              </a:rPr>
              <a:t>Hiện vật</a:t>
            </a:r>
            <a:endParaRPr lang="en-US" sz="1800" dirty="0"/>
          </a:p>
        </p:txBody>
      </p:sp>
      <p:sp>
        <p:nvSpPr>
          <p:cNvPr id="17" name="Text 14"/>
          <p:cNvSpPr txBox="1"/>
          <p:nvPr/>
        </p:nvSpPr>
        <p:spPr>
          <a:xfrm>
            <a:off x="2148840" y="2514600"/>
            <a:ext cx="3520440" cy="530352"/>
          </a:xfrm>
          <a:prstGeom prst="rect">
            <a:avLst/>
          </a:prstGeom>
          <a:noFill/>
          <a:ln/>
        </p:spPr>
        <p:txBody>
          <a:bodyPr wrap="square" lIns="0" tIns="0" rIns="0" bIns="0" rtlCol="0" anchor="ctr">
            <a:normAutofit/>
          </a:bodyPr>
          <a:lstStyle/>
          <a:p>
            <a:pPr marL="0" indent="0" algn="l">
              <a:buNone/>
            </a:pPr>
            <a:r>
              <a:rPr lang="en-US" sz="1450" dirty="0">
                <a:solidFill>
                  <a:srgbClr val="07182F"/>
                </a:solidFill>
                <a:latin typeface="Arial" pitchFamily="34" charset="0"/>
                <a:ea typeface="Arial" pitchFamily="34" charset="-122"/>
                <a:cs typeface="Arial" pitchFamily="34" charset="-120"/>
              </a:rPr>
              <a:t>Học liệu số cho ba mạch kiến thức đã được xây dựng ở mức ứng viên</a:t>
            </a:r>
            <a:endParaRPr lang="en-US" sz="1450" dirty="0"/>
          </a:p>
        </p:txBody>
      </p:sp>
      <p:sp>
        <p:nvSpPr>
          <p:cNvPr id="18" name="Shape 15"/>
          <p:cNvSpPr/>
          <p:nvPr/>
        </p:nvSpPr>
        <p:spPr>
          <a:xfrm>
            <a:off x="658368" y="3429000"/>
            <a:ext cx="5321808" cy="804672"/>
          </a:xfrm>
          <a:prstGeom prst="roundRect">
            <a:avLst>
              <a:gd name="adj" fmla="val 4545"/>
            </a:avLst>
          </a:prstGeom>
          <a:solidFill>
            <a:srgbClr val="F3FAF6"/>
          </a:solidFill>
          <a:ln w="12700">
            <a:solidFill>
              <a:srgbClr val="137A3D"/>
            </a:solidFill>
            <a:prstDash val="solid"/>
          </a:ln>
        </p:spPr>
      </p:sp>
      <p:sp>
        <p:nvSpPr>
          <p:cNvPr id="19" name="Text 16"/>
          <p:cNvSpPr txBox="1"/>
          <p:nvPr/>
        </p:nvSpPr>
        <p:spPr>
          <a:xfrm>
            <a:off x="896112" y="3547872"/>
            <a:ext cx="1234440" cy="274320"/>
          </a:xfrm>
          <a:prstGeom prst="rect">
            <a:avLst/>
          </a:prstGeom>
          <a:noFill/>
          <a:ln/>
        </p:spPr>
        <p:txBody>
          <a:bodyPr wrap="square" lIns="0" tIns="0" rIns="0" bIns="0" rtlCol="0" anchor="t">
            <a:normAutofit/>
          </a:bodyPr>
          <a:lstStyle/>
          <a:p>
            <a:pPr marL="0" indent="0" algn="l">
              <a:buNone/>
            </a:pPr>
            <a:r>
              <a:rPr lang="en-US" sz="1800" b="1" dirty="0">
                <a:solidFill>
                  <a:srgbClr val="137A3D"/>
                </a:solidFill>
                <a:latin typeface="Arial" pitchFamily="34" charset="0"/>
                <a:ea typeface="Arial" pitchFamily="34" charset="-122"/>
                <a:cs typeface="Arial" pitchFamily="34" charset="-120"/>
              </a:rPr>
              <a:t>Cấu trúc</a:t>
            </a:r>
            <a:endParaRPr lang="en-US" sz="1800" dirty="0"/>
          </a:p>
        </p:txBody>
      </p:sp>
      <p:sp>
        <p:nvSpPr>
          <p:cNvPr id="20" name="Text 17"/>
          <p:cNvSpPr txBox="1"/>
          <p:nvPr/>
        </p:nvSpPr>
        <p:spPr>
          <a:xfrm>
            <a:off x="2148840" y="3502152"/>
            <a:ext cx="3520440" cy="530352"/>
          </a:xfrm>
          <a:prstGeom prst="rect">
            <a:avLst/>
          </a:prstGeom>
          <a:noFill/>
          <a:ln/>
        </p:spPr>
        <p:txBody>
          <a:bodyPr wrap="square" lIns="0" tIns="0" rIns="0" bIns="0" rtlCol="0" anchor="ctr">
            <a:normAutofit/>
          </a:bodyPr>
          <a:lstStyle/>
          <a:p>
            <a:pPr marL="0" indent="0" algn="l">
              <a:buNone/>
            </a:pPr>
            <a:r>
              <a:rPr lang="en-US" sz="1450" dirty="0">
                <a:solidFill>
                  <a:srgbClr val="07182F"/>
                </a:solidFill>
                <a:latin typeface="Arial" pitchFamily="34" charset="0"/>
                <a:ea typeface="Arial" pitchFamily="34" charset="-122"/>
                <a:cs typeface="Arial" pitchFamily="34" charset="-120"/>
              </a:rPr>
              <a:t>Nội dung, mô phỏng và tự kiểm tra đã được bố trí trong cùng học liệu</a:t>
            </a:r>
            <a:endParaRPr lang="en-US" sz="1450" dirty="0"/>
          </a:p>
        </p:txBody>
      </p:sp>
      <p:sp>
        <p:nvSpPr>
          <p:cNvPr id="21" name="Shape 18"/>
          <p:cNvSpPr/>
          <p:nvPr/>
        </p:nvSpPr>
        <p:spPr>
          <a:xfrm>
            <a:off x="658368" y="4416552"/>
            <a:ext cx="5321808" cy="804672"/>
          </a:xfrm>
          <a:prstGeom prst="roundRect">
            <a:avLst>
              <a:gd name="adj" fmla="val 4545"/>
            </a:avLst>
          </a:prstGeom>
          <a:solidFill>
            <a:srgbClr val="F3FAF6"/>
          </a:solidFill>
          <a:ln w="12700">
            <a:solidFill>
              <a:srgbClr val="137A3D"/>
            </a:solidFill>
            <a:prstDash val="solid"/>
          </a:ln>
        </p:spPr>
      </p:sp>
      <p:sp>
        <p:nvSpPr>
          <p:cNvPr id="22" name="Text 19"/>
          <p:cNvSpPr txBox="1"/>
          <p:nvPr/>
        </p:nvSpPr>
        <p:spPr>
          <a:xfrm>
            <a:off x="896112" y="4535424"/>
            <a:ext cx="1234440" cy="274320"/>
          </a:xfrm>
          <a:prstGeom prst="rect">
            <a:avLst/>
          </a:prstGeom>
          <a:noFill/>
          <a:ln/>
        </p:spPr>
        <p:txBody>
          <a:bodyPr wrap="square" lIns="0" tIns="0" rIns="0" bIns="0" rtlCol="0" anchor="t">
            <a:normAutofit/>
          </a:bodyPr>
          <a:lstStyle/>
          <a:p>
            <a:pPr marL="0" indent="0" algn="l">
              <a:buNone/>
            </a:pPr>
            <a:r>
              <a:rPr lang="en-US" sz="1800" b="1" dirty="0">
                <a:solidFill>
                  <a:srgbClr val="137A3D"/>
                </a:solidFill>
                <a:latin typeface="Arial" pitchFamily="34" charset="0"/>
                <a:ea typeface="Arial" pitchFamily="34" charset="-122"/>
                <a:cs typeface="Arial" pitchFamily="34" charset="-120"/>
              </a:rPr>
              <a:t>Đối chiếu</a:t>
            </a:r>
            <a:endParaRPr lang="en-US" sz="1800" dirty="0"/>
          </a:p>
        </p:txBody>
      </p:sp>
      <p:sp>
        <p:nvSpPr>
          <p:cNvPr id="23" name="Text 20"/>
          <p:cNvSpPr txBox="1"/>
          <p:nvPr/>
        </p:nvSpPr>
        <p:spPr>
          <a:xfrm>
            <a:off x="2148840" y="4489704"/>
            <a:ext cx="3520440" cy="530352"/>
          </a:xfrm>
          <a:prstGeom prst="rect">
            <a:avLst/>
          </a:prstGeom>
          <a:noFill/>
          <a:ln/>
        </p:spPr>
        <p:txBody>
          <a:bodyPr wrap="square" lIns="0" tIns="0" rIns="0" bIns="0" rtlCol="0" anchor="ctr">
            <a:normAutofit/>
          </a:bodyPr>
          <a:lstStyle/>
          <a:p>
            <a:pPr marL="0" indent="0" algn="l">
              <a:buNone/>
            </a:pPr>
            <a:r>
              <a:rPr lang="en-US" sz="1450" dirty="0">
                <a:solidFill>
                  <a:srgbClr val="07182F"/>
                </a:solidFill>
                <a:latin typeface="Arial" pitchFamily="34" charset="0"/>
                <a:ea typeface="Arial" pitchFamily="34" charset="-122"/>
                <a:cs typeface="Arial" pitchFamily="34" charset="-120"/>
              </a:rPr>
              <a:t>Có dữ liệu phạm vi và ba ca minh họa để Hội đồng xem xét</a:t>
            </a:r>
            <a:endParaRPr lang="en-US" sz="1450" dirty="0"/>
          </a:p>
        </p:txBody>
      </p:sp>
      <p:sp>
        <p:nvSpPr>
          <p:cNvPr id="24" name="Shape 21"/>
          <p:cNvSpPr/>
          <p:nvPr/>
        </p:nvSpPr>
        <p:spPr>
          <a:xfrm>
            <a:off x="6217920" y="2441448"/>
            <a:ext cx="5321808" cy="603504"/>
          </a:xfrm>
          <a:prstGeom prst="roundRect">
            <a:avLst>
              <a:gd name="adj" fmla="val 6061"/>
            </a:avLst>
          </a:prstGeom>
          <a:solidFill>
            <a:srgbClr val="FFF8ED"/>
          </a:solidFill>
          <a:ln w="12700">
            <a:solidFill>
              <a:srgbClr val="9A5B00"/>
            </a:solidFill>
            <a:prstDash val="solid"/>
          </a:ln>
        </p:spPr>
      </p:sp>
      <p:sp>
        <p:nvSpPr>
          <p:cNvPr id="25" name="Text 22"/>
          <p:cNvSpPr txBox="1"/>
          <p:nvPr/>
        </p:nvSpPr>
        <p:spPr>
          <a:xfrm>
            <a:off x="6400800" y="2569464"/>
            <a:ext cx="384048" cy="237744"/>
          </a:xfrm>
          <a:prstGeom prst="rect">
            <a:avLst/>
          </a:prstGeom>
          <a:noFill/>
          <a:ln/>
        </p:spPr>
        <p:txBody>
          <a:bodyPr wrap="square" lIns="0" tIns="0" rIns="0" bIns="0" rtlCol="0" anchor="t">
            <a:normAutofit/>
          </a:bodyPr>
          <a:lstStyle/>
          <a:p>
            <a:pPr marL="0" indent="0" algn="ctr">
              <a:buNone/>
            </a:pPr>
            <a:r>
              <a:rPr lang="en-US" sz="1500" b="1" dirty="0">
                <a:solidFill>
                  <a:srgbClr val="9A5B00"/>
                </a:solidFill>
                <a:latin typeface="Arial" pitchFamily="34" charset="0"/>
                <a:ea typeface="Arial" pitchFamily="34" charset="-122"/>
                <a:cs typeface="Arial" pitchFamily="34" charset="-120"/>
              </a:rPr>
              <a:t>01</a:t>
            </a:r>
            <a:endParaRPr lang="en-US" sz="1500" dirty="0"/>
          </a:p>
        </p:txBody>
      </p:sp>
      <p:sp>
        <p:nvSpPr>
          <p:cNvPr id="26" name="Text 23"/>
          <p:cNvSpPr txBox="1"/>
          <p:nvPr/>
        </p:nvSpPr>
        <p:spPr>
          <a:xfrm>
            <a:off x="6931152" y="2514600"/>
            <a:ext cx="4315968" cy="384048"/>
          </a:xfrm>
          <a:prstGeom prst="rect">
            <a:avLst/>
          </a:prstGeom>
          <a:noFill/>
          <a:ln/>
        </p:spPr>
        <p:txBody>
          <a:bodyPr wrap="square" lIns="0" tIns="0" rIns="0" bIns="0" rtlCol="0" anchor="ctr">
            <a:normAutofit/>
          </a:bodyPr>
          <a:lstStyle/>
          <a:p>
            <a:pPr marL="0" indent="0" algn="l">
              <a:buNone/>
            </a:pPr>
            <a:r>
              <a:rPr lang="en-US" sz="1500" dirty="0">
                <a:solidFill>
                  <a:srgbClr val="243247"/>
                </a:solidFill>
                <a:latin typeface="Arial" pitchFamily="34" charset="0"/>
                <a:ea typeface="Arial" pitchFamily="34" charset="-122"/>
                <a:cs typeface="Arial" pitchFamily="34" charset="-120"/>
              </a:rPr>
              <a:t>Chưa có ký xác nhận học thuật độc lập trong hồ sơ hiện hành.</a:t>
            </a:r>
            <a:endParaRPr lang="en-US" sz="1500" dirty="0"/>
          </a:p>
        </p:txBody>
      </p:sp>
      <p:sp>
        <p:nvSpPr>
          <p:cNvPr id="27" name="Shape 24"/>
          <p:cNvSpPr/>
          <p:nvPr/>
        </p:nvSpPr>
        <p:spPr>
          <a:xfrm>
            <a:off x="6217920" y="3191256"/>
            <a:ext cx="5321808" cy="603504"/>
          </a:xfrm>
          <a:prstGeom prst="roundRect">
            <a:avLst>
              <a:gd name="adj" fmla="val 6061"/>
            </a:avLst>
          </a:prstGeom>
          <a:solidFill>
            <a:srgbClr val="FFF8ED"/>
          </a:solidFill>
          <a:ln w="12700">
            <a:solidFill>
              <a:srgbClr val="9A5B00"/>
            </a:solidFill>
            <a:prstDash val="solid"/>
          </a:ln>
        </p:spPr>
      </p:sp>
      <p:sp>
        <p:nvSpPr>
          <p:cNvPr id="28" name="Text 25"/>
          <p:cNvSpPr txBox="1"/>
          <p:nvPr/>
        </p:nvSpPr>
        <p:spPr>
          <a:xfrm>
            <a:off x="6400800" y="3319272"/>
            <a:ext cx="384048" cy="237744"/>
          </a:xfrm>
          <a:prstGeom prst="rect">
            <a:avLst/>
          </a:prstGeom>
          <a:noFill/>
          <a:ln/>
        </p:spPr>
        <p:txBody>
          <a:bodyPr wrap="square" lIns="0" tIns="0" rIns="0" bIns="0" rtlCol="0" anchor="t">
            <a:normAutofit/>
          </a:bodyPr>
          <a:lstStyle/>
          <a:p>
            <a:pPr marL="0" indent="0" algn="ctr">
              <a:buNone/>
            </a:pPr>
            <a:r>
              <a:rPr lang="en-US" sz="1500" b="1" dirty="0">
                <a:solidFill>
                  <a:srgbClr val="9A5B00"/>
                </a:solidFill>
                <a:latin typeface="Arial" pitchFamily="34" charset="0"/>
                <a:ea typeface="Arial" pitchFamily="34" charset="-122"/>
                <a:cs typeface="Arial" pitchFamily="34" charset="-120"/>
              </a:rPr>
              <a:t>02</a:t>
            </a:r>
            <a:endParaRPr lang="en-US" sz="1500" dirty="0"/>
          </a:p>
        </p:txBody>
      </p:sp>
      <p:sp>
        <p:nvSpPr>
          <p:cNvPr id="29" name="Text 26"/>
          <p:cNvSpPr txBox="1"/>
          <p:nvPr/>
        </p:nvSpPr>
        <p:spPr>
          <a:xfrm>
            <a:off x="6931152" y="3264408"/>
            <a:ext cx="4315968" cy="384048"/>
          </a:xfrm>
          <a:prstGeom prst="rect">
            <a:avLst/>
          </a:prstGeom>
          <a:noFill/>
          <a:ln/>
        </p:spPr>
        <p:txBody>
          <a:bodyPr wrap="square" lIns="0" tIns="0" rIns="0" bIns="0" rtlCol="0" anchor="ctr">
            <a:normAutofit/>
          </a:bodyPr>
          <a:lstStyle/>
          <a:p>
            <a:pPr marL="0" indent="0" algn="l">
              <a:buNone/>
            </a:pPr>
            <a:r>
              <a:rPr lang="en-US" sz="1500" dirty="0">
                <a:solidFill>
                  <a:srgbClr val="243247"/>
                </a:solidFill>
                <a:latin typeface="Arial" pitchFamily="34" charset="0"/>
                <a:ea typeface="Arial" pitchFamily="34" charset="-122"/>
                <a:cs typeface="Arial" pitchFamily="34" charset="-120"/>
              </a:rPr>
              <a:t>4/4 chuẩn đầu ra vẫn là dự kiến sơ bộ.</a:t>
            </a:r>
            <a:endParaRPr lang="en-US" sz="1500" dirty="0"/>
          </a:p>
        </p:txBody>
      </p:sp>
      <p:sp>
        <p:nvSpPr>
          <p:cNvPr id="30" name="Shape 27"/>
          <p:cNvSpPr/>
          <p:nvPr/>
        </p:nvSpPr>
        <p:spPr>
          <a:xfrm>
            <a:off x="6217920" y="3941064"/>
            <a:ext cx="5321808" cy="603504"/>
          </a:xfrm>
          <a:prstGeom prst="roundRect">
            <a:avLst>
              <a:gd name="adj" fmla="val 6061"/>
            </a:avLst>
          </a:prstGeom>
          <a:solidFill>
            <a:srgbClr val="FFF8ED"/>
          </a:solidFill>
          <a:ln w="12700">
            <a:solidFill>
              <a:srgbClr val="9A5B00"/>
            </a:solidFill>
            <a:prstDash val="solid"/>
          </a:ln>
        </p:spPr>
      </p:sp>
      <p:sp>
        <p:nvSpPr>
          <p:cNvPr id="31" name="Text 28"/>
          <p:cNvSpPr txBox="1"/>
          <p:nvPr/>
        </p:nvSpPr>
        <p:spPr>
          <a:xfrm>
            <a:off x="6400800" y="4069080"/>
            <a:ext cx="384048" cy="237744"/>
          </a:xfrm>
          <a:prstGeom prst="rect">
            <a:avLst/>
          </a:prstGeom>
          <a:noFill/>
          <a:ln/>
        </p:spPr>
        <p:txBody>
          <a:bodyPr wrap="square" lIns="0" tIns="0" rIns="0" bIns="0" rtlCol="0" anchor="t">
            <a:normAutofit/>
          </a:bodyPr>
          <a:lstStyle/>
          <a:p>
            <a:pPr marL="0" indent="0" algn="ctr">
              <a:buNone/>
            </a:pPr>
            <a:r>
              <a:rPr lang="en-US" sz="1500" b="1" dirty="0">
                <a:solidFill>
                  <a:srgbClr val="9A5B00"/>
                </a:solidFill>
                <a:latin typeface="Arial" pitchFamily="34" charset="0"/>
                <a:ea typeface="Arial" pitchFamily="34" charset="-122"/>
                <a:cs typeface="Arial" pitchFamily="34" charset="-120"/>
              </a:rPr>
              <a:t>03</a:t>
            </a:r>
            <a:endParaRPr lang="en-US" sz="1500" dirty="0"/>
          </a:p>
        </p:txBody>
      </p:sp>
      <p:sp>
        <p:nvSpPr>
          <p:cNvPr id="32" name="Text 29"/>
          <p:cNvSpPr txBox="1"/>
          <p:nvPr/>
        </p:nvSpPr>
        <p:spPr>
          <a:xfrm>
            <a:off x="6931152" y="4014216"/>
            <a:ext cx="4315968" cy="384048"/>
          </a:xfrm>
          <a:prstGeom prst="rect">
            <a:avLst/>
          </a:prstGeom>
          <a:noFill/>
          <a:ln/>
        </p:spPr>
        <p:txBody>
          <a:bodyPr wrap="square" lIns="0" tIns="0" rIns="0" bIns="0" rtlCol="0" anchor="ctr">
            <a:normAutofit/>
          </a:bodyPr>
          <a:lstStyle/>
          <a:p>
            <a:pPr marL="0" indent="0" algn="l">
              <a:buNone/>
            </a:pPr>
            <a:r>
              <a:rPr lang="en-US" sz="1500" dirty="0">
                <a:solidFill>
                  <a:srgbClr val="243247"/>
                </a:solidFill>
                <a:latin typeface="Arial" pitchFamily="34" charset="0"/>
                <a:ea typeface="Arial" pitchFamily="34" charset="-122"/>
                <a:cs typeface="Arial" pitchFamily="34" charset="-120"/>
              </a:rPr>
              <a:t>Chưa có dữ liệu chứng minh hiệu quả học tập đối với người học.</a:t>
            </a:r>
            <a:endParaRPr lang="en-US" sz="1500" dirty="0"/>
          </a:p>
        </p:txBody>
      </p:sp>
      <p:sp>
        <p:nvSpPr>
          <p:cNvPr id="33" name="Shape 30"/>
          <p:cNvSpPr/>
          <p:nvPr/>
        </p:nvSpPr>
        <p:spPr>
          <a:xfrm>
            <a:off x="6217920" y="4690872"/>
            <a:ext cx="5321808" cy="603504"/>
          </a:xfrm>
          <a:prstGeom prst="roundRect">
            <a:avLst>
              <a:gd name="adj" fmla="val 6061"/>
            </a:avLst>
          </a:prstGeom>
          <a:solidFill>
            <a:srgbClr val="FFF8ED"/>
          </a:solidFill>
          <a:ln w="12700">
            <a:solidFill>
              <a:srgbClr val="9A5B00"/>
            </a:solidFill>
            <a:prstDash val="solid"/>
          </a:ln>
        </p:spPr>
      </p:sp>
      <p:sp>
        <p:nvSpPr>
          <p:cNvPr id="34" name="Text 31"/>
          <p:cNvSpPr txBox="1"/>
          <p:nvPr/>
        </p:nvSpPr>
        <p:spPr>
          <a:xfrm>
            <a:off x="6400800" y="4818888"/>
            <a:ext cx="384048" cy="237744"/>
          </a:xfrm>
          <a:prstGeom prst="rect">
            <a:avLst/>
          </a:prstGeom>
          <a:noFill/>
          <a:ln/>
        </p:spPr>
        <p:txBody>
          <a:bodyPr wrap="square" lIns="0" tIns="0" rIns="0" bIns="0" rtlCol="0" anchor="t">
            <a:normAutofit/>
          </a:bodyPr>
          <a:lstStyle/>
          <a:p>
            <a:pPr marL="0" indent="0" algn="ctr">
              <a:buNone/>
            </a:pPr>
            <a:r>
              <a:rPr lang="en-US" sz="1500" b="1" dirty="0">
                <a:solidFill>
                  <a:srgbClr val="9A5B00"/>
                </a:solidFill>
                <a:latin typeface="Arial" pitchFamily="34" charset="0"/>
                <a:ea typeface="Arial" pitchFamily="34" charset="-122"/>
                <a:cs typeface="Arial" pitchFamily="34" charset="-120"/>
              </a:rPr>
              <a:t>04</a:t>
            </a:r>
            <a:endParaRPr lang="en-US" sz="1500" dirty="0"/>
          </a:p>
        </p:txBody>
      </p:sp>
      <p:sp>
        <p:nvSpPr>
          <p:cNvPr id="35" name="Text 32"/>
          <p:cNvSpPr txBox="1"/>
          <p:nvPr/>
        </p:nvSpPr>
        <p:spPr>
          <a:xfrm>
            <a:off x="6931152" y="4764024"/>
            <a:ext cx="4315968" cy="384048"/>
          </a:xfrm>
          <a:prstGeom prst="rect">
            <a:avLst/>
          </a:prstGeom>
          <a:noFill/>
          <a:ln/>
        </p:spPr>
        <p:txBody>
          <a:bodyPr wrap="square" lIns="0" tIns="0" rIns="0" bIns="0" rtlCol="0" anchor="ctr">
            <a:normAutofit/>
          </a:bodyPr>
          <a:lstStyle/>
          <a:p>
            <a:pPr marL="0" indent="0" algn="l">
              <a:buNone/>
            </a:pPr>
            <a:r>
              <a:rPr lang="en-US" sz="1500" dirty="0">
                <a:solidFill>
                  <a:srgbClr val="243247"/>
                </a:solidFill>
                <a:latin typeface="Arial" pitchFamily="34" charset="0"/>
                <a:ea typeface="Arial" pitchFamily="34" charset="-122"/>
                <a:cs typeface="Arial" pitchFamily="34" charset="-120"/>
              </a:rPr>
              <a:t>9 phép kiểm tra trong snapshot dừng vì môi trường thiếu Chromium; 4 thẩm định hoặc kiểm tra độc lập chưa thể thực hiện.</a:t>
            </a:r>
            <a:endParaRPr lang="en-US" sz="1500" dirty="0"/>
          </a:p>
        </p:txBody>
      </p:sp>
      <p:sp>
        <p:nvSpPr>
          <p:cNvPr id="36" name="Shape 33"/>
          <p:cNvSpPr/>
          <p:nvPr/>
        </p:nvSpPr>
        <p:spPr>
          <a:xfrm>
            <a:off x="658368" y="5596128"/>
            <a:ext cx="10881360" cy="438912"/>
          </a:xfrm>
          <a:prstGeom prst="roundRect">
            <a:avLst>
              <a:gd name="adj" fmla="val 8333"/>
            </a:avLst>
          </a:prstGeom>
          <a:solidFill>
            <a:srgbClr val="EEF2F7"/>
          </a:solidFill>
          <a:ln w="12700">
            <a:solidFill>
              <a:srgbClr val="D7DEE8"/>
            </a:solidFill>
            <a:prstDash val="solid"/>
          </a:ln>
        </p:spPr>
      </p:sp>
      <p:sp>
        <p:nvSpPr>
          <p:cNvPr id="37" name="Text 34"/>
          <p:cNvSpPr txBox="1"/>
          <p:nvPr/>
        </p:nvSpPr>
        <p:spPr>
          <a:xfrm>
            <a:off x="1005840" y="5687568"/>
            <a:ext cx="10149840" cy="219456"/>
          </a:xfrm>
          <a:prstGeom prst="rect">
            <a:avLst/>
          </a:prstGeom>
          <a:noFill/>
          <a:ln/>
        </p:spPr>
        <p:txBody>
          <a:bodyPr wrap="square" lIns="0" tIns="0" rIns="0" bIns="0" rtlCol="0" anchor="t">
            <a:normAutofit/>
          </a:bodyPr>
          <a:lstStyle/>
          <a:p>
            <a:pPr marL="0" indent="0" algn="ctr">
              <a:buNone/>
            </a:pPr>
            <a:r>
              <a:rPr lang="en-US" sz="1550" b="1" dirty="0">
                <a:solidFill>
                  <a:srgbClr val="0D2447"/>
                </a:solidFill>
                <a:latin typeface="Arial" pitchFamily="34" charset="0"/>
                <a:ea typeface="Arial" pitchFamily="34" charset="-122"/>
                <a:cs typeface="Arial" pitchFamily="34" charset="-120"/>
              </a:rPr>
              <a:t>Báo cáo nêu rõ phần đã xây dựng và phần cần tiếp tục kiểm chứng.</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BÁO CÁO KHOA HỌC</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Bốn nội dung xin ý kiến góp ý</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12</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Nhóm tác giả xin góp ý dựa trên các ca khoa học, vòng học, điều kiện–tiêu chí đầu ra và ba câu hỏi đại diện đang hiển thị.</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dirty="0">
                <a:solidFill>
                  <a:srgbClr val="5B6B80"/>
                </a:solidFill>
                <a:latin typeface="Arial" pitchFamily="34" charset="0"/>
                <a:ea typeface="Arial" pitchFamily="34" charset="-122"/>
                <a:cs typeface="Arial" pitchFamily="34" charset="-120"/>
              </a:rPr>
              <a:t>BÁO CÁO KHOA HỌC · 2026</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KQ-XIN-Y-KIEN</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12</a:t>
            </a:r>
            <a:endParaRPr lang="en-US" sz="820" dirty="0"/>
          </a:p>
        </p:txBody>
      </p:sp>
      <p:sp>
        <p:nvSpPr>
          <p:cNvPr id="13" name="Text 10"/>
          <p:cNvSpPr txBox="1"/>
          <p:nvPr/>
        </p:nvSpPr>
        <p:spPr>
          <a:xfrm>
            <a:off x="713232" y="2048256"/>
            <a:ext cx="384048" cy="292608"/>
          </a:xfrm>
          <a:prstGeom prst="rect">
            <a:avLst/>
          </a:prstGeom>
          <a:noFill/>
          <a:ln/>
        </p:spPr>
        <p:txBody>
          <a:bodyPr wrap="square" lIns="0" tIns="0" rIns="0" bIns="0" rtlCol="0" anchor="t">
            <a:normAutofit/>
          </a:bodyPr>
          <a:lstStyle/>
          <a:p>
            <a:pPr marL="0" indent="0" algn="ctr">
              <a:buNone/>
            </a:pPr>
            <a:r>
              <a:rPr lang="en-US" sz="1800" b="1" dirty="0">
                <a:solidFill>
                  <a:srgbClr val="C9963A"/>
                </a:solidFill>
                <a:latin typeface="Arial" pitchFamily="34" charset="0"/>
                <a:ea typeface="Arial" pitchFamily="34" charset="-122"/>
                <a:cs typeface="Arial" pitchFamily="34" charset="-120"/>
              </a:rPr>
              <a:t>01</a:t>
            </a:r>
            <a:endParaRPr lang="en-US" sz="1800" dirty="0"/>
          </a:p>
        </p:txBody>
      </p:sp>
      <p:sp>
        <p:nvSpPr>
          <p:cNvPr id="14" name="Shape 11"/>
          <p:cNvSpPr/>
          <p:nvPr/>
        </p:nvSpPr>
        <p:spPr>
          <a:xfrm>
            <a:off x="1261872" y="1938528"/>
            <a:ext cx="10222992" cy="539496"/>
          </a:xfrm>
          <a:prstGeom prst="roundRect">
            <a:avLst>
              <a:gd name="adj" fmla="val 6780"/>
            </a:avLst>
          </a:prstGeom>
          <a:solidFill>
            <a:srgbClr val="FFFFFF"/>
          </a:solidFill>
          <a:ln w="12700">
            <a:solidFill>
              <a:srgbClr val="15355F"/>
            </a:solidFill>
            <a:prstDash val="solid"/>
          </a:ln>
        </p:spPr>
      </p:sp>
      <p:sp>
        <p:nvSpPr>
          <p:cNvPr id="15" name="Text 12"/>
          <p:cNvSpPr txBox="1"/>
          <p:nvPr/>
        </p:nvSpPr>
        <p:spPr>
          <a:xfrm>
            <a:off x="1536192" y="2011680"/>
            <a:ext cx="3291840" cy="292608"/>
          </a:xfrm>
          <a:prstGeom prst="rect">
            <a:avLst/>
          </a:prstGeom>
          <a:noFill/>
          <a:ln/>
        </p:spPr>
        <p:txBody>
          <a:bodyPr wrap="square" lIns="0" tIns="0" rIns="0" bIns="0" rtlCol="0" anchor="t">
            <a:normAutofit/>
          </a:bodyPr>
          <a:lstStyle/>
          <a:p>
            <a:pPr marL="0" indent="0" algn="l">
              <a:buNone/>
            </a:pPr>
            <a:r>
              <a:rPr lang="en-US" sz="1650" b="1" dirty="0">
                <a:solidFill>
                  <a:srgbClr val="15355F"/>
                </a:solidFill>
                <a:latin typeface="Arial" pitchFamily="34" charset="0"/>
                <a:ea typeface="Arial" pitchFamily="34" charset="-122"/>
                <a:cs typeface="Arial" pitchFamily="34" charset="-120"/>
              </a:rPr>
              <a:t>Tính đúng khoa học</a:t>
            </a:r>
            <a:endParaRPr lang="en-US" sz="1650" dirty="0"/>
          </a:p>
        </p:txBody>
      </p:sp>
      <p:sp>
        <p:nvSpPr>
          <p:cNvPr id="16" name="Text 13"/>
          <p:cNvSpPr txBox="1"/>
          <p:nvPr/>
        </p:nvSpPr>
        <p:spPr>
          <a:xfrm>
            <a:off x="4937760" y="2002536"/>
            <a:ext cx="6126480" cy="320040"/>
          </a:xfrm>
          <a:prstGeom prst="rect">
            <a:avLst/>
          </a:prstGeom>
          <a:noFill/>
          <a:ln/>
        </p:spPr>
        <p:txBody>
          <a:bodyPr wrap="square" lIns="0" tIns="0" rIns="0" bIns="0" rtlCol="0" anchor="t">
            <a:normAutofit/>
          </a:bodyPr>
          <a:lstStyle/>
          <a:p>
            <a:pPr marL="0" indent="0" algn="l">
              <a:buNone/>
            </a:pPr>
            <a:r>
              <a:rPr lang="en-US" sz="1480" dirty="0">
                <a:solidFill>
                  <a:srgbClr val="243247"/>
                </a:solidFill>
                <a:latin typeface="Arial" pitchFamily="34" charset="0"/>
                <a:ea typeface="Arial" pitchFamily="34" charset="-122"/>
                <a:cs typeface="Arial" pitchFamily="34" charset="-120"/>
              </a:rPr>
              <a:t>Công thức, giả thiết, đơn vị, mô hình và giới hạn áp dụng</a:t>
            </a:r>
            <a:endParaRPr lang="en-US" sz="1480" dirty="0"/>
          </a:p>
        </p:txBody>
      </p:sp>
      <p:sp>
        <p:nvSpPr>
          <p:cNvPr id="17" name="Text 14"/>
          <p:cNvSpPr txBox="1"/>
          <p:nvPr/>
        </p:nvSpPr>
        <p:spPr>
          <a:xfrm>
            <a:off x="713232" y="2715768"/>
            <a:ext cx="384048" cy="292608"/>
          </a:xfrm>
          <a:prstGeom prst="rect">
            <a:avLst/>
          </a:prstGeom>
          <a:noFill/>
          <a:ln/>
        </p:spPr>
        <p:txBody>
          <a:bodyPr wrap="square" lIns="0" tIns="0" rIns="0" bIns="0" rtlCol="0" anchor="t">
            <a:normAutofit/>
          </a:bodyPr>
          <a:lstStyle/>
          <a:p>
            <a:pPr marL="0" indent="0" algn="ctr">
              <a:buNone/>
            </a:pPr>
            <a:r>
              <a:rPr lang="en-US" sz="1800" b="1" dirty="0">
                <a:solidFill>
                  <a:srgbClr val="C9963A"/>
                </a:solidFill>
                <a:latin typeface="Arial" pitchFamily="34" charset="0"/>
                <a:ea typeface="Arial" pitchFamily="34" charset="-122"/>
                <a:cs typeface="Arial" pitchFamily="34" charset="-120"/>
              </a:rPr>
              <a:t>02</a:t>
            </a:r>
            <a:endParaRPr lang="en-US" sz="1800" dirty="0"/>
          </a:p>
        </p:txBody>
      </p:sp>
      <p:sp>
        <p:nvSpPr>
          <p:cNvPr id="18" name="Shape 15"/>
          <p:cNvSpPr/>
          <p:nvPr/>
        </p:nvSpPr>
        <p:spPr>
          <a:xfrm>
            <a:off x="1261872" y="2606040"/>
            <a:ext cx="10222992" cy="539496"/>
          </a:xfrm>
          <a:prstGeom prst="roundRect">
            <a:avLst>
              <a:gd name="adj" fmla="val 6780"/>
            </a:avLst>
          </a:prstGeom>
          <a:solidFill>
            <a:srgbClr val="FFFFFF"/>
          </a:solidFill>
          <a:ln w="12700">
            <a:solidFill>
              <a:srgbClr val="15355F"/>
            </a:solidFill>
            <a:prstDash val="solid"/>
          </a:ln>
        </p:spPr>
      </p:sp>
      <p:sp>
        <p:nvSpPr>
          <p:cNvPr id="19" name="Text 16"/>
          <p:cNvSpPr txBox="1"/>
          <p:nvPr/>
        </p:nvSpPr>
        <p:spPr>
          <a:xfrm>
            <a:off x="1536192" y="2679192"/>
            <a:ext cx="3291840" cy="292608"/>
          </a:xfrm>
          <a:prstGeom prst="rect">
            <a:avLst/>
          </a:prstGeom>
          <a:noFill/>
          <a:ln/>
        </p:spPr>
        <p:txBody>
          <a:bodyPr wrap="square" lIns="0" tIns="0" rIns="0" bIns="0" rtlCol="0" anchor="t">
            <a:normAutofit/>
          </a:bodyPr>
          <a:lstStyle/>
          <a:p>
            <a:pPr marL="0" indent="0" algn="l">
              <a:buNone/>
            </a:pPr>
            <a:r>
              <a:rPr lang="en-US" sz="1650" b="1" dirty="0">
                <a:solidFill>
                  <a:srgbClr val="15355F"/>
                </a:solidFill>
                <a:latin typeface="Arial" pitchFamily="34" charset="0"/>
                <a:ea typeface="Arial" pitchFamily="34" charset="-122"/>
                <a:cs typeface="Arial" pitchFamily="34" charset="-120"/>
              </a:rPr>
              <a:t>Cách tổ chức học</a:t>
            </a:r>
            <a:endParaRPr lang="en-US" sz="1650" dirty="0"/>
          </a:p>
        </p:txBody>
      </p:sp>
      <p:sp>
        <p:nvSpPr>
          <p:cNvPr id="20" name="Text 17"/>
          <p:cNvSpPr txBox="1"/>
          <p:nvPr/>
        </p:nvSpPr>
        <p:spPr>
          <a:xfrm>
            <a:off x="4937760" y="2670048"/>
            <a:ext cx="6126480" cy="320040"/>
          </a:xfrm>
          <a:prstGeom prst="rect">
            <a:avLst/>
          </a:prstGeom>
          <a:noFill/>
          <a:ln/>
        </p:spPr>
        <p:txBody>
          <a:bodyPr wrap="square" lIns="0" tIns="0" rIns="0" bIns="0" rtlCol="0" anchor="t">
            <a:normAutofit/>
          </a:bodyPr>
          <a:lstStyle/>
          <a:p>
            <a:pPr marL="0" indent="0" algn="l">
              <a:buNone/>
            </a:pPr>
            <a:r>
              <a:rPr lang="en-US" sz="1480" dirty="0">
                <a:solidFill>
                  <a:srgbClr val="243247"/>
                </a:solidFill>
                <a:latin typeface="Arial" pitchFamily="34" charset="0"/>
                <a:ea typeface="Arial" pitchFamily="34" charset="-122"/>
                <a:cs typeface="Arial" pitchFamily="34" charset="-120"/>
              </a:rPr>
              <a:t>Trình tự nội dung, mức dễ hiểu, thao tác và phản hồi</a:t>
            </a:r>
            <a:endParaRPr lang="en-US" sz="1480" dirty="0"/>
          </a:p>
        </p:txBody>
      </p:sp>
      <p:sp>
        <p:nvSpPr>
          <p:cNvPr id="21" name="Text 18"/>
          <p:cNvSpPr txBox="1"/>
          <p:nvPr/>
        </p:nvSpPr>
        <p:spPr>
          <a:xfrm>
            <a:off x="713232" y="3383280"/>
            <a:ext cx="384048" cy="292608"/>
          </a:xfrm>
          <a:prstGeom prst="rect">
            <a:avLst/>
          </a:prstGeom>
          <a:noFill/>
          <a:ln/>
        </p:spPr>
        <p:txBody>
          <a:bodyPr wrap="square" lIns="0" tIns="0" rIns="0" bIns="0" rtlCol="0" anchor="t">
            <a:normAutofit/>
          </a:bodyPr>
          <a:lstStyle/>
          <a:p>
            <a:pPr marL="0" indent="0" algn="ctr">
              <a:buNone/>
            </a:pPr>
            <a:r>
              <a:rPr lang="en-US" sz="1800" b="1" dirty="0">
                <a:solidFill>
                  <a:srgbClr val="C9963A"/>
                </a:solidFill>
                <a:latin typeface="Arial" pitchFamily="34" charset="0"/>
                <a:ea typeface="Arial" pitchFamily="34" charset="-122"/>
                <a:cs typeface="Arial" pitchFamily="34" charset="-120"/>
              </a:rPr>
              <a:t>03</a:t>
            </a:r>
            <a:endParaRPr lang="en-US" sz="1800" dirty="0"/>
          </a:p>
        </p:txBody>
      </p:sp>
      <p:sp>
        <p:nvSpPr>
          <p:cNvPr id="22" name="Shape 19"/>
          <p:cNvSpPr/>
          <p:nvPr/>
        </p:nvSpPr>
        <p:spPr>
          <a:xfrm>
            <a:off x="1261872" y="3273552"/>
            <a:ext cx="10222992" cy="539496"/>
          </a:xfrm>
          <a:prstGeom prst="roundRect">
            <a:avLst>
              <a:gd name="adj" fmla="val 6780"/>
            </a:avLst>
          </a:prstGeom>
          <a:solidFill>
            <a:srgbClr val="FFFFFF"/>
          </a:solidFill>
          <a:ln w="12700">
            <a:solidFill>
              <a:srgbClr val="15355F"/>
            </a:solidFill>
            <a:prstDash val="solid"/>
          </a:ln>
        </p:spPr>
      </p:sp>
      <p:sp>
        <p:nvSpPr>
          <p:cNvPr id="23" name="Text 20"/>
          <p:cNvSpPr txBox="1"/>
          <p:nvPr/>
        </p:nvSpPr>
        <p:spPr>
          <a:xfrm>
            <a:off x="1536192" y="3346704"/>
            <a:ext cx="3291840" cy="292608"/>
          </a:xfrm>
          <a:prstGeom prst="rect">
            <a:avLst/>
          </a:prstGeom>
          <a:noFill/>
          <a:ln/>
        </p:spPr>
        <p:txBody>
          <a:bodyPr wrap="square" lIns="0" tIns="0" rIns="0" bIns="0" rtlCol="0" anchor="t">
            <a:normAutofit/>
          </a:bodyPr>
          <a:lstStyle/>
          <a:p>
            <a:pPr marL="0" indent="0" algn="l">
              <a:buNone/>
            </a:pPr>
            <a:r>
              <a:rPr lang="en-US" sz="1650" b="1" dirty="0">
                <a:solidFill>
                  <a:srgbClr val="15355F"/>
                </a:solidFill>
                <a:latin typeface="Arial" pitchFamily="34" charset="0"/>
                <a:ea typeface="Arial" pitchFamily="34" charset="-122"/>
                <a:cs typeface="Arial" pitchFamily="34" charset="-120"/>
              </a:rPr>
              <a:t>Đầu ra và câu hỏi</a:t>
            </a:r>
            <a:endParaRPr lang="en-US" sz="1650" dirty="0"/>
          </a:p>
        </p:txBody>
      </p:sp>
      <p:sp>
        <p:nvSpPr>
          <p:cNvPr id="24" name="Text 21"/>
          <p:cNvSpPr txBox="1"/>
          <p:nvPr/>
        </p:nvSpPr>
        <p:spPr>
          <a:xfrm>
            <a:off x="4937760" y="3337560"/>
            <a:ext cx="6126480" cy="320040"/>
          </a:xfrm>
          <a:prstGeom prst="rect">
            <a:avLst/>
          </a:prstGeom>
          <a:noFill/>
          <a:ln/>
        </p:spPr>
        <p:txBody>
          <a:bodyPr wrap="square" lIns="0" tIns="0" rIns="0" bIns="0" rtlCol="0" anchor="t">
            <a:normAutofit/>
          </a:bodyPr>
          <a:lstStyle/>
          <a:p>
            <a:pPr marL="0" indent="0" algn="l">
              <a:buNone/>
            </a:pPr>
            <a:r>
              <a:rPr lang="en-US" sz="1480" dirty="0">
                <a:solidFill>
                  <a:srgbClr val="243247"/>
                </a:solidFill>
                <a:latin typeface="Arial" pitchFamily="34" charset="0"/>
                <a:ea typeface="Arial" pitchFamily="34" charset="-122"/>
                <a:cs typeface="Arial" pitchFamily="34" charset="-120"/>
              </a:rPr>
              <a:t>Xem điều kiện và tiêu chí tại Phụ lục 14; xem ba câu hỏi đại diện bên dưới</a:t>
            </a:r>
            <a:endParaRPr lang="en-US" sz="1480" dirty="0"/>
          </a:p>
        </p:txBody>
      </p:sp>
      <p:sp>
        <p:nvSpPr>
          <p:cNvPr id="25" name="Text 22"/>
          <p:cNvSpPr txBox="1"/>
          <p:nvPr/>
        </p:nvSpPr>
        <p:spPr>
          <a:xfrm>
            <a:off x="713232" y="4050792"/>
            <a:ext cx="384048" cy="292608"/>
          </a:xfrm>
          <a:prstGeom prst="rect">
            <a:avLst/>
          </a:prstGeom>
          <a:noFill/>
          <a:ln/>
        </p:spPr>
        <p:txBody>
          <a:bodyPr wrap="square" lIns="0" tIns="0" rIns="0" bIns="0" rtlCol="0" anchor="t">
            <a:normAutofit/>
          </a:bodyPr>
          <a:lstStyle/>
          <a:p>
            <a:pPr marL="0" indent="0" algn="ctr">
              <a:buNone/>
            </a:pPr>
            <a:r>
              <a:rPr lang="en-US" sz="1800" b="1" dirty="0">
                <a:solidFill>
                  <a:srgbClr val="C9963A"/>
                </a:solidFill>
                <a:latin typeface="Arial" pitchFamily="34" charset="0"/>
                <a:ea typeface="Arial" pitchFamily="34" charset="-122"/>
                <a:cs typeface="Arial" pitchFamily="34" charset="-120"/>
              </a:rPr>
              <a:t>04</a:t>
            </a:r>
            <a:endParaRPr lang="en-US" sz="1800" dirty="0"/>
          </a:p>
        </p:txBody>
      </p:sp>
      <p:sp>
        <p:nvSpPr>
          <p:cNvPr id="26" name="Shape 23"/>
          <p:cNvSpPr/>
          <p:nvPr/>
        </p:nvSpPr>
        <p:spPr>
          <a:xfrm>
            <a:off x="1261872" y="3941064"/>
            <a:ext cx="10222992" cy="539496"/>
          </a:xfrm>
          <a:prstGeom prst="roundRect">
            <a:avLst>
              <a:gd name="adj" fmla="val 6780"/>
            </a:avLst>
          </a:prstGeom>
          <a:solidFill>
            <a:srgbClr val="FFFFFF"/>
          </a:solidFill>
          <a:ln w="12700">
            <a:solidFill>
              <a:srgbClr val="15355F"/>
            </a:solidFill>
            <a:prstDash val="solid"/>
          </a:ln>
        </p:spPr>
      </p:sp>
      <p:sp>
        <p:nvSpPr>
          <p:cNvPr id="27" name="Text 24"/>
          <p:cNvSpPr txBox="1"/>
          <p:nvPr/>
        </p:nvSpPr>
        <p:spPr>
          <a:xfrm>
            <a:off x="1536192" y="4014216"/>
            <a:ext cx="3291840" cy="292608"/>
          </a:xfrm>
          <a:prstGeom prst="rect">
            <a:avLst/>
          </a:prstGeom>
          <a:noFill/>
          <a:ln/>
        </p:spPr>
        <p:txBody>
          <a:bodyPr wrap="square" lIns="0" tIns="0" rIns="0" bIns="0" rtlCol="0" anchor="t">
            <a:normAutofit/>
          </a:bodyPr>
          <a:lstStyle/>
          <a:p>
            <a:pPr marL="0" indent="0" algn="l">
              <a:buNone/>
            </a:pPr>
            <a:r>
              <a:rPr lang="en-US" sz="1650" b="1" dirty="0">
                <a:solidFill>
                  <a:srgbClr val="15355F"/>
                </a:solidFill>
                <a:latin typeface="Arial" pitchFamily="34" charset="0"/>
                <a:ea typeface="Arial" pitchFamily="34" charset="-122"/>
                <a:cs typeface="Arial" pitchFamily="34" charset="-120"/>
              </a:rPr>
              <a:t>Nội dung cần hoàn thiện</a:t>
            </a:r>
            <a:endParaRPr lang="en-US" sz="1650" dirty="0"/>
          </a:p>
        </p:txBody>
      </p:sp>
      <p:sp>
        <p:nvSpPr>
          <p:cNvPr id="28" name="Text 25"/>
          <p:cNvSpPr txBox="1"/>
          <p:nvPr/>
        </p:nvSpPr>
        <p:spPr>
          <a:xfrm>
            <a:off x="4937760" y="4005072"/>
            <a:ext cx="6126480" cy="320040"/>
          </a:xfrm>
          <a:prstGeom prst="rect">
            <a:avLst/>
          </a:prstGeom>
          <a:noFill/>
          <a:ln/>
        </p:spPr>
        <p:txBody>
          <a:bodyPr wrap="square" lIns="0" tIns="0" rIns="0" bIns="0" rtlCol="0" anchor="t">
            <a:normAutofit/>
          </a:bodyPr>
          <a:lstStyle/>
          <a:p>
            <a:pPr marL="0" indent="0" algn="l">
              <a:buNone/>
            </a:pPr>
            <a:r>
              <a:rPr lang="en-US" sz="1480" dirty="0">
                <a:solidFill>
                  <a:srgbClr val="243247"/>
                </a:solidFill>
                <a:latin typeface="Arial" pitchFamily="34" charset="0"/>
                <a:ea typeface="Arial" pitchFamily="34" charset="-122"/>
                <a:cs typeface="Arial" pitchFamily="34" charset="-120"/>
              </a:rPr>
              <a:t>Điểm cần sửa, bổ sung minh chứng hoặc điều chỉnh cách trình bày</a:t>
            </a:r>
            <a:endParaRPr lang="en-US" sz="1480" dirty="0"/>
          </a:p>
        </p:txBody>
      </p:sp>
      <p:sp>
        <p:nvSpPr>
          <p:cNvPr id="29" name="Text 26"/>
          <p:cNvSpPr txBox="1"/>
          <p:nvPr/>
        </p:nvSpPr>
        <p:spPr>
          <a:xfrm>
            <a:off x="1261872" y="4663440"/>
            <a:ext cx="10222992" cy="201168"/>
          </a:xfrm>
          <a:prstGeom prst="rect">
            <a:avLst/>
          </a:prstGeom>
          <a:noFill/>
          <a:ln/>
        </p:spPr>
        <p:txBody>
          <a:bodyPr wrap="square" lIns="0" tIns="0" rIns="0" bIns="0" rtlCol="0" anchor="t">
            <a:normAutofit/>
          </a:bodyPr>
          <a:lstStyle/>
          <a:p>
            <a:pPr marL="0" indent="0" algn="ctr">
              <a:buNone/>
            </a:pPr>
            <a:r>
              <a:rPr lang="en-US" sz="1150" b="1" dirty="0">
                <a:solidFill>
                  <a:srgbClr val="C9963A"/>
                </a:solidFill>
                <a:latin typeface="Arial" pitchFamily="34" charset="0"/>
                <a:ea typeface="Arial" pitchFamily="34" charset="-122"/>
                <a:cs typeface="Arial" pitchFamily="34" charset="-120"/>
              </a:rPr>
              <a:t>BA CÂU HỎI ĐẠI DIỆN ĐỂ GÓP Ý</a:t>
            </a:r>
            <a:endParaRPr lang="en-US" sz="1150" dirty="0"/>
          </a:p>
        </p:txBody>
      </p:sp>
      <p:sp>
        <p:nvSpPr>
          <p:cNvPr id="30" name="Shape 27"/>
          <p:cNvSpPr/>
          <p:nvPr/>
        </p:nvSpPr>
        <p:spPr>
          <a:xfrm>
            <a:off x="1261872" y="4882896"/>
            <a:ext cx="3246120" cy="877824"/>
          </a:xfrm>
          <a:prstGeom prst="roundRect">
            <a:avLst>
              <a:gd name="adj" fmla="val 4167"/>
            </a:avLst>
          </a:prstGeom>
          <a:solidFill>
            <a:srgbClr val="F8FAFC"/>
          </a:solidFill>
          <a:ln w="12700">
            <a:solidFill>
              <a:srgbClr val="D7DEE8"/>
            </a:solidFill>
            <a:prstDash val="solid"/>
          </a:ln>
        </p:spPr>
      </p:sp>
      <p:sp>
        <p:nvSpPr>
          <p:cNvPr id="31" name="Text 28"/>
          <p:cNvSpPr txBox="1"/>
          <p:nvPr/>
        </p:nvSpPr>
        <p:spPr>
          <a:xfrm>
            <a:off x="1389888" y="4965192"/>
            <a:ext cx="1188720" cy="164592"/>
          </a:xfrm>
          <a:prstGeom prst="rect">
            <a:avLst/>
          </a:prstGeom>
          <a:noFill/>
          <a:ln/>
        </p:spPr>
        <p:txBody>
          <a:bodyPr wrap="square" lIns="0" tIns="0" rIns="0" bIns="0" rtlCol="0" anchor="t">
            <a:normAutofit/>
          </a:bodyPr>
          <a:lstStyle/>
          <a:p>
            <a:pPr marL="0" indent="0" algn="l">
              <a:buNone/>
            </a:pPr>
            <a:r>
              <a:rPr lang="en-US" sz="910" b="1" dirty="0">
                <a:solidFill>
                  <a:srgbClr val="2980B9"/>
                </a:solidFill>
                <a:latin typeface="Arial" pitchFamily="34" charset="0"/>
                <a:ea typeface="Arial" pitchFamily="34" charset="-122"/>
                <a:cs typeface="Arial" pitchFamily="34" charset="-120"/>
              </a:rPr>
              <a:t>TĨNH HỌC</a:t>
            </a:r>
            <a:endParaRPr lang="en-US" sz="910" dirty="0"/>
          </a:p>
        </p:txBody>
      </p:sp>
      <p:sp>
        <p:nvSpPr>
          <p:cNvPr id="32" name="Text 29"/>
          <p:cNvSpPr txBox="1"/>
          <p:nvPr/>
        </p:nvSpPr>
        <p:spPr>
          <a:xfrm>
            <a:off x="1389888" y="5157216"/>
            <a:ext cx="2990088" cy="310896"/>
          </a:xfrm>
          <a:prstGeom prst="rect">
            <a:avLst/>
          </a:prstGeom>
          <a:noFill/>
          <a:ln/>
        </p:spPr>
        <p:txBody>
          <a:bodyPr wrap="square" lIns="0" tIns="0" rIns="0" bIns="0" rtlCol="0" anchor="t">
            <a:normAutofit/>
          </a:bodyPr>
          <a:lstStyle/>
          <a:p>
            <a:pPr marL="0" indent="0" algn="l">
              <a:buNone/>
            </a:pPr>
            <a:r>
              <a:rPr lang="en-US" sz="1020" b="1" dirty="0">
                <a:solidFill>
                  <a:srgbClr val="07182F"/>
                </a:solidFill>
                <a:latin typeface="Arial" pitchFamily="34" charset="0"/>
                <a:ea typeface="Arial" pitchFamily="34" charset="-122"/>
                <a:cs typeface="Arial" pitchFamily="34" charset="-120"/>
              </a:rPr>
              <a:t>Mô men của lực đối với một điểm phụ thuộc vào:</a:t>
            </a:r>
            <a:endParaRPr lang="en-US" sz="1020" dirty="0"/>
          </a:p>
        </p:txBody>
      </p:sp>
      <p:sp>
        <p:nvSpPr>
          <p:cNvPr id="33" name="Text 30"/>
          <p:cNvSpPr txBox="1"/>
          <p:nvPr/>
        </p:nvSpPr>
        <p:spPr>
          <a:xfrm>
            <a:off x="1389888" y="5513832"/>
            <a:ext cx="2990088" cy="164592"/>
          </a:xfrm>
          <a:prstGeom prst="rect">
            <a:avLst/>
          </a:prstGeom>
          <a:noFill/>
          <a:ln/>
        </p:spPr>
        <p:txBody>
          <a:bodyPr wrap="square" lIns="0" tIns="0" rIns="0" bIns="0" rtlCol="0" anchor="t">
            <a:normAutofit/>
          </a:bodyPr>
          <a:lstStyle/>
          <a:p>
            <a:pPr marL="0" indent="0" algn="l">
              <a:buNone/>
            </a:pPr>
            <a:r>
              <a:rPr lang="en-US" sz="850" dirty="0">
                <a:solidFill>
                  <a:srgbClr val="5B6B80"/>
                </a:solidFill>
                <a:latin typeface="Arial" pitchFamily="34" charset="0"/>
                <a:ea typeface="Arial" pitchFamily="34" charset="-122"/>
                <a:cs typeface="Arial" pitchFamily="34" charset="-120"/>
              </a:rPr>
              <a:t>Đáp án: Cường độ lực và khoảng cách vuông góc</a:t>
            </a:r>
            <a:endParaRPr lang="en-US" sz="850" dirty="0"/>
          </a:p>
        </p:txBody>
      </p:sp>
      <p:sp>
        <p:nvSpPr>
          <p:cNvPr id="34" name="Shape 31"/>
          <p:cNvSpPr/>
          <p:nvPr/>
        </p:nvSpPr>
        <p:spPr>
          <a:xfrm>
            <a:off x="4727448" y="4882896"/>
            <a:ext cx="3246120" cy="877824"/>
          </a:xfrm>
          <a:prstGeom prst="roundRect">
            <a:avLst>
              <a:gd name="adj" fmla="val 4167"/>
            </a:avLst>
          </a:prstGeom>
          <a:solidFill>
            <a:srgbClr val="F8FAFC"/>
          </a:solidFill>
          <a:ln w="12700">
            <a:solidFill>
              <a:srgbClr val="D7DEE8"/>
            </a:solidFill>
            <a:prstDash val="solid"/>
          </a:ln>
        </p:spPr>
      </p:sp>
      <p:sp>
        <p:nvSpPr>
          <p:cNvPr id="35" name="Text 32"/>
          <p:cNvSpPr txBox="1"/>
          <p:nvPr/>
        </p:nvSpPr>
        <p:spPr>
          <a:xfrm>
            <a:off x="4855464" y="4965192"/>
            <a:ext cx="1188720" cy="164592"/>
          </a:xfrm>
          <a:prstGeom prst="rect">
            <a:avLst/>
          </a:prstGeom>
          <a:noFill/>
          <a:ln/>
        </p:spPr>
        <p:txBody>
          <a:bodyPr wrap="square" lIns="0" tIns="0" rIns="0" bIns="0" rtlCol="0" anchor="t">
            <a:normAutofit/>
          </a:bodyPr>
          <a:lstStyle/>
          <a:p>
            <a:pPr marL="0" indent="0" algn="l">
              <a:buNone/>
            </a:pPr>
            <a:r>
              <a:rPr lang="en-US" sz="910" b="1" dirty="0">
                <a:solidFill>
                  <a:srgbClr val="27AE60"/>
                </a:solidFill>
                <a:latin typeface="Arial" pitchFamily="34" charset="0"/>
                <a:ea typeface="Arial" pitchFamily="34" charset="-122"/>
                <a:cs typeface="Arial" pitchFamily="34" charset="-120"/>
              </a:rPr>
              <a:t>ĐỘNG HỌC</a:t>
            </a:r>
            <a:endParaRPr lang="en-US" sz="910" dirty="0"/>
          </a:p>
        </p:txBody>
      </p:sp>
      <p:sp>
        <p:nvSpPr>
          <p:cNvPr id="36" name="Text 33"/>
          <p:cNvSpPr txBox="1"/>
          <p:nvPr/>
        </p:nvSpPr>
        <p:spPr>
          <a:xfrm>
            <a:off x="4855464" y="5157216"/>
            <a:ext cx="2990088" cy="310896"/>
          </a:xfrm>
          <a:prstGeom prst="rect">
            <a:avLst/>
          </a:prstGeom>
          <a:noFill/>
          <a:ln/>
        </p:spPr>
        <p:txBody>
          <a:bodyPr wrap="square" lIns="0" tIns="0" rIns="0" bIns="0" rtlCol="0" anchor="t">
            <a:normAutofit/>
          </a:bodyPr>
          <a:lstStyle/>
          <a:p>
            <a:pPr marL="0" indent="0" algn="l">
              <a:buNone/>
            </a:pPr>
            <a:r>
              <a:rPr lang="en-US" sz="1020" b="1" dirty="0">
                <a:solidFill>
                  <a:srgbClr val="07182F"/>
                </a:solidFill>
                <a:latin typeface="Arial" pitchFamily="34" charset="0"/>
                <a:ea typeface="Arial" pitchFamily="34" charset="-122"/>
                <a:cs typeface="Arial" pitchFamily="34" charset="-120"/>
              </a:rPr>
              <a:t>Gia tốc Coriolis xuất hiện khi:</a:t>
            </a:r>
            <a:endParaRPr lang="en-US" sz="1020" dirty="0"/>
          </a:p>
        </p:txBody>
      </p:sp>
      <p:sp>
        <p:nvSpPr>
          <p:cNvPr id="37" name="Text 34"/>
          <p:cNvSpPr txBox="1"/>
          <p:nvPr/>
        </p:nvSpPr>
        <p:spPr>
          <a:xfrm>
            <a:off x="4855464" y="5513832"/>
            <a:ext cx="2990088" cy="164592"/>
          </a:xfrm>
          <a:prstGeom prst="rect">
            <a:avLst/>
          </a:prstGeom>
          <a:noFill/>
          <a:ln/>
        </p:spPr>
        <p:txBody>
          <a:bodyPr wrap="square" lIns="0" tIns="0" rIns="0" bIns="0" rtlCol="0" anchor="t">
            <a:normAutofit/>
          </a:bodyPr>
          <a:lstStyle/>
          <a:p>
            <a:pPr marL="0" indent="0" algn="l">
              <a:buNone/>
            </a:pPr>
            <a:r>
              <a:rPr lang="en-US" sz="850" dirty="0">
                <a:solidFill>
                  <a:srgbClr val="5B6B80"/>
                </a:solidFill>
                <a:latin typeface="Arial" pitchFamily="34" charset="0"/>
                <a:ea typeface="Arial" pitchFamily="34" charset="-122"/>
                <a:cs typeface="Arial" pitchFamily="34" charset="-120"/>
              </a:rPr>
              <a:t>Đáp án: Kéo theo quay và vrel ≠ 0</a:t>
            </a:r>
            <a:endParaRPr lang="en-US" sz="850" dirty="0"/>
          </a:p>
        </p:txBody>
      </p:sp>
      <p:sp>
        <p:nvSpPr>
          <p:cNvPr id="38" name="Shape 35"/>
          <p:cNvSpPr/>
          <p:nvPr/>
        </p:nvSpPr>
        <p:spPr>
          <a:xfrm>
            <a:off x="8193024" y="4882896"/>
            <a:ext cx="3246120" cy="877824"/>
          </a:xfrm>
          <a:prstGeom prst="roundRect">
            <a:avLst>
              <a:gd name="adj" fmla="val 4167"/>
            </a:avLst>
          </a:prstGeom>
          <a:solidFill>
            <a:srgbClr val="F8FAFC"/>
          </a:solidFill>
          <a:ln w="12700">
            <a:solidFill>
              <a:srgbClr val="D7DEE8"/>
            </a:solidFill>
            <a:prstDash val="solid"/>
          </a:ln>
        </p:spPr>
      </p:sp>
      <p:sp>
        <p:nvSpPr>
          <p:cNvPr id="39" name="Text 36"/>
          <p:cNvSpPr txBox="1"/>
          <p:nvPr/>
        </p:nvSpPr>
        <p:spPr>
          <a:xfrm>
            <a:off x="8321040" y="4965192"/>
            <a:ext cx="1188720" cy="164592"/>
          </a:xfrm>
          <a:prstGeom prst="rect">
            <a:avLst/>
          </a:prstGeom>
          <a:noFill/>
          <a:ln/>
        </p:spPr>
        <p:txBody>
          <a:bodyPr wrap="square" lIns="0" tIns="0" rIns="0" bIns="0" rtlCol="0" anchor="t">
            <a:normAutofit/>
          </a:bodyPr>
          <a:lstStyle/>
          <a:p>
            <a:pPr marL="0" indent="0" algn="l">
              <a:buNone/>
            </a:pPr>
            <a:r>
              <a:rPr lang="en-US" sz="910" b="1" dirty="0">
                <a:solidFill>
                  <a:srgbClr val="8E44AD"/>
                </a:solidFill>
                <a:latin typeface="Arial" pitchFamily="34" charset="0"/>
                <a:ea typeface="Arial" pitchFamily="34" charset="-122"/>
                <a:cs typeface="Arial" pitchFamily="34" charset="-120"/>
              </a:rPr>
              <a:t>ĐỘNG LỰC HỌC</a:t>
            </a:r>
            <a:endParaRPr lang="en-US" sz="910" dirty="0"/>
          </a:p>
        </p:txBody>
      </p:sp>
      <p:sp>
        <p:nvSpPr>
          <p:cNvPr id="40" name="Text 37"/>
          <p:cNvSpPr txBox="1"/>
          <p:nvPr/>
        </p:nvSpPr>
        <p:spPr>
          <a:xfrm>
            <a:off x="8321040" y="5157216"/>
            <a:ext cx="2990088" cy="310896"/>
          </a:xfrm>
          <a:prstGeom prst="rect">
            <a:avLst/>
          </a:prstGeom>
          <a:noFill/>
          <a:ln/>
        </p:spPr>
        <p:txBody>
          <a:bodyPr wrap="square" lIns="0" tIns="0" rIns="0" bIns="0" rtlCol="0" anchor="t">
            <a:normAutofit/>
          </a:bodyPr>
          <a:lstStyle/>
          <a:p>
            <a:pPr marL="0" indent="0" algn="l">
              <a:buNone/>
            </a:pPr>
            <a:r>
              <a:rPr lang="en-US" sz="1020" b="1" dirty="0">
                <a:solidFill>
                  <a:srgbClr val="07182F"/>
                </a:solidFill>
                <a:latin typeface="Arial" pitchFamily="34" charset="0"/>
                <a:ea typeface="Arial" pitchFamily="34" charset="-122"/>
                <a:cs typeface="Arial" pitchFamily="34" charset="-120"/>
              </a:rPr>
              <a:t>Va chạm mềm (không đàn hồi): sau va chạm 2 vật:</a:t>
            </a:r>
            <a:endParaRPr lang="en-US" sz="1020" dirty="0"/>
          </a:p>
        </p:txBody>
      </p:sp>
      <p:sp>
        <p:nvSpPr>
          <p:cNvPr id="41" name="Text 38"/>
          <p:cNvSpPr txBox="1"/>
          <p:nvPr/>
        </p:nvSpPr>
        <p:spPr>
          <a:xfrm>
            <a:off x="8321040" y="5513832"/>
            <a:ext cx="2990088" cy="164592"/>
          </a:xfrm>
          <a:prstGeom prst="rect">
            <a:avLst/>
          </a:prstGeom>
          <a:noFill/>
          <a:ln/>
        </p:spPr>
        <p:txBody>
          <a:bodyPr wrap="square" lIns="0" tIns="0" rIns="0" bIns="0" rtlCol="0" anchor="t">
            <a:normAutofit/>
          </a:bodyPr>
          <a:lstStyle/>
          <a:p>
            <a:pPr marL="0" indent="0" algn="l">
              <a:buNone/>
            </a:pPr>
            <a:r>
              <a:rPr lang="en-US" sz="850" dirty="0">
                <a:solidFill>
                  <a:srgbClr val="5B6B80"/>
                </a:solidFill>
                <a:latin typeface="Arial" pitchFamily="34" charset="0"/>
                <a:ea typeface="Arial" pitchFamily="34" charset="-122"/>
                <a:cs typeface="Arial" pitchFamily="34" charset="-120"/>
              </a:rPr>
              <a:t>Đáp án: Dính vào nhau, cùng vận tốc</a:t>
            </a:r>
            <a:endParaRPr lang="en-US" sz="850" dirty="0"/>
          </a:p>
        </p:txBody>
      </p:sp>
      <p:sp>
        <p:nvSpPr>
          <p:cNvPr id="42" name="Text 39"/>
          <p:cNvSpPr txBox="1"/>
          <p:nvPr/>
        </p:nvSpPr>
        <p:spPr>
          <a:xfrm>
            <a:off x="1444752" y="5879592"/>
            <a:ext cx="9857232" cy="182880"/>
          </a:xfrm>
          <a:prstGeom prst="rect">
            <a:avLst/>
          </a:prstGeom>
          <a:noFill/>
          <a:ln/>
        </p:spPr>
        <p:txBody>
          <a:bodyPr wrap="square" lIns="0" tIns="0" rIns="0" bIns="0" rtlCol="0" anchor="t">
            <a:normAutofit/>
          </a:bodyPr>
          <a:lstStyle/>
          <a:p>
            <a:pPr marL="0" indent="0" algn="ctr">
              <a:buNone/>
            </a:pPr>
            <a:r>
              <a:rPr lang="en-US" sz="1180" b="1" dirty="0">
                <a:solidFill>
                  <a:srgbClr val="137A3D"/>
                </a:solidFill>
                <a:latin typeface="Arial" pitchFamily="34" charset="0"/>
                <a:ea typeface="Arial" pitchFamily="34" charset="-122"/>
                <a:cs typeface="Arial" pitchFamily="34" charset="-120"/>
              </a:rPr>
              <a:t>Ý kiến của Hội đồng là căn cứ để nhóm tác giả tiếp tục chỉnh sửa và hoàn thiện sản phẩm.</a:t>
            </a:r>
            <a:endParaRPr lang="en-US" sz="11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82F"/>
        </a:solidFill>
        <a:effectLst/>
      </p:bgPr>
    </p:bg>
    <p:spTree>
      <p:nvGrpSpPr>
        <p:cNvPr id="1" name=""/>
        <p:cNvGrpSpPr/>
        <p:nvPr/>
      </p:nvGrpSpPr>
      <p:grpSpPr>
        <a:xfrm>
          <a:off x="0" y="0"/>
          <a:ext cx="0" cy="0"/>
          <a:chOff x="0" y="0"/>
          <a:chExt cx="0" cy="0"/>
        </a:xfrm>
      </p:grpSpPr>
      <p:sp>
        <p:nvSpPr>
          <p:cNvPr id="2" name="Text 0"/>
          <p:cNvSpPr txBox="1"/>
          <p:nvPr/>
        </p:nvSpPr>
        <p:spPr>
          <a:xfrm>
            <a:off x="10927080" y="402336"/>
            <a:ext cx="411480" cy="201168"/>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13</a:t>
            </a:r>
            <a:endParaRPr lang="en-US" sz="1000" dirty="0"/>
          </a:p>
        </p:txBody>
      </p:sp>
      <p:sp>
        <p:nvSpPr>
          <p:cNvPr id="3"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ctr">
              <a:buNone/>
            </a:pPr>
            <a:r>
              <a:rPr lang="en-US" sz="3400" b="1" dirty="0">
                <a:solidFill>
                  <a:srgbClr val="FFFFFF"/>
                </a:solidFill>
                <a:latin typeface="Georgia" pitchFamily="34" charset="0"/>
                <a:ea typeface="Georgia" pitchFamily="34" charset="-122"/>
                <a:cs typeface="Georgia" pitchFamily="34" charset="-120"/>
              </a:rPr>
              <a:t>Đề nghị ghi nhận việc xây dựng hiện vật</a:t>
            </a:r>
            <a:endParaRPr lang="en-US" sz="3600" dirty="0"/>
          </a:p>
        </p:txBody>
      </p:sp>
      <p:sp>
        <p:nvSpPr>
          <p:cNvPr id="4" name="Text 2"/>
          <p:cNvSpPr txBox="1"/>
          <p:nvPr/>
        </p:nvSpPr>
        <p:spPr>
          <a:xfrm>
            <a:off x="914400" y="1353312"/>
            <a:ext cx="10378440" cy="658368"/>
          </a:xfrm>
          <a:prstGeom prst="rect">
            <a:avLst/>
          </a:prstGeom>
          <a:noFill/>
          <a:ln/>
        </p:spPr>
        <p:txBody>
          <a:bodyPr wrap="square" lIns="0" tIns="0" rIns="0" bIns="0" rtlCol="0" anchor="ctr">
            <a:normAutofit/>
          </a:bodyPr>
          <a:lstStyle/>
          <a:p>
            <a:pPr marL="0" indent="0" algn="ctr">
              <a:buNone/>
            </a:pPr>
            <a:r>
              <a:rPr lang="en-US" sz="1750" b="1" dirty="0">
                <a:solidFill>
                  <a:srgbClr val="DBB36A"/>
                </a:solidFill>
                <a:latin typeface="Arial" pitchFamily="34" charset="0"/>
                <a:ea typeface="Arial" pitchFamily="34" charset="-122"/>
                <a:cs typeface="Arial" pitchFamily="34" charset="-120"/>
              </a:rPr>
              <a:t>Đề nghị ghi nhận việc đã xây dựng hiện vật và cho ý kiến; không đề nghị chấp thuận học thuật, nghiệm thu cuối cùng hoặc phát hành.</a:t>
            </a:r>
            <a:endParaRPr lang="en-US" sz="1750" dirty="0"/>
          </a:p>
        </p:txBody>
      </p:sp>
      <p:sp>
        <p:nvSpPr>
          <p:cNvPr id="5" name="Shape 3"/>
          <p:cNvSpPr/>
          <p:nvPr/>
        </p:nvSpPr>
        <p:spPr>
          <a:xfrm>
            <a:off x="713232" y="2359152"/>
            <a:ext cx="3456432" cy="2514600"/>
          </a:xfrm>
          <a:prstGeom prst="roundRect">
            <a:avLst>
              <a:gd name="adj" fmla="val 1455"/>
            </a:avLst>
          </a:prstGeom>
          <a:solidFill>
            <a:srgbClr val="F7F5EF"/>
          </a:solidFill>
          <a:ln w="12700">
            <a:solidFill>
              <a:srgbClr val="137A3D"/>
            </a:solidFill>
            <a:prstDash val="solid"/>
          </a:ln>
        </p:spPr>
      </p:sp>
      <p:sp>
        <p:nvSpPr>
          <p:cNvPr id="6" name="Text 4"/>
          <p:cNvSpPr txBox="1"/>
          <p:nvPr/>
        </p:nvSpPr>
        <p:spPr>
          <a:xfrm>
            <a:off x="969264" y="2670048"/>
            <a:ext cx="2944368" cy="292608"/>
          </a:xfrm>
          <a:prstGeom prst="rect">
            <a:avLst/>
          </a:prstGeom>
          <a:noFill/>
          <a:ln/>
        </p:spPr>
        <p:txBody>
          <a:bodyPr wrap="square" lIns="0" tIns="0" rIns="0" bIns="0" rtlCol="0" anchor="t">
            <a:normAutofit/>
          </a:bodyPr>
          <a:lstStyle/>
          <a:p>
            <a:pPr marL="0" indent="0" algn="ctr">
              <a:buNone/>
            </a:pPr>
            <a:r>
              <a:rPr lang="en-US" sz="1400" b="1" dirty="0">
                <a:solidFill>
                  <a:srgbClr val="137A3D"/>
                </a:solidFill>
                <a:latin typeface="Arial" pitchFamily="34" charset="0"/>
                <a:ea typeface="Arial" pitchFamily="34" charset="-122"/>
                <a:cs typeface="Arial" pitchFamily="34" charset="-120"/>
              </a:rPr>
              <a:t>GHI NHẬN VIỆC XÂY DỰNG</a:t>
            </a:r>
            <a:endParaRPr lang="en-US" sz="1400" dirty="0"/>
          </a:p>
        </p:txBody>
      </p:sp>
      <p:sp>
        <p:nvSpPr>
          <p:cNvPr id="7" name="Text 5"/>
          <p:cNvSpPr txBox="1"/>
          <p:nvPr/>
        </p:nvSpPr>
        <p:spPr>
          <a:xfrm>
            <a:off x="1024128" y="3255264"/>
            <a:ext cx="2834640" cy="1078992"/>
          </a:xfrm>
          <a:prstGeom prst="rect">
            <a:avLst/>
          </a:prstGeom>
          <a:noFill/>
          <a:ln/>
        </p:spPr>
        <p:txBody>
          <a:bodyPr wrap="square" lIns="0" tIns="0" rIns="0" bIns="0" rtlCol="0" anchor="ctr">
            <a:normAutofit/>
          </a:bodyPr>
          <a:lstStyle/>
          <a:p>
            <a:pPr marL="0" indent="0" algn="ctr">
              <a:buNone/>
            </a:pPr>
            <a:r>
              <a:rPr lang="en-US" sz="1700" dirty="0">
                <a:solidFill>
                  <a:srgbClr val="07182F"/>
                </a:solidFill>
                <a:latin typeface="Arial" pitchFamily="34" charset="0"/>
                <a:ea typeface="Arial" pitchFamily="34" charset="-122"/>
                <a:cs typeface="Arial" pitchFamily="34" charset="-120"/>
              </a:rPr>
              <a:t>Hiện vật học liệu số cho ba mạch kiến thức đã được tạo lập ở mức ứng viên.</a:t>
            </a:r>
            <a:endParaRPr lang="en-US" sz="1700" dirty="0"/>
          </a:p>
        </p:txBody>
      </p:sp>
      <p:sp>
        <p:nvSpPr>
          <p:cNvPr id="8" name="Shape 6"/>
          <p:cNvSpPr/>
          <p:nvPr/>
        </p:nvSpPr>
        <p:spPr>
          <a:xfrm>
            <a:off x="4517136" y="2359152"/>
            <a:ext cx="3456432" cy="2514600"/>
          </a:xfrm>
          <a:prstGeom prst="roundRect">
            <a:avLst>
              <a:gd name="adj" fmla="val 1455"/>
            </a:avLst>
          </a:prstGeom>
          <a:solidFill>
            <a:srgbClr val="F7F5EF"/>
          </a:solidFill>
          <a:ln w="12700">
            <a:solidFill>
              <a:srgbClr val="9A5B00"/>
            </a:solidFill>
            <a:prstDash val="solid"/>
          </a:ln>
        </p:spPr>
      </p:sp>
      <p:sp>
        <p:nvSpPr>
          <p:cNvPr id="9" name="Text 7"/>
          <p:cNvSpPr txBox="1"/>
          <p:nvPr/>
        </p:nvSpPr>
        <p:spPr>
          <a:xfrm>
            <a:off x="4773168" y="2670048"/>
            <a:ext cx="2944368" cy="292608"/>
          </a:xfrm>
          <a:prstGeom prst="rect">
            <a:avLst/>
          </a:prstGeom>
          <a:noFill/>
          <a:ln/>
        </p:spPr>
        <p:txBody>
          <a:bodyPr wrap="square" lIns="0" tIns="0" rIns="0" bIns="0" rtlCol="0" anchor="t">
            <a:normAutofit/>
          </a:bodyPr>
          <a:lstStyle/>
          <a:p>
            <a:pPr marL="0" indent="0" algn="ctr">
              <a:buNone/>
            </a:pPr>
            <a:r>
              <a:rPr lang="en-US" sz="1400" b="1" dirty="0">
                <a:solidFill>
                  <a:srgbClr val="9A5B00"/>
                </a:solidFill>
                <a:latin typeface="Arial" pitchFamily="34" charset="0"/>
                <a:ea typeface="Arial" pitchFamily="34" charset="-122"/>
                <a:cs typeface="Arial" pitchFamily="34" charset="-120"/>
              </a:rPr>
              <a:t>CHO Ý KIẾN CHUYÊN MÔN</a:t>
            </a:r>
            <a:endParaRPr lang="en-US" sz="1400" dirty="0"/>
          </a:p>
        </p:txBody>
      </p:sp>
      <p:sp>
        <p:nvSpPr>
          <p:cNvPr id="10" name="Text 8"/>
          <p:cNvSpPr txBox="1"/>
          <p:nvPr/>
        </p:nvSpPr>
        <p:spPr>
          <a:xfrm>
            <a:off x="4828032" y="3255264"/>
            <a:ext cx="2834640" cy="1078992"/>
          </a:xfrm>
          <a:prstGeom prst="rect">
            <a:avLst/>
          </a:prstGeom>
          <a:noFill/>
          <a:ln/>
        </p:spPr>
        <p:txBody>
          <a:bodyPr wrap="square" lIns="0" tIns="0" rIns="0" bIns="0" rtlCol="0" anchor="ctr">
            <a:normAutofit/>
          </a:bodyPr>
          <a:lstStyle/>
          <a:p>
            <a:pPr marL="0" indent="0" algn="ctr">
              <a:buNone/>
            </a:pPr>
            <a:r>
              <a:rPr lang="en-US" sz="1700" dirty="0">
                <a:solidFill>
                  <a:srgbClr val="07182F"/>
                </a:solidFill>
                <a:latin typeface="Arial" pitchFamily="34" charset="0"/>
                <a:ea typeface="Arial" pitchFamily="34" charset="-122"/>
                <a:cs typeface="Arial" pitchFamily="34" charset="-120"/>
              </a:rPr>
              <a:t>Góp ý về tính đúng khoa học, cách tổ chức học và mức dễ hiểu.</a:t>
            </a:r>
            <a:endParaRPr lang="en-US" sz="1700" dirty="0"/>
          </a:p>
        </p:txBody>
      </p:sp>
      <p:sp>
        <p:nvSpPr>
          <p:cNvPr id="11" name="Shape 9"/>
          <p:cNvSpPr/>
          <p:nvPr/>
        </p:nvSpPr>
        <p:spPr>
          <a:xfrm>
            <a:off x="8321040" y="2359152"/>
            <a:ext cx="3456432" cy="2514600"/>
          </a:xfrm>
          <a:prstGeom prst="roundRect">
            <a:avLst>
              <a:gd name="adj" fmla="val 1455"/>
            </a:avLst>
          </a:prstGeom>
          <a:solidFill>
            <a:srgbClr val="F7F5EF"/>
          </a:solidFill>
          <a:ln w="12700">
            <a:solidFill>
              <a:srgbClr val="C9963A"/>
            </a:solidFill>
            <a:prstDash val="solid"/>
          </a:ln>
        </p:spPr>
      </p:sp>
      <p:sp>
        <p:nvSpPr>
          <p:cNvPr id="12" name="Text 10"/>
          <p:cNvSpPr txBox="1"/>
          <p:nvPr/>
        </p:nvSpPr>
        <p:spPr>
          <a:xfrm>
            <a:off x="8577072" y="2670048"/>
            <a:ext cx="2944368" cy="292608"/>
          </a:xfrm>
          <a:prstGeom prst="rect">
            <a:avLst/>
          </a:prstGeom>
          <a:noFill/>
          <a:ln/>
        </p:spPr>
        <p:txBody>
          <a:bodyPr wrap="square" lIns="0" tIns="0" rIns="0" bIns="0" rtlCol="0" anchor="t">
            <a:normAutofit/>
          </a:bodyPr>
          <a:lstStyle/>
          <a:p>
            <a:pPr marL="0" indent="0" algn="ctr">
              <a:buNone/>
            </a:pPr>
            <a:r>
              <a:rPr lang="en-US" sz="1400" b="1" dirty="0">
                <a:solidFill>
                  <a:srgbClr val="C9963A"/>
                </a:solidFill>
                <a:latin typeface="Arial" pitchFamily="34" charset="0"/>
                <a:ea typeface="Arial" pitchFamily="34" charset="-122"/>
                <a:cs typeface="Arial" pitchFamily="34" charset="-120"/>
              </a:rPr>
              <a:t>ĐỊNH HƯỚNG HOÀN THIỆN</a:t>
            </a:r>
            <a:endParaRPr lang="en-US" sz="1400" dirty="0"/>
          </a:p>
        </p:txBody>
      </p:sp>
      <p:sp>
        <p:nvSpPr>
          <p:cNvPr id="13" name="Text 11"/>
          <p:cNvSpPr txBox="1"/>
          <p:nvPr/>
        </p:nvSpPr>
        <p:spPr>
          <a:xfrm>
            <a:off x="8631936" y="3255264"/>
            <a:ext cx="2834640" cy="1078992"/>
          </a:xfrm>
          <a:prstGeom prst="rect">
            <a:avLst/>
          </a:prstGeom>
          <a:noFill/>
          <a:ln/>
        </p:spPr>
        <p:txBody>
          <a:bodyPr wrap="square" lIns="0" tIns="0" rIns="0" bIns="0" rtlCol="0" anchor="ctr">
            <a:normAutofit/>
          </a:bodyPr>
          <a:lstStyle/>
          <a:p>
            <a:pPr marL="0" indent="0" algn="ctr">
              <a:buNone/>
            </a:pPr>
            <a:r>
              <a:rPr lang="en-US" sz="1700" b="1" dirty="0">
                <a:solidFill>
                  <a:srgbClr val="07182F"/>
                </a:solidFill>
                <a:latin typeface="Arial" pitchFamily="34" charset="0"/>
                <a:ea typeface="Arial" pitchFamily="34" charset="-122"/>
                <a:cs typeface="Arial" pitchFamily="34" charset="-120"/>
              </a:rPr>
              <a:t>Nêu các nội dung cần sửa, bổ sung hoặc tiếp tục kiểm chứng.</a:t>
            </a:r>
            <a:endParaRPr lang="en-US" sz="1700" dirty="0"/>
          </a:p>
        </p:txBody>
      </p:sp>
      <p:sp>
        <p:nvSpPr>
          <p:cNvPr id="14" name="Shape 12"/>
          <p:cNvSpPr/>
          <p:nvPr/>
        </p:nvSpPr>
        <p:spPr>
          <a:xfrm>
            <a:off x="822960" y="5184648"/>
            <a:ext cx="10561320" cy="804672"/>
          </a:xfrm>
          <a:prstGeom prst="roundRect">
            <a:avLst>
              <a:gd name="adj" fmla="val 4545"/>
            </a:avLst>
          </a:prstGeom>
          <a:solidFill>
            <a:srgbClr val="0D2447"/>
          </a:solidFill>
          <a:ln w="12700">
            <a:solidFill>
              <a:srgbClr val="C9963A"/>
            </a:solidFill>
            <a:prstDash val="solid"/>
          </a:ln>
        </p:spPr>
      </p:sp>
      <p:sp>
        <p:nvSpPr>
          <p:cNvPr id="15" name="Text 13"/>
          <p:cNvSpPr txBox="1"/>
          <p:nvPr/>
        </p:nvSpPr>
        <p:spPr>
          <a:xfrm>
            <a:off x="1078992" y="5321808"/>
            <a:ext cx="10040112" cy="502920"/>
          </a:xfrm>
          <a:prstGeom prst="rect">
            <a:avLst/>
          </a:prstGeom>
          <a:noFill/>
          <a:ln/>
        </p:spPr>
        <p:txBody>
          <a:bodyPr wrap="square" lIns="0" tIns="0" rIns="0" bIns="0" rtlCol="0" anchor="ctr">
            <a:normAutofit/>
          </a:bodyPr>
          <a:lstStyle/>
          <a:p>
            <a:pPr marL="0" indent="0" algn="ctr">
              <a:buNone/>
            </a:pPr>
            <a:r>
              <a:rPr lang="en-US" sz="1430" b="1" dirty="0">
                <a:solidFill>
                  <a:srgbClr val="FFFFFF"/>
                </a:solidFill>
                <a:latin typeface="Arial" pitchFamily="34" charset="0"/>
                <a:ea typeface="Arial" pitchFamily="34" charset="-122"/>
                <a:cs typeface="Arial" pitchFamily="34" charset="-120"/>
              </a:rPr>
              <a:t>Dự thảo biên bản: Hội đồng ghi nhận nhóm tác giả đã xây dựng hiện vật giáo trình điện tử ở mức ứng viên và đề nghị tiếp thu ý kiến để hoàn thiện; phiên họp này không kết luận chấp thuận học thuật, nghiệm thu cuối cùng hoặc phát hành.</a:t>
            </a:r>
            <a:endParaRPr lang="en-US" sz="14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PHỤ LỤC / DỰ PHÒNG</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Phụ lục · Bốn chuẩn đầu ra dự kiến</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14</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Bốn chuẩn đầu ra đang được dùng làm khung liên kết nội dung; toàn bộ vẫn ở trạng thái sơ bộ và chưa có ký xác nhận.</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b="1" dirty="0">
                <a:solidFill>
                  <a:srgbClr val="5B6B80"/>
                </a:solidFill>
                <a:latin typeface="Arial" pitchFamily="34" charset="0"/>
                <a:ea typeface="Arial" pitchFamily="34" charset="-122"/>
                <a:cs typeface="Arial" pitchFamily="34" charset="-120"/>
              </a:rPr>
              <a:t>PHỤ LỤC / DỰ PHÒNG</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PL-CHUAN-DAU-RA</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14</a:t>
            </a:r>
            <a:endParaRPr lang="en-US" sz="820" dirty="0"/>
          </a:p>
        </p:txBody>
      </p:sp>
      <p:sp>
        <p:nvSpPr>
          <p:cNvPr id="13" name="Shape 10"/>
          <p:cNvSpPr/>
          <p:nvPr/>
        </p:nvSpPr>
        <p:spPr>
          <a:xfrm>
            <a:off x="658368" y="1993392"/>
            <a:ext cx="5321808" cy="1444752"/>
          </a:xfrm>
          <a:prstGeom prst="roundRect">
            <a:avLst>
              <a:gd name="adj" fmla="val 2532"/>
            </a:avLst>
          </a:prstGeom>
          <a:solidFill>
            <a:srgbClr val="FFFFFF"/>
          </a:solidFill>
          <a:ln w="12700">
            <a:solidFill>
              <a:srgbClr val="2980B9"/>
            </a:solidFill>
            <a:prstDash val="solid"/>
          </a:ln>
        </p:spPr>
      </p:sp>
      <p:sp>
        <p:nvSpPr>
          <p:cNvPr id="14" name="Text 11"/>
          <p:cNvSpPr txBox="1"/>
          <p:nvPr/>
        </p:nvSpPr>
        <p:spPr>
          <a:xfrm>
            <a:off x="877824" y="2121408"/>
            <a:ext cx="4069080" cy="201168"/>
          </a:xfrm>
          <a:prstGeom prst="rect">
            <a:avLst/>
          </a:prstGeom>
          <a:noFill/>
          <a:ln/>
        </p:spPr>
        <p:txBody>
          <a:bodyPr wrap="square" lIns="0" tIns="0" rIns="0" bIns="0" rtlCol="0" anchor="t">
            <a:normAutofit/>
          </a:bodyPr>
          <a:lstStyle/>
          <a:p>
            <a:pPr marL="0" indent="0" algn="l">
              <a:buNone/>
            </a:pPr>
            <a:r>
              <a:rPr lang="en-US" sz="1150" b="1" dirty="0">
                <a:solidFill>
                  <a:srgbClr val="2980B9"/>
                </a:solidFill>
                <a:latin typeface="Arial" pitchFamily="34" charset="0"/>
                <a:ea typeface="Arial" pitchFamily="34" charset="-122"/>
                <a:cs typeface="Arial" pitchFamily="34" charset="-120"/>
              </a:rPr>
              <a:t>Định hướng học phần</a:t>
            </a:r>
            <a:endParaRPr lang="en-US" sz="1150" dirty="0"/>
          </a:p>
        </p:txBody>
      </p:sp>
      <p:sp>
        <p:nvSpPr>
          <p:cNvPr id="15" name="Text 12"/>
          <p:cNvSpPr txBox="1"/>
          <p:nvPr/>
        </p:nvSpPr>
        <p:spPr>
          <a:xfrm>
            <a:off x="877824" y="2359152"/>
            <a:ext cx="4251960" cy="347472"/>
          </a:xfrm>
          <a:prstGeom prst="rect">
            <a:avLst/>
          </a:prstGeom>
          <a:noFill/>
          <a:ln/>
        </p:spPr>
        <p:txBody>
          <a:bodyPr wrap="square" lIns="0" tIns="0" rIns="0" bIns="0" rtlCol="0" anchor="t">
            <a:normAutofit/>
          </a:bodyPr>
          <a:lstStyle/>
          <a:p>
            <a:pPr marL="0" indent="0" algn="l">
              <a:buNone/>
            </a:pPr>
            <a:r>
              <a:rPr lang="en-US" sz="1850" b="1" dirty="0">
                <a:solidFill>
                  <a:srgbClr val="07182F"/>
                </a:solidFill>
                <a:latin typeface="Georgia" pitchFamily="34" charset="0"/>
                <a:ea typeface="Georgia" pitchFamily="34" charset="-122"/>
                <a:cs typeface="Georgia" pitchFamily="34" charset="-120"/>
              </a:rPr>
              <a:t>Định hướng học phần · nhận diện</a:t>
            </a:r>
            <a:endParaRPr lang="en-US" sz="1850" dirty="0"/>
          </a:p>
        </p:txBody>
      </p:sp>
      <p:sp>
        <p:nvSpPr>
          <p:cNvPr id="16" name="Text 13"/>
          <p:cNvSpPr txBox="1"/>
          <p:nvPr/>
        </p:nvSpPr>
        <p:spPr>
          <a:xfrm>
            <a:off x="877824" y="2752344"/>
            <a:ext cx="4882896" cy="530352"/>
          </a:xfrm>
          <a:prstGeom prst="rect">
            <a:avLst/>
          </a:prstGeom>
          <a:noFill/>
          <a:ln/>
        </p:spPr>
        <p:txBody>
          <a:bodyPr wrap="square" lIns="0" tIns="0" rIns="0" bIns="0" rtlCol="0" anchor="ctr">
            <a:normAutofit/>
          </a:bodyPr>
          <a:lstStyle/>
          <a:p>
            <a:pPr marL="0" indent="0" algn="l">
              <a:buNone/>
            </a:pPr>
            <a:r>
              <a:rPr lang="en-US" sz="1250" dirty="0">
                <a:solidFill>
                  <a:srgbClr val="243247"/>
                </a:solidFill>
                <a:latin typeface="Arial" pitchFamily="34" charset="0"/>
                <a:ea typeface="Arial" pitchFamily="34" charset="-122"/>
                <a:cs typeface="Arial" pitchFamily="34" charset="-120"/>
              </a:rPr>
              <a:t>Điều kiện: Khi sử dụng và điều hướng giáo trình điện tử. Tiêu chí: nhận diện cấu trúc học phần và nguồn học liệu của cả ba chương.</a:t>
            </a:r>
            <a:endParaRPr lang="en-US" sz="1250" dirty="0"/>
          </a:p>
        </p:txBody>
      </p:sp>
      <p:sp>
        <p:nvSpPr>
          <p:cNvPr id="17" name="Text 14"/>
          <p:cNvSpPr txBox="1"/>
          <p:nvPr/>
        </p:nvSpPr>
        <p:spPr>
          <a:xfrm>
            <a:off x="5111496" y="2139696"/>
            <a:ext cx="621792" cy="219456"/>
          </a:xfrm>
          <a:prstGeom prst="rect">
            <a:avLst/>
          </a:prstGeom>
          <a:noFill/>
          <a:ln/>
        </p:spPr>
        <p:txBody>
          <a:bodyPr wrap="square" lIns="0" tIns="0" rIns="0" bIns="0" rtlCol="0" anchor="t">
            <a:normAutofit/>
          </a:bodyPr>
          <a:lstStyle/>
          <a:p>
            <a:pPr marL="0" indent="0" algn="r">
              <a:buNone/>
            </a:pPr>
            <a:r>
              <a:rPr lang="en-US" sz="1000" b="1" dirty="0">
                <a:solidFill>
                  <a:srgbClr val="9A5B00"/>
                </a:solidFill>
                <a:latin typeface="Arial" pitchFamily="34" charset="0"/>
                <a:ea typeface="Arial" pitchFamily="34" charset="-122"/>
                <a:cs typeface="Arial" pitchFamily="34" charset="-120"/>
              </a:rPr>
              <a:t>SƠ BỘ</a:t>
            </a:r>
            <a:endParaRPr lang="en-US" sz="1000" dirty="0"/>
          </a:p>
        </p:txBody>
      </p:sp>
      <p:sp>
        <p:nvSpPr>
          <p:cNvPr id="18" name="Shape 15"/>
          <p:cNvSpPr/>
          <p:nvPr/>
        </p:nvSpPr>
        <p:spPr>
          <a:xfrm>
            <a:off x="6254496" y="1993392"/>
            <a:ext cx="5321808" cy="1444752"/>
          </a:xfrm>
          <a:prstGeom prst="roundRect">
            <a:avLst>
              <a:gd name="adj" fmla="val 2532"/>
            </a:avLst>
          </a:prstGeom>
          <a:solidFill>
            <a:srgbClr val="FFFFFF"/>
          </a:solidFill>
          <a:ln w="12700">
            <a:solidFill>
              <a:srgbClr val="27AE60"/>
            </a:solidFill>
            <a:prstDash val="solid"/>
          </a:ln>
        </p:spPr>
      </p:sp>
      <p:sp>
        <p:nvSpPr>
          <p:cNvPr id="19" name="Text 16"/>
          <p:cNvSpPr txBox="1"/>
          <p:nvPr/>
        </p:nvSpPr>
        <p:spPr>
          <a:xfrm>
            <a:off x="6473952" y="2121408"/>
            <a:ext cx="4069080" cy="201168"/>
          </a:xfrm>
          <a:prstGeom prst="rect">
            <a:avLst/>
          </a:prstGeom>
          <a:noFill/>
          <a:ln/>
        </p:spPr>
        <p:txBody>
          <a:bodyPr wrap="square" lIns="0" tIns="0" rIns="0" bIns="0" rtlCol="0" anchor="t">
            <a:normAutofit/>
          </a:bodyPr>
          <a:lstStyle/>
          <a:p>
            <a:pPr marL="0" indent="0" algn="l">
              <a:buNone/>
            </a:pPr>
            <a:r>
              <a:rPr lang="en-US" sz="1150" b="1" dirty="0">
                <a:solidFill>
                  <a:srgbClr val="27AE60"/>
                </a:solidFill>
                <a:latin typeface="Arial" pitchFamily="34" charset="0"/>
                <a:ea typeface="Arial" pitchFamily="34" charset="-122"/>
                <a:cs typeface="Arial" pitchFamily="34" charset="-120"/>
              </a:rPr>
              <a:t>Tĩnh học</a:t>
            </a:r>
            <a:endParaRPr lang="en-US" sz="1150" dirty="0"/>
          </a:p>
        </p:txBody>
      </p:sp>
      <p:sp>
        <p:nvSpPr>
          <p:cNvPr id="20" name="Text 17"/>
          <p:cNvSpPr txBox="1"/>
          <p:nvPr/>
        </p:nvSpPr>
        <p:spPr>
          <a:xfrm>
            <a:off x="6473952" y="2359152"/>
            <a:ext cx="4251960" cy="347472"/>
          </a:xfrm>
          <a:prstGeom prst="rect">
            <a:avLst/>
          </a:prstGeom>
          <a:noFill/>
          <a:ln/>
        </p:spPr>
        <p:txBody>
          <a:bodyPr wrap="square" lIns="0" tIns="0" rIns="0" bIns="0" rtlCol="0" anchor="t">
            <a:normAutofit/>
          </a:bodyPr>
          <a:lstStyle/>
          <a:p>
            <a:pPr marL="0" indent="0" algn="l">
              <a:buNone/>
            </a:pPr>
            <a:r>
              <a:rPr lang="en-US" sz="1850" b="1" dirty="0">
                <a:solidFill>
                  <a:srgbClr val="07182F"/>
                </a:solidFill>
                <a:latin typeface="Georgia" pitchFamily="34" charset="0"/>
                <a:ea typeface="Georgia" pitchFamily="34" charset="-122"/>
                <a:cs typeface="Georgia" pitchFamily="34" charset="-120"/>
              </a:rPr>
              <a:t>Tĩnh học · phân tích</a:t>
            </a:r>
            <a:endParaRPr lang="en-US" sz="1850" dirty="0"/>
          </a:p>
        </p:txBody>
      </p:sp>
      <p:sp>
        <p:nvSpPr>
          <p:cNvPr id="21" name="Text 18"/>
          <p:cNvSpPr txBox="1"/>
          <p:nvPr/>
        </p:nvSpPr>
        <p:spPr>
          <a:xfrm>
            <a:off x="6473952" y="2752344"/>
            <a:ext cx="4882896" cy="530352"/>
          </a:xfrm>
          <a:prstGeom prst="rect">
            <a:avLst/>
          </a:prstGeom>
          <a:noFill/>
          <a:ln/>
        </p:spPr>
        <p:txBody>
          <a:bodyPr wrap="square" lIns="0" tIns="0" rIns="0" bIns="0" rtlCol="0" anchor="ctr">
            <a:normAutofit/>
          </a:bodyPr>
          <a:lstStyle/>
          <a:p>
            <a:pPr marL="0" indent="0" algn="l">
              <a:buNone/>
            </a:pPr>
            <a:r>
              <a:rPr lang="en-US" sz="1250" dirty="0">
                <a:solidFill>
                  <a:srgbClr val="243247"/>
                </a:solidFill>
                <a:latin typeface="Arial" pitchFamily="34" charset="0"/>
                <a:ea typeface="Arial" pitchFamily="34" charset="-122"/>
                <a:cs typeface="Arial" pitchFamily="34" charset="-120"/>
              </a:rPr>
              <a:t>Điều kiện: Với một bài toán tĩnh học vật rắn. Tiêu chí: phân tích lực, mô men, liên kết, cân bằng, ma sát và trọng tâm bằng nội dung Chương 1.</a:t>
            </a:r>
            <a:endParaRPr lang="en-US" sz="1250" dirty="0"/>
          </a:p>
        </p:txBody>
      </p:sp>
      <p:sp>
        <p:nvSpPr>
          <p:cNvPr id="22" name="Text 19"/>
          <p:cNvSpPr txBox="1"/>
          <p:nvPr/>
        </p:nvSpPr>
        <p:spPr>
          <a:xfrm>
            <a:off x="10707624" y="2139696"/>
            <a:ext cx="621792" cy="219456"/>
          </a:xfrm>
          <a:prstGeom prst="rect">
            <a:avLst/>
          </a:prstGeom>
          <a:noFill/>
          <a:ln/>
        </p:spPr>
        <p:txBody>
          <a:bodyPr wrap="square" lIns="0" tIns="0" rIns="0" bIns="0" rtlCol="0" anchor="t">
            <a:normAutofit/>
          </a:bodyPr>
          <a:lstStyle/>
          <a:p>
            <a:pPr marL="0" indent="0" algn="r">
              <a:buNone/>
            </a:pPr>
            <a:r>
              <a:rPr lang="en-US" sz="1000" b="1" dirty="0">
                <a:solidFill>
                  <a:srgbClr val="9A5B00"/>
                </a:solidFill>
                <a:latin typeface="Arial" pitchFamily="34" charset="0"/>
                <a:ea typeface="Arial" pitchFamily="34" charset="-122"/>
                <a:cs typeface="Arial" pitchFamily="34" charset="-120"/>
              </a:rPr>
              <a:t>SƠ BỘ</a:t>
            </a:r>
            <a:endParaRPr lang="en-US" sz="1000" dirty="0"/>
          </a:p>
        </p:txBody>
      </p:sp>
      <p:sp>
        <p:nvSpPr>
          <p:cNvPr id="23" name="Shape 20"/>
          <p:cNvSpPr/>
          <p:nvPr/>
        </p:nvSpPr>
        <p:spPr>
          <a:xfrm>
            <a:off x="658368" y="3694176"/>
            <a:ext cx="5321808" cy="1444752"/>
          </a:xfrm>
          <a:prstGeom prst="roundRect">
            <a:avLst>
              <a:gd name="adj" fmla="val 2532"/>
            </a:avLst>
          </a:prstGeom>
          <a:solidFill>
            <a:srgbClr val="FFFFFF"/>
          </a:solidFill>
          <a:ln w="12700">
            <a:solidFill>
              <a:srgbClr val="8E44AD"/>
            </a:solidFill>
            <a:prstDash val="solid"/>
          </a:ln>
        </p:spPr>
      </p:sp>
      <p:sp>
        <p:nvSpPr>
          <p:cNvPr id="24" name="Text 21"/>
          <p:cNvSpPr txBox="1"/>
          <p:nvPr/>
        </p:nvSpPr>
        <p:spPr>
          <a:xfrm>
            <a:off x="877824" y="3822192"/>
            <a:ext cx="4069080" cy="201168"/>
          </a:xfrm>
          <a:prstGeom prst="rect">
            <a:avLst/>
          </a:prstGeom>
          <a:noFill/>
          <a:ln/>
        </p:spPr>
        <p:txBody>
          <a:bodyPr wrap="square" lIns="0" tIns="0" rIns="0" bIns="0" rtlCol="0" anchor="t">
            <a:normAutofit/>
          </a:bodyPr>
          <a:lstStyle/>
          <a:p>
            <a:pPr marL="0" indent="0" algn="l">
              <a:buNone/>
            </a:pPr>
            <a:r>
              <a:rPr lang="en-US" sz="1150" b="1" dirty="0">
                <a:solidFill>
                  <a:srgbClr val="8E44AD"/>
                </a:solidFill>
                <a:latin typeface="Arial" pitchFamily="34" charset="0"/>
                <a:ea typeface="Arial" pitchFamily="34" charset="-122"/>
                <a:cs typeface="Arial" pitchFamily="34" charset="-120"/>
              </a:rPr>
              <a:t>Động học</a:t>
            </a:r>
            <a:endParaRPr lang="en-US" sz="1150" dirty="0"/>
          </a:p>
        </p:txBody>
      </p:sp>
      <p:sp>
        <p:nvSpPr>
          <p:cNvPr id="25" name="Text 22"/>
          <p:cNvSpPr txBox="1"/>
          <p:nvPr/>
        </p:nvSpPr>
        <p:spPr>
          <a:xfrm>
            <a:off x="877824" y="4059936"/>
            <a:ext cx="4251960" cy="347472"/>
          </a:xfrm>
          <a:prstGeom prst="rect">
            <a:avLst/>
          </a:prstGeom>
          <a:noFill/>
          <a:ln/>
        </p:spPr>
        <p:txBody>
          <a:bodyPr wrap="square" lIns="0" tIns="0" rIns="0" bIns="0" rtlCol="0" anchor="t">
            <a:normAutofit/>
          </a:bodyPr>
          <a:lstStyle/>
          <a:p>
            <a:pPr marL="0" indent="0" algn="l">
              <a:buNone/>
            </a:pPr>
            <a:r>
              <a:rPr lang="en-US" sz="1850" b="1" dirty="0">
                <a:solidFill>
                  <a:srgbClr val="07182F"/>
                </a:solidFill>
                <a:latin typeface="Georgia" pitchFamily="34" charset="0"/>
                <a:ea typeface="Georgia" pitchFamily="34" charset="-122"/>
                <a:cs typeface="Georgia" pitchFamily="34" charset="-120"/>
              </a:rPr>
              <a:t>Động học · xác định</a:t>
            </a:r>
            <a:endParaRPr lang="en-US" sz="1850" dirty="0"/>
          </a:p>
        </p:txBody>
      </p:sp>
      <p:sp>
        <p:nvSpPr>
          <p:cNvPr id="26" name="Text 23"/>
          <p:cNvSpPr txBox="1"/>
          <p:nvPr/>
        </p:nvSpPr>
        <p:spPr>
          <a:xfrm>
            <a:off x="877824" y="4453128"/>
            <a:ext cx="4882896" cy="530352"/>
          </a:xfrm>
          <a:prstGeom prst="rect">
            <a:avLst/>
          </a:prstGeom>
          <a:noFill/>
          <a:ln/>
        </p:spPr>
        <p:txBody>
          <a:bodyPr wrap="square" lIns="0" tIns="0" rIns="0" bIns="0" rtlCol="0" anchor="ctr">
            <a:normAutofit/>
          </a:bodyPr>
          <a:lstStyle/>
          <a:p>
            <a:pPr marL="0" indent="0" algn="l">
              <a:buNone/>
            </a:pPr>
            <a:r>
              <a:rPr lang="en-US" sz="1250" dirty="0">
                <a:solidFill>
                  <a:srgbClr val="243247"/>
                </a:solidFill>
                <a:latin typeface="Arial" pitchFamily="34" charset="0"/>
                <a:ea typeface="Arial" pitchFamily="34" charset="-122"/>
                <a:cs typeface="Arial" pitchFamily="34" charset="-120"/>
              </a:rPr>
              <a:t>Điều kiện: Với dữ liệu chuyển động của chất điểm hoặc vật rắn. Tiêu chí: xác định đại lượng động học và quan hệ chuyển động bằng nội dung Chương 2.</a:t>
            </a:r>
            <a:endParaRPr lang="en-US" sz="1250" dirty="0"/>
          </a:p>
        </p:txBody>
      </p:sp>
      <p:sp>
        <p:nvSpPr>
          <p:cNvPr id="27" name="Text 24"/>
          <p:cNvSpPr txBox="1"/>
          <p:nvPr/>
        </p:nvSpPr>
        <p:spPr>
          <a:xfrm>
            <a:off x="5111496" y="3840480"/>
            <a:ext cx="621792" cy="219456"/>
          </a:xfrm>
          <a:prstGeom prst="rect">
            <a:avLst/>
          </a:prstGeom>
          <a:noFill/>
          <a:ln/>
        </p:spPr>
        <p:txBody>
          <a:bodyPr wrap="square" lIns="0" tIns="0" rIns="0" bIns="0" rtlCol="0" anchor="t">
            <a:normAutofit/>
          </a:bodyPr>
          <a:lstStyle/>
          <a:p>
            <a:pPr marL="0" indent="0" algn="r">
              <a:buNone/>
            </a:pPr>
            <a:r>
              <a:rPr lang="en-US" sz="1000" b="1" dirty="0">
                <a:solidFill>
                  <a:srgbClr val="9A5B00"/>
                </a:solidFill>
                <a:latin typeface="Arial" pitchFamily="34" charset="0"/>
                <a:ea typeface="Arial" pitchFamily="34" charset="-122"/>
                <a:cs typeface="Arial" pitchFamily="34" charset="-120"/>
              </a:rPr>
              <a:t>SƠ BỘ</a:t>
            </a:r>
            <a:endParaRPr lang="en-US" sz="1000" dirty="0"/>
          </a:p>
        </p:txBody>
      </p:sp>
      <p:sp>
        <p:nvSpPr>
          <p:cNvPr id="28" name="Shape 25"/>
          <p:cNvSpPr/>
          <p:nvPr/>
        </p:nvSpPr>
        <p:spPr>
          <a:xfrm>
            <a:off x="6254496" y="3694176"/>
            <a:ext cx="5321808" cy="1444752"/>
          </a:xfrm>
          <a:prstGeom prst="roundRect">
            <a:avLst>
              <a:gd name="adj" fmla="val 2532"/>
            </a:avLst>
          </a:prstGeom>
          <a:solidFill>
            <a:srgbClr val="FFFFFF"/>
          </a:solidFill>
          <a:ln w="12700">
            <a:solidFill>
              <a:srgbClr val="C9963A"/>
            </a:solidFill>
            <a:prstDash val="solid"/>
          </a:ln>
        </p:spPr>
      </p:sp>
      <p:sp>
        <p:nvSpPr>
          <p:cNvPr id="29" name="Text 26"/>
          <p:cNvSpPr txBox="1"/>
          <p:nvPr/>
        </p:nvSpPr>
        <p:spPr>
          <a:xfrm>
            <a:off x="6473952" y="3822192"/>
            <a:ext cx="4069080" cy="201168"/>
          </a:xfrm>
          <a:prstGeom prst="rect">
            <a:avLst/>
          </a:prstGeom>
          <a:noFill/>
          <a:ln/>
        </p:spPr>
        <p:txBody>
          <a:bodyPr wrap="square" lIns="0" tIns="0" rIns="0" bIns="0" rtlCol="0" anchor="t">
            <a:normAutofit/>
          </a:bodyPr>
          <a:lstStyle/>
          <a:p>
            <a:pPr marL="0" indent="0" algn="l">
              <a:buNone/>
            </a:pPr>
            <a:r>
              <a:rPr lang="en-US" sz="1150" b="1" dirty="0">
                <a:solidFill>
                  <a:srgbClr val="C9963A"/>
                </a:solidFill>
                <a:latin typeface="Arial" pitchFamily="34" charset="0"/>
                <a:ea typeface="Arial" pitchFamily="34" charset="-122"/>
                <a:cs typeface="Arial" pitchFamily="34" charset="-120"/>
              </a:rPr>
              <a:t>Động lực học</a:t>
            </a:r>
            <a:endParaRPr lang="en-US" sz="1150" dirty="0"/>
          </a:p>
        </p:txBody>
      </p:sp>
      <p:sp>
        <p:nvSpPr>
          <p:cNvPr id="30" name="Text 27"/>
          <p:cNvSpPr txBox="1"/>
          <p:nvPr/>
        </p:nvSpPr>
        <p:spPr>
          <a:xfrm>
            <a:off x="6473952" y="4059936"/>
            <a:ext cx="4251960" cy="347472"/>
          </a:xfrm>
          <a:prstGeom prst="rect">
            <a:avLst/>
          </a:prstGeom>
          <a:noFill/>
          <a:ln/>
        </p:spPr>
        <p:txBody>
          <a:bodyPr wrap="square" lIns="0" tIns="0" rIns="0" bIns="0" rtlCol="0" anchor="t">
            <a:normAutofit/>
          </a:bodyPr>
          <a:lstStyle/>
          <a:p>
            <a:pPr marL="0" indent="0" algn="l">
              <a:buNone/>
            </a:pPr>
            <a:r>
              <a:rPr lang="en-US" sz="1850" b="1" dirty="0">
                <a:solidFill>
                  <a:srgbClr val="07182F"/>
                </a:solidFill>
                <a:latin typeface="Georgia" pitchFamily="34" charset="0"/>
                <a:ea typeface="Georgia" pitchFamily="34" charset="-122"/>
                <a:cs typeface="Georgia" pitchFamily="34" charset="-120"/>
              </a:rPr>
              <a:t>Động lực học · giải</a:t>
            </a:r>
            <a:endParaRPr lang="en-US" sz="1850" dirty="0"/>
          </a:p>
        </p:txBody>
      </p:sp>
      <p:sp>
        <p:nvSpPr>
          <p:cNvPr id="31" name="Text 28"/>
          <p:cNvSpPr txBox="1"/>
          <p:nvPr/>
        </p:nvSpPr>
        <p:spPr>
          <a:xfrm>
            <a:off x="6473952" y="4453128"/>
            <a:ext cx="4882896" cy="530352"/>
          </a:xfrm>
          <a:prstGeom prst="rect">
            <a:avLst/>
          </a:prstGeom>
          <a:noFill/>
          <a:ln/>
        </p:spPr>
        <p:txBody>
          <a:bodyPr wrap="square" lIns="0" tIns="0" rIns="0" bIns="0" rtlCol="0" anchor="ctr">
            <a:normAutofit/>
          </a:bodyPr>
          <a:lstStyle/>
          <a:p>
            <a:pPr marL="0" indent="0" algn="l">
              <a:buNone/>
            </a:pPr>
            <a:r>
              <a:rPr lang="en-US" sz="1250" dirty="0">
                <a:solidFill>
                  <a:srgbClr val="243247"/>
                </a:solidFill>
                <a:latin typeface="Arial" pitchFamily="34" charset="0"/>
                <a:ea typeface="Arial" pitchFamily="34" charset="-122"/>
                <a:cs typeface="Arial" pitchFamily="34" charset="-120"/>
              </a:rPr>
              <a:t>Điều kiện: Với một hệ cơ học và các giả thiết đã nêu. Tiêu chí: giải quan hệ lực, động lượng, năng lượng và va chạm bằng nội dung Chương 3.</a:t>
            </a:r>
            <a:endParaRPr lang="en-US" sz="1250" dirty="0"/>
          </a:p>
        </p:txBody>
      </p:sp>
      <p:sp>
        <p:nvSpPr>
          <p:cNvPr id="32" name="Text 29"/>
          <p:cNvSpPr txBox="1"/>
          <p:nvPr/>
        </p:nvSpPr>
        <p:spPr>
          <a:xfrm>
            <a:off x="10707624" y="3840480"/>
            <a:ext cx="621792" cy="219456"/>
          </a:xfrm>
          <a:prstGeom prst="rect">
            <a:avLst/>
          </a:prstGeom>
          <a:noFill/>
          <a:ln/>
        </p:spPr>
        <p:txBody>
          <a:bodyPr wrap="square" lIns="0" tIns="0" rIns="0" bIns="0" rtlCol="0" anchor="t">
            <a:normAutofit/>
          </a:bodyPr>
          <a:lstStyle/>
          <a:p>
            <a:pPr marL="0" indent="0" algn="r">
              <a:buNone/>
            </a:pPr>
            <a:r>
              <a:rPr lang="en-US" sz="1000" b="1" dirty="0">
                <a:solidFill>
                  <a:srgbClr val="9A5B00"/>
                </a:solidFill>
                <a:latin typeface="Arial" pitchFamily="34" charset="0"/>
                <a:ea typeface="Arial" pitchFamily="34" charset="-122"/>
                <a:cs typeface="Arial" pitchFamily="34" charset="-120"/>
              </a:rPr>
              <a:t>SƠ BỘ</a:t>
            </a:r>
            <a:endParaRPr lang="en-US" sz="1000" dirty="0"/>
          </a:p>
        </p:txBody>
      </p:sp>
      <p:sp>
        <p:nvSpPr>
          <p:cNvPr id="33" name="Shape 30"/>
          <p:cNvSpPr/>
          <p:nvPr/>
        </p:nvSpPr>
        <p:spPr>
          <a:xfrm>
            <a:off x="1097280" y="5468112"/>
            <a:ext cx="9966960" cy="438912"/>
          </a:xfrm>
          <a:prstGeom prst="roundRect">
            <a:avLst>
              <a:gd name="adj" fmla="val 8333"/>
            </a:avLst>
          </a:prstGeom>
          <a:solidFill>
            <a:srgbClr val="FFF4E8"/>
          </a:solidFill>
          <a:ln w="12700">
            <a:solidFill>
              <a:srgbClr val="9A5B00"/>
            </a:solidFill>
            <a:prstDash val="solid"/>
          </a:ln>
        </p:spPr>
      </p:sp>
      <p:sp>
        <p:nvSpPr>
          <p:cNvPr id="34" name="Text 31"/>
          <p:cNvSpPr txBox="1"/>
          <p:nvPr/>
        </p:nvSpPr>
        <p:spPr>
          <a:xfrm>
            <a:off x="1371600" y="5577840"/>
            <a:ext cx="9418320" cy="219456"/>
          </a:xfrm>
          <a:prstGeom prst="rect">
            <a:avLst/>
          </a:prstGeom>
          <a:noFill/>
          <a:ln/>
        </p:spPr>
        <p:txBody>
          <a:bodyPr wrap="square" lIns="0" tIns="0" rIns="0" bIns="0" rtlCol="0" anchor="t">
            <a:normAutofit/>
          </a:bodyPr>
          <a:lstStyle/>
          <a:p>
            <a:pPr marL="0" indent="0" algn="ctr">
              <a:buNone/>
            </a:pPr>
            <a:r>
              <a:rPr lang="en-US" sz="1550" b="1" dirty="0">
                <a:solidFill>
                  <a:srgbClr val="9A5B00"/>
                </a:solidFill>
                <a:latin typeface="Arial" pitchFamily="34" charset="0"/>
                <a:ea typeface="Arial" pitchFamily="34" charset="-122"/>
                <a:cs typeface="Arial" pitchFamily="34" charset="-120"/>
              </a:rPr>
              <a:t>Sơ bộ · không có ngoại lệ đánh giá được khai báo · cần cơ sở đào tạo xác nhận trước bản cuối.</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PHỤ LỤC / DỰ PHÒNG</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2800" b="1" dirty="0">
                <a:solidFill>
                  <a:srgbClr val="07182F"/>
                </a:solidFill>
                <a:latin typeface="Georgia" pitchFamily="34" charset="0"/>
                <a:ea typeface="Georgia" pitchFamily="34" charset="-122"/>
                <a:cs typeface="Georgia" pitchFamily="34" charset="-120"/>
              </a:rPr>
              <a:t>Phụ lục · Phạm vi của ba ca đối chiếu khoa học</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15</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Ba ca đối chiếu khoa học, mỗi chương một ca, là mẫu để xem xét sâu; chưa được thẩm định độc lập và không đại diện cho toàn bộ học liệu.</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b="1" dirty="0">
                <a:solidFill>
                  <a:srgbClr val="5B6B80"/>
                </a:solidFill>
                <a:latin typeface="Arial" pitchFamily="34" charset="0"/>
                <a:ea typeface="Arial" pitchFamily="34" charset="-122"/>
                <a:cs typeface="Arial" pitchFamily="34" charset="-120"/>
              </a:rPr>
              <a:t>PHỤ LỤC / DỰ PHÒNG</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PL-BA-CA-KHOA-HOC</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15</a:t>
            </a:r>
            <a:endParaRPr lang="en-US" sz="820" dirty="0"/>
          </a:p>
        </p:txBody>
      </p:sp>
      <p:sp>
        <p:nvSpPr>
          <p:cNvPr id="13" name="Text 10"/>
          <p:cNvSpPr txBox="1"/>
          <p:nvPr/>
        </p:nvSpPr>
        <p:spPr>
          <a:xfrm>
            <a:off x="749808" y="2039112"/>
            <a:ext cx="5084064" cy="246888"/>
          </a:xfrm>
          <a:prstGeom prst="rect">
            <a:avLst/>
          </a:prstGeom>
          <a:noFill/>
          <a:ln/>
        </p:spPr>
        <p:txBody>
          <a:bodyPr wrap="square" lIns="0" tIns="0" rIns="0" bIns="0" rtlCol="0" anchor="t">
            <a:normAutofit/>
          </a:bodyPr>
          <a:lstStyle/>
          <a:p>
            <a:pPr marL="0" indent="0" algn="l">
              <a:buNone/>
            </a:pPr>
            <a:r>
              <a:rPr lang="en-US" sz="1300" b="1" dirty="0">
                <a:solidFill>
                  <a:srgbClr val="15355F"/>
                </a:solidFill>
                <a:latin typeface="Arial" pitchFamily="34" charset="0"/>
                <a:ea typeface="Arial" pitchFamily="34" charset="-122"/>
                <a:cs typeface="Arial" pitchFamily="34" charset="-120"/>
              </a:rPr>
              <a:t>MẪU VÀ THAO TÁC XEM XÉT</a:t>
            </a:r>
            <a:endParaRPr lang="en-US" sz="1300" dirty="0"/>
          </a:p>
        </p:txBody>
      </p:sp>
      <p:sp>
        <p:nvSpPr>
          <p:cNvPr id="14" name="Text 11"/>
          <p:cNvSpPr txBox="1"/>
          <p:nvPr/>
        </p:nvSpPr>
        <p:spPr>
          <a:xfrm>
            <a:off x="6419088" y="2039112"/>
            <a:ext cx="5084064" cy="246888"/>
          </a:xfrm>
          <a:prstGeom prst="rect">
            <a:avLst/>
          </a:prstGeom>
          <a:noFill/>
          <a:ln/>
        </p:spPr>
        <p:txBody>
          <a:bodyPr wrap="square" lIns="0" tIns="0" rIns="0" bIns="0" rtlCol="0" anchor="t">
            <a:normAutofit/>
          </a:bodyPr>
          <a:lstStyle/>
          <a:p>
            <a:pPr marL="0" indent="0" algn="l">
              <a:buNone/>
            </a:pPr>
            <a:r>
              <a:rPr lang="en-US" sz="1250" b="1" dirty="0">
                <a:solidFill>
                  <a:srgbClr val="9A5B00"/>
                </a:solidFill>
                <a:latin typeface="Arial" pitchFamily="34" charset="0"/>
                <a:ea typeface="Arial" pitchFamily="34" charset="-122"/>
                <a:cs typeface="Arial" pitchFamily="34" charset="-120"/>
              </a:rPr>
              <a:t>KẾT LUẬN GIỚI HẠN · CHƯA THẨM ĐỊNH ĐỘC LẬP</a:t>
            </a:r>
            <a:endParaRPr lang="en-US" sz="1250" dirty="0"/>
          </a:p>
        </p:txBody>
      </p:sp>
      <p:sp>
        <p:nvSpPr>
          <p:cNvPr id="15" name="Shape 12"/>
          <p:cNvSpPr/>
          <p:nvPr/>
        </p:nvSpPr>
        <p:spPr>
          <a:xfrm>
            <a:off x="6108192" y="2075688"/>
            <a:ext cx="0" cy="2267712"/>
          </a:xfrm>
          <a:prstGeom prst="line">
            <a:avLst/>
          </a:prstGeom>
          <a:noFill/>
          <a:ln w="12700">
            <a:solidFill>
              <a:srgbClr val="9A5B00"/>
            </a:solidFill>
            <a:prstDash val="dash"/>
          </a:ln>
        </p:spPr>
      </p:sp>
      <p:sp>
        <p:nvSpPr>
          <p:cNvPr id="16" name="Shape 13"/>
          <p:cNvSpPr/>
          <p:nvPr/>
        </p:nvSpPr>
        <p:spPr>
          <a:xfrm>
            <a:off x="713232" y="2432304"/>
            <a:ext cx="2359152" cy="1901952"/>
          </a:xfrm>
          <a:prstGeom prst="roundRect">
            <a:avLst>
              <a:gd name="adj" fmla="val 1923"/>
            </a:avLst>
          </a:prstGeom>
          <a:solidFill>
            <a:srgbClr val="FFFFFF"/>
          </a:solidFill>
          <a:ln w="12700">
            <a:solidFill>
              <a:srgbClr val="15355F"/>
            </a:solidFill>
            <a:prstDash val="solid"/>
          </a:ln>
        </p:spPr>
      </p:sp>
      <p:sp>
        <p:nvSpPr>
          <p:cNvPr id="17" name="Text 14"/>
          <p:cNvSpPr txBox="1"/>
          <p:nvPr/>
        </p:nvSpPr>
        <p:spPr>
          <a:xfrm>
            <a:off x="868680" y="2569464"/>
            <a:ext cx="329184" cy="384048"/>
          </a:xfrm>
          <a:prstGeom prst="rect">
            <a:avLst/>
          </a:prstGeom>
          <a:noFill/>
          <a:ln/>
        </p:spPr>
        <p:txBody>
          <a:bodyPr wrap="square" lIns="0" tIns="0" rIns="0" bIns="0" rtlCol="0" anchor="t">
            <a:normAutofit/>
          </a:bodyPr>
          <a:lstStyle/>
          <a:p>
            <a:pPr marL="0" indent="0" algn="ctr">
              <a:buNone/>
            </a:pPr>
            <a:r>
              <a:rPr lang="en-US" sz="2400" b="1" dirty="0">
                <a:solidFill>
                  <a:srgbClr val="15355F"/>
                </a:solidFill>
                <a:latin typeface="Arial" pitchFamily="34" charset="0"/>
                <a:ea typeface="Arial" pitchFamily="34" charset="-122"/>
                <a:cs typeface="Arial" pitchFamily="34" charset="-120"/>
              </a:rPr>
              <a:t>1</a:t>
            </a:r>
            <a:endParaRPr lang="en-US" sz="2400" dirty="0"/>
          </a:p>
        </p:txBody>
      </p:sp>
      <p:sp>
        <p:nvSpPr>
          <p:cNvPr id="18" name="Text 15"/>
          <p:cNvSpPr txBox="1"/>
          <p:nvPr/>
        </p:nvSpPr>
        <p:spPr>
          <a:xfrm>
            <a:off x="1234440" y="2578608"/>
            <a:ext cx="1691640" cy="53035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Georgia" pitchFamily="34" charset="0"/>
                <a:ea typeface="Georgia" pitchFamily="34" charset="-122"/>
                <a:cs typeface="Georgia" pitchFamily="34" charset="-120"/>
              </a:rPr>
              <a:t>Mẫu được chọn</a:t>
            </a:r>
            <a:endParaRPr lang="en-US" sz="1700" dirty="0"/>
          </a:p>
        </p:txBody>
      </p:sp>
      <p:sp>
        <p:nvSpPr>
          <p:cNvPr id="19" name="Text 16"/>
          <p:cNvSpPr txBox="1"/>
          <p:nvPr/>
        </p:nvSpPr>
        <p:spPr>
          <a:xfrm>
            <a:off x="896112" y="3255264"/>
            <a:ext cx="1993392" cy="859536"/>
          </a:xfrm>
          <a:prstGeom prst="rect">
            <a:avLst/>
          </a:prstGeom>
          <a:noFill/>
          <a:ln/>
        </p:spPr>
        <p:txBody>
          <a:bodyPr wrap="square" lIns="0" tIns="0" rIns="0" bIns="0" rtlCol="0" anchor="ctr">
            <a:normAutofit/>
          </a:bodyPr>
          <a:lstStyle/>
          <a:p>
            <a:pPr marL="0" indent="0" algn="l">
              <a:buNone/>
            </a:pPr>
            <a:r>
              <a:rPr lang="en-US" sz="1550" dirty="0">
                <a:solidFill>
                  <a:srgbClr val="243247"/>
                </a:solidFill>
                <a:latin typeface="Arial" pitchFamily="34" charset="0"/>
                <a:ea typeface="Arial" pitchFamily="34" charset="-122"/>
                <a:cs typeface="Arial" pitchFamily="34" charset="-120"/>
              </a:rPr>
              <a:t>Mỗi chương một ca đối chiếu khoa học để xem xét sâu</a:t>
            </a:r>
            <a:endParaRPr lang="en-US" sz="1550" dirty="0"/>
          </a:p>
        </p:txBody>
      </p:sp>
      <p:sp>
        <p:nvSpPr>
          <p:cNvPr id="20" name="Shape 17"/>
          <p:cNvSpPr/>
          <p:nvPr/>
        </p:nvSpPr>
        <p:spPr>
          <a:xfrm>
            <a:off x="3072384" y="3392424"/>
            <a:ext cx="384048" cy="0"/>
          </a:xfrm>
          <a:prstGeom prst="line">
            <a:avLst/>
          </a:prstGeom>
          <a:noFill/>
          <a:ln w="12700">
            <a:solidFill>
              <a:srgbClr val="C9963A"/>
            </a:solidFill>
            <a:prstDash val="solid"/>
            <a:tailEnd type="triangle"/>
          </a:ln>
        </p:spPr>
      </p:sp>
      <p:sp>
        <p:nvSpPr>
          <p:cNvPr id="21" name="Shape 18"/>
          <p:cNvSpPr/>
          <p:nvPr/>
        </p:nvSpPr>
        <p:spPr>
          <a:xfrm>
            <a:off x="3456432" y="2432304"/>
            <a:ext cx="2359152" cy="1901952"/>
          </a:xfrm>
          <a:prstGeom prst="roundRect">
            <a:avLst>
              <a:gd name="adj" fmla="val 1923"/>
            </a:avLst>
          </a:prstGeom>
          <a:solidFill>
            <a:srgbClr val="FFFFFF"/>
          </a:solidFill>
          <a:ln w="12700">
            <a:solidFill>
              <a:srgbClr val="2980B9"/>
            </a:solidFill>
            <a:prstDash val="solid"/>
          </a:ln>
        </p:spPr>
      </p:sp>
      <p:sp>
        <p:nvSpPr>
          <p:cNvPr id="22" name="Text 19"/>
          <p:cNvSpPr txBox="1"/>
          <p:nvPr/>
        </p:nvSpPr>
        <p:spPr>
          <a:xfrm>
            <a:off x="3611880" y="2569464"/>
            <a:ext cx="329184" cy="384048"/>
          </a:xfrm>
          <a:prstGeom prst="rect">
            <a:avLst/>
          </a:prstGeom>
          <a:noFill/>
          <a:ln/>
        </p:spPr>
        <p:txBody>
          <a:bodyPr wrap="square" lIns="0" tIns="0" rIns="0" bIns="0" rtlCol="0" anchor="t">
            <a:normAutofit/>
          </a:bodyPr>
          <a:lstStyle/>
          <a:p>
            <a:pPr marL="0" indent="0" algn="ctr">
              <a:buNone/>
            </a:pPr>
            <a:r>
              <a:rPr lang="en-US" sz="2400" b="1" dirty="0">
                <a:solidFill>
                  <a:srgbClr val="2980B9"/>
                </a:solidFill>
                <a:latin typeface="Arial" pitchFamily="34" charset="0"/>
                <a:ea typeface="Arial" pitchFamily="34" charset="-122"/>
                <a:cs typeface="Arial" pitchFamily="34" charset="-120"/>
              </a:rPr>
              <a:t>2</a:t>
            </a:r>
            <a:endParaRPr lang="en-US" sz="2400" dirty="0"/>
          </a:p>
        </p:txBody>
      </p:sp>
      <p:sp>
        <p:nvSpPr>
          <p:cNvPr id="23" name="Text 20"/>
          <p:cNvSpPr txBox="1"/>
          <p:nvPr/>
        </p:nvSpPr>
        <p:spPr>
          <a:xfrm>
            <a:off x="3977640" y="2578608"/>
            <a:ext cx="1691640" cy="53035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Georgia" pitchFamily="34" charset="0"/>
                <a:ea typeface="Georgia" pitchFamily="34" charset="-122"/>
                <a:cs typeface="Georgia" pitchFamily="34" charset="-120"/>
              </a:rPr>
              <a:t>Nội dung kiểm tra</a:t>
            </a:r>
            <a:endParaRPr lang="en-US" sz="1700" dirty="0"/>
          </a:p>
        </p:txBody>
      </p:sp>
      <p:sp>
        <p:nvSpPr>
          <p:cNvPr id="24" name="Text 21"/>
          <p:cNvSpPr txBox="1"/>
          <p:nvPr/>
        </p:nvSpPr>
        <p:spPr>
          <a:xfrm>
            <a:off x="3639312" y="3255264"/>
            <a:ext cx="1993392" cy="859536"/>
          </a:xfrm>
          <a:prstGeom prst="rect">
            <a:avLst/>
          </a:prstGeom>
          <a:noFill/>
          <a:ln/>
        </p:spPr>
        <p:txBody>
          <a:bodyPr wrap="square" lIns="0" tIns="0" rIns="0" bIns="0" rtlCol="0" anchor="ctr">
            <a:normAutofit/>
          </a:bodyPr>
          <a:lstStyle/>
          <a:p>
            <a:pPr marL="0" indent="0" algn="l">
              <a:buNone/>
            </a:pPr>
            <a:r>
              <a:rPr lang="en-US" sz="1550" dirty="0">
                <a:solidFill>
                  <a:srgbClr val="243247"/>
                </a:solidFill>
                <a:latin typeface="Arial" pitchFamily="34" charset="0"/>
                <a:ea typeface="Arial" pitchFamily="34" charset="-122"/>
                <a:cs typeface="Arial" pitchFamily="34" charset="-120"/>
              </a:rPr>
              <a:t>Công thức, giả thiết, đơn vị, dấu và giới hạn</a:t>
            </a:r>
            <a:endParaRPr lang="en-US" sz="1550" dirty="0"/>
          </a:p>
        </p:txBody>
      </p:sp>
      <p:sp>
        <p:nvSpPr>
          <p:cNvPr id="25" name="Shape 22"/>
          <p:cNvSpPr/>
          <p:nvPr/>
        </p:nvSpPr>
        <p:spPr>
          <a:xfrm>
            <a:off x="5815584" y="3392424"/>
            <a:ext cx="566928" cy="0"/>
          </a:xfrm>
          <a:prstGeom prst="line">
            <a:avLst/>
          </a:prstGeom>
          <a:noFill/>
          <a:ln w="12700">
            <a:solidFill>
              <a:srgbClr val="9A5B00"/>
            </a:solidFill>
            <a:prstDash val="solid"/>
            <a:tailEnd type="triangle"/>
          </a:ln>
        </p:spPr>
      </p:sp>
      <p:sp>
        <p:nvSpPr>
          <p:cNvPr id="26" name="Shape 23"/>
          <p:cNvSpPr/>
          <p:nvPr/>
        </p:nvSpPr>
        <p:spPr>
          <a:xfrm>
            <a:off x="6382512" y="2432304"/>
            <a:ext cx="2359152" cy="1901952"/>
          </a:xfrm>
          <a:prstGeom prst="roundRect">
            <a:avLst>
              <a:gd name="adj" fmla="val 1923"/>
            </a:avLst>
          </a:prstGeom>
          <a:solidFill>
            <a:srgbClr val="FFF8ED"/>
          </a:solidFill>
          <a:ln w="12700">
            <a:solidFill>
              <a:srgbClr val="9A5B00"/>
            </a:solidFill>
            <a:prstDash val="solid"/>
          </a:ln>
        </p:spPr>
      </p:sp>
      <p:sp>
        <p:nvSpPr>
          <p:cNvPr id="27" name="Text 24"/>
          <p:cNvSpPr txBox="1"/>
          <p:nvPr/>
        </p:nvSpPr>
        <p:spPr>
          <a:xfrm>
            <a:off x="6537960" y="2569464"/>
            <a:ext cx="329184" cy="384048"/>
          </a:xfrm>
          <a:prstGeom prst="rect">
            <a:avLst/>
          </a:prstGeom>
          <a:noFill/>
          <a:ln/>
        </p:spPr>
        <p:txBody>
          <a:bodyPr wrap="square" lIns="0" tIns="0" rIns="0" bIns="0" rtlCol="0" anchor="t">
            <a:normAutofit/>
          </a:bodyPr>
          <a:lstStyle/>
          <a:p>
            <a:pPr marL="0" indent="0" algn="ctr">
              <a:buNone/>
            </a:pPr>
            <a:r>
              <a:rPr lang="en-US" sz="2400" b="1" dirty="0">
                <a:solidFill>
                  <a:srgbClr val="9A5B00"/>
                </a:solidFill>
                <a:latin typeface="Arial" pitchFamily="34" charset="0"/>
                <a:ea typeface="Arial" pitchFamily="34" charset="-122"/>
                <a:cs typeface="Arial" pitchFamily="34" charset="-120"/>
              </a:rPr>
              <a:t>3</a:t>
            </a:r>
            <a:endParaRPr lang="en-US" sz="2400" dirty="0"/>
          </a:p>
        </p:txBody>
      </p:sp>
      <p:sp>
        <p:nvSpPr>
          <p:cNvPr id="28" name="Text 25"/>
          <p:cNvSpPr txBox="1"/>
          <p:nvPr/>
        </p:nvSpPr>
        <p:spPr>
          <a:xfrm>
            <a:off x="6903720" y="2578608"/>
            <a:ext cx="1691640" cy="53035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Georgia" pitchFamily="34" charset="0"/>
                <a:ea typeface="Georgia" pitchFamily="34" charset="-122"/>
                <a:cs typeface="Georgia" pitchFamily="34" charset="-120"/>
              </a:rPr>
              <a:t>Phạm vi kết luận</a:t>
            </a:r>
            <a:endParaRPr lang="en-US" sz="1700" dirty="0"/>
          </a:p>
        </p:txBody>
      </p:sp>
      <p:sp>
        <p:nvSpPr>
          <p:cNvPr id="29" name="Text 26"/>
          <p:cNvSpPr txBox="1"/>
          <p:nvPr/>
        </p:nvSpPr>
        <p:spPr>
          <a:xfrm>
            <a:off x="6565392" y="3255264"/>
            <a:ext cx="1993392" cy="859536"/>
          </a:xfrm>
          <a:prstGeom prst="rect">
            <a:avLst/>
          </a:prstGeom>
          <a:noFill/>
          <a:ln/>
        </p:spPr>
        <p:txBody>
          <a:bodyPr wrap="square" lIns="0" tIns="0" rIns="0" bIns="0" rtlCol="0" anchor="ctr">
            <a:normAutofit/>
          </a:bodyPr>
          <a:lstStyle/>
          <a:p>
            <a:pPr marL="0" indent="0" algn="l">
              <a:buNone/>
            </a:pPr>
            <a:r>
              <a:rPr lang="en-US" sz="1550" dirty="0">
                <a:solidFill>
                  <a:srgbClr val="243247"/>
                </a:solidFill>
                <a:latin typeface="Arial" pitchFamily="34" charset="0"/>
                <a:ea typeface="Arial" pitchFamily="34" charset="-122"/>
                <a:cs typeface="Arial" pitchFamily="34" charset="-120"/>
              </a:rPr>
              <a:t>Không suy rộng kết quả sang mọi mục và mọi bài</a:t>
            </a:r>
            <a:endParaRPr lang="en-US" sz="1550" dirty="0"/>
          </a:p>
        </p:txBody>
      </p:sp>
      <p:sp>
        <p:nvSpPr>
          <p:cNvPr id="30" name="Shape 27"/>
          <p:cNvSpPr/>
          <p:nvPr/>
        </p:nvSpPr>
        <p:spPr>
          <a:xfrm>
            <a:off x="8741664" y="3392424"/>
            <a:ext cx="384048" cy="0"/>
          </a:xfrm>
          <a:prstGeom prst="line">
            <a:avLst/>
          </a:prstGeom>
          <a:noFill/>
          <a:ln w="12700">
            <a:solidFill>
              <a:srgbClr val="C9963A"/>
            </a:solidFill>
            <a:prstDash val="solid"/>
            <a:tailEnd type="triangle"/>
          </a:ln>
        </p:spPr>
      </p:sp>
      <p:sp>
        <p:nvSpPr>
          <p:cNvPr id="31" name="Shape 28"/>
          <p:cNvSpPr/>
          <p:nvPr/>
        </p:nvSpPr>
        <p:spPr>
          <a:xfrm>
            <a:off x="9125712" y="2432304"/>
            <a:ext cx="2359152" cy="1901952"/>
          </a:xfrm>
          <a:prstGeom prst="roundRect">
            <a:avLst>
              <a:gd name="adj" fmla="val 1923"/>
            </a:avLst>
          </a:prstGeom>
          <a:solidFill>
            <a:srgbClr val="FFF8ED"/>
          </a:solidFill>
          <a:ln w="12700">
            <a:solidFill>
              <a:srgbClr val="8E44AD"/>
            </a:solidFill>
            <a:prstDash val="solid"/>
          </a:ln>
        </p:spPr>
      </p:sp>
      <p:sp>
        <p:nvSpPr>
          <p:cNvPr id="32" name="Text 29"/>
          <p:cNvSpPr txBox="1"/>
          <p:nvPr/>
        </p:nvSpPr>
        <p:spPr>
          <a:xfrm>
            <a:off x="9281160" y="2569464"/>
            <a:ext cx="329184" cy="384048"/>
          </a:xfrm>
          <a:prstGeom prst="rect">
            <a:avLst/>
          </a:prstGeom>
          <a:noFill/>
          <a:ln/>
        </p:spPr>
        <p:txBody>
          <a:bodyPr wrap="square" lIns="0" tIns="0" rIns="0" bIns="0" rtlCol="0" anchor="t">
            <a:normAutofit/>
          </a:bodyPr>
          <a:lstStyle/>
          <a:p>
            <a:pPr marL="0" indent="0" algn="ctr">
              <a:buNone/>
            </a:pPr>
            <a:r>
              <a:rPr lang="en-US" sz="2400" b="1" dirty="0">
                <a:solidFill>
                  <a:srgbClr val="8E44AD"/>
                </a:solidFill>
                <a:latin typeface="Arial" pitchFamily="34" charset="0"/>
                <a:ea typeface="Arial" pitchFamily="34" charset="-122"/>
                <a:cs typeface="Arial" pitchFamily="34" charset="-120"/>
              </a:rPr>
              <a:t>4</a:t>
            </a:r>
            <a:endParaRPr lang="en-US" sz="2400" dirty="0"/>
          </a:p>
        </p:txBody>
      </p:sp>
      <p:sp>
        <p:nvSpPr>
          <p:cNvPr id="33" name="Text 30"/>
          <p:cNvSpPr txBox="1"/>
          <p:nvPr/>
        </p:nvSpPr>
        <p:spPr>
          <a:xfrm>
            <a:off x="9646920" y="2578608"/>
            <a:ext cx="1691640" cy="530352"/>
          </a:xfrm>
          <a:prstGeom prst="rect">
            <a:avLst/>
          </a:prstGeom>
          <a:noFill/>
          <a:ln/>
        </p:spPr>
        <p:txBody>
          <a:bodyPr wrap="square" lIns="0" tIns="0" rIns="0" bIns="0" rtlCol="0" anchor="ctr">
            <a:normAutofit/>
          </a:bodyPr>
          <a:lstStyle/>
          <a:p>
            <a:pPr marL="0" indent="0" algn="l">
              <a:buNone/>
            </a:pPr>
            <a:r>
              <a:rPr lang="en-US" sz="1700" b="1" dirty="0">
                <a:solidFill>
                  <a:srgbClr val="07182F"/>
                </a:solidFill>
                <a:latin typeface="Georgia" pitchFamily="34" charset="0"/>
                <a:ea typeface="Georgia" pitchFamily="34" charset="-122"/>
                <a:cs typeface="Georgia" pitchFamily="34" charset="-120"/>
              </a:rPr>
              <a:t>Ý kiến chuyên gia</a:t>
            </a:r>
            <a:endParaRPr lang="en-US" sz="1700" dirty="0"/>
          </a:p>
        </p:txBody>
      </p:sp>
      <p:sp>
        <p:nvSpPr>
          <p:cNvPr id="34" name="Text 31"/>
          <p:cNvSpPr txBox="1"/>
          <p:nvPr/>
        </p:nvSpPr>
        <p:spPr>
          <a:xfrm>
            <a:off x="9308592" y="3255264"/>
            <a:ext cx="1993392" cy="859536"/>
          </a:xfrm>
          <a:prstGeom prst="rect">
            <a:avLst/>
          </a:prstGeom>
          <a:noFill/>
          <a:ln/>
        </p:spPr>
        <p:txBody>
          <a:bodyPr wrap="square" lIns="0" tIns="0" rIns="0" bIns="0" rtlCol="0" anchor="ctr">
            <a:normAutofit/>
          </a:bodyPr>
          <a:lstStyle/>
          <a:p>
            <a:pPr marL="0" indent="0" algn="l">
              <a:buNone/>
            </a:pPr>
            <a:r>
              <a:rPr lang="en-US" sz="1550" dirty="0">
                <a:solidFill>
                  <a:srgbClr val="243247"/>
                </a:solidFill>
                <a:latin typeface="Arial" pitchFamily="34" charset="0"/>
                <a:ea typeface="Arial" pitchFamily="34" charset="-122"/>
                <a:cs typeface="Arial" pitchFamily="34" charset="-120"/>
              </a:rPr>
              <a:t>Ghi rõ phần đã xem và đề nghị chỉnh sửa</a:t>
            </a:r>
            <a:endParaRPr lang="en-US" sz="1550" dirty="0"/>
          </a:p>
        </p:txBody>
      </p:sp>
      <p:sp>
        <p:nvSpPr>
          <p:cNvPr id="35" name="Text 32"/>
          <p:cNvSpPr txBox="1"/>
          <p:nvPr/>
        </p:nvSpPr>
        <p:spPr>
          <a:xfrm>
            <a:off x="777240" y="4453128"/>
            <a:ext cx="3072384" cy="237744"/>
          </a:xfrm>
          <a:prstGeom prst="rect">
            <a:avLst/>
          </a:prstGeom>
          <a:noFill/>
          <a:ln/>
        </p:spPr>
        <p:txBody>
          <a:bodyPr wrap="square" lIns="0" tIns="0" rIns="0" bIns="0" rtlCol="0" anchor="t">
            <a:normAutofit/>
          </a:bodyPr>
          <a:lstStyle/>
          <a:p>
            <a:pPr marL="0" indent="0" algn="l">
              <a:buNone/>
            </a:pPr>
            <a:r>
              <a:rPr lang="en-US" sz="1400" b="1" dirty="0">
                <a:solidFill>
                  <a:srgbClr val="2980B9"/>
                </a:solidFill>
                <a:latin typeface="Arial" pitchFamily="34" charset="0"/>
                <a:ea typeface="Arial" pitchFamily="34" charset="-122"/>
                <a:cs typeface="Arial" pitchFamily="34" charset="-120"/>
              </a:rPr>
              <a:t>3 ca · mỗi chương 1 ca</a:t>
            </a:r>
            <a:endParaRPr lang="en-US" sz="1400" dirty="0"/>
          </a:p>
        </p:txBody>
      </p:sp>
      <p:sp>
        <p:nvSpPr>
          <p:cNvPr id="36" name="Text 33"/>
          <p:cNvSpPr txBox="1"/>
          <p:nvPr/>
        </p:nvSpPr>
        <p:spPr>
          <a:xfrm>
            <a:off x="4626864" y="4453128"/>
            <a:ext cx="6839712" cy="237744"/>
          </a:xfrm>
          <a:prstGeom prst="rect">
            <a:avLst/>
          </a:prstGeom>
          <a:noFill/>
          <a:ln/>
        </p:spPr>
        <p:txBody>
          <a:bodyPr wrap="square" lIns="0" tIns="0" rIns="0" bIns="0" rtlCol="0" anchor="t">
            <a:normAutofit/>
          </a:bodyPr>
          <a:lstStyle/>
          <a:p>
            <a:pPr marL="0" indent="0" algn="r">
              <a:buNone/>
            </a:pPr>
            <a:r>
              <a:rPr lang="en-US" sz="1400" b="1" dirty="0">
                <a:solidFill>
                  <a:srgbClr val="9A5B00"/>
                </a:solidFill>
                <a:latin typeface="Arial" pitchFamily="34" charset="0"/>
                <a:ea typeface="Arial" pitchFamily="34" charset="-122"/>
                <a:cs typeface="Arial" pitchFamily="34" charset="-120"/>
              </a:rPr>
              <a:t>RANH GIỚI: không suy rộng ngoài mẫu đã xem</a:t>
            </a:r>
            <a:endParaRPr lang="en-US" sz="1400" dirty="0"/>
          </a:p>
        </p:txBody>
      </p:sp>
      <p:sp>
        <p:nvSpPr>
          <p:cNvPr id="37" name="Shape 34"/>
          <p:cNvSpPr/>
          <p:nvPr/>
        </p:nvSpPr>
        <p:spPr>
          <a:xfrm>
            <a:off x="658368" y="4809744"/>
            <a:ext cx="10972800" cy="1408176"/>
          </a:xfrm>
          <a:prstGeom prst="roundRect">
            <a:avLst>
              <a:gd name="adj" fmla="val 2597"/>
            </a:avLst>
          </a:prstGeom>
          <a:solidFill>
            <a:srgbClr val="FFF4E8"/>
          </a:solidFill>
          <a:ln w="12700">
            <a:solidFill>
              <a:srgbClr val="9A5B00"/>
            </a:solidFill>
            <a:prstDash val="solid"/>
          </a:ln>
        </p:spPr>
      </p:sp>
      <p:sp>
        <p:nvSpPr>
          <p:cNvPr id="38" name="Text 35"/>
          <p:cNvSpPr txBox="1"/>
          <p:nvPr/>
        </p:nvSpPr>
        <p:spPr>
          <a:xfrm>
            <a:off x="896112" y="4919472"/>
            <a:ext cx="2834640" cy="237744"/>
          </a:xfrm>
          <a:prstGeom prst="rect">
            <a:avLst/>
          </a:prstGeom>
          <a:noFill/>
          <a:ln/>
        </p:spPr>
        <p:txBody>
          <a:bodyPr wrap="square" lIns="0" tIns="0" rIns="0" bIns="0" rtlCol="0" anchor="t">
            <a:normAutofit/>
          </a:bodyPr>
          <a:lstStyle/>
          <a:p>
            <a:pPr marL="0" indent="0" algn="l">
              <a:buNone/>
            </a:pPr>
            <a:r>
              <a:rPr lang="en-US" sz="1300" b="1" dirty="0">
                <a:solidFill>
                  <a:srgbClr val="9A5B00"/>
                </a:solidFill>
                <a:latin typeface="Arial" pitchFamily="34" charset="0"/>
                <a:ea typeface="Arial" pitchFamily="34" charset="-122"/>
                <a:cs typeface="Arial" pitchFamily="34" charset="-120"/>
              </a:rPr>
              <a:t>GIỚI HẠN KẾT LUẬN</a:t>
            </a:r>
            <a:endParaRPr lang="en-US" sz="1300" dirty="0"/>
          </a:p>
        </p:txBody>
      </p:sp>
      <p:sp>
        <p:nvSpPr>
          <p:cNvPr id="39" name="Shape 36"/>
          <p:cNvSpPr/>
          <p:nvPr/>
        </p:nvSpPr>
        <p:spPr>
          <a:xfrm>
            <a:off x="932688" y="5257800"/>
            <a:ext cx="73152" cy="73152"/>
          </a:xfrm>
          <a:prstGeom prst="ellipse">
            <a:avLst/>
          </a:prstGeom>
          <a:solidFill>
            <a:srgbClr val="9A5B00"/>
          </a:solidFill>
          <a:ln w="12700">
            <a:solidFill>
              <a:srgbClr val="9A5B00"/>
            </a:solidFill>
            <a:prstDash val="solid"/>
          </a:ln>
        </p:spPr>
      </p:sp>
      <p:sp>
        <p:nvSpPr>
          <p:cNvPr id="40" name="Text 37"/>
          <p:cNvSpPr txBox="1"/>
          <p:nvPr/>
        </p:nvSpPr>
        <p:spPr>
          <a:xfrm>
            <a:off x="1097280" y="5184648"/>
            <a:ext cx="10222992" cy="274320"/>
          </a:xfrm>
          <a:prstGeom prst="rect">
            <a:avLst/>
          </a:prstGeom>
          <a:noFill/>
          <a:ln/>
        </p:spPr>
        <p:txBody>
          <a:bodyPr wrap="square" lIns="0" tIns="0" rIns="0" bIns="0" rtlCol="0" anchor="ctr">
            <a:normAutofit/>
          </a:bodyPr>
          <a:lstStyle/>
          <a:p>
            <a:pPr marL="0" indent="0" algn="l">
              <a:buNone/>
            </a:pPr>
            <a:r>
              <a:rPr lang="en-US" sz="1420" dirty="0">
                <a:solidFill>
                  <a:srgbClr val="243247"/>
                </a:solidFill>
                <a:latin typeface="Arial" pitchFamily="34" charset="0"/>
                <a:ea typeface="Arial" pitchFamily="34" charset="-122"/>
                <a:cs typeface="Arial" pitchFamily="34" charset="-120"/>
              </a:rPr>
              <a:t>Ảnh chụp khi mô phỏng đang chạy chỉ ghi một trạng thái, không bao phủ mọi tham số</a:t>
            </a:r>
            <a:endParaRPr lang="en-US" sz="1420" dirty="0"/>
          </a:p>
        </p:txBody>
      </p:sp>
      <p:sp>
        <p:nvSpPr>
          <p:cNvPr id="41" name="Shape 38"/>
          <p:cNvSpPr/>
          <p:nvPr/>
        </p:nvSpPr>
        <p:spPr>
          <a:xfrm>
            <a:off x="932688" y="5568696"/>
            <a:ext cx="73152" cy="73152"/>
          </a:xfrm>
          <a:prstGeom prst="ellipse">
            <a:avLst/>
          </a:prstGeom>
          <a:solidFill>
            <a:srgbClr val="9A5B00"/>
          </a:solidFill>
          <a:ln w="12700">
            <a:solidFill>
              <a:srgbClr val="9A5B00"/>
            </a:solidFill>
            <a:prstDash val="solid"/>
          </a:ln>
        </p:spPr>
      </p:sp>
      <p:sp>
        <p:nvSpPr>
          <p:cNvPr id="42" name="Text 39"/>
          <p:cNvSpPr txBox="1"/>
          <p:nvPr/>
        </p:nvSpPr>
        <p:spPr>
          <a:xfrm>
            <a:off x="1097280" y="5495544"/>
            <a:ext cx="10222992" cy="274320"/>
          </a:xfrm>
          <a:prstGeom prst="rect">
            <a:avLst/>
          </a:prstGeom>
          <a:noFill/>
          <a:ln/>
        </p:spPr>
        <p:txBody>
          <a:bodyPr wrap="square" lIns="0" tIns="0" rIns="0" bIns="0" rtlCol="0" anchor="ctr">
            <a:normAutofit/>
          </a:bodyPr>
          <a:lstStyle/>
          <a:p>
            <a:pPr marL="0" indent="0" algn="l">
              <a:buNone/>
            </a:pPr>
            <a:r>
              <a:rPr lang="en-US" sz="1420" dirty="0">
                <a:solidFill>
                  <a:srgbClr val="243247"/>
                </a:solidFill>
                <a:latin typeface="Arial" pitchFamily="34" charset="0"/>
                <a:ea typeface="Arial" pitchFamily="34" charset="-122"/>
                <a:cs typeface="Arial" pitchFamily="34" charset="-120"/>
              </a:rPr>
              <a:t>Kiểm thử kỹ thuật không tự xác nhận diễn giải sư phạm</a:t>
            </a:r>
            <a:endParaRPr lang="en-US" sz="1420" dirty="0"/>
          </a:p>
        </p:txBody>
      </p:sp>
      <p:sp>
        <p:nvSpPr>
          <p:cNvPr id="43" name="Shape 40"/>
          <p:cNvSpPr/>
          <p:nvPr/>
        </p:nvSpPr>
        <p:spPr>
          <a:xfrm>
            <a:off x="932688" y="5879592"/>
            <a:ext cx="73152" cy="73152"/>
          </a:xfrm>
          <a:prstGeom prst="ellipse">
            <a:avLst/>
          </a:prstGeom>
          <a:solidFill>
            <a:srgbClr val="9A5B00"/>
          </a:solidFill>
          <a:ln w="12700">
            <a:solidFill>
              <a:srgbClr val="9A5B00"/>
            </a:solidFill>
            <a:prstDash val="solid"/>
          </a:ln>
        </p:spPr>
      </p:sp>
      <p:sp>
        <p:nvSpPr>
          <p:cNvPr id="44" name="Text 41"/>
          <p:cNvSpPr txBox="1"/>
          <p:nvPr/>
        </p:nvSpPr>
        <p:spPr>
          <a:xfrm>
            <a:off x="1097280" y="5806440"/>
            <a:ext cx="10222992" cy="274320"/>
          </a:xfrm>
          <a:prstGeom prst="rect">
            <a:avLst/>
          </a:prstGeom>
          <a:noFill/>
          <a:ln/>
        </p:spPr>
        <p:txBody>
          <a:bodyPr wrap="square" lIns="0" tIns="0" rIns="0" bIns="0" rtlCol="0" anchor="ctr">
            <a:normAutofit/>
          </a:bodyPr>
          <a:lstStyle/>
          <a:p>
            <a:pPr marL="0" indent="0" algn="l">
              <a:buNone/>
            </a:pPr>
            <a:r>
              <a:rPr lang="en-US" sz="1420" dirty="0">
                <a:solidFill>
                  <a:srgbClr val="243247"/>
                </a:solidFill>
                <a:latin typeface="Arial" pitchFamily="34" charset="0"/>
                <a:ea typeface="Arial" pitchFamily="34" charset="-122"/>
                <a:cs typeface="Arial" pitchFamily="34" charset="-120"/>
              </a:rPr>
              <a:t>Ba ca chưa được thẩm định độc lập và không phải nghiên cứu hiệu quả học tập</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PHỤ LỤC / DỰ PHÒNG</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Phụ lục · Tình trạng hồ sơ học thuật</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16</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Hiện có 0 hồ sơ ký xác nhận; các nội dung học thuật vẫn chờ thẩm định và ghi nhận có thẩm quyền.</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b="1" dirty="0">
                <a:solidFill>
                  <a:srgbClr val="5B6B80"/>
                </a:solidFill>
                <a:latin typeface="Arial" pitchFamily="34" charset="0"/>
                <a:ea typeface="Arial" pitchFamily="34" charset="-122"/>
                <a:cs typeface="Arial" pitchFamily="34" charset="-120"/>
              </a:rPr>
              <a:t>PHỤ LỤC / DỰ PHÒNG</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PL-HO-SO-HOC-THUAT</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16</a:t>
            </a:r>
            <a:endParaRPr lang="en-US" sz="820" dirty="0"/>
          </a:p>
        </p:txBody>
      </p:sp>
      <p:sp>
        <p:nvSpPr>
          <p:cNvPr id="13" name="Text 10"/>
          <p:cNvSpPr txBox="1"/>
          <p:nvPr/>
        </p:nvSpPr>
        <p:spPr>
          <a:xfrm>
            <a:off x="777240" y="2011680"/>
            <a:ext cx="10789920" cy="219456"/>
          </a:xfrm>
          <a:prstGeom prst="rect">
            <a:avLst/>
          </a:prstGeom>
          <a:noFill/>
          <a:ln/>
        </p:spPr>
        <p:txBody>
          <a:bodyPr wrap="square" lIns="0" tIns="0" rIns="0" bIns="0" rtlCol="0" anchor="t">
            <a:normAutofit/>
          </a:bodyPr>
          <a:lstStyle/>
          <a:p>
            <a:pPr marL="0" indent="0" algn="ctr">
              <a:buNone/>
            </a:pPr>
            <a:r>
              <a:rPr lang="en-US" sz="1150" b="1" dirty="0">
                <a:solidFill>
                  <a:srgbClr val="5B6B80"/>
                </a:solidFill>
                <a:latin typeface="Arial" pitchFamily="34" charset="0"/>
                <a:ea typeface="Arial" pitchFamily="34" charset="-122"/>
                <a:cs typeface="Arial" pitchFamily="34" charset="-120"/>
              </a:rPr>
              <a:t>LUỒNG XỬ LÝ HỒ SƠ ĐỀ XUẤT · KHÔNG PHẢI TRẠNG THÁI ĐÃ HOÀN TẤT</a:t>
            </a:r>
            <a:endParaRPr lang="en-US" sz="1150" dirty="0"/>
          </a:p>
        </p:txBody>
      </p:sp>
      <p:sp>
        <p:nvSpPr>
          <p:cNvPr id="14" name="Shape 11"/>
          <p:cNvSpPr/>
          <p:nvPr/>
        </p:nvSpPr>
        <p:spPr>
          <a:xfrm>
            <a:off x="749808" y="2450592"/>
            <a:ext cx="2304288" cy="896112"/>
          </a:xfrm>
          <a:prstGeom prst="roundRect">
            <a:avLst>
              <a:gd name="adj" fmla="val 4082"/>
            </a:avLst>
          </a:prstGeom>
          <a:solidFill>
            <a:srgbClr val="FFFFFF"/>
          </a:solidFill>
          <a:ln w="12700">
            <a:solidFill>
              <a:srgbClr val="2980B9"/>
            </a:solidFill>
            <a:prstDash val="solid"/>
          </a:ln>
        </p:spPr>
      </p:sp>
      <p:sp>
        <p:nvSpPr>
          <p:cNvPr id="15" name="Text 12"/>
          <p:cNvSpPr txBox="1"/>
          <p:nvPr/>
        </p:nvSpPr>
        <p:spPr>
          <a:xfrm>
            <a:off x="877824" y="2633472"/>
            <a:ext cx="2048256" cy="502920"/>
          </a:xfrm>
          <a:prstGeom prst="rect">
            <a:avLst/>
          </a:prstGeom>
          <a:noFill/>
          <a:ln/>
        </p:spPr>
        <p:txBody>
          <a:bodyPr wrap="square" lIns="0" tIns="0" rIns="0" bIns="0" rtlCol="0" anchor="ctr">
            <a:normAutofit/>
          </a:bodyPr>
          <a:lstStyle/>
          <a:p>
            <a:pPr marL="0" indent="0" algn="ctr">
              <a:buNone/>
            </a:pPr>
            <a:r>
              <a:rPr lang="en-US" sz="1800" b="1" dirty="0">
                <a:solidFill>
                  <a:srgbClr val="2980B9"/>
                </a:solidFill>
                <a:latin typeface="Arial" pitchFamily="34" charset="0"/>
                <a:ea typeface="Arial" pitchFamily="34" charset="-122"/>
                <a:cs typeface="Arial" pitchFamily="34" charset="-120"/>
              </a:rPr>
              <a:t>Hồ sơ đề xuất</a:t>
            </a:r>
            <a:endParaRPr lang="en-US" sz="1800" dirty="0"/>
          </a:p>
        </p:txBody>
      </p:sp>
      <p:sp>
        <p:nvSpPr>
          <p:cNvPr id="16" name="Shape 13"/>
          <p:cNvSpPr/>
          <p:nvPr/>
        </p:nvSpPr>
        <p:spPr>
          <a:xfrm>
            <a:off x="3337560" y="2450592"/>
            <a:ext cx="2304288" cy="896112"/>
          </a:xfrm>
          <a:prstGeom prst="roundRect">
            <a:avLst>
              <a:gd name="adj" fmla="val 4082"/>
            </a:avLst>
          </a:prstGeom>
          <a:solidFill>
            <a:srgbClr val="FFFFFF"/>
          </a:solidFill>
          <a:ln w="12700">
            <a:solidFill>
              <a:srgbClr val="15355F"/>
            </a:solidFill>
            <a:prstDash val="solid"/>
          </a:ln>
        </p:spPr>
      </p:sp>
      <p:sp>
        <p:nvSpPr>
          <p:cNvPr id="17" name="Text 14"/>
          <p:cNvSpPr txBox="1"/>
          <p:nvPr/>
        </p:nvSpPr>
        <p:spPr>
          <a:xfrm>
            <a:off x="3465576" y="2633472"/>
            <a:ext cx="2048256" cy="502920"/>
          </a:xfrm>
          <a:prstGeom prst="rect">
            <a:avLst/>
          </a:prstGeom>
          <a:noFill/>
          <a:ln/>
        </p:spPr>
        <p:txBody>
          <a:bodyPr wrap="square" lIns="0" tIns="0" rIns="0" bIns="0" rtlCol="0" anchor="ctr">
            <a:normAutofit/>
          </a:bodyPr>
          <a:lstStyle/>
          <a:p>
            <a:pPr marL="0" indent="0" algn="ctr">
              <a:buNone/>
            </a:pPr>
            <a:r>
              <a:rPr lang="en-US" sz="1800" b="1" dirty="0">
                <a:solidFill>
                  <a:srgbClr val="15355F"/>
                </a:solidFill>
                <a:latin typeface="Arial" pitchFamily="34" charset="0"/>
                <a:ea typeface="Arial" pitchFamily="34" charset="-122"/>
                <a:cs typeface="Arial" pitchFamily="34" charset="-120"/>
              </a:rPr>
              <a:t>Chuyên gia</a:t>
            </a:r>
            <a:endParaRPr lang="en-US" sz="1800" dirty="0"/>
          </a:p>
          <a:p>
            <a:pPr marL="0" indent="0" algn="ctr">
              <a:buNone/>
            </a:pPr>
            <a:r>
              <a:rPr lang="en-US" sz="1800" b="1" dirty="0">
                <a:solidFill>
                  <a:srgbClr val="15355F"/>
                </a:solidFill>
                <a:latin typeface="Arial" pitchFamily="34" charset="0"/>
                <a:ea typeface="Arial" pitchFamily="34" charset="-122"/>
                <a:cs typeface="Arial" pitchFamily="34" charset="-120"/>
              </a:rPr>
              <a:t>thẩm định</a:t>
            </a:r>
            <a:endParaRPr lang="en-US" sz="1800" dirty="0"/>
          </a:p>
        </p:txBody>
      </p:sp>
      <p:sp>
        <p:nvSpPr>
          <p:cNvPr id="18" name="Shape 15"/>
          <p:cNvSpPr/>
          <p:nvPr/>
        </p:nvSpPr>
        <p:spPr>
          <a:xfrm>
            <a:off x="8979408" y="2450592"/>
            <a:ext cx="2304288" cy="896112"/>
          </a:xfrm>
          <a:prstGeom prst="roundRect">
            <a:avLst>
              <a:gd name="adj" fmla="val 4082"/>
            </a:avLst>
          </a:prstGeom>
          <a:solidFill>
            <a:srgbClr val="FFFFFF"/>
          </a:solidFill>
          <a:ln w="12700">
            <a:solidFill>
              <a:srgbClr val="137A3D"/>
            </a:solidFill>
            <a:prstDash val="solid"/>
          </a:ln>
        </p:spPr>
      </p:sp>
      <p:sp>
        <p:nvSpPr>
          <p:cNvPr id="19" name="Text 16"/>
          <p:cNvSpPr txBox="1"/>
          <p:nvPr/>
        </p:nvSpPr>
        <p:spPr>
          <a:xfrm>
            <a:off x="9107424" y="2633472"/>
            <a:ext cx="2048256" cy="502920"/>
          </a:xfrm>
          <a:prstGeom prst="rect">
            <a:avLst/>
          </a:prstGeom>
          <a:noFill/>
          <a:ln/>
        </p:spPr>
        <p:txBody>
          <a:bodyPr wrap="square" lIns="0" tIns="0" rIns="0" bIns="0" rtlCol="0" anchor="ctr">
            <a:normAutofit/>
          </a:bodyPr>
          <a:lstStyle/>
          <a:p>
            <a:pPr marL="0" indent="0" algn="ctr">
              <a:buNone/>
            </a:pPr>
            <a:r>
              <a:rPr lang="en-US" sz="1800" b="1" dirty="0">
                <a:solidFill>
                  <a:srgbClr val="137A3D"/>
                </a:solidFill>
                <a:latin typeface="Arial" pitchFamily="34" charset="0"/>
                <a:ea typeface="Arial" pitchFamily="34" charset="-122"/>
                <a:cs typeface="Arial" pitchFamily="34" charset="-120"/>
              </a:rPr>
              <a:t>Ghi nhận có</a:t>
            </a:r>
            <a:endParaRPr lang="en-US" sz="1800" dirty="0"/>
          </a:p>
          <a:p>
            <a:pPr marL="0" indent="0" algn="ctr">
              <a:buNone/>
            </a:pPr>
            <a:r>
              <a:rPr lang="en-US" sz="1800" b="1" dirty="0">
                <a:solidFill>
                  <a:srgbClr val="137A3D"/>
                </a:solidFill>
                <a:latin typeface="Arial" pitchFamily="34" charset="0"/>
                <a:ea typeface="Arial" pitchFamily="34" charset="-122"/>
                <a:cs typeface="Arial" pitchFamily="34" charset="-120"/>
              </a:rPr>
              <a:t>thẩm quyền</a:t>
            </a:r>
            <a:endParaRPr lang="en-US" sz="1800" dirty="0"/>
          </a:p>
        </p:txBody>
      </p:sp>
      <p:sp>
        <p:nvSpPr>
          <p:cNvPr id="20" name="Shape 17"/>
          <p:cNvSpPr/>
          <p:nvPr/>
        </p:nvSpPr>
        <p:spPr>
          <a:xfrm>
            <a:off x="6217920" y="2286000"/>
            <a:ext cx="1755648" cy="1261872"/>
          </a:xfrm>
          <a:prstGeom prst="diamond">
            <a:avLst/>
          </a:prstGeom>
          <a:solidFill>
            <a:srgbClr val="FFF8ED"/>
          </a:solidFill>
          <a:ln w="12700">
            <a:solidFill>
              <a:srgbClr val="9A5B00"/>
            </a:solidFill>
            <a:prstDash val="solid"/>
          </a:ln>
        </p:spPr>
      </p:sp>
      <p:sp>
        <p:nvSpPr>
          <p:cNvPr id="21" name="Text 18"/>
          <p:cNvSpPr txBox="1"/>
          <p:nvPr/>
        </p:nvSpPr>
        <p:spPr>
          <a:xfrm>
            <a:off x="6565392" y="2633472"/>
            <a:ext cx="1060704" cy="530352"/>
          </a:xfrm>
          <a:prstGeom prst="rect">
            <a:avLst/>
          </a:prstGeom>
          <a:noFill/>
          <a:ln/>
        </p:spPr>
        <p:txBody>
          <a:bodyPr wrap="square" lIns="0" tIns="0" rIns="0" bIns="0" rtlCol="0" anchor="t">
            <a:normAutofit/>
          </a:bodyPr>
          <a:lstStyle/>
          <a:p>
            <a:pPr marL="0" indent="0" algn="ctr">
              <a:buNone/>
            </a:pPr>
            <a:r>
              <a:rPr lang="en-US" sz="1700" b="1" dirty="0">
                <a:solidFill>
                  <a:srgbClr val="9A5B00"/>
                </a:solidFill>
                <a:latin typeface="Arial" pitchFamily="34" charset="0"/>
                <a:ea typeface="Arial" pitchFamily="34" charset="-122"/>
                <a:cs typeface="Arial" pitchFamily="34" charset="-120"/>
              </a:rPr>
              <a:t>Đủ</a:t>
            </a:r>
            <a:endParaRPr lang="en-US" sz="1700" dirty="0"/>
          </a:p>
          <a:p>
            <a:pPr marL="0" indent="0" algn="ctr">
              <a:buNone/>
            </a:pPr>
            <a:r>
              <a:rPr lang="en-US" sz="1700" b="1" dirty="0">
                <a:solidFill>
                  <a:srgbClr val="9A5B00"/>
                </a:solidFill>
                <a:latin typeface="Arial" pitchFamily="34" charset="0"/>
                <a:ea typeface="Arial" pitchFamily="34" charset="-122"/>
                <a:cs typeface="Arial" pitchFamily="34" charset="-120"/>
              </a:rPr>
              <a:t>căn cứ?</a:t>
            </a:r>
            <a:endParaRPr lang="en-US" sz="1700" dirty="0"/>
          </a:p>
        </p:txBody>
      </p:sp>
      <p:sp>
        <p:nvSpPr>
          <p:cNvPr id="22" name="Shape 19"/>
          <p:cNvSpPr/>
          <p:nvPr/>
        </p:nvSpPr>
        <p:spPr>
          <a:xfrm>
            <a:off x="3090672" y="2898648"/>
            <a:ext cx="201168" cy="0"/>
          </a:xfrm>
          <a:prstGeom prst="line">
            <a:avLst/>
          </a:prstGeom>
          <a:noFill/>
          <a:ln w="12700">
            <a:solidFill>
              <a:srgbClr val="C9963A"/>
            </a:solidFill>
            <a:prstDash val="solid"/>
            <a:tailEnd type="triangle"/>
          </a:ln>
        </p:spPr>
      </p:sp>
      <p:sp>
        <p:nvSpPr>
          <p:cNvPr id="23" name="Shape 20"/>
          <p:cNvSpPr/>
          <p:nvPr/>
        </p:nvSpPr>
        <p:spPr>
          <a:xfrm>
            <a:off x="5678424" y="2898648"/>
            <a:ext cx="493776" cy="0"/>
          </a:xfrm>
          <a:prstGeom prst="line">
            <a:avLst/>
          </a:prstGeom>
          <a:noFill/>
          <a:ln w="12700">
            <a:solidFill>
              <a:srgbClr val="C9963A"/>
            </a:solidFill>
            <a:prstDash val="solid"/>
            <a:tailEnd type="triangle"/>
          </a:ln>
        </p:spPr>
      </p:sp>
      <p:sp>
        <p:nvSpPr>
          <p:cNvPr id="24" name="Shape 21"/>
          <p:cNvSpPr/>
          <p:nvPr/>
        </p:nvSpPr>
        <p:spPr>
          <a:xfrm>
            <a:off x="8010144" y="2898648"/>
            <a:ext cx="923544" cy="0"/>
          </a:xfrm>
          <a:prstGeom prst="line">
            <a:avLst/>
          </a:prstGeom>
          <a:noFill/>
          <a:ln w="12700">
            <a:solidFill>
              <a:srgbClr val="C9963A"/>
            </a:solidFill>
            <a:prstDash val="solid"/>
            <a:tailEnd type="triangle"/>
          </a:ln>
        </p:spPr>
      </p:sp>
      <p:sp>
        <p:nvSpPr>
          <p:cNvPr id="25" name="Text 22"/>
          <p:cNvSpPr txBox="1"/>
          <p:nvPr/>
        </p:nvSpPr>
        <p:spPr>
          <a:xfrm>
            <a:off x="8183880" y="2542032"/>
            <a:ext cx="502920" cy="228600"/>
          </a:xfrm>
          <a:prstGeom prst="rect">
            <a:avLst/>
          </a:prstGeom>
          <a:noFill/>
          <a:ln/>
        </p:spPr>
        <p:txBody>
          <a:bodyPr wrap="square" lIns="0" tIns="0" rIns="0" bIns="0" rtlCol="0" anchor="t">
            <a:normAutofit/>
          </a:bodyPr>
          <a:lstStyle/>
          <a:p>
            <a:pPr marL="0" indent="0" algn="ctr">
              <a:buNone/>
            </a:pPr>
            <a:r>
              <a:rPr lang="en-US" sz="1500" b="1" dirty="0">
                <a:solidFill>
                  <a:srgbClr val="137A3D"/>
                </a:solidFill>
                <a:latin typeface="Arial" pitchFamily="34" charset="0"/>
                <a:ea typeface="Arial" pitchFamily="34" charset="-122"/>
                <a:cs typeface="Arial" pitchFamily="34" charset="-120"/>
              </a:rPr>
              <a:t>Có</a:t>
            </a:r>
            <a:endParaRPr lang="en-US" sz="1500" dirty="0"/>
          </a:p>
        </p:txBody>
      </p:sp>
      <p:sp>
        <p:nvSpPr>
          <p:cNvPr id="26" name="Shape 23"/>
          <p:cNvSpPr/>
          <p:nvPr/>
        </p:nvSpPr>
        <p:spPr>
          <a:xfrm>
            <a:off x="7095744" y="3547872"/>
            <a:ext cx="0" cy="384048"/>
          </a:xfrm>
          <a:prstGeom prst="line">
            <a:avLst/>
          </a:prstGeom>
          <a:noFill/>
          <a:ln w="12700">
            <a:solidFill>
              <a:srgbClr val="9A5B00"/>
            </a:solidFill>
            <a:prstDash val="solid"/>
          </a:ln>
        </p:spPr>
      </p:sp>
      <p:sp>
        <p:nvSpPr>
          <p:cNvPr id="27" name="Shape 24"/>
          <p:cNvSpPr/>
          <p:nvPr/>
        </p:nvSpPr>
        <p:spPr>
          <a:xfrm>
            <a:off x="4489704" y="3931920"/>
            <a:ext cx="2606040" cy="0"/>
          </a:xfrm>
          <a:prstGeom prst="line">
            <a:avLst/>
          </a:prstGeom>
          <a:noFill/>
          <a:ln w="12700">
            <a:solidFill>
              <a:srgbClr val="9A5B00"/>
            </a:solidFill>
            <a:prstDash val="solid"/>
          </a:ln>
        </p:spPr>
      </p:sp>
      <p:sp>
        <p:nvSpPr>
          <p:cNvPr id="28" name="Shape 25"/>
          <p:cNvSpPr/>
          <p:nvPr/>
        </p:nvSpPr>
        <p:spPr>
          <a:xfrm>
            <a:off x="4489704" y="3383280"/>
            <a:ext cx="0" cy="548640"/>
          </a:xfrm>
          <a:prstGeom prst="line">
            <a:avLst/>
          </a:prstGeom>
          <a:noFill/>
          <a:ln w="12700">
            <a:solidFill>
              <a:srgbClr val="9A5B00"/>
            </a:solidFill>
            <a:prstDash val="solid"/>
            <a:headEnd type="triangle"/>
          </a:ln>
        </p:spPr>
      </p:sp>
      <p:sp>
        <p:nvSpPr>
          <p:cNvPr id="29" name="Text 26"/>
          <p:cNvSpPr txBox="1"/>
          <p:nvPr/>
        </p:nvSpPr>
        <p:spPr>
          <a:xfrm>
            <a:off x="7223760" y="3538728"/>
            <a:ext cx="658368" cy="219456"/>
          </a:xfrm>
          <a:prstGeom prst="rect">
            <a:avLst/>
          </a:prstGeom>
          <a:noFill/>
          <a:ln/>
        </p:spPr>
        <p:txBody>
          <a:bodyPr wrap="square" lIns="0" tIns="0" rIns="0" bIns="0" rtlCol="0" anchor="t">
            <a:normAutofit/>
          </a:bodyPr>
          <a:lstStyle/>
          <a:p>
            <a:pPr marL="0" indent="0" algn="l">
              <a:buNone/>
            </a:pPr>
            <a:r>
              <a:rPr lang="en-US" sz="1400" b="1" dirty="0">
                <a:solidFill>
                  <a:srgbClr val="9A5B00"/>
                </a:solidFill>
                <a:latin typeface="Arial" pitchFamily="34" charset="0"/>
                <a:ea typeface="Arial" pitchFamily="34" charset="-122"/>
                <a:cs typeface="Arial" pitchFamily="34" charset="-120"/>
              </a:rPr>
              <a:t>Chưa</a:t>
            </a:r>
            <a:endParaRPr lang="en-US" sz="1400" dirty="0"/>
          </a:p>
        </p:txBody>
      </p:sp>
      <p:sp>
        <p:nvSpPr>
          <p:cNvPr id="30" name="Text 27"/>
          <p:cNvSpPr txBox="1"/>
          <p:nvPr/>
        </p:nvSpPr>
        <p:spPr>
          <a:xfrm>
            <a:off x="4681728" y="3593592"/>
            <a:ext cx="2212848" cy="237744"/>
          </a:xfrm>
          <a:prstGeom prst="rect">
            <a:avLst/>
          </a:prstGeom>
          <a:noFill/>
          <a:ln/>
        </p:spPr>
        <p:txBody>
          <a:bodyPr wrap="square" lIns="0" tIns="0" rIns="0" bIns="0" rtlCol="0" anchor="t">
            <a:normAutofit/>
          </a:bodyPr>
          <a:lstStyle/>
          <a:p>
            <a:pPr marL="0" indent="0" algn="ctr">
              <a:buNone/>
            </a:pPr>
            <a:r>
              <a:rPr lang="en-US" sz="1500" b="1" dirty="0">
                <a:solidFill>
                  <a:srgbClr val="9A5B00"/>
                </a:solidFill>
                <a:latin typeface="Arial" pitchFamily="34" charset="0"/>
                <a:ea typeface="Arial" pitchFamily="34" charset="-122"/>
                <a:cs typeface="Arial" pitchFamily="34" charset="-120"/>
              </a:rPr>
              <a:t>Bổ sung / chỉnh sửa</a:t>
            </a:r>
            <a:endParaRPr lang="en-US" sz="1500" dirty="0"/>
          </a:p>
        </p:txBody>
      </p:sp>
      <p:sp>
        <p:nvSpPr>
          <p:cNvPr id="31" name="Shape 28"/>
          <p:cNvSpPr/>
          <p:nvPr/>
        </p:nvSpPr>
        <p:spPr>
          <a:xfrm>
            <a:off x="749808" y="4261104"/>
            <a:ext cx="5157216" cy="795528"/>
          </a:xfrm>
          <a:prstGeom prst="roundRect">
            <a:avLst>
              <a:gd name="adj" fmla="val 4598"/>
            </a:avLst>
          </a:prstGeom>
          <a:solidFill>
            <a:srgbClr val="FFFFFF"/>
          </a:solidFill>
          <a:ln w="12700">
            <a:solidFill>
              <a:srgbClr val="D7DEE8"/>
            </a:solidFill>
            <a:prstDash val="solid"/>
          </a:ln>
        </p:spPr>
      </p:sp>
      <p:sp>
        <p:nvSpPr>
          <p:cNvPr id="32" name="Text 29"/>
          <p:cNvSpPr txBox="1"/>
          <p:nvPr/>
        </p:nvSpPr>
        <p:spPr>
          <a:xfrm>
            <a:off x="914400" y="4352544"/>
            <a:ext cx="2999232" cy="228600"/>
          </a:xfrm>
          <a:prstGeom prst="rect">
            <a:avLst/>
          </a:prstGeom>
          <a:noFill/>
          <a:ln/>
        </p:spPr>
        <p:txBody>
          <a:bodyPr wrap="square" lIns="0" tIns="0" rIns="0" bIns="0" rtlCol="0" anchor="t">
            <a:normAutofit/>
          </a:bodyPr>
          <a:lstStyle/>
          <a:p>
            <a:pPr marL="0" indent="0" algn="l">
              <a:buNone/>
            </a:pPr>
            <a:r>
              <a:rPr lang="en-US" sz="1400" b="1" dirty="0">
                <a:solidFill>
                  <a:srgbClr val="07182F"/>
                </a:solidFill>
                <a:latin typeface="Arial" pitchFamily="34" charset="0"/>
                <a:ea typeface="Arial" pitchFamily="34" charset="-122"/>
                <a:cs typeface="Arial" pitchFamily="34" charset="-120"/>
              </a:rPr>
              <a:t>Ký xác nhận chuẩn đầu ra</a:t>
            </a:r>
            <a:endParaRPr lang="en-US" sz="1400" dirty="0"/>
          </a:p>
        </p:txBody>
      </p:sp>
      <p:sp>
        <p:nvSpPr>
          <p:cNvPr id="33" name="Text 30"/>
          <p:cNvSpPr txBox="1"/>
          <p:nvPr/>
        </p:nvSpPr>
        <p:spPr>
          <a:xfrm>
            <a:off x="4105656" y="4334256"/>
            <a:ext cx="1572768" cy="292608"/>
          </a:xfrm>
          <a:prstGeom prst="rect">
            <a:avLst/>
          </a:prstGeom>
          <a:noFill/>
          <a:ln/>
        </p:spPr>
        <p:txBody>
          <a:bodyPr wrap="square" lIns="0" tIns="0" rIns="0" bIns="0" rtlCol="0" anchor="t">
            <a:normAutofit/>
          </a:bodyPr>
          <a:lstStyle/>
          <a:p>
            <a:pPr marL="0" indent="0" algn="r">
              <a:buNone/>
            </a:pPr>
            <a:r>
              <a:rPr lang="en-US" sz="1130" b="1" dirty="0">
                <a:solidFill>
                  <a:srgbClr val="9A5B00"/>
                </a:solidFill>
                <a:latin typeface="Arial" pitchFamily="34" charset="0"/>
                <a:ea typeface="Arial" pitchFamily="34" charset="-122"/>
                <a:cs typeface="Arial" pitchFamily="34" charset="-120"/>
              </a:rPr>
              <a:t>0/4</a:t>
            </a:r>
            <a:endParaRPr lang="en-US" sz="1130" dirty="0"/>
          </a:p>
        </p:txBody>
      </p:sp>
      <p:sp>
        <p:nvSpPr>
          <p:cNvPr id="34" name="Text 31"/>
          <p:cNvSpPr txBox="1"/>
          <p:nvPr/>
        </p:nvSpPr>
        <p:spPr>
          <a:xfrm>
            <a:off x="914400" y="4663440"/>
            <a:ext cx="4828032" cy="274320"/>
          </a:xfrm>
          <a:prstGeom prst="rect">
            <a:avLst/>
          </a:prstGeom>
          <a:noFill/>
          <a:ln/>
        </p:spPr>
        <p:txBody>
          <a:bodyPr wrap="square" lIns="0" tIns="0" rIns="0" bIns="0" rtlCol="0" anchor="t">
            <a:normAutofit/>
          </a:bodyPr>
          <a:lstStyle/>
          <a:p>
            <a:pPr marL="0" indent="0" algn="l">
              <a:buNone/>
            </a:pPr>
            <a:r>
              <a:rPr lang="en-US" sz="1280" dirty="0">
                <a:solidFill>
                  <a:srgbClr val="243247"/>
                </a:solidFill>
                <a:latin typeface="Arial" pitchFamily="34" charset="0"/>
                <a:ea typeface="Arial" pitchFamily="34" charset="-122"/>
                <a:cs typeface="Arial" pitchFamily="34" charset="-120"/>
              </a:rPr>
              <a:t>Xác nhận hoặc sửa từng chuẩn đầu ra dự kiến</a:t>
            </a:r>
            <a:endParaRPr lang="en-US" sz="1280" dirty="0"/>
          </a:p>
        </p:txBody>
      </p:sp>
      <p:sp>
        <p:nvSpPr>
          <p:cNvPr id="35" name="Shape 32"/>
          <p:cNvSpPr/>
          <p:nvPr/>
        </p:nvSpPr>
        <p:spPr>
          <a:xfrm>
            <a:off x="6281928" y="4261104"/>
            <a:ext cx="5157216" cy="795528"/>
          </a:xfrm>
          <a:prstGeom prst="roundRect">
            <a:avLst>
              <a:gd name="adj" fmla="val 4598"/>
            </a:avLst>
          </a:prstGeom>
          <a:solidFill>
            <a:srgbClr val="FFFFFF"/>
          </a:solidFill>
          <a:ln w="12700">
            <a:solidFill>
              <a:srgbClr val="D7DEE8"/>
            </a:solidFill>
            <a:prstDash val="solid"/>
          </a:ln>
        </p:spPr>
      </p:sp>
      <p:sp>
        <p:nvSpPr>
          <p:cNvPr id="36" name="Text 33"/>
          <p:cNvSpPr txBox="1"/>
          <p:nvPr/>
        </p:nvSpPr>
        <p:spPr>
          <a:xfrm>
            <a:off x="6446520" y="4352544"/>
            <a:ext cx="2999232" cy="228600"/>
          </a:xfrm>
          <a:prstGeom prst="rect">
            <a:avLst/>
          </a:prstGeom>
          <a:noFill/>
          <a:ln/>
        </p:spPr>
        <p:txBody>
          <a:bodyPr wrap="square" lIns="0" tIns="0" rIns="0" bIns="0" rtlCol="0" anchor="t">
            <a:normAutofit/>
          </a:bodyPr>
          <a:lstStyle/>
          <a:p>
            <a:pPr marL="0" indent="0" algn="l">
              <a:buNone/>
            </a:pPr>
            <a:r>
              <a:rPr lang="en-US" sz="1400" b="1" dirty="0">
                <a:solidFill>
                  <a:srgbClr val="07182F"/>
                </a:solidFill>
                <a:latin typeface="Arial" pitchFamily="34" charset="0"/>
                <a:ea typeface="Arial" pitchFamily="34" charset="-122"/>
                <a:cs typeface="Arial" pitchFamily="34" charset="-120"/>
              </a:rPr>
              <a:t>Đánh giá tính đúng khoa học</a:t>
            </a:r>
            <a:endParaRPr lang="en-US" sz="1400" dirty="0"/>
          </a:p>
        </p:txBody>
      </p:sp>
      <p:sp>
        <p:nvSpPr>
          <p:cNvPr id="37" name="Text 34"/>
          <p:cNvSpPr txBox="1"/>
          <p:nvPr/>
        </p:nvSpPr>
        <p:spPr>
          <a:xfrm>
            <a:off x="9637776" y="4334256"/>
            <a:ext cx="1572768" cy="292608"/>
          </a:xfrm>
          <a:prstGeom prst="rect">
            <a:avLst/>
          </a:prstGeom>
          <a:noFill/>
          <a:ln/>
        </p:spPr>
        <p:txBody>
          <a:bodyPr wrap="square" lIns="0" tIns="0" rIns="0" bIns="0" rtlCol="0" anchor="t">
            <a:normAutofit/>
          </a:bodyPr>
          <a:lstStyle/>
          <a:p>
            <a:pPr marL="0" indent="0" algn="r">
              <a:buNone/>
            </a:pPr>
            <a:r>
              <a:rPr lang="en-US" sz="1130" b="1" dirty="0">
                <a:solidFill>
                  <a:srgbClr val="9A5B00"/>
                </a:solidFill>
                <a:latin typeface="Arial" pitchFamily="34" charset="0"/>
                <a:ea typeface="Arial" pitchFamily="34" charset="-122"/>
                <a:cs typeface="Arial" pitchFamily="34" charset="-120"/>
              </a:rPr>
              <a:t>Chờ thẩm định</a:t>
            </a:r>
            <a:endParaRPr lang="en-US" sz="1130" dirty="0"/>
          </a:p>
        </p:txBody>
      </p:sp>
      <p:sp>
        <p:nvSpPr>
          <p:cNvPr id="38" name="Text 35"/>
          <p:cNvSpPr txBox="1"/>
          <p:nvPr/>
        </p:nvSpPr>
        <p:spPr>
          <a:xfrm>
            <a:off x="6446520" y="4663440"/>
            <a:ext cx="4828032" cy="274320"/>
          </a:xfrm>
          <a:prstGeom prst="rect">
            <a:avLst/>
          </a:prstGeom>
          <a:noFill/>
          <a:ln/>
        </p:spPr>
        <p:txBody>
          <a:bodyPr wrap="square" lIns="0" tIns="0" rIns="0" bIns="0" rtlCol="0" anchor="t">
            <a:normAutofit/>
          </a:bodyPr>
          <a:lstStyle/>
          <a:p>
            <a:pPr marL="0" indent="0" algn="l">
              <a:buNone/>
            </a:pPr>
            <a:r>
              <a:rPr lang="en-US" sz="1280" dirty="0">
                <a:solidFill>
                  <a:srgbClr val="243247"/>
                </a:solidFill>
                <a:latin typeface="Arial" pitchFamily="34" charset="0"/>
                <a:ea typeface="Arial" pitchFamily="34" charset="-122"/>
                <a:cs typeface="Arial" pitchFamily="34" charset="-120"/>
              </a:rPr>
              <a:t>Ghi phạm vi, nội dung đã xem, nhận xét và đề nghị</a:t>
            </a:r>
            <a:endParaRPr lang="en-US" sz="1280" dirty="0"/>
          </a:p>
        </p:txBody>
      </p:sp>
      <p:sp>
        <p:nvSpPr>
          <p:cNvPr id="39" name="Shape 36"/>
          <p:cNvSpPr/>
          <p:nvPr/>
        </p:nvSpPr>
        <p:spPr>
          <a:xfrm>
            <a:off x="749808" y="5184648"/>
            <a:ext cx="5157216" cy="795528"/>
          </a:xfrm>
          <a:prstGeom prst="roundRect">
            <a:avLst>
              <a:gd name="adj" fmla="val 4598"/>
            </a:avLst>
          </a:prstGeom>
          <a:solidFill>
            <a:srgbClr val="FFFFFF"/>
          </a:solidFill>
          <a:ln w="12700">
            <a:solidFill>
              <a:srgbClr val="D7DEE8"/>
            </a:solidFill>
            <a:prstDash val="solid"/>
          </a:ln>
        </p:spPr>
      </p:sp>
      <p:sp>
        <p:nvSpPr>
          <p:cNvPr id="40" name="Text 37"/>
          <p:cNvSpPr txBox="1"/>
          <p:nvPr/>
        </p:nvSpPr>
        <p:spPr>
          <a:xfrm>
            <a:off x="914400" y="5276088"/>
            <a:ext cx="2999232" cy="228600"/>
          </a:xfrm>
          <a:prstGeom prst="rect">
            <a:avLst/>
          </a:prstGeom>
          <a:noFill/>
          <a:ln/>
        </p:spPr>
        <p:txBody>
          <a:bodyPr wrap="square" lIns="0" tIns="0" rIns="0" bIns="0" rtlCol="0" anchor="t">
            <a:normAutofit/>
          </a:bodyPr>
          <a:lstStyle/>
          <a:p>
            <a:pPr marL="0" indent="0" algn="l">
              <a:buNone/>
            </a:pPr>
            <a:r>
              <a:rPr lang="en-US" sz="1400" b="1" dirty="0">
                <a:solidFill>
                  <a:srgbClr val="07182F"/>
                </a:solidFill>
                <a:latin typeface="Arial" pitchFamily="34" charset="0"/>
                <a:ea typeface="Arial" pitchFamily="34" charset="-122"/>
                <a:cs typeface="Arial" pitchFamily="34" charset="-120"/>
              </a:rPr>
              <a:t>Đánh giá cách tổ chức học</a:t>
            </a:r>
            <a:endParaRPr lang="en-US" sz="1400" dirty="0"/>
          </a:p>
        </p:txBody>
      </p:sp>
      <p:sp>
        <p:nvSpPr>
          <p:cNvPr id="41" name="Text 38"/>
          <p:cNvSpPr txBox="1"/>
          <p:nvPr/>
        </p:nvSpPr>
        <p:spPr>
          <a:xfrm>
            <a:off x="4105656" y="5257800"/>
            <a:ext cx="1572768" cy="292608"/>
          </a:xfrm>
          <a:prstGeom prst="rect">
            <a:avLst/>
          </a:prstGeom>
          <a:noFill/>
          <a:ln/>
        </p:spPr>
        <p:txBody>
          <a:bodyPr wrap="square" lIns="0" tIns="0" rIns="0" bIns="0" rtlCol="0" anchor="t">
            <a:normAutofit/>
          </a:bodyPr>
          <a:lstStyle/>
          <a:p>
            <a:pPr marL="0" indent="0" algn="r">
              <a:buNone/>
            </a:pPr>
            <a:r>
              <a:rPr lang="en-US" sz="1130" b="1" dirty="0">
                <a:solidFill>
                  <a:srgbClr val="9A5B00"/>
                </a:solidFill>
                <a:latin typeface="Arial" pitchFamily="34" charset="0"/>
                <a:ea typeface="Arial" pitchFamily="34" charset="-122"/>
                <a:cs typeface="Arial" pitchFamily="34" charset="-120"/>
              </a:rPr>
              <a:t>Chưa có mục ghi nhận</a:t>
            </a:r>
            <a:endParaRPr lang="en-US" sz="1130" dirty="0"/>
          </a:p>
        </p:txBody>
      </p:sp>
      <p:sp>
        <p:nvSpPr>
          <p:cNvPr id="42" name="Text 39"/>
          <p:cNvSpPr txBox="1"/>
          <p:nvPr/>
        </p:nvSpPr>
        <p:spPr>
          <a:xfrm>
            <a:off x="914400" y="5586984"/>
            <a:ext cx="4828032" cy="274320"/>
          </a:xfrm>
          <a:prstGeom prst="rect">
            <a:avLst/>
          </a:prstGeom>
          <a:noFill/>
          <a:ln/>
        </p:spPr>
        <p:txBody>
          <a:bodyPr wrap="square" lIns="0" tIns="0" rIns="0" bIns="0" rtlCol="0" anchor="t">
            <a:normAutofit/>
          </a:bodyPr>
          <a:lstStyle/>
          <a:p>
            <a:pPr marL="0" indent="0" algn="l">
              <a:buNone/>
            </a:pPr>
            <a:r>
              <a:rPr lang="en-US" sz="1280" dirty="0">
                <a:solidFill>
                  <a:srgbClr val="243247"/>
                </a:solidFill>
                <a:latin typeface="Arial" pitchFamily="34" charset="0"/>
                <a:ea typeface="Arial" pitchFamily="34" charset="-122"/>
                <a:cs typeface="Arial" pitchFamily="34" charset="-120"/>
              </a:rPr>
              <a:t>Xem vòng học, cách giải thích và phản hồi tự kiểm tra</a:t>
            </a:r>
            <a:endParaRPr lang="en-US" sz="1280" dirty="0"/>
          </a:p>
        </p:txBody>
      </p:sp>
      <p:sp>
        <p:nvSpPr>
          <p:cNvPr id="43" name="Shape 40"/>
          <p:cNvSpPr/>
          <p:nvPr/>
        </p:nvSpPr>
        <p:spPr>
          <a:xfrm>
            <a:off x="6281928" y="5184648"/>
            <a:ext cx="5157216" cy="795528"/>
          </a:xfrm>
          <a:prstGeom prst="roundRect">
            <a:avLst>
              <a:gd name="adj" fmla="val 4598"/>
            </a:avLst>
          </a:prstGeom>
          <a:solidFill>
            <a:srgbClr val="FFFFFF"/>
          </a:solidFill>
          <a:ln w="12700">
            <a:solidFill>
              <a:srgbClr val="D7DEE8"/>
            </a:solidFill>
            <a:prstDash val="solid"/>
          </a:ln>
        </p:spPr>
      </p:sp>
      <p:sp>
        <p:nvSpPr>
          <p:cNvPr id="44" name="Text 41"/>
          <p:cNvSpPr txBox="1"/>
          <p:nvPr/>
        </p:nvSpPr>
        <p:spPr>
          <a:xfrm>
            <a:off x="6446520" y="5276088"/>
            <a:ext cx="2999232" cy="228600"/>
          </a:xfrm>
          <a:prstGeom prst="rect">
            <a:avLst/>
          </a:prstGeom>
          <a:noFill/>
          <a:ln/>
        </p:spPr>
        <p:txBody>
          <a:bodyPr wrap="square" lIns="0" tIns="0" rIns="0" bIns="0" rtlCol="0" anchor="t">
            <a:normAutofit/>
          </a:bodyPr>
          <a:lstStyle/>
          <a:p>
            <a:pPr marL="0" indent="0" algn="l">
              <a:buNone/>
            </a:pPr>
            <a:r>
              <a:rPr lang="en-US" sz="1400" b="1" dirty="0">
                <a:solidFill>
                  <a:srgbClr val="07182F"/>
                </a:solidFill>
                <a:latin typeface="Arial" pitchFamily="34" charset="0"/>
                <a:ea typeface="Arial" pitchFamily="34" charset="-122"/>
                <a:cs typeface="Arial" pitchFamily="34" charset="-120"/>
              </a:rPr>
              <a:t>Ý kiến của Hội đồng</a:t>
            </a:r>
            <a:endParaRPr lang="en-US" sz="1400" dirty="0"/>
          </a:p>
        </p:txBody>
      </p:sp>
      <p:sp>
        <p:nvSpPr>
          <p:cNvPr id="45" name="Text 42"/>
          <p:cNvSpPr txBox="1"/>
          <p:nvPr/>
        </p:nvSpPr>
        <p:spPr>
          <a:xfrm>
            <a:off x="9637776" y="5257800"/>
            <a:ext cx="1572768" cy="292608"/>
          </a:xfrm>
          <a:prstGeom prst="rect">
            <a:avLst/>
          </a:prstGeom>
          <a:noFill/>
          <a:ln/>
        </p:spPr>
        <p:txBody>
          <a:bodyPr wrap="square" lIns="0" tIns="0" rIns="0" bIns="0" rtlCol="0" anchor="t">
            <a:normAutofit/>
          </a:bodyPr>
          <a:lstStyle/>
          <a:p>
            <a:pPr marL="0" indent="0" algn="r">
              <a:buNone/>
            </a:pPr>
            <a:r>
              <a:rPr lang="en-US" sz="1130" b="1" dirty="0">
                <a:solidFill>
                  <a:srgbClr val="9A5B00"/>
                </a:solidFill>
                <a:latin typeface="Arial" pitchFamily="34" charset="0"/>
                <a:ea typeface="Arial" pitchFamily="34" charset="-122"/>
                <a:cs typeface="Arial" pitchFamily="34" charset="-120"/>
              </a:rPr>
              <a:t>Chưa có mục ghi nhận</a:t>
            </a:r>
            <a:endParaRPr lang="en-US" sz="1130" dirty="0"/>
          </a:p>
        </p:txBody>
      </p:sp>
      <p:sp>
        <p:nvSpPr>
          <p:cNvPr id="46" name="Text 43"/>
          <p:cNvSpPr txBox="1"/>
          <p:nvPr/>
        </p:nvSpPr>
        <p:spPr>
          <a:xfrm>
            <a:off x="6446520" y="5586984"/>
            <a:ext cx="4828032" cy="274320"/>
          </a:xfrm>
          <a:prstGeom prst="rect">
            <a:avLst/>
          </a:prstGeom>
          <a:noFill/>
          <a:ln/>
        </p:spPr>
        <p:txBody>
          <a:bodyPr wrap="square" lIns="0" tIns="0" rIns="0" bIns="0" rtlCol="0" anchor="t">
            <a:normAutofit/>
          </a:bodyPr>
          <a:lstStyle/>
          <a:p>
            <a:pPr marL="0" indent="0" algn="l">
              <a:buNone/>
            </a:pPr>
            <a:r>
              <a:rPr lang="en-US" sz="1280" dirty="0">
                <a:solidFill>
                  <a:srgbClr val="243247"/>
                </a:solidFill>
                <a:latin typeface="Arial" pitchFamily="34" charset="0"/>
                <a:ea typeface="Arial" pitchFamily="34" charset="-122"/>
                <a:cs typeface="Arial" pitchFamily="34" charset="-120"/>
              </a:rPr>
              <a:t>Ghi kết quả được công nhận và nội dung cần hoàn thiện</a:t>
            </a:r>
            <a:endParaRPr lang="en-US" sz="12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PHỤ LỤC / DỰ PHÒNG</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Phụ lục · Trạng thái kỹ thuật và phát hành</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17</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Tổng hợp 24 cổng: 11 đạt · 9 không đạt · 4 chưa thể thực hiện. Snapshot nền 2026-09-21; bằng chứng mô phỏng cập nhật 2026-09-25.</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b="1" dirty="0">
                <a:solidFill>
                  <a:srgbClr val="5B6B80"/>
                </a:solidFill>
                <a:latin typeface="Arial" pitchFamily="34" charset="0"/>
                <a:ea typeface="Arial" pitchFamily="34" charset="-122"/>
                <a:cs typeface="Arial" pitchFamily="34" charset="-120"/>
              </a:rPr>
              <a:t>PHỤ LỤC / DỰ PHÒNG</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PL-TRANG-THAI-KY-THUAT</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17</a:t>
            </a:r>
            <a:endParaRPr lang="en-US" sz="820" dirty="0"/>
          </a:p>
        </p:txBody>
      </p:sp>
      <p:sp>
        <p:nvSpPr>
          <p:cNvPr id="13" name="Shape 10"/>
          <p:cNvSpPr/>
          <p:nvPr/>
        </p:nvSpPr>
        <p:spPr>
          <a:xfrm>
            <a:off x="658368" y="2029968"/>
            <a:ext cx="1737360" cy="1060704"/>
          </a:xfrm>
          <a:prstGeom prst="roundRect">
            <a:avLst>
              <a:gd name="adj" fmla="val 3448"/>
            </a:avLst>
          </a:prstGeom>
          <a:solidFill>
            <a:srgbClr val="FFFFFF"/>
          </a:solidFill>
          <a:ln w="12700">
            <a:solidFill>
              <a:srgbClr val="D7DEE8"/>
            </a:solidFill>
            <a:prstDash val="solid"/>
          </a:ln>
        </p:spPr>
      </p:sp>
      <p:sp>
        <p:nvSpPr>
          <p:cNvPr id="14" name="Text 11"/>
          <p:cNvSpPr txBox="1"/>
          <p:nvPr/>
        </p:nvSpPr>
        <p:spPr>
          <a:xfrm>
            <a:off x="749808" y="2139696"/>
            <a:ext cx="1554480" cy="457200"/>
          </a:xfrm>
          <a:prstGeom prst="rect">
            <a:avLst/>
          </a:prstGeom>
          <a:noFill/>
          <a:ln/>
        </p:spPr>
        <p:txBody>
          <a:bodyPr wrap="square" lIns="0" tIns="0" rIns="0" bIns="0" rtlCol="0" anchor="ctr">
            <a:normAutofit/>
          </a:bodyPr>
          <a:lstStyle/>
          <a:p>
            <a:pPr marL="0" indent="0" algn="ctr">
              <a:buNone/>
            </a:pPr>
            <a:r>
              <a:rPr lang="en-US" sz="3200" b="1" dirty="0">
                <a:solidFill>
                  <a:srgbClr val="0D2447"/>
                </a:solidFill>
                <a:latin typeface="Arial" pitchFamily="34" charset="0"/>
                <a:ea typeface="Arial" pitchFamily="34" charset="-122"/>
                <a:cs typeface="Arial" pitchFamily="34" charset="-120"/>
              </a:rPr>
              <a:t>11</a:t>
            </a:r>
            <a:endParaRPr lang="en-US" sz="3200" dirty="0"/>
          </a:p>
        </p:txBody>
      </p:sp>
      <p:sp>
        <p:nvSpPr>
          <p:cNvPr id="15" name="Text 12"/>
          <p:cNvSpPr txBox="1"/>
          <p:nvPr/>
        </p:nvSpPr>
        <p:spPr>
          <a:xfrm>
            <a:off x="749808" y="2697480"/>
            <a:ext cx="1554480" cy="237744"/>
          </a:xfrm>
          <a:prstGeom prst="rect">
            <a:avLst/>
          </a:prstGeom>
          <a:noFill/>
          <a:ln/>
        </p:spPr>
        <p:txBody>
          <a:bodyPr wrap="square" lIns="0" tIns="0" rIns="0" bIns="0" rtlCol="0" anchor="ctr">
            <a:normAutofit/>
          </a:bodyPr>
          <a:lstStyle/>
          <a:p>
            <a:pPr marL="0" indent="0" algn="ctr">
              <a:buNone/>
            </a:pPr>
            <a:r>
              <a:rPr lang="en-US" sz="1200" dirty="0">
                <a:solidFill>
                  <a:srgbClr val="5B6B80"/>
                </a:solidFill>
                <a:latin typeface="Arial" pitchFamily="34" charset="0"/>
                <a:ea typeface="Arial" pitchFamily="34" charset="-122"/>
                <a:cs typeface="Arial" pitchFamily="34" charset="-120"/>
              </a:rPr>
              <a:t>điều kiện đạt</a:t>
            </a:r>
            <a:endParaRPr lang="en-US" sz="1200" dirty="0"/>
          </a:p>
        </p:txBody>
      </p:sp>
      <p:sp>
        <p:nvSpPr>
          <p:cNvPr id="16" name="Shape 13"/>
          <p:cNvSpPr/>
          <p:nvPr/>
        </p:nvSpPr>
        <p:spPr>
          <a:xfrm>
            <a:off x="2651760" y="2029968"/>
            <a:ext cx="1737360" cy="1060704"/>
          </a:xfrm>
          <a:prstGeom prst="roundRect">
            <a:avLst>
              <a:gd name="adj" fmla="val 3448"/>
            </a:avLst>
          </a:prstGeom>
          <a:solidFill>
            <a:srgbClr val="FFFFFF"/>
          </a:solidFill>
          <a:ln w="12700">
            <a:solidFill>
              <a:srgbClr val="D7DEE8"/>
            </a:solidFill>
            <a:prstDash val="solid"/>
          </a:ln>
        </p:spPr>
      </p:sp>
      <p:sp>
        <p:nvSpPr>
          <p:cNvPr id="17" name="Text 14"/>
          <p:cNvSpPr txBox="1"/>
          <p:nvPr/>
        </p:nvSpPr>
        <p:spPr>
          <a:xfrm>
            <a:off x="2743200" y="2139696"/>
            <a:ext cx="1554480" cy="457200"/>
          </a:xfrm>
          <a:prstGeom prst="rect">
            <a:avLst/>
          </a:prstGeom>
          <a:noFill/>
          <a:ln/>
        </p:spPr>
        <p:txBody>
          <a:bodyPr wrap="square" lIns="0" tIns="0" rIns="0" bIns="0" rtlCol="0" anchor="ctr">
            <a:normAutofit/>
          </a:bodyPr>
          <a:lstStyle/>
          <a:p>
            <a:pPr marL="0" indent="0" algn="ctr">
              <a:buNone/>
            </a:pPr>
            <a:r>
              <a:rPr lang="en-US" sz="3200" b="1" dirty="0">
                <a:solidFill>
                  <a:srgbClr val="0D2447"/>
                </a:solidFill>
                <a:latin typeface="Arial" pitchFamily="34" charset="0"/>
                <a:ea typeface="Arial" pitchFamily="34" charset="-122"/>
                <a:cs typeface="Arial" pitchFamily="34" charset="-120"/>
              </a:rPr>
              <a:t>9</a:t>
            </a:r>
            <a:endParaRPr lang="en-US" sz="3200" dirty="0"/>
          </a:p>
        </p:txBody>
      </p:sp>
      <p:sp>
        <p:nvSpPr>
          <p:cNvPr id="18" name="Text 15"/>
          <p:cNvSpPr txBox="1"/>
          <p:nvPr/>
        </p:nvSpPr>
        <p:spPr>
          <a:xfrm>
            <a:off x="2743200" y="2697480"/>
            <a:ext cx="1554480" cy="237744"/>
          </a:xfrm>
          <a:prstGeom prst="rect">
            <a:avLst/>
          </a:prstGeom>
          <a:noFill/>
          <a:ln/>
        </p:spPr>
        <p:txBody>
          <a:bodyPr wrap="square" lIns="0" tIns="0" rIns="0" bIns="0" rtlCol="0" anchor="ctr">
            <a:normAutofit/>
          </a:bodyPr>
          <a:lstStyle/>
          <a:p>
            <a:pPr marL="0" indent="0" algn="ctr">
              <a:buNone/>
            </a:pPr>
            <a:r>
              <a:rPr lang="en-US" sz="1200" dirty="0">
                <a:solidFill>
                  <a:srgbClr val="5B6B80"/>
                </a:solidFill>
                <a:latin typeface="Arial" pitchFamily="34" charset="0"/>
                <a:ea typeface="Arial" pitchFamily="34" charset="-122"/>
                <a:cs typeface="Arial" pitchFamily="34" charset="-120"/>
              </a:rPr>
              <a:t>điều kiện không đạt</a:t>
            </a:r>
            <a:endParaRPr lang="en-US" sz="1200" dirty="0"/>
          </a:p>
        </p:txBody>
      </p:sp>
      <p:sp>
        <p:nvSpPr>
          <p:cNvPr id="19" name="Shape 16"/>
          <p:cNvSpPr/>
          <p:nvPr/>
        </p:nvSpPr>
        <p:spPr>
          <a:xfrm>
            <a:off x="4645152" y="2029968"/>
            <a:ext cx="1737360" cy="1060704"/>
          </a:xfrm>
          <a:prstGeom prst="roundRect">
            <a:avLst>
              <a:gd name="adj" fmla="val 3448"/>
            </a:avLst>
          </a:prstGeom>
          <a:solidFill>
            <a:srgbClr val="FFFFFF"/>
          </a:solidFill>
          <a:ln w="12700">
            <a:solidFill>
              <a:srgbClr val="D7DEE8"/>
            </a:solidFill>
            <a:prstDash val="solid"/>
          </a:ln>
        </p:spPr>
      </p:sp>
      <p:sp>
        <p:nvSpPr>
          <p:cNvPr id="20" name="Text 17"/>
          <p:cNvSpPr txBox="1"/>
          <p:nvPr/>
        </p:nvSpPr>
        <p:spPr>
          <a:xfrm>
            <a:off x="4736592" y="2139696"/>
            <a:ext cx="1554480" cy="457200"/>
          </a:xfrm>
          <a:prstGeom prst="rect">
            <a:avLst/>
          </a:prstGeom>
          <a:noFill/>
          <a:ln/>
        </p:spPr>
        <p:txBody>
          <a:bodyPr wrap="square" lIns="0" tIns="0" rIns="0" bIns="0" rtlCol="0" anchor="ctr">
            <a:normAutofit/>
          </a:bodyPr>
          <a:lstStyle/>
          <a:p>
            <a:pPr marL="0" indent="0" algn="ctr">
              <a:buNone/>
            </a:pPr>
            <a:r>
              <a:rPr lang="en-US" sz="3200" b="1" dirty="0">
                <a:solidFill>
                  <a:srgbClr val="137A3D"/>
                </a:solidFill>
                <a:latin typeface="Arial" pitchFamily="34" charset="0"/>
                <a:ea typeface="Arial" pitchFamily="34" charset="-122"/>
                <a:cs typeface="Arial" pitchFamily="34" charset="-120"/>
              </a:rPr>
              <a:t>4</a:t>
            </a:r>
            <a:endParaRPr lang="en-US" sz="3200" dirty="0"/>
          </a:p>
        </p:txBody>
      </p:sp>
      <p:sp>
        <p:nvSpPr>
          <p:cNvPr id="21" name="Text 18"/>
          <p:cNvSpPr txBox="1"/>
          <p:nvPr/>
        </p:nvSpPr>
        <p:spPr>
          <a:xfrm>
            <a:off x="4736592" y="2697480"/>
            <a:ext cx="1554480" cy="237744"/>
          </a:xfrm>
          <a:prstGeom prst="rect">
            <a:avLst/>
          </a:prstGeom>
          <a:noFill/>
          <a:ln/>
        </p:spPr>
        <p:txBody>
          <a:bodyPr wrap="square" lIns="0" tIns="0" rIns="0" bIns="0" rtlCol="0" anchor="ctr">
            <a:normAutofit/>
          </a:bodyPr>
          <a:lstStyle/>
          <a:p>
            <a:pPr marL="0" indent="0" algn="ctr">
              <a:buNone/>
            </a:pPr>
            <a:r>
              <a:rPr lang="en-US" sz="1200" dirty="0">
                <a:solidFill>
                  <a:srgbClr val="5B6B80"/>
                </a:solidFill>
                <a:latin typeface="Arial" pitchFamily="34" charset="0"/>
                <a:ea typeface="Arial" pitchFamily="34" charset="-122"/>
                <a:cs typeface="Arial" pitchFamily="34" charset="-120"/>
              </a:rPr>
              <a:t>chưa thể thực hiện</a:t>
            </a:r>
            <a:endParaRPr lang="en-US" sz="1200" dirty="0"/>
          </a:p>
        </p:txBody>
      </p:sp>
      <p:sp>
        <p:nvSpPr>
          <p:cNvPr id="22" name="Shape 19"/>
          <p:cNvSpPr/>
          <p:nvPr/>
        </p:nvSpPr>
        <p:spPr>
          <a:xfrm>
            <a:off x="6812280" y="1993392"/>
            <a:ext cx="4709160" cy="2029968"/>
          </a:xfrm>
          <a:prstGeom prst="roundRect">
            <a:avLst>
              <a:gd name="adj" fmla="val 1802"/>
            </a:avLst>
          </a:prstGeom>
          <a:solidFill>
            <a:srgbClr val="EEF7F2"/>
          </a:solidFill>
          <a:ln w="12700">
            <a:solidFill>
              <a:srgbClr val="137A3D"/>
            </a:solidFill>
            <a:prstDash val="solid"/>
          </a:ln>
        </p:spPr>
      </p:sp>
      <p:sp>
        <p:nvSpPr>
          <p:cNvPr id="23" name="Text 20"/>
          <p:cNvSpPr txBox="1"/>
          <p:nvPr/>
        </p:nvSpPr>
        <p:spPr>
          <a:xfrm>
            <a:off x="7114032" y="2212848"/>
            <a:ext cx="3566160" cy="274320"/>
          </a:xfrm>
          <a:prstGeom prst="rect">
            <a:avLst/>
          </a:prstGeom>
          <a:noFill/>
          <a:ln/>
        </p:spPr>
        <p:txBody>
          <a:bodyPr wrap="square" lIns="0" tIns="0" rIns="0" bIns="0" rtlCol="0" anchor="t">
            <a:normAutofit/>
          </a:bodyPr>
          <a:lstStyle/>
          <a:p>
            <a:pPr marL="0" indent="0" algn="l">
              <a:buNone/>
            </a:pPr>
            <a:r>
              <a:rPr lang="en-US" sz="1300" b="1" dirty="0">
                <a:solidFill>
                  <a:srgbClr val="137A3D"/>
                </a:solidFill>
                <a:latin typeface="Arial" pitchFamily="34" charset="0"/>
                <a:ea typeface="Arial" pitchFamily="34" charset="-122"/>
                <a:cs typeface="Arial" pitchFamily="34" charset="-120"/>
              </a:rPr>
              <a:t>THÔNG TIN BẢN ĐANG KIỂM TRA</a:t>
            </a:r>
            <a:endParaRPr lang="en-US" sz="1300" dirty="0"/>
          </a:p>
        </p:txBody>
      </p:sp>
      <p:sp>
        <p:nvSpPr>
          <p:cNvPr id="24" name="Text 21"/>
          <p:cNvSpPr txBox="1"/>
          <p:nvPr/>
        </p:nvSpPr>
        <p:spPr>
          <a:xfrm>
            <a:off x="7114032" y="2615184"/>
            <a:ext cx="1737360" cy="201168"/>
          </a:xfrm>
          <a:prstGeom prst="rect">
            <a:avLst/>
          </a:prstGeom>
          <a:noFill/>
          <a:ln/>
        </p:spPr>
        <p:txBody>
          <a:bodyPr wrap="square" lIns="0" tIns="0" rIns="0" bIns="0" rtlCol="0" anchor="t">
            <a:normAutofit/>
          </a:bodyPr>
          <a:lstStyle/>
          <a:p>
            <a:pPr marL="0" indent="0" algn="l">
              <a:buNone/>
            </a:pPr>
            <a:r>
              <a:rPr lang="en-US" sz="1080" dirty="0">
                <a:solidFill>
                  <a:srgbClr val="5B6B80"/>
                </a:solidFill>
                <a:latin typeface="Arial" pitchFamily="34" charset="0"/>
                <a:ea typeface="Arial" pitchFamily="34" charset="-122"/>
                <a:cs typeface="Arial" pitchFamily="34" charset="-120"/>
              </a:rPr>
              <a:t>Quyết định hiện hành</a:t>
            </a:r>
            <a:endParaRPr lang="en-US" sz="1080" dirty="0"/>
          </a:p>
        </p:txBody>
      </p:sp>
      <p:sp>
        <p:nvSpPr>
          <p:cNvPr id="25" name="Text 22"/>
          <p:cNvSpPr txBox="1"/>
          <p:nvPr/>
        </p:nvSpPr>
        <p:spPr>
          <a:xfrm>
            <a:off x="8887968" y="2578608"/>
            <a:ext cx="2395728" cy="256032"/>
          </a:xfrm>
          <a:prstGeom prst="rect">
            <a:avLst/>
          </a:prstGeom>
          <a:noFill/>
          <a:ln/>
        </p:spPr>
        <p:txBody>
          <a:bodyPr wrap="square" lIns="0" tIns="0" rIns="0" bIns="0" rtlCol="0" anchor="t">
            <a:normAutofit/>
          </a:bodyPr>
          <a:lstStyle/>
          <a:p>
            <a:pPr marL="0" indent="0" algn="r">
              <a:buNone/>
            </a:pPr>
            <a:r>
              <a:rPr lang="en-US" sz="1220" b="1" dirty="0">
                <a:solidFill>
                  <a:srgbClr val="07182F"/>
                </a:solidFill>
                <a:latin typeface="Arial" pitchFamily="34" charset="0"/>
                <a:ea typeface="Arial" pitchFamily="34" charset="-122"/>
                <a:cs typeface="Arial" pitchFamily="34" charset="-120"/>
              </a:rPr>
              <a:t>Không chấp thuận phát hành</a:t>
            </a:r>
            <a:endParaRPr lang="en-US" sz="1220" dirty="0"/>
          </a:p>
        </p:txBody>
      </p:sp>
      <p:sp>
        <p:nvSpPr>
          <p:cNvPr id="26" name="Text 23"/>
          <p:cNvSpPr txBox="1"/>
          <p:nvPr/>
        </p:nvSpPr>
        <p:spPr>
          <a:xfrm>
            <a:off x="7114032" y="2971800"/>
            <a:ext cx="1737360" cy="201168"/>
          </a:xfrm>
          <a:prstGeom prst="rect">
            <a:avLst/>
          </a:prstGeom>
          <a:noFill/>
          <a:ln/>
        </p:spPr>
        <p:txBody>
          <a:bodyPr wrap="square" lIns="0" tIns="0" rIns="0" bIns="0" rtlCol="0" anchor="t">
            <a:normAutofit/>
          </a:bodyPr>
          <a:lstStyle/>
          <a:p>
            <a:pPr marL="0" indent="0" algn="l">
              <a:buNone/>
            </a:pPr>
            <a:r>
              <a:rPr lang="en-US" sz="1080" dirty="0">
                <a:solidFill>
                  <a:srgbClr val="5B6B80"/>
                </a:solidFill>
                <a:latin typeface="Arial" pitchFamily="34" charset="0"/>
                <a:ea typeface="Arial" pitchFamily="34" charset="-122"/>
                <a:cs typeface="Arial" pitchFamily="34" charset="-120"/>
              </a:rPr>
              <a:t>Snapshot nền</a:t>
            </a:r>
            <a:endParaRPr lang="en-US" sz="1080" dirty="0"/>
          </a:p>
        </p:txBody>
      </p:sp>
      <p:sp>
        <p:nvSpPr>
          <p:cNvPr id="27" name="Text 24"/>
          <p:cNvSpPr txBox="1"/>
          <p:nvPr/>
        </p:nvSpPr>
        <p:spPr>
          <a:xfrm>
            <a:off x="8887968" y="2935224"/>
            <a:ext cx="2395728" cy="256032"/>
          </a:xfrm>
          <a:prstGeom prst="rect">
            <a:avLst/>
          </a:prstGeom>
          <a:noFill/>
          <a:ln/>
        </p:spPr>
        <p:txBody>
          <a:bodyPr wrap="square" lIns="0" tIns="0" rIns="0" bIns="0" rtlCol="0" anchor="t">
            <a:normAutofit/>
          </a:bodyPr>
          <a:lstStyle/>
          <a:p>
            <a:pPr marL="0" indent="0" algn="r">
              <a:buNone/>
            </a:pPr>
            <a:r>
              <a:rPr lang="en-US" sz="1220" b="1" dirty="0">
                <a:solidFill>
                  <a:srgbClr val="07182F"/>
                </a:solidFill>
                <a:latin typeface="Arial" pitchFamily="34" charset="0"/>
                <a:ea typeface="Arial" pitchFamily="34" charset="-122"/>
                <a:cs typeface="Arial" pitchFamily="34" charset="-120"/>
              </a:rPr>
              <a:t>2026-09-21</a:t>
            </a:r>
            <a:endParaRPr lang="en-US" sz="1220" dirty="0"/>
          </a:p>
        </p:txBody>
      </p:sp>
      <p:sp>
        <p:nvSpPr>
          <p:cNvPr id="28" name="Text 25"/>
          <p:cNvSpPr txBox="1"/>
          <p:nvPr/>
        </p:nvSpPr>
        <p:spPr>
          <a:xfrm>
            <a:off x="7114032" y="3328416"/>
            <a:ext cx="1737360" cy="201168"/>
          </a:xfrm>
          <a:prstGeom prst="rect">
            <a:avLst/>
          </a:prstGeom>
          <a:noFill/>
          <a:ln/>
        </p:spPr>
        <p:txBody>
          <a:bodyPr wrap="square" lIns="0" tIns="0" rIns="0" bIns="0" rtlCol="0" anchor="t">
            <a:normAutofit/>
          </a:bodyPr>
          <a:lstStyle/>
          <a:p>
            <a:pPr marL="0" indent="0" algn="l">
              <a:buNone/>
            </a:pPr>
            <a:r>
              <a:rPr lang="en-US" sz="1080" dirty="0">
                <a:solidFill>
                  <a:srgbClr val="5B6B80"/>
                </a:solidFill>
                <a:latin typeface="Arial" pitchFamily="34" charset="0"/>
                <a:ea typeface="Arial" pitchFamily="34" charset="-122"/>
                <a:cs typeface="Arial" pitchFamily="34" charset="-120"/>
              </a:rPr>
              <a:t>Cập nhật gần nhất</a:t>
            </a:r>
            <a:endParaRPr lang="en-US" sz="1080" dirty="0"/>
          </a:p>
        </p:txBody>
      </p:sp>
      <p:sp>
        <p:nvSpPr>
          <p:cNvPr id="29" name="Text 26"/>
          <p:cNvSpPr txBox="1"/>
          <p:nvPr/>
        </p:nvSpPr>
        <p:spPr>
          <a:xfrm>
            <a:off x="8887968" y="3291840"/>
            <a:ext cx="2395728" cy="256032"/>
          </a:xfrm>
          <a:prstGeom prst="rect">
            <a:avLst/>
          </a:prstGeom>
          <a:noFill/>
          <a:ln/>
        </p:spPr>
        <p:txBody>
          <a:bodyPr wrap="square" lIns="0" tIns="0" rIns="0" bIns="0" rtlCol="0" anchor="t">
            <a:normAutofit/>
          </a:bodyPr>
          <a:lstStyle/>
          <a:p>
            <a:pPr marL="0" indent="0" algn="r">
              <a:buNone/>
            </a:pPr>
            <a:r>
              <a:rPr lang="en-US" sz="1220" b="1" dirty="0">
                <a:solidFill>
                  <a:srgbClr val="07182F"/>
                </a:solidFill>
                <a:latin typeface="Arial" pitchFamily="34" charset="0"/>
                <a:ea typeface="Arial" pitchFamily="34" charset="-122"/>
                <a:cs typeface="Arial" pitchFamily="34" charset="-120"/>
              </a:rPr>
              <a:t>2026-09-25</a:t>
            </a:r>
            <a:endParaRPr lang="en-US" sz="1220" dirty="0"/>
          </a:p>
        </p:txBody>
      </p:sp>
      <p:sp>
        <p:nvSpPr>
          <p:cNvPr id="30" name="Text 27"/>
          <p:cNvSpPr txBox="1"/>
          <p:nvPr/>
        </p:nvSpPr>
        <p:spPr>
          <a:xfrm>
            <a:off x="7114032" y="3685032"/>
            <a:ext cx="1737360" cy="201168"/>
          </a:xfrm>
          <a:prstGeom prst="rect">
            <a:avLst/>
          </a:prstGeom>
          <a:noFill/>
          <a:ln/>
        </p:spPr>
        <p:txBody>
          <a:bodyPr wrap="square" lIns="0" tIns="0" rIns="0" bIns="0" rtlCol="0" anchor="t">
            <a:normAutofit/>
          </a:bodyPr>
          <a:lstStyle/>
          <a:p>
            <a:pPr marL="0" indent="0" algn="l">
              <a:buNone/>
            </a:pPr>
            <a:r>
              <a:rPr lang="en-US" sz="1080" dirty="0">
                <a:solidFill>
                  <a:srgbClr val="5B6B80"/>
                </a:solidFill>
                <a:latin typeface="Arial" pitchFamily="34" charset="0"/>
                <a:ea typeface="Arial" pitchFamily="34" charset="-122"/>
                <a:cs typeface="Arial" pitchFamily="34" charset="-120"/>
              </a:rPr>
              <a:t>Bản đang kiểm tra</a:t>
            </a:r>
            <a:endParaRPr lang="en-US" sz="1080" dirty="0"/>
          </a:p>
        </p:txBody>
      </p:sp>
      <p:sp>
        <p:nvSpPr>
          <p:cNvPr id="31" name="Text 28"/>
          <p:cNvSpPr txBox="1"/>
          <p:nvPr/>
        </p:nvSpPr>
        <p:spPr>
          <a:xfrm>
            <a:off x="8887968" y="3648456"/>
            <a:ext cx="2395728" cy="256032"/>
          </a:xfrm>
          <a:prstGeom prst="rect">
            <a:avLst/>
          </a:prstGeom>
          <a:noFill/>
          <a:ln/>
        </p:spPr>
        <p:txBody>
          <a:bodyPr wrap="square" lIns="0" tIns="0" rIns="0" bIns="0" rtlCol="0" anchor="t">
            <a:normAutofit/>
          </a:bodyPr>
          <a:lstStyle/>
          <a:p>
            <a:pPr marL="0" indent="0" algn="r">
              <a:buNone/>
            </a:pPr>
            <a:r>
              <a:rPr lang="en-US" sz="1220" b="1" dirty="0">
                <a:solidFill>
                  <a:srgbClr val="07182F"/>
                </a:solidFill>
                <a:latin typeface="Arial" pitchFamily="34" charset="0"/>
                <a:ea typeface="Arial" pitchFamily="34" charset="-122"/>
                <a:cs typeface="Arial" pitchFamily="34" charset="-120"/>
              </a:rPr>
              <a:t>2026.09.02-candidate</a:t>
            </a:r>
            <a:endParaRPr lang="en-US" sz="1220" dirty="0"/>
          </a:p>
        </p:txBody>
      </p:sp>
      <p:sp>
        <p:nvSpPr>
          <p:cNvPr id="32" name="Shape 29"/>
          <p:cNvSpPr/>
          <p:nvPr/>
        </p:nvSpPr>
        <p:spPr>
          <a:xfrm>
            <a:off x="658368" y="4187952"/>
            <a:ext cx="6748272" cy="1115568"/>
          </a:xfrm>
          <a:prstGeom prst="roundRect">
            <a:avLst>
              <a:gd name="adj" fmla="val 3279"/>
            </a:avLst>
          </a:prstGeom>
          <a:solidFill>
            <a:srgbClr val="FFF8ED"/>
          </a:solidFill>
          <a:ln w="12700">
            <a:solidFill>
              <a:srgbClr val="9A5B00"/>
            </a:solidFill>
            <a:prstDash val="solid"/>
          </a:ln>
        </p:spPr>
      </p:sp>
      <p:sp>
        <p:nvSpPr>
          <p:cNvPr id="33" name="Text 30"/>
          <p:cNvSpPr txBox="1"/>
          <p:nvPr/>
        </p:nvSpPr>
        <p:spPr>
          <a:xfrm>
            <a:off x="896112" y="4370832"/>
            <a:ext cx="6272784" cy="219456"/>
          </a:xfrm>
          <a:prstGeom prst="rect">
            <a:avLst/>
          </a:prstGeom>
          <a:noFill/>
          <a:ln/>
        </p:spPr>
        <p:txBody>
          <a:bodyPr wrap="square" lIns="0" tIns="0" rIns="0" bIns="0" rtlCol="0" anchor="t">
            <a:normAutofit/>
          </a:bodyPr>
          <a:lstStyle/>
          <a:p>
            <a:pPr marL="0" indent="0" algn="ctr">
              <a:buNone/>
            </a:pPr>
            <a:r>
              <a:rPr lang="en-US" sz="1200" b="1" dirty="0">
                <a:solidFill>
                  <a:srgbClr val="9A5B00"/>
                </a:solidFill>
                <a:latin typeface="Arial" pitchFamily="34" charset="0"/>
                <a:ea typeface="Arial" pitchFamily="34" charset="-122"/>
                <a:cs typeface="Arial" pitchFamily="34" charset="-120"/>
              </a:rPr>
              <a:t>GIẢI THÍCH 09 TRẠNG THÁI “KHÔNG ĐẠT”</a:t>
            </a:r>
            <a:endParaRPr lang="en-US" sz="1200" dirty="0"/>
          </a:p>
        </p:txBody>
      </p:sp>
      <p:sp>
        <p:nvSpPr>
          <p:cNvPr id="34" name="Text 31"/>
          <p:cNvSpPr txBox="1"/>
          <p:nvPr/>
        </p:nvSpPr>
        <p:spPr>
          <a:xfrm>
            <a:off x="932688" y="4681728"/>
            <a:ext cx="6199632" cy="438912"/>
          </a:xfrm>
          <a:prstGeom prst="rect">
            <a:avLst/>
          </a:prstGeom>
          <a:noFill/>
          <a:ln/>
        </p:spPr>
        <p:txBody>
          <a:bodyPr wrap="square" lIns="0" tIns="0" rIns="0" bIns="0" rtlCol="0" anchor="ctr">
            <a:normAutofit/>
          </a:bodyPr>
          <a:lstStyle/>
          <a:p>
            <a:pPr marL="0" indent="0" algn="ctr">
              <a:buNone/>
            </a:pPr>
            <a:r>
              <a:rPr lang="en-US" sz="1130" dirty="0">
                <a:solidFill>
                  <a:srgbClr val="07182F"/>
                </a:solidFill>
                <a:latin typeface="Arial" pitchFamily="34" charset="0"/>
                <a:ea typeface="Arial" pitchFamily="34" charset="-122"/>
                <a:cs typeface="Arial" pitchFamily="34" charset="-120"/>
              </a:rPr>
              <a:t>9 trạng thái “không đạt” trong snapshot đều do môi trường thiếu Chromium nên Playwright không khởi động được; đây không phải bằng chứng rằng các kiểm tra vật lý hoặc chức năng tương ứng đã thất bại.</a:t>
            </a:r>
            <a:endParaRPr lang="en-US" sz="1130" dirty="0"/>
          </a:p>
        </p:txBody>
      </p:sp>
      <p:sp>
        <p:nvSpPr>
          <p:cNvPr id="35" name="Shape 32"/>
          <p:cNvSpPr/>
          <p:nvPr/>
        </p:nvSpPr>
        <p:spPr>
          <a:xfrm>
            <a:off x="7626096" y="4187952"/>
            <a:ext cx="3895344" cy="1115568"/>
          </a:xfrm>
          <a:prstGeom prst="roundRect">
            <a:avLst>
              <a:gd name="adj" fmla="val 3279"/>
            </a:avLst>
          </a:prstGeom>
          <a:solidFill>
            <a:srgbClr val="FFFFFF"/>
          </a:solidFill>
          <a:ln w="12700">
            <a:solidFill>
              <a:srgbClr val="0D2447"/>
            </a:solidFill>
            <a:prstDash val="solid"/>
          </a:ln>
        </p:spPr>
      </p:sp>
      <p:sp>
        <p:nvSpPr>
          <p:cNvPr id="36" name="Text 33"/>
          <p:cNvSpPr txBox="1"/>
          <p:nvPr/>
        </p:nvSpPr>
        <p:spPr>
          <a:xfrm>
            <a:off x="7845552" y="4352544"/>
            <a:ext cx="3456432" cy="201168"/>
          </a:xfrm>
          <a:prstGeom prst="rect">
            <a:avLst/>
          </a:prstGeom>
          <a:noFill/>
          <a:ln/>
        </p:spPr>
        <p:txBody>
          <a:bodyPr wrap="square" lIns="0" tIns="0" rIns="0" bIns="0" rtlCol="0" anchor="t">
            <a:normAutofit/>
          </a:bodyPr>
          <a:lstStyle/>
          <a:p>
            <a:pPr marL="0" indent="0" algn="ctr">
              <a:buNone/>
            </a:pPr>
            <a:r>
              <a:rPr lang="en-US" sz="1150" b="1" dirty="0">
                <a:solidFill>
                  <a:srgbClr val="0D2447"/>
                </a:solidFill>
                <a:latin typeface="Arial" pitchFamily="34" charset="0"/>
                <a:ea typeface="Arial" pitchFamily="34" charset="-122"/>
                <a:cs typeface="Arial" pitchFamily="34" charset="-120"/>
              </a:rPr>
              <a:t>GÓI CHUYỂN GIAO KÈM THEO</a:t>
            </a:r>
            <a:endParaRPr lang="en-US" sz="1150" dirty="0"/>
          </a:p>
        </p:txBody>
      </p:sp>
      <p:sp>
        <p:nvSpPr>
          <p:cNvPr id="37" name="Text 34"/>
          <p:cNvSpPr txBox="1"/>
          <p:nvPr/>
        </p:nvSpPr>
        <p:spPr>
          <a:xfrm>
            <a:off x="7845552" y="4645152"/>
            <a:ext cx="1261872" cy="182880"/>
          </a:xfrm>
          <a:prstGeom prst="rect">
            <a:avLst/>
          </a:prstGeom>
          <a:noFill/>
          <a:ln/>
        </p:spPr>
        <p:txBody>
          <a:bodyPr wrap="square" lIns="0" tIns="0" rIns="0" bIns="0" rtlCol="0" anchor="t">
            <a:normAutofit/>
          </a:bodyPr>
          <a:lstStyle/>
          <a:p>
            <a:pPr marL="0" indent="0" algn="l">
              <a:buNone/>
            </a:pPr>
            <a:r>
              <a:rPr lang="en-US" sz="1050" b="1" dirty="0">
                <a:solidFill>
                  <a:srgbClr val="07182F"/>
                </a:solidFill>
                <a:latin typeface="Arial" pitchFamily="34" charset="0"/>
                <a:ea typeface="Arial" pitchFamily="34" charset="-122"/>
                <a:cs typeface="Arial" pitchFamily="34" charset="-120"/>
              </a:rPr>
              <a:t>QTI 3</a:t>
            </a:r>
            <a:endParaRPr lang="en-US" sz="1050" dirty="0"/>
          </a:p>
        </p:txBody>
      </p:sp>
      <p:sp>
        <p:nvSpPr>
          <p:cNvPr id="38" name="Text 35"/>
          <p:cNvSpPr txBox="1"/>
          <p:nvPr/>
        </p:nvSpPr>
        <p:spPr>
          <a:xfrm>
            <a:off x="9098280" y="4608576"/>
            <a:ext cx="2194560" cy="237744"/>
          </a:xfrm>
          <a:prstGeom prst="rect">
            <a:avLst/>
          </a:prstGeom>
          <a:noFill/>
          <a:ln/>
        </p:spPr>
        <p:txBody>
          <a:bodyPr wrap="square" lIns="0" tIns="0" rIns="0" bIns="0" rtlCol="0" anchor="t">
            <a:normAutofit/>
          </a:bodyPr>
          <a:lstStyle/>
          <a:p>
            <a:pPr marL="0" indent="0" algn="r">
              <a:buNone/>
            </a:pPr>
            <a:r>
              <a:rPr lang="en-US" sz="870" dirty="0">
                <a:solidFill>
                  <a:srgbClr val="5B6B80"/>
                </a:solidFill>
                <a:latin typeface="Arial" pitchFamily="34" charset="0"/>
                <a:ea typeface="Arial" pitchFamily="34" charset="-122"/>
                <a:cs typeface="Arial" pitchFamily="34" charset="-120"/>
              </a:rPr>
              <a:t>Gói thử nghiệm câu hỏi; không phải bằng chứng nhập thành công vào LMS</a:t>
            </a:r>
            <a:endParaRPr lang="en-US" sz="870" dirty="0"/>
          </a:p>
        </p:txBody>
      </p:sp>
      <p:sp>
        <p:nvSpPr>
          <p:cNvPr id="39" name="Text 36"/>
          <p:cNvSpPr txBox="1"/>
          <p:nvPr/>
        </p:nvSpPr>
        <p:spPr>
          <a:xfrm>
            <a:off x="7845552" y="4956048"/>
            <a:ext cx="1261872" cy="182880"/>
          </a:xfrm>
          <a:prstGeom prst="rect">
            <a:avLst/>
          </a:prstGeom>
          <a:noFill/>
          <a:ln/>
        </p:spPr>
        <p:txBody>
          <a:bodyPr wrap="square" lIns="0" tIns="0" rIns="0" bIns="0" rtlCol="0" anchor="t">
            <a:normAutofit/>
          </a:bodyPr>
          <a:lstStyle/>
          <a:p>
            <a:pPr marL="0" indent="0" algn="l">
              <a:buNone/>
            </a:pPr>
            <a:r>
              <a:rPr lang="en-US" sz="1050" b="1" dirty="0">
                <a:solidFill>
                  <a:srgbClr val="07182F"/>
                </a:solidFill>
                <a:latin typeface="Arial" pitchFamily="34" charset="0"/>
                <a:ea typeface="Arial" pitchFamily="34" charset="-122"/>
                <a:cs typeface="Arial" pitchFamily="34" charset="-120"/>
              </a:rPr>
              <a:t>Common Cartridge 1.4</a:t>
            </a:r>
            <a:endParaRPr lang="en-US" sz="1050" dirty="0"/>
          </a:p>
        </p:txBody>
      </p:sp>
      <p:sp>
        <p:nvSpPr>
          <p:cNvPr id="40" name="Text 37"/>
          <p:cNvSpPr txBox="1"/>
          <p:nvPr/>
        </p:nvSpPr>
        <p:spPr>
          <a:xfrm>
            <a:off x="9098280" y="4919472"/>
            <a:ext cx="2194560" cy="237744"/>
          </a:xfrm>
          <a:prstGeom prst="rect">
            <a:avLst/>
          </a:prstGeom>
          <a:noFill/>
          <a:ln/>
        </p:spPr>
        <p:txBody>
          <a:bodyPr wrap="square" lIns="0" tIns="0" rIns="0" bIns="0" rtlCol="0" anchor="t">
            <a:normAutofit/>
          </a:bodyPr>
          <a:lstStyle/>
          <a:p>
            <a:pPr marL="0" indent="0" algn="r">
              <a:buNone/>
            </a:pPr>
            <a:r>
              <a:rPr lang="en-US" sz="870" dirty="0">
                <a:solidFill>
                  <a:srgbClr val="5B6B80"/>
                </a:solidFill>
                <a:latin typeface="Arial" pitchFamily="34" charset="0"/>
                <a:ea typeface="Arial" pitchFamily="34" charset="-122"/>
                <a:cs typeface="Arial" pitchFamily="34" charset="-120"/>
              </a:rPr>
              <a:t>Gói nội dung web; không phải bằng chứng nhập thành công vào LMS</a:t>
            </a:r>
            <a:endParaRPr lang="en-US" sz="870" dirty="0"/>
          </a:p>
        </p:txBody>
      </p:sp>
      <p:sp>
        <p:nvSpPr>
          <p:cNvPr id="41" name="Text 38"/>
          <p:cNvSpPr txBox="1"/>
          <p:nvPr/>
        </p:nvSpPr>
        <p:spPr>
          <a:xfrm>
            <a:off x="1005840" y="5614416"/>
            <a:ext cx="10149840" cy="256032"/>
          </a:xfrm>
          <a:prstGeom prst="rect">
            <a:avLst/>
          </a:prstGeom>
          <a:noFill/>
          <a:ln/>
        </p:spPr>
        <p:txBody>
          <a:bodyPr wrap="square" lIns="0" tIns="0" rIns="0" bIns="0" rtlCol="0" anchor="t">
            <a:normAutofit/>
          </a:bodyPr>
          <a:lstStyle/>
          <a:p>
            <a:pPr marL="0" indent="0" algn="ctr">
              <a:buNone/>
            </a:pPr>
            <a:r>
              <a:rPr lang="en-US" sz="1450" b="1" dirty="0">
                <a:solidFill>
                  <a:srgbClr val="B42318"/>
                </a:solidFill>
                <a:latin typeface="Arial" pitchFamily="34" charset="0"/>
                <a:ea typeface="Arial" pitchFamily="34" charset="-122"/>
                <a:cs typeface="Arial" pitchFamily="34" charset="-120"/>
              </a:rPr>
              <a:t>Quyết định vẫn là không chấp thuận phát hành cho đến khi chạy lại đủ 24 điều kiện.</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PHỤ LỤC / DỰ PHÒNG</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2800" b="1" dirty="0">
                <a:solidFill>
                  <a:srgbClr val="07182F"/>
                </a:solidFill>
                <a:latin typeface="Georgia" pitchFamily="34" charset="0"/>
                <a:ea typeface="Georgia" pitchFamily="34" charset="-122"/>
                <a:cs typeface="Georgia" pitchFamily="34" charset="-120"/>
              </a:rPr>
              <a:t>Phụ lục · Chín lần dừng kiểm tra và bốn nội dung bị chặn</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18</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Chín trạng thái không đạt đều ghi nhận thiếu Chromium trong môi trường chụp bằng chứng; bốn nội dung độc lập cần đúng người thực hiện và đúng bằng chứng.</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b="1" dirty="0">
                <a:solidFill>
                  <a:srgbClr val="5B6B80"/>
                </a:solidFill>
                <a:latin typeface="Arial" pitchFamily="34" charset="0"/>
                <a:ea typeface="Arial" pitchFamily="34" charset="-122"/>
                <a:cs typeface="Arial" pitchFamily="34" charset="-120"/>
              </a:rPr>
              <a:t>PHỤ LỤC / DỰ PHÒNG</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PL-DIEU-KIEN-KY-THUAT</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18</a:t>
            </a:r>
            <a:endParaRPr lang="en-US" sz="820" dirty="0"/>
          </a:p>
        </p:txBody>
      </p:sp>
      <p:sp>
        <p:nvSpPr>
          <p:cNvPr id="13" name="Text 10"/>
          <p:cNvSpPr txBox="1"/>
          <p:nvPr/>
        </p:nvSpPr>
        <p:spPr>
          <a:xfrm>
            <a:off x="713232" y="1856232"/>
            <a:ext cx="6903720" cy="256032"/>
          </a:xfrm>
          <a:prstGeom prst="rect">
            <a:avLst/>
          </a:prstGeom>
          <a:noFill/>
          <a:ln/>
        </p:spPr>
        <p:txBody>
          <a:bodyPr wrap="square" lIns="0" tIns="0" rIns="0" bIns="0" rtlCol="0" anchor="t">
            <a:normAutofit/>
          </a:bodyPr>
          <a:lstStyle/>
          <a:p>
            <a:pPr marL="0" indent="0" algn="ctr">
              <a:buNone/>
            </a:pPr>
            <a:r>
              <a:rPr lang="en-US" sz="1250" b="1" dirty="0">
                <a:solidFill>
                  <a:srgbClr val="B42318"/>
                </a:solidFill>
                <a:latin typeface="Arial" pitchFamily="34" charset="0"/>
                <a:ea typeface="Arial" pitchFamily="34" charset="-122"/>
                <a:cs typeface="Arial" pitchFamily="34" charset="-120"/>
              </a:rPr>
              <a:t>09 LẦN DỪNG DO MÔI TRƯỜNG</a:t>
            </a:r>
            <a:endParaRPr lang="en-US" sz="1250" dirty="0"/>
          </a:p>
        </p:txBody>
      </p:sp>
      <p:sp>
        <p:nvSpPr>
          <p:cNvPr id="14" name="Shape 11"/>
          <p:cNvSpPr/>
          <p:nvPr/>
        </p:nvSpPr>
        <p:spPr>
          <a:xfrm>
            <a:off x="658368" y="2157984"/>
            <a:ext cx="7040880" cy="356616"/>
          </a:xfrm>
          <a:prstGeom prst="roundRect">
            <a:avLst>
              <a:gd name="adj" fmla="val 10256"/>
            </a:avLst>
          </a:prstGeom>
          <a:solidFill>
            <a:srgbClr val="FFFFFF"/>
          </a:solidFill>
          <a:ln w="12700">
            <a:solidFill>
              <a:srgbClr val="D7DEE8"/>
            </a:solidFill>
            <a:prstDash val="solid"/>
          </a:ln>
        </p:spPr>
      </p:sp>
      <p:sp>
        <p:nvSpPr>
          <p:cNvPr id="15" name="Text 12"/>
          <p:cNvSpPr txBox="1"/>
          <p:nvPr/>
        </p:nvSpPr>
        <p:spPr>
          <a:xfrm>
            <a:off x="804672" y="2212848"/>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Ảnh động và ảnh dự phòng</a:t>
            </a:r>
            <a:endParaRPr lang="en-US" sz="1080" dirty="0"/>
          </a:p>
        </p:txBody>
      </p:sp>
      <p:sp>
        <p:nvSpPr>
          <p:cNvPr id="16" name="Text 13"/>
          <p:cNvSpPr txBox="1"/>
          <p:nvPr/>
        </p:nvSpPr>
        <p:spPr>
          <a:xfrm>
            <a:off x="2816352" y="2212848"/>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17" name="Text 14"/>
          <p:cNvSpPr txBox="1"/>
          <p:nvPr/>
        </p:nvSpPr>
        <p:spPr>
          <a:xfrm>
            <a:off x="4407408" y="2194560"/>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18" name="Shape 15"/>
          <p:cNvSpPr/>
          <p:nvPr/>
        </p:nvSpPr>
        <p:spPr>
          <a:xfrm>
            <a:off x="658368" y="2578608"/>
            <a:ext cx="7040880" cy="356616"/>
          </a:xfrm>
          <a:prstGeom prst="roundRect">
            <a:avLst>
              <a:gd name="adj" fmla="val 10256"/>
            </a:avLst>
          </a:prstGeom>
          <a:solidFill>
            <a:srgbClr val="F8FAFC"/>
          </a:solidFill>
          <a:ln w="12700">
            <a:solidFill>
              <a:srgbClr val="D7DEE8"/>
            </a:solidFill>
            <a:prstDash val="solid"/>
          </a:ln>
        </p:spPr>
      </p:sp>
      <p:sp>
        <p:nvSpPr>
          <p:cNvPr id="19" name="Text 16"/>
          <p:cNvSpPr txBox="1"/>
          <p:nvPr/>
        </p:nvSpPr>
        <p:spPr>
          <a:xfrm>
            <a:off x="804672" y="2633472"/>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Gói đa phương tiện thử nghiệm</a:t>
            </a:r>
            <a:endParaRPr lang="en-US" sz="1080" dirty="0"/>
          </a:p>
        </p:txBody>
      </p:sp>
      <p:sp>
        <p:nvSpPr>
          <p:cNvPr id="20" name="Text 17"/>
          <p:cNvSpPr txBox="1"/>
          <p:nvPr/>
        </p:nvSpPr>
        <p:spPr>
          <a:xfrm>
            <a:off x="2816352" y="2633472"/>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21" name="Text 18"/>
          <p:cNvSpPr txBox="1"/>
          <p:nvPr/>
        </p:nvSpPr>
        <p:spPr>
          <a:xfrm>
            <a:off x="4407408" y="2615184"/>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22" name="Shape 19"/>
          <p:cNvSpPr/>
          <p:nvPr/>
        </p:nvSpPr>
        <p:spPr>
          <a:xfrm>
            <a:off x="658368" y="2999232"/>
            <a:ext cx="7040880" cy="356616"/>
          </a:xfrm>
          <a:prstGeom prst="roundRect">
            <a:avLst>
              <a:gd name="adj" fmla="val 10256"/>
            </a:avLst>
          </a:prstGeom>
          <a:solidFill>
            <a:srgbClr val="FFFFFF"/>
          </a:solidFill>
          <a:ln w="12700">
            <a:solidFill>
              <a:srgbClr val="D7DEE8"/>
            </a:solidFill>
            <a:prstDash val="solid"/>
          </a:ln>
        </p:spPr>
      </p:sp>
      <p:sp>
        <p:nvSpPr>
          <p:cNvPr id="23" name="Text 20"/>
          <p:cNvSpPr txBox="1"/>
          <p:nvPr/>
        </p:nvSpPr>
        <p:spPr>
          <a:xfrm>
            <a:off x="804672" y="3054096"/>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Trình đọc PDF và gói phát hành</a:t>
            </a:r>
            <a:endParaRPr lang="en-US" sz="1080" dirty="0"/>
          </a:p>
        </p:txBody>
      </p:sp>
      <p:sp>
        <p:nvSpPr>
          <p:cNvPr id="24" name="Text 21"/>
          <p:cNvSpPr txBox="1"/>
          <p:nvPr/>
        </p:nvSpPr>
        <p:spPr>
          <a:xfrm>
            <a:off x="2816352" y="3054096"/>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25" name="Text 22"/>
          <p:cNvSpPr txBox="1"/>
          <p:nvPr/>
        </p:nvSpPr>
        <p:spPr>
          <a:xfrm>
            <a:off x="4407408" y="3035808"/>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26" name="Shape 23"/>
          <p:cNvSpPr/>
          <p:nvPr/>
        </p:nvSpPr>
        <p:spPr>
          <a:xfrm>
            <a:off x="658368" y="3419856"/>
            <a:ext cx="7040880" cy="356616"/>
          </a:xfrm>
          <a:prstGeom prst="roundRect">
            <a:avLst>
              <a:gd name="adj" fmla="val 10256"/>
            </a:avLst>
          </a:prstGeom>
          <a:solidFill>
            <a:srgbClr val="F8FAFC"/>
          </a:solidFill>
          <a:ln w="12700">
            <a:solidFill>
              <a:srgbClr val="D7DEE8"/>
            </a:solidFill>
            <a:prstDash val="solid"/>
          </a:ln>
        </p:spPr>
      </p:sp>
      <p:sp>
        <p:nvSpPr>
          <p:cNvPr id="27" name="Text 24"/>
          <p:cNvSpPr txBox="1"/>
          <p:nvPr/>
        </p:nvSpPr>
        <p:spPr>
          <a:xfrm>
            <a:off x="804672" y="3474720"/>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Kiểm tra khả năng tiếp cận tự động</a:t>
            </a:r>
            <a:endParaRPr lang="en-US" sz="1080" dirty="0"/>
          </a:p>
        </p:txBody>
      </p:sp>
      <p:sp>
        <p:nvSpPr>
          <p:cNvPr id="28" name="Text 25"/>
          <p:cNvSpPr txBox="1"/>
          <p:nvPr/>
        </p:nvSpPr>
        <p:spPr>
          <a:xfrm>
            <a:off x="2816352" y="3474720"/>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29" name="Text 26"/>
          <p:cNvSpPr txBox="1"/>
          <p:nvPr/>
        </p:nvSpPr>
        <p:spPr>
          <a:xfrm>
            <a:off x="4407408" y="3456432"/>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30" name="Shape 27"/>
          <p:cNvSpPr/>
          <p:nvPr/>
        </p:nvSpPr>
        <p:spPr>
          <a:xfrm>
            <a:off x="658368" y="3840480"/>
            <a:ext cx="7040880" cy="356616"/>
          </a:xfrm>
          <a:prstGeom prst="roundRect">
            <a:avLst>
              <a:gd name="adj" fmla="val 10256"/>
            </a:avLst>
          </a:prstGeom>
          <a:solidFill>
            <a:srgbClr val="FFFFFF"/>
          </a:solidFill>
          <a:ln w="12700">
            <a:solidFill>
              <a:srgbClr val="D7DEE8"/>
            </a:solidFill>
            <a:prstDash val="solid"/>
          </a:ln>
        </p:spPr>
      </p:sp>
      <p:sp>
        <p:nvSpPr>
          <p:cNvPr id="31" name="Text 28"/>
          <p:cNvSpPr txBox="1"/>
          <p:nvPr/>
        </p:nvSpPr>
        <p:spPr>
          <a:xfrm>
            <a:off x="804672" y="3895344"/>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Câu hỏi trên trình duyệt</a:t>
            </a:r>
            <a:endParaRPr lang="en-US" sz="1080" dirty="0"/>
          </a:p>
        </p:txBody>
      </p:sp>
      <p:sp>
        <p:nvSpPr>
          <p:cNvPr id="32" name="Text 29"/>
          <p:cNvSpPr txBox="1"/>
          <p:nvPr/>
        </p:nvSpPr>
        <p:spPr>
          <a:xfrm>
            <a:off x="2816352" y="3895344"/>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33" name="Text 30"/>
          <p:cNvSpPr txBox="1"/>
          <p:nvPr/>
        </p:nvSpPr>
        <p:spPr>
          <a:xfrm>
            <a:off x="4407408" y="3877056"/>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34" name="Shape 31"/>
          <p:cNvSpPr/>
          <p:nvPr/>
        </p:nvSpPr>
        <p:spPr>
          <a:xfrm>
            <a:off x="658368" y="4261104"/>
            <a:ext cx="7040880" cy="356616"/>
          </a:xfrm>
          <a:prstGeom prst="roundRect">
            <a:avLst>
              <a:gd name="adj" fmla="val 10256"/>
            </a:avLst>
          </a:prstGeom>
          <a:solidFill>
            <a:srgbClr val="F8FAFC"/>
          </a:solidFill>
          <a:ln w="12700">
            <a:solidFill>
              <a:srgbClr val="D7DEE8"/>
            </a:solidFill>
            <a:prstDash val="solid"/>
          </a:ln>
        </p:spPr>
      </p:sp>
      <p:sp>
        <p:nvSpPr>
          <p:cNvPr id="35" name="Text 32"/>
          <p:cNvSpPr txBox="1"/>
          <p:nvPr/>
        </p:nvSpPr>
        <p:spPr>
          <a:xfrm>
            <a:off x="804672" y="4315968"/>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Khởi tạo và hiển thị mô phỏng</a:t>
            </a:r>
            <a:endParaRPr lang="en-US" sz="1080" dirty="0"/>
          </a:p>
        </p:txBody>
      </p:sp>
      <p:sp>
        <p:nvSpPr>
          <p:cNvPr id="36" name="Text 33"/>
          <p:cNvSpPr txBox="1"/>
          <p:nvPr/>
        </p:nvSpPr>
        <p:spPr>
          <a:xfrm>
            <a:off x="2816352" y="4315968"/>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37" name="Text 34"/>
          <p:cNvSpPr txBox="1"/>
          <p:nvPr/>
        </p:nvSpPr>
        <p:spPr>
          <a:xfrm>
            <a:off x="4407408" y="4297680"/>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38" name="Shape 35"/>
          <p:cNvSpPr/>
          <p:nvPr/>
        </p:nvSpPr>
        <p:spPr>
          <a:xfrm>
            <a:off x="658368" y="4681728"/>
            <a:ext cx="7040880" cy="356616"/>
          </a:xfrm>
          <a:prstGeom prst="roundRect">
            <a:avLst>
              <a:gd name="adj" fmla="val 10256"/>
            </a:avLst>
          </a:prstGeom>
          <a:solidFill>
            <a:srgbClr val="FFFFFF"/>
          </a:solidFill>
          <a:ln w="12700">
            <a:solidFill>
              <a:srgbClr val="D7DEE8"/>
            </a:solidFill>
            <a:prstDash val="solid"/>
          </a:ln>
        </p:spPr>
      </p:sp>
      <p:sp>
        <p:nvSpPr>
          <p:cNvPr id="39" name="Text 36"/>
          <p:cNvSpPr txBox="1"/>
          <p:nvPr/>
        </p:nvSpPr>
        <p:spPr>
          <a:xfrm>
            <a:off x="804672" y="4736592"/>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Bộ kiểm tra vật lý mô phỏng</a:t>
            </a:r>
            <a:endParaRPr lang="en-US" sz="1080" dirty="0"/>
          </a:p>
        </p:txBody>
      </p:sp>
      <p:sp>
        <p:nvSpPr>
          <p:cNvPr id="40" name="Text 37"/>
          <p:cNvSpPr txBox="1"/>
          <p:nvPr/>
        </p:nvSpPr>
        <p:spPr>
          <a:xfrm>
            <a:off x="2816352" y="4736592"/>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41" name="Text 38"/>
          <p:cNvSpPr txBox="1"/>
          <p:nvPr/>
        </p:nvSpPr>
        <p:spPr>
          <a:xfrm>
            <a:off x="4407408" y="4718304"/>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Thiếu Chromium ở bước trình duyệt; không được diễn giải là các phép kiểm tra vật lý đã thất bại</a:t>
            </a:r>
            <a:endParaRPr lang="en-US" sz="950" dirty="0"/>
          </a:p>
        </p:txBody>
      </p:sp>
      <p:sp>
        <p:nvSpPr>
          <p:cNvPr id="42" name="Shape 39"/>
          <p:cNvSpPr/>
          <p:nvPr/>
        </p:nvSpPr>
        <p:spPr>
          <a:xfrm>
            <a:off x="658368" y="5102352"/>
            <a:ext cx="7040880" cy="356616"/>
          </a:xfrm>
          <a:prstGeom prst="roundRect">
            <a:avLst>
              <a:gd name="adj" fmla="val 10256"/>
            </a:avLst>
          </a:prstGeom>
          <a:solidFill>
            <a:srgbClr val="F8FAFC"/>
          </a:solidFill>
          <a:ln w="12700">
            <a:solidFill>
              <a:srgbClr val="D7DEE8"/>
            </a:solidFill>
            <a:prstDash val="solid"/>
          </a:ln>
        </p:spPr>
      </p:sp>
      <p:sp>
        <p:nvSpPr>
          <p:cNvPr id="43" name="Text 40"/>
          <p:cNvSpPr txBox="1"/>
          <p:nvPr/>
        </p:nvSpPr>
        <p:spPr>
          <a:xfrm>
            <a:off x="804672" y="5157216"/>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Bộ kiểm tra phát hành mô phỏng</a:t>
            </a:r>
            <a:endParaRPr lang="en-US" sz="1080" dirty="0"/>
          </a:p>
        </p:txBody>
      </p:sp>
      <p:sp>
        <p:nvSpPr>
          <p:cNvPr id="44" name="Text 41"/>
          <p:cNvSpPr txBox="1"/>
          <p:nvPr/>
        </p:nvSpPr>
        <p:spPr>
          <a:xfrm>
            <a:off x="2816352" y="5157216"/>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45" name="Text 42"/>
          <p:cNvSpPr txBox="1"/>
          <p:nvPr/>
        </p:nvSpPr>
        <p:spPr>
          <a:xfrm>
            <a:off x="4407408" y="5138928"/>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46" name="Shape 43"/>
          <p:cNvSpPr/>
          <p:nvPr/>
        </p:nvSpPr>
        <p:spPr>
          <a:xfrm>
            <a:off x="658368" y="5522976"/>
            <a:ext cx="7040880" cy="356616"/>
          </a:xfrm>
          <a:prstGeom prst="roundRect">
            <a:avLst>
              <a:gd name="adj" fmla="val 10256"/>
            </a:avLst>
          </a:prstGeom>
          <a:solidFill>
            <a:srgbClr val="FFFFFF"/>
          </a:solidFill>
          <a:ln w="12700">
            <a:solidFill>
              <a:srgbClr val="D7DEE8"/>
            </a:solidFill>
            <a:prstDash val="solid"/>
          </a:ln>
        </p:spPr>
      </p:sp>
      <p:sp>
        <p:nvSpPr>
          <p:cNvPr id="47" name="Text 44"/>
          <p:cNvSpPr txBox="1"/>
          <p:nvPr/>
        </p:nvSpPr>
        <p:spPr>
          <a:xfrm>
            <a:off x="804672" y="5577840"/>
            <a:ext cx="1993392" cy="182880"/>
          </a:xfrm>
          <a:prstGeom prst="rect">
            <a:avLst/>
          </a:prstGeom>
          <a:noFill/>
          <a:ln/>
        </p:spPr>
        <p:txBody>
          <a:bodyPr wrap="square" lIns="0" tIns="0" rIns="0" bIns="0" rtlCol="0" anchor="t">
            <a:normAutofit/>
          </a:bodyPr>
          <a:lstStyle/>
          <a:p>
            <a:pPr marL="0" indent="0" algn="l">
              <a:buNone/>
            </a:pPr>
            <a:r>
              <a:rPr lang="en-US" sz="1080" b="1" dirty="0">
                <a:solidFill>
                  <a:srgbClr val="07182F"/>
                </a:solidFill>
                <a:latin typeface="Arial" pitchFamily="34" charset="0"/>
                <a:ea typeface="Arial" pitchFamily="34" charset="-122"/>
                <a:cs typeface="Arial" pitchFamily="34" charset="-120"/>
              </a:rPr>
              <a:t>Mô phỏng 3D thử nghiệm</a:t>
            </a:r>
            <a:endParaRPr lang="en-US" sz="1080" dirty="0"/>
          </a:p>
        </p:txBody>
      </p:sp>
      <p:sp>
        <p:nvSpPr>
          <p:cNvPr id="48" name="Text 45"/>
          <p:cNvSpPr txBox="1"/>
          <p:nvPr/>
        </p:nvSpPr>
        <p:spPr>
          <a:xfrm>
            <a:off x="2816352" y="5577840"/>
            <a:ext cx="1481328" cy="182880"/>
          </a:xfrm>
          <a:prstGeom prst="rect">
            <a:avLst/>
          </a:prstGeom>
          <a:noFill/>
          <a:ln/>
        </p:spPr>
        <p:txBody>
          <a:bodyPr wrap="square" lIns="0" tIns="0" rIns="0" bIns="0" rtlCol="0" anchor="t">
            <a:normAutofit/>
          </a:bodyPr>
          <a:lstStyle/>
          <a:p>
            <a:pPr marL="0" indent="0" algn="ctr">
              <a:buNone/>
            </a:pPr>
            <a:r>
              <a:rPr lang="en-US" sz="950" b="1" dirty="0">
                <a:solidFill>
                  <a:srgbClr val="B42318"/>
                </a:solidFill>
                <a:latin typeface="Arial" pitchFamily="34" charset="0"/>
                <a:ea typeface="Arial" pitchFamily="34" charset="-122"/>
                <a:cs typeface="Arial" pitchFamily="34" charset="-120"/>
              </a:rPr>
              <a:t>DỪNG DO MÔI TRƯỜNG</a:t>
            </a:r>
            <a:endParaRPr lang="en-US" sz="950" dirty="0"/>
          </a:p>
        </p:txBody>
      </p:sp>
      <p:sp>
        <p:nvSpPr>
          <p:cNvPr id="49" name="Text 46"/>
          <p:cNvSpPr txBox="1"/>
          <p:nvPr/>
        </p:nvSpPr>
        <p:spPr>
          <a:xfrm>
            <a:off x="4407408" y="5559552"/>
            <a:ext cx="3054096" cy="237744"/>
          </a:xfrm>
          <a:prstGeom prst="rect">
            <a:avLst/>
          </a:prstGeom>
          <a:noFill/>
          <a:ln/>
        </p:spPr>
        <p:txBody>
          <a:bodyPr wrap="square" lIns="0" tIns="0" rIns="0" bIns="0" rtlCol="0" anchor="ctr">
            <a:normAutofit/>
          </a:bodyPr>
          <a:lstStyle/>
          <a:p>
            <a:pPr marL="0" indent="0" algn="l">
              <a:buNone/>
            </a:pPr>
            <a:r>
              <a:rPr lang="en-US" sz="950" dirty="0">
                <a:solidFill>
                  <a:srgbClr val="5B6B80"/>
                </a:solidFill>
                <a:latin typeface="Arial" pitchFamily="34" charset="0"/>
                <a:ea typeface="Arial" pitchFamily="34" charset="-122"/>
                <a:cs typeface="Arial" pitchFamily="34" charset="-120"/>
              </a:rPr>
              <a:t>Nhật ký ghi Playwright không tìm thấy Chromium; cần chạy lại trong môi trường đủ trình duyệt</a:t>
            </a:r>
            <a:endParaRPr lang="en-US" sz="950" dirty="0"/>
          </a:p>
        </p:txBody>
      </p:sp>
      <p:sp>
        <p:nvSpPr>
          <p:cNvPr id="50" name="Text 47"/>
          <p:cNvSpPr txBox="1"/>
          <p:nvPr/>
        </p:nvSpPr>
        <p:spPr>
          <a:xfrm>
            <a:off x="7918704" y="1856232"/>
            <a:ext cx="3611880" cy="256032"/>
          </a:xfrm>
          <a:prstGeom prst="rect">
            <a:avLst/>
          </a:prstGeom>
          <a:noFill/>
          <a:ln/>
        </p:spPr>
        <p:txBody>
          <a:bodyPr wrap="square" lIns="0" tIns="0" rIns="0" bIns="0" rtlCol="0" anchor="t">
            <a:normAutofit/>
          </a:bodyPr>
          <a:lstStyle/>
          <a:p>
            <a:pPr marL="0" indent="0" algn="ctr">
              <a:buNone/>
            </a:pPr>
            <a:r>
              <a:rPr lang="en-US" sz="1200" b="1" dirty="0">
                <a:solidFill>
                  <a:srgbClr val="9A5B00"/>
                </a:solidFill>
                <a:latin typeface="Arial" pitchFamily="34" charset="0"/>
                <a:ea typeface="Arial" pitchFamily="34" charset="-122"/>
                <a:cs typeface="Arial" pitchFamily="34" charset="-120"/>
              </a:rPr>
              <a:t>04 NỘI DUNG CẦN ĐÁNH GIÁ ĐỘC LẬP</a:t>
            </a:r>
            <a:endParaRPr lang="en-US" sz="1200" dirty="0"/>
          </a:p>
        </p:txBody>
      </p:sp>
      <p:sp>
        <p:nvSpPr>
          <p:cNvPr id="51" name="Shape 48"/>
          <p:cNvSpPr/>
          <p:nvPr/>
        </p:nvSpPr>
        <p:spPr>
          <a:xfrm>
            <a:off x="7882128" y="2157984"/>
            <a:ext cx="3657600" cy="804672"/>
          </a:xfrm>
          <a:prstGeom prst="roundRect">
            <a:avLst>
              <a:gd name="adj" fmla="val 4545"/>
            </a:avLst>
          </a:prstGeom>
          <a:solidFill>
            <a:srgbClr val="FFF8ED"/>
          </a:solidFill>
          <a:ln w="12700">
            <a:solidFill>
              <a:srgbClr val="9A5B00"/>
            </a:solidFill>
            <a:prstDash val="solid"/>
          </a:ln>
        </p:spPr>
      </p:sp>
      <p:sp>
        <p:nvSpPr>
          <p:cNvPr id="52" name="Text 49"/>
          <p:cNvSpPr txBox="1"/>
          <p:nvPr/>
        </p:nvSpPr>
        <p:spPr>
          <a:xfrm>
            <a:off x="8065008" y="2249424"/>
            <a:ext cx="3291840" cy="256032"/>
          </a:xfrm>
          <a:prstGeom prst="rect">
            <a:avLst/>
          </a:prstGeom>
          <a:noFill/>
          <a:ln/>
        </p:spPr>
        <p:txBody>
          <a:bodyPr wrap="square" lIns="0" tIns="0" rIns="0" bIns="0" rtlCol="0" anchor="t">
            <a:normAutofit/>
          </a:bodyPr>
          <a:lstStyle/>
          <a:p>
            <a:pPr marL="0" indent="0" algn="ctr">
              <a:buNone/>
            </a:pPr>
            <a:r>
              <a:rPr lang="en-US" sz="1220" b="1" dirty="0">
                <a:solidFill>
                  <a:srgbClr val="07182F"/>
                </a:solidFill>
                <a:latin typeface="Arial" pitchFamily="34" charset="0"/>
                <a:ea typeface="Arial" pitchFamily="34" charset="-122"/>
                <a:cs typeface="Arial" pitchFamily="34" charset="-120"/>
              </a:rPr>
              <a:t>Thẩm định học thuật độc lập</a:t>
            </a:r>
            <a:endParaRPr lang="en-US" sz="1220" dirty="0"/>
          </a:p>
        </p:txBody>
      </p:sp>
      <p:sp>
        <p:nvSpPr>
          <p:cNvPr id="53" name="Text 50"/>
          <p:cNvSpPr txBox="1"/>
          <p:nvPr/>
        </p:nvSpPr>
        <p:spPr>
          <a:xfrm>
            <a:off x="8101584" y="2542032"/>
            <a:ext cx="3218688" cy="274320"/>
          </a:xfrm>
          <a:prstGeom prst="rect">
            <a:avLst/>
          </a:prstGeom>
          <a:noFill/>
          <a:ln/>
        </p:spPr>
        <p:txBody>
          <a:bodyPr wrap="square" lIns="0" tIns="0" rIns="0" bIns="0" rtlCol="0" anchor="ctr">
            <a:normAutofit/>
          </a:bodyPr>
          <a:lstStyle/>
          <a:p>
            <a:pPr marL="0" indent="0" algn="ctr">
              <a:buNone/>
            </a:pPr>
            <a:r>
              <a:rPr lang="en-US" sz="1020" dirty="0">
                <a:solidFill>
                  <a:srgbClr val="5B6B80"/>
                </a:solidFill>
                <a:latin typeface="Arial" pitchFamily="34" charset="0"/>
                <a:ea typeface="Arial" pitchFamily="34" charset="-122"/>
                <a:cs typeface="Arial" pitchFamily="34" charset="-120"/>
              </a:rPr>
              <a:t>Quyết định học thuật do chuyên gia/đơn vị thẩm định ký</a:t>
            </a:r>
            <a:endParaRPr lang="en-US" sz="1020" dirty="0"/>
          </a:p>
        </p:txBody>
      </p:sp>
      <p:sp>
        <p:nvSpPr>
          <p:cNvPr id="54" name="Shape 51"/>
          <p:cNvSpPr/>
          <p:nvPr/>
        </p:nvSpPr>
        <p:spPr>
          <a:xfrm>
            <a:off x="7882128" y="3108960"/>
            <a:ext cx="3657600" cy="804672"/>
          </a:xfrm>
          <a:prstGeom prst="roundRect">
            <a:avLst>
              <a:gd name="adj" fmla="val 4545"/>
            </a:avLst>
          </a:prstGeom>
          <a:solidFill>
            <a:srgbClr val="FFF8ED"/>
          </a:solidFill>
          <a:ln w="12700">
            <a:solidFill>
              <a:srgbClr val="9A5B00"/>
            </a:solidFill>
            <a:prstDash val="solid"/>
          </a:ln>
        </p:spPr>
      </p:sp>
      <p:sp>
        <p:nvSpPr>
          <p:cNvPr id="55" name="Text 52"/>
          <p:cNvSpPr txBox="1"/>
          <p:nvPr/>
        </p:nvSpPr>
        <p:spPr>
          <a:xfrm>
            <a:off x="8065008" y="3200400"/>
            <a:ext cx="3291840" cy="256032"/>
          </a:xfrm>
          <a:prstGeom prst="rect">
            <a:avLst/>
          </a:prstGeom>
          <a:noFill/>
          <a:ln/>
        </p:spPr>
        <p:txBody>
          <a:bodyPr wrap="square" lIns="0" tIns="0" rIns="0" bIns="0" rtlCol="0" anchor="t">
            <a:normAutofit/>
          </a:bodyPr>
          <a:lstStyle/>
          <a:p>
            <a:pPr marL="0" indent="0" algn="ctr">
              <a:buNone/>
            </a:pPr>
            <a:r>
              <a:rPr lang="en-US" sz="1220" b="1" dirty="0">
                <a:solidFill>
                  <a:srgbClr val="07182F"/>
                </a:solidFill>
                <a:latin typeface="Arial" pitchFamily="34" charset="0"/>
                <a:ea typeface="Arial" pitchFamily="34" charset="-122"/>
                <a:cs typeface="Arial" pitchFamily="34" charset="-120"/>
              </a:rPr>
              <a:t>Đánh giá khả năng tiếp cận độc lập</a:t>
            </a:r>
            <a:endParaRPr lang="en-US" sz="1220" dirty="0"/>
          </a:p>
        </p:txBody>
      </p:sp>
      <p:sp>
        <p:nvSpPr>
          <p:cNvPr id="56" name="Text 53"/>
          <p:cNvSpPr txBox="1"/>
          <p:nvPr/>
        </p:nvSpPr>
        <p:spPr>
          <a:xfrm>
            <a:off x="8101584" y="3493008"/>
            <a:ext cx="3218688" cy="274320"/>
          </a:xfrm>
          <a:prstGeom prst="rect">
            <a:avLst/>
          </a:prstGeom>
          <a:noFill/>
          <a:ln/>
        </p:spPr>
        <p:txBody>
          <a:bodyPr wrap="square" lIns="0" tIns="0" rIns="0" bIns="0" rtlCol="0" anchor="ctr">
            <a:normAutofit/>
          </a:bodyPr>
          <a:lstStyle/>
          <a:p>
            <a:pPr marL="0" indent="0" algn="ctr">
              <a:buNone/>
            </a:pPr>
            <a:r>
              <a:rPr lang="en-US" sz="1020" dirty="0">
                <a:solidFill>
                  <a:srgbClr val="5B6B80"/>
                </a:solidFill>
                <a:latin typeface="Arial" pitchFamily="34" charset="0"/>
                <a:ea typeface="Arial" pitchFamily="34" charset="-122"/>
                <a:cs typeface="Arial" pitchFamily="34" charset="-120"/>
              </a:rPr>
              <a:t>Biên bản kiểm tra trình đọc màn hình, bàn phím và khả năng hiển thị lại khi phóng to</a:t>
            </a:r>
            <a:endParaRPr lang="en-US" sz="1020" dirty="0"/>
          </a:p>
        </p:txBody>
      </p:sp>
      <p:sp>
        <p:nvSpPr>
          <p:cNvPr id="57" name="Shape 54"/>
          <p:cNvSpPr/>
          <p:nvPr/>
        </p:nvSpPr>
        <p:spPr>
          <a:xfrm>
            <a:off x="7882128" y="4059936"/>
            <a:ext cx="3657600" cy="804672"/>
          </a:xfrm>
          <a:prstGeom prst="roundRect">
            <a:avLst>
              <a:gd name="adj" fmla="val 4545"/>
            </a:avLst>
          </a:prstGeom>
          <a:solidFill>
            <a:srgbClr val="FFF8ED"/>
          </a:solidFill>
          <a:ln w="12700">
            <a:solidFill>
              <a:srgbClr val="9A5B00"/>
            </a:solidFill>
            <a:prstDash val="solid"/>
          </a:ln>
        </p:spPr>
      </p:sp>
      <p:sp>
        <p:nvSpPr>
          <p:cNvPr id="58" name="Text 55"/>
          <p:cNvSpPr txBox="1"/>
          <p:nvPr/>
        </p:nvSpPr>
        <p:spPr>
          <a:xfrm>
            <a:off x="8065008" y="4151376"/>
            <a:ext cx="3291840" cy="256032"/>
          </a:xfrm>
          <a:prstGeom prst="rect">
            <a:avLst/>
          </a:prstGeom>
          <a:noFill/>
          <a:ln/>
        </p:spPr>
        <p:txBody>
          <a:bodyPr wrap="square" lIns="0" tIns="0" rIns="0" bIns="0" rtlCol="0" anchor="t">
            <a:normAutofit/>
          </a:bodyPr>
          <a:lstStyle/>
          <a:p>
            <a:pPr marL="0" indent="0" algn="ctr">
              <a:buNone/>
            </a:pPr>
            <a:r>
              <a:rPr lang="en-US" sz="1220" b="1" dirty="0">
                <a:solidFill>
                  <a:srgbClr val="07182F"/>
                </a:solidFill>
                <a:latin typeface="Arial" pitchFamily="34" charset="0"/>
                <a:ea typeface="Arial" pitchFamily="34" charset="-122"/>
                <a:cs typeface="Arial" pitchFamily="34" charset="-120"/>
              </a:rPr>
              <a:t>Chạy thử độc lập trên thiết bị thật</a:t>
            </a:r>
            <a:endParaRPr lang="en-US" sz="1220" dirty="0"/>
          </a:p>
        </p:txBody>
      </p:sp>
      <p:sp>
        <p:nvSpPr>
          <p:cNvPr id="59" name="Text 56"/>
          <p:cNvSpPr txBox="1"/>
          <p:nvPr/>
        </p:nvSpPr>
        <p:spPr>
          <a:xfrm>
            <a:off x="8101584" y="4443984"/>
            <a:ext cx="3218688" cy="274320"/>
          </a:xfrm>
          <a:prstGeom prst="rect">
            <a:avLst/>
          </a:prstGeom>
          <a:noFill/>
          <a:ln/>
        </p:spPr>
        <p:txBody>
          <a:bodyPr wrap="square" lIns="0" tIns="0" rIns="0" bIns="0" rtlCol="0" anchor="ctr">
            <a:normAutofit/>
          </a:bodyPr>
          <a:lstStyle/>
          <a:p>
            <a:pPr marL="0" indent="0" algn="ctr">
              <a:buNone/>
            </a:pPr>
            <a:r>
              <a:rPr lang="en-US" sz="1020" dirty="0">
                <a:solidFill>
                  <a:srgbClr val="5B6B80"/>
                </a:solidFill>
                <a:latin typeface="Arial" pitchFamily="34" charset="0"/>
                <a:ea typeface="Arial" pitchFamily="34" charset="-122"/>
                <a:cs typeface="Arial" pitchFamily="34" charset="-120"/>
              </a:rPr>
              <a:t>Phiếu chạy file:// và HTTP trên thiết bị thật</a:t>
            </a:r>
            <a:endParaRPr lang="en-US" sz="1020" dirty="0"/>
          </a:p>
        </p:txBody>
      </p:sp>
      <p:sp>
        <p:nvSpPr>
          <p:cNvPr id="60" name="Shape 57"/>
          <p:cNvSpPr/>
          <p:nvPr/>
        </p:nvSpPr>
        <p:spPr>
          <a:xfrm>
            <a:off x="7882128" y="5010912"/>
            <a:ext cx="3657600" cy="804672"/>
          </a:xfrm>
          <a:prstGeom prst="roundRect">
            <a:avLst>
              <a:gd name="adj" fmla="val 4545"/>
            </a:avLst>
          </a:prstGeom>
          <a:solidFill>
            <a:srgbClr val="FFF8ED"/>
          </a:solidFill>
          <a:ln w="12700">
            <a:solidFill>
              <a:srgbClr val="9A5B00"/>
            </a:solidFill>
            <a:prstDash val="solid"/>
          </a:ln>
        </p:spPr>
      </p:sp>
      <p:sp>
        <p:nvSpPr>
          <p:cNvPr id="61" name="Text 58"/>
          <p:cNvSpPr txBox="1"/>
          <p:nvPr/>
        </p:nvSpPr>
        <p:spPr>
          <a:xfrm>
            <a:off x="8065008" y="5102352"/>
            <a:ext cx="3291840" cy="256032"/>
          </a:xfrm>
          <a:prstGeom prst="rect">
            <a:avLst/>
          </a:prstGeom>
          <a:noFill/>
          <a:ln/>
        </p:spPr>
        <p:txBody>
          <a:bodyPr wrap="square" lIns="0" tIns="0" rIns="0" bIns="0" rtlCol="0" anchor="t">
            <a:normAutofit/>
          </a:bodyPr>
          <a:lstStyle/>
          <a:p>
            <a:pPr marL="0" indent="0" algn="ctr">
              <a:buNone/>
            </a:pPr>
            <a:r>
              <a:rPr lang="en-US" sz="1220" b="1" dirty="0">
                <a:solidFill>
                  <a:srgbClr val="07182F"/>
                </a:solidFill>
                <a:latin typeface="Arial" pitchFamily="34" charset="0"/>
                <a:ea typeface="Arial" pitchFamily="34" charset="-122"/>
                <a:cs typeface="Arial" pitchFamily="34" charset="-120"/>
              </a:rPr>
              <a:t>Đối sánh vòng lặp Word độc lập</a:t>
            </a:r>
            <a:endParaRPr lang="en-US" sz="1220" dirty="0"/>
          </a:p>
        </p:txBody>
      </p:sp>
      <p:sp>
        <p:nvSpPr>
          <p:cNvPr id="62" name="Text 59"/>
          <p:cNvSpPr txBox="1"/>
          <p:nvPr/>
        </p:nvSpPr>
        <p:spPr>
          <a:xfrm>
            <a:off x="8101584" y="5394960"/>
            <a:ext cx="3218688" cy="274320"/>
          </a:xfrm>
          <a:prstGeom prst="rect">
            <a:avLst/>
          </a:prstGeom>
          <a:noFill/>
          <a:ln/>
        </p:spPr>
        <p:txBody>
          <a:bodyPr wrap="square" lIns="0" tIns="0" rIns="0" bIns="0" rtlCol="0" anchor="ctr">
            <a:normAutofit/>
          </a:bodyPr>
          <a:lstStyle/>
          <a:p>
            <a:pPr marL="0" indent="0" algn="ctr">
              <a:buNone/>
            </a:pPr>
            <a:r>
              <a:rPr lang="en-US" sz="1020" dirty="0">
                <a:solidFill>
                  <a:srgbClr val="5B6B80"/>
                </a:solidFill>
                <a:latin typeface="Arial" pitchFamily="34" charset="0"/>
                <a:ea typeface="Arial" pitchFamily="34" charset="-122"/>
                <a:cs typeface="Arial" pitchFamily="34" charset="-120"/>
              </a:rPr>
              <a:t>Biên bản đối sánh mức giữ nguyên nội dung và định dạng của tệp Word</a:t>
            </a:r>
            <a:endParaRPr lang="en-US" sz="1020" dirty="0"/>
          </a:p>
        </p:txBody>
      </p:sp>
      <p:sp>
        <p:nvSpPr>
          <p:cNvPr id="63" name="Shape 60"/>
          <p:cNvSpPr/>
          <p:nvPr/>
        </p:nvSpPr>
        <p:spPr>
          <a:xfrm>
            <a:off x="7882128" y="5980176"/>
            <a:ext cx="3657600" cy="292608"/>
          </a:xfrm>
          <a:prstGeom prst="roundRect">
            <a:avLst>
              <a:gd name="adj" fmla="val 12500"/>
            </a:avLst>
          </a:prstGeom>
          <a:solidFill>
            <a:srgbClr val="EEF2F7"/>
          </a:solidFill>
          <a:ln w="12700">
            <a:solidFill>
              <a:srgbClr val="D7DEE8"/>
            </a:solidFill>
            <a:prstDash val="solid"/>
          </a:ln>
        </p:spPr>
      </p:sp>
      <p:sp>
        <p:nvSpPr>
          <p:cNvPr id="64" name="Text 61"/>
          <p:cNvSpPr txBox="1"/>
          <p:nvPr/>
        </p:nvSpPr>
        <p:spPr>
          <a:xfrm>
            <a:off x="8065008" y="6035040"/>
            <a:ext cx="3291840" cy="146304"/>
          </a:xfrm>
          <a:prstGeom prst="rect">
            <a:avLst/>
          </a:prstGeom>
          <a:noFill/>
          <a:ln/>
        </p:spPr>
        <p:txBody>
          <a:bodyPr wrap="square" lIns="0" tIns="0" rIns="0" bIns="0" rtlCol="0" anchor="t">
            <a:normAutofit/>
          </a:bodyPr>
          <a:lstStyle/>
          <a:p>
            <a:pPr marL="0" indent="0" algn="ctr">
              <a:buNone/>
            </a:pPr>
            <a:r>
              <a:rPr lang="en-US" sz="880" b="1" dirty="0">
                <a:solidFill>
                  <a:srgbClr val="0D2447"/>
                </a:solidFill>
                <a:latin typeface="Arial" pitchFamily="34" charset="0"/>
                <a:ea typeface="Arial" pitchFamily="34" charset="-122"/>
                <a:cs typeface="Arial" pitchFamily="34" charset="-120"/>
              </a:rPr>
              <a:t>Không dùng trạng thái dừng để kết luận phép kiểm tra chuyên môn đã sai.</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a:effectLst/>
      </p:bgPr>
    </p:bg>
    <p:spTree>
      <p:nvGrpSpPr>
        <p:cNvPr id="1" name=""/>
        <p:cNvGrpSpPr/>
        <p:nvPr/>
      </p:nvGrpSpPr>
      <p:grpSpPr>
        <a:xfrm>
          <a:off x="0" y="0"/>
          <a:ext cx="0" cy="0"/>
          <a:chOff x="0" y="0"/>
          <a:chExt cx="0" cy="0"/>
        </a:xfrm>
      </p:grpSpPr>
      <p:sp>
        <p:nvSpPr>
          <p:cNvPr id="2" name="Shape 0"/>
          <p:cNvSpPr/>
          <p:nvPr/>
        </p:nvSpPr>
        <p:spPr>
          <a:xfrm>
            <a:off x="612648" y="393192"/>
            <a:ext cx="475488" cy="0"/>
          </a:xfrm>
          <a:prstGeom prst="line">
            <a:avLst/>
          </a:prstGeom>
          <a:noFill/>
          <a:ln w="12700">
            <a:solidFill>
              <a:srgbClr val="C9963A"/>
            </a:solidFill>
            <a:prstDash val="solid"/>
          </a:ln>
        </p:spPr>
      </p:sp>
      <p:sp>
        <p:nvSpPr>
          <p:cNvPr id="3" name="Text 1"/>
          <p:cNvSpPr txBox="1"/>
          <p:nvPr/>
        </p:nvSpPr>
        <p:spPr>
          <a:xfrm>
            <a:off x="1207008" y="256032"/>
            <a:ext cx="4114800" cy="228600"/>
          </a:xfrm>
          <a:prstGeom prst="rect">
            <a:avLst/>
          </a:prstGeom>
          <a:noFill/>
          <a:ln/>
        </p:spPr>
        <p:txBody>
          <a:bodyPr wrap="square" lIns="0" tIns="0" rIns="0" bIns="0" rtlCol="0" anchor="ctr">
            <a:normAutofit/>
          </a:bodyPr>
          <a:lstStyle/>
          <a:p>
            <a:pPr marL="0" indent="0" algn="l">
              <a:buNone/>
            </a:pPr>
            <a:r>
              <a:rPr lang="en-US" sz="950" b="1" dirty="0">
                <a:solidFill>
                  <a:srgbClr val="5B6B80"/>
                </a:solidFill>
                <a:latin typeface="Arial" pitchFamily="34" charset="0"/>
                <a:ea typeface="Arial" pitchFamily="34" charset="-122"/>
                <a:cs typeface="Arial" pitchFamily="34" charset="-120"/>
              </a:rPr>
              <a:t>PHỤ LỤC / DỰ PHÒNG</a:t>
            </a:r>
            <a:endParaRPr lang="en-US" sz="950" dirty="0"/>
          </a:p>
        </p:txBody>
      </p:sp>
      <p:sp>
        <p:nvSpPr>
          <p:cNvPr id="4" name="Text 0"/>
          <p:cNvSpPr>
            <a:spLocks noGrp="1"/>
          </p:cNvSpPr>
          <p:nvPr>
            <p:ph type="title" idx="100" hasCustomPrompt="1"/>
          </p:nvPr>
        </p:nvSpPr>
        <p:spPr>
          <a:xfrm>
            <a:off x="612648" y="621792"/>
            <a:ext cx="10972800" cy="713232"/>
          </a:xfrm>
          <a:prstGeom prst="rect">
            <a:avLst/>
          </a:prstGeom>
          <a:noFill/>
          <a:ln/>
        </p:spPr>
        <p:txBody>
          <a:bodyPr wrap="square" lIns="0" tIns="0" rIns="0" bIns="0" rtlCol="0" anchor="ctr">
            <a:normAutofit/>
          </a:bodyPr>
          <a:lstStyle/>
          <a:p>
            <a:pPr marL="0" indent="0" algn="l">
              <a:buNone/>
            </a:pPr>
            <a:r>
              <a:rPr lang="en-US" sz="3400" b="1" dirty="0">
                <a:solidFill>
                  <a:srgbClr val="07182F"/>
                </a:solidFill>
                <a:latin typeface="Georgia" pitchFamily="34" charset="0"/>
                <a:ea typeface="Georgia" pitchFamily="34" charset="-122"/>
                <a:cs typeface="Georgia" pitchFamily="34" charset="-120"/>
              </a:rPr>
              <a:t>Phụ lục · Hỏi đáp ngắn theo dữ liệu hiện hành</a:t>
            </a:r>
            <a:endParaRPr lang="en-US" sz="3600" dirty="0"/>
          </a:p>
        </p:txBody>
      </p:sp>
      <p:sp>
        <p:nvSpPr>
          <p:cNvPr id="5" name="Text 3"/>
          <p:cNvSpPr txBox="1"/>
          <p:nvPr/>
        </p:nvSpPr>
        <p:spPr>
          <a:xfrm>
            <a:off x="11109960" y="256032"/>
            <a:ext cx="457200" cy="228600"/>
          </a:xfrm>
          <a:prstGeom prst="rect">
            <a:avLst/>
          </a:prstGeom>
          <a:noFill/>
          <a:ln/>
        </p:spPr>
        <p:txBody>
          <a:bodyPr wrap="square" lIns="0" tIns="0" rIns="0" bIns="0" rtlCol="0" anchor="t">
            <a:normAutofit/>
          </a:bodyPr>
          <a:lstStyle/>
          <a:p>
            <a:pPr marL="0" indent="0" algn="r">
              <a:buNone/>
            </a:pPr>
            <a:r>
              <a:rPr lang="en-US" sz="1000" b="1" dirty="0">
                <a:solidFill>
                  <a:srgbClr val="C9963A"/>
                </a:solidFill>
                <a:latin typeface="Arial" pitchFamily="34" charset="0"/>
                <a:ea typeface="Arial" pitchFamily="34" charset="-122"/>
                <a:cs typeface="Arial" pitchFamily="34" charset="-120"/>
              </a:rPr>
              <a:t>19</a:t>
            </a:r>
            <a:endParaRPr lang="en-US" sz="1000" dirty="0"/>
          </a:p>
        </p:txBody>
      </p:sp>
      <p:sp>
        <p:nvSpPr>
          <p:cNvPr id="6" name="Shape 4"/>
          <p:cNvSpPr/>
          <p:nvPr/>
        </p:nvSpPr>
        <p:spPr>
          <a:xfrm>
            <a:off x="612648" y="1408176"/>
            <a:ext cx="10972800" cy="475488"/>
          </a:xfrm>
          <a:prstGeom prst="rect">
            <a:avLst/>
          </a:prstGeom>
          <a:solidFill>
            <a:srgbClr val="EEF2F7"/>
          </a:solidFill>
          <a:ln w="12700">
            <a:solidFill>
              <a:srgbClr val="D7DEE8"/>
            </a:solidFill>
            <a:prstDash val="solid"/>
          </a:ln>
        </p:spPr>
      </p:sp>
      <p:sp>
        <p:nvSpPr>
          <p:cNvPr id="7" name="Text 5"/>
          <p:cNvSpPr txBox="1"/>
          <p:nvPr/>
        </p:nvSpPr>
        <p:spPr>
          <a:xfrm>
            <a:off x="777240" y="1453896"/>
            <a:ext cx="10652760" cy="384048"/>
          </a:xfrm>
          <a:prstGeom prst="rect">
            <a:avLst/>
          </a:prstGeom>
          <a:noFill/>
          <a:ln/>
        </p:spPr>
        <p:txBody>
          <a:bodyPr wrap="square" lIns="0" tIns="0" rIns="0" bIns="0" rtlCol="0" anchor="ctr">
            <a:normAutofit/>
          </a:bodyPr>
          <a:lstStyle/>
          <a:p>
            <a:pPr marL="0" indent="0" algn="l">
              <a:buNone/>
            </a:pPr>
            <a:r>
              <a:rPr lang="en-US" sz="1700" b="1" dirty="0">
                <a:solidFill>
                  <a:srgbClr val="0D2447"/>
                </a:solidFill>
                <a:latin typeface="Arial" pitchFamily="34" charset="0"/>
                <a:ea typeface="Arial" pitchFamily="34" charset="-122"/>
                <a:cs typeface="Arial" pitchFamily="34" charset="-120"/>
              </a:rPr>
              <a:t>Trả lời đúng phạm vi dữ liệu; phân biệt kết quả xây dựng, ý kiến học thuật và trạng thái phát hành.</a:t>
            </a:r>
            <a:endParaRPr lang="en-US" sz="1700" dirty="0"/>
          </a:p>
        </p:txBody>
      </p:sp>
      <p:sp>
        <p:nvSpPr>
          <p:cNvPr id="8" name="Shape 6"/>
          <p:cNvSpPr/>
          <p:nvPr/>
        </p:nvSpPr>
        <p:spPr>
          <a:xfrm>
            <a:off x="612648" y="6519672"/>
            <a:ext cx="10972800" cy="0"/>
          </a:xfrm>
          <a:prstGeom prst="line">
            <a:avLst/>
          </a:prstGeom>
          <a:noFill/>
          <a:ln w="12700">
            <a:solidFill>
              <a:srgbClr val="D7DEE8"/>
            </a:solidFill>
            <a:prstDash val="solid"/>
          </a:ln>
        </p:spPr>
      </p:sp>
      <p:sp>
        <p:nvSpPr>
          <p:cNvPr id="9" name="Text 7"/>
          <p:cNvSpPr txBox="1"/>
          <p:nvPr/>
        </p:nvSpPr>
        <p:spPr>
          <a:xfrm>
            <a:off x="612648" y="6583680"/>
            <a:ext cx="3566160" cy="146304"/>
          </a:xfrm>
          <a:prstGeom prst="rect">
            <a:avLst/>
          </a:prstGeom>
          <a:noFill/>
          <a:ln/>
        </p:spPr>
        <p:txBody>
          <a:bodyPr wrap="square" lIns="0" tIns="0" rIns="0" bIns="0" rtlCol="0" anchor="t">
            <a:normAutofit/>
          </a:bodyPr>
          <a:lstStyle/>
          <a:p>
            <a:pPr marL="0" indent="0" algn="l">
              <a:buNone/>
            </a:pPr>
            <a:r>
              <a:rPr lang="en-US" sz="820" b="1" dirty="0">
                <a:solidFill>
                  <a:srgbClr val="5B6B80"/>
                </a:solidFill>
                <a:latin typeface="Arial" pitchFamily="34" charset="0"/>
                <a:ea typeface="Arial" pitchFamily="34" charset="-122"/>
                <a:cs typeface="Arial" pitchFamily="34" charset="-120"/>
              </a:rPr>
              <a:t>PHỤ LỤC / DỰ PHÒNG</a:t>
            </a:r>
            <a:endParaRPr lang="en-US" sz="820" dirty="0"/>
          </a:p>
        </p:txBody>
      </p:sp>
      <p:sp>
        <p:nvSpPr>
          <p:cNvPr id="10" name="Text 8"/>
          <p:cNvSpPr txBox="1"/>
          <p:nvPr/>
        </p:nvSpPr>
        <p:spPr>
          <a:xfrm>
            <a:off x="3794760" y="6583680"/>
            <a:ext cx="7086600" cy="146304"/>
          </a:xfrm>
          <a:prstGeom prst="rect">
            <a:avLst/>
          </a:prstGeom>
          <a:noFill/>
          <a:ln/>
        </p:spPr>
        <p:txBody>
          <a:bodyPr wrap="square" lIns="0" tIns="0" rIns="0" bIns="0" rtlCol="0" anchor="t">
            <a:normAutofit/>
          </a:bodyPr>
          <a:lstStyle/>
          <a:p>
            <a:pPr marL="0" indent="0" algn="ctr">
              <a:buNone/>
            </a:pPr>
            <a:r>
              <a:rPr lang="en-US" sz="760" dirty="0">
                <a:solidFill>
                  <a:srgbClr val="5B6B80"/>
                </a:solidFill>
                <a:latin typeface="Arial" pitchFamily="34" charset="0"/>
                <a:ea typeface="Arial" pitchFamily="34" charset="-122"/>
                <a:cs typeface="Arial" pitchFamily="34" charset="-120"/>
              </a:rPr>
              <a:t>PL-HOI-DAP</a:t>
            </a:r>
            <a:endParaRPr lang="en-US" sz="760" dirty="0"/>
          </a:p>
        </p:txBody>
      </p:sp>
      <p:sp>
        <p:nvSpPr>
          <p:cNvPr id="11" name="Text 9"/>
          <p:cNvSpPr txBox="1"/>
          <p:nvPr/>
        </p:nvSpPr>
        <p:spPr>
          <a:xfrm>
            <a:off x="11064240" y="6583680"/>
            <a:ext cx="502920" cy="146304"/>
          </a:xfrm>
          <a:prstGeom prst="rect">
            <a:avLst/>
          </a:prstGeom>
          <a:noFill/>
          <a:ln/>
        </p:spPr>
        <p:txBody>
          <a:bodyPr wrap="square" lIns="0" tIns="0" rIns="0" bIns="0" rtlCol="0" anchor="t">
            <a:normAutofit/>
          </a:bodyPr>
          <a:lstStyle/>
          <a:p>
            <a:pPr marL="0" indent="0" algn="r">
              <a:buNone/>
            </a:pPr>
            <a:r>
              <a:rPr lang="en-US" sz="820" dirty="0">
                <a:solidFill>
                  <a:srgbClr val="5B6B80"/>
                </a:solidFill>
                <a:latin typeface="Arial" pitchFamily="34" charset="0"/>
                <a:ea typeface="Arial" pitchFamily="34" charset="-122"/>
                <a:cs typeface="Arial" pitchFamily="34" charset="-120"/>
              </a:rPr>
              <a:t>19</a:t>
            </a:r>
            <a:endParaRPr lang="en-US" sz="820" dirty="0"/>
          </a:p>
        </p:txBody>
      </p:sp>
      <p:sp>
        <p:nvSpPr>
          <p:cNvPr id="13" name="Shape 10"/>
          <p:cNvSpPr/>
          <p:nvPr/>
        </p:nvSpPr>
        <p:spPr>
          <a:xfrm>
            <a:off x="658368" y="1993392"/>
            <a:ext cx="5321808" cy="1133856"/>
          </a:xfrm>
          <a:prstGeom prst="roundRect">
            <a:avLst>
              <a:gd name="adj" fmla="val 3226"/>
            </a:avLst>
          </a:prstGeom>
          <a:solidFill>
            <a:srgbClr val="FFFFFF"/>
          </a:solidFill>
          <a:ln w="12700">
            <a:solidFill>
              <a:srgbClr val="D7DEE8"/>
            </a:solidFill>
            <a:prstDash val="solid"/>
          </a:ln>
        </p:spPr>
      </p:sp>
      <p:sp>
        <p:nvSpPr>
          <p:cNvPr id="14" name="Text 11"/>
          <p:cNvSpPr txBox="1"/>
          <p:nvPr/>
        </p:nvSpPr>
        <p:spPr>
          <a:xfrm>
            <a:off x="822960" y="2157984"/>
            <a:ext cx="411480" cy="256032"/>
          </a:xfrm>
          <a:prstGeom prst="rect">
            <a:avLst/>
          </a:prstGeom>
          <a:noFill/>
          <a:ln/>
        </p:spPr>
        <p:txBody>
          <a:bodyPr wrap="square" lIns="0" tIns="0" rIns="0" bIns="0" rtlCol="0" anchor="t">
            <a:normAutofit/>
          </a:bodyPr>
          <a:lstStyle/>
          <a:p>
            <a:pPr marL="0" indent="0" algn="ctr">
              <a:buNone/>
            </a:pPr>
            <a:r>
              <a:rPr lang="en-US" sz="1500" b="1" dirty="0">
                <a:solidFill>
                  <a:srgbClr val="C9963A"/>
                </a:solidFill>
                <a:latin typeface="Arial" pitchFamily="34" charset="0"/>
                <a:ea typeface="Arial" pitchFamily="34" charset="-122"/>
                <a:cs typeface="Arial" pitchFamily="34" charset="-120"/>
              </a:rPr>
              <a:t>01</a:t>
            </a:r>
            <a:endParaRPr lang="en-US" sz="1500" dirty="0"/>
          </a:p>
        </p:txBody>
      </p:sp>
      <p:sp>
        <p:nvSpPr>
          <p:cNvPr id="15" name="Text 12"/>
          <p:cNvSpPr txBox="1"/>
          <p:nvPr/>
        </p:nvSpPr>
        <p:spPr>
          <a:xfrm>
            <a:off x="1371600" y="2103120"/>
            <a:ext cx="4315968" cy="384048"/>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Sản phẩm đã được chấp nhận học thuật chưa?</a:t>
            </a:r>
            <a:endParaRPr lang="en-US" sz="1700" dirty="0"/>
          </a:p>
        </p:txBody>
      </p:sp>
      <p:sp>
        <p:nvSpPr>
          <p:cNvPr id="16" name="Text 13"/>
          <p:cNvSpPr txBox="1"/>
          <p:nvPr/>
        </p:nvSpPr>
        <p:spPr>
          <a:xfrm>
            <a:off x="1371600" y="2542032"/>
            <a:ext cx="4315968" cy="493776"/>
          </a:xfrm>
          <a:prstGeom prst="rect">
            <a:avLst/>
          </a:prstGeom>
          <a:noFill/>
          <a:ln/>
        </p:spPr>
        <p:txBody>
          <a:bodyPr wrap="square" lIns="0" tIns="0" rIns="0" bIns="0" rtlCol="0" anchor="t">
            <a:normAutofit/>
          </a:bodyPr>
          <a:lstStyle/>
          <a:p>
            <a:pPr marL="0" indent="0" algn="l">
              <a:buNone/>
            </a:pPr>
            <a:r>
              <a:rPr lang="en-US" sz="1400" dirty="0">
                <a:solidFill>
                  <a:srgbClr val="5B6B80"/>
                </a:solidFill>
                <a:latin typeface="Arial" pitchFamily="34" charset="0"/>
                <a:ea typeface="Arial" pitchFamily="34" charset="-122"/>
                <a:cs typeface="Arial" pitchFamily="34" charset="-120"/>
              </a:rPr>
              <a:t>Chưa. Có 0 ký xác nhận và thẩm định học thuật chưa hoàn tất.</a:t>
            </a:r>
            <a:endParaRPr lang="en-US" sz="1400" dirty="0"/>
          </a:p>
        </p:txBody>
      </p:sp>
      <p:sp>
        <p:nvSpPr>
          <p:cNvPr id="17" name="Shape 14"/>
          <p:cNvSpPr/>
          <p:nvPr/>
        </p:nvSpPr>
        <p:spPr>
          <a:xfrm>
            <a:off x="6254496" y="1993392"/>
            <a:ext cx="5321808" cy="1133856"/>
          </a:xfrm>
          <a:prstGeom prst="roundRect">
            <a:avLst>
              <a:gd name="adj" fmla="val 3226"/>
            </a:avLst>
          </a:prstGeom>
          <a:solidFill>
            <a:srgbClr val="FFFFFF"/>
          </a:solidFill>
          <a:ln w="12700">
            <a:solidFill>
              <a:srgbClr val="D7DEE8"/>
            </a:solidFill>
            <a:prstDash val="solid"/>
          </a:ln>
        </p:spPr>
      </p:sp>
      <p:sp>
        <p:nvSpPr>
          <p:cNvPr id="18" name="Text 15"/>
          <p:cNvSpPr txBox="1"/>
          <p:nvPr/>
        </p:nvSpPr>
        <p:spPr>
          <a:xfrm>
            <a:off x="6419088" y="2157984"/>
            <a:ext cx="411480" cy="256032"/>
          </a:xfrm>
          <a:prstGeom prst="rect">
            <a:avLst/>
          </a:prstGeom>
          <a:noFill/>
          <a:ln/>
        </p:spPr>
        <p:txBody>
          <a:bodyPr wrap="square" lIns="0" tIns="0" rIns="0" bIns="0" rtlCol="0" anchor="t">
            <a:normAutofit/>
          </a:bodyPr>
          <a:lstStyle/>
          <a:p>
            <a:pPr marL="0" indent="0" algn="ctr">
              <a:buNone/>
            </a:pPr>
            <a:r>
              <a:rPr lang="en-US" sz="1500" b="1" dirty="0">
                <a:solidFill>
                  <a:srgbClr val="C9963A"/>
                </a:solidFill>
                <a:latin typeface="Arial" pitchFamily="34" charset="0"/>
                <a:ea typeface="Arial" pitchFamily="34" charset="-122"/>
                <a:cs typeface="Arial" pitchFamily="34" charset="-120"/>
              </a:rPr>
              <a:t>02</a:t>
            </a:r>
            <a:endParaRPr lang="en-US" sz="1500" dirty="0"/>
          </a:p>
        </p:txBody>
      </p:sp>
      <p:sp>
        <p:nvSpPr>
          <p:cNvPr id="19" name="Text 16"/>
          <p:cNvSpPr txBox="1"/>
          <p:nvPr/>
        </p:nvSpPr>
        <p:spPr>
          <a:xfrm>
            <a:off x="6967728" y="2103120"/>
            <a:ext cx="4315968" cy="384048"/>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Bốn chuẩn đầu ra đã chính thức chưa?</a:t>
            </a:r>
            <a:endParaRPr lang="en-US" sz="1700" dirty="0"/>
          </a:p>
        </p:txBody>
      </p:sp>
      <p:sp>
        <p:nvSpPr>
          <p:cNvPr id="20" name="Text 17"/>
          <p:cNvSpPr txBox="1"/>
          <p:nvPr/>
        </p:nvSpPr>
        <p:spPr>
          <a:xfrm>
            <a:off x="6967728" y="2542032"/>
            <a:ext cx="4315968" cy="493776"/>
          </a:xfrm>
          <a:prstGeom prst="rect">
            <a:avLst/>
          </a:prstGeom>
          <a:noFill/>
          <a:ln/>
        </p:spPr>
        <p:txBody>
          <a:bodyPr wrap="square" lIns="0" tIns="0" rIns="0" bIns="0" rtlCol="0" anchor="t">
            <a:normAutofit/>
          </a:bodyPr>
          <a:lstStyle/>
          <a:p>
            <a:pPr marL="0" indent="0" algn="l">
              <a:buNone/>
            </a:pPr>
            <a:r>
              <a:rPr lang="en-US" sz="1400" dirty="0">
                <a:solidFill>
                  <a:srgbClr val="5B6B80"/>
                </a:solidFill>
                <a:latin typeface="Arial" pitchFamily="34" charset="0"/>
                <a:ea typeface="Arial" pitchFamily="34" charset="-122"/>
                <a:cs typeface="Arial" pitchFamily="34" charset="-120"/>
              </a:rPr>
              <a:t>Chưa. 4/4 chuẩn vẫn là dự kiến sơ bộ.</a:t>
            </a:r>
            <a:endParaRPr lang="en-US" sz="1400" dirty="0"/>
          </a:p>
        </p:txBody>
      </p:sp>
      <p:sp>
        <p:nvSpPr>
          <p:cNvPr id="21" name="Shape 18"/>
          <p:cNvSpPr/>
          <p:nvPr/>
        </p:nvSpPr>
        <p:spPr>
          <a:xfrm>
            <a:off x="658368" y="3273552"/>
            <a:ext cx="5321808" cy="1133856"/>
          </a:xfrm>
          <a:prstGeom prst="roundRect">
            <a:avLst>
              <a:gd name="adj" fmla="val 3226"/>
            </a:avLst>
          </a:prstGeom>
          <a:solidFill>
            <a:srgbClr val="FFFFFF"/>
          </a:solidFill>
          <a:ln w="12700">
            <a:solidFill>
              <a:srgbClr val="D7DEE8"/>
            </a:solidFill>
            <a:prstDash val="solid"/>
          </a:ln>
        </p:spPr>
      </p:sp>
      <p:sp>
        <p:nvSpPr>
          <p:cNvPr id="22" name="Text 19"/>
          <p:cNvSpPr txBox="1"/>
          <p:nvPr/>
        </p:nvSpPr>
        <p:spPr>
          <a:xfrm>
            <a:off x="822960" y="3438144"/>
            <a:ext cx="411480" cy="256032"/>
          </a:xfrm>
          <a:prstGeom prst="rect">
            <a:avLst/>
          </a:prstGeom>
          <a:noFill/>
          <a:ln/>
        </p:spPr>
        <p:txBody>
          <a:bodyPr wrap="square" lIns="0" tIns="0" rIns="0" bIns="0" rtlCol="0" anchor="t">
            <a:normAutofit/>
          </a:bodyPr>
          <a:lstStyle/>
          <a:p>
            <a:pPr marL="0" indent="0" algn="ctr">
              <a:buNone/>
            </a:pPr>
            <a:r>
              <a:rPr lang="en-US" sz="1500" b="1" dirty="0">
                <a:solidFill>
                  <a:srgbClr val="C9963A"/>
                </a:solidFill>
                <a:latin typeface="Arial" pitchFamily="34" charset="0"/>
                <a:ea typeface="Arial" pitchFamily="34" charset="-122"/>
                <a:cs typeface="Arial" pitchFamily="34" charset="-120"/>
              </a:rPr>
              <a:t>03</a:t>
            </a:r>
            <a:endParaRPr lang="en-US" sz="1500" dirty="0"/>
          </a:p>
        </p:txBody>
      </p:sp>
      <p:sp>
        <p:nvSpPr>
          <p:cNvPr id="23" name="Text 20"/>
          <p:cNvSpPr txBox="1"/>
          <p:nvPr/>
        </p:nvSpPr>
        <p:spPr>
          <a:xfrm>
            <a:off x="1371600" y="3383280"/>
            <a:ext cx="4315968" cy="384048"/>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Ba ca đối chiếu khoa học cho thấy điều gì?</a:t>
            </a:r>
            <a:endParaRPr lang="en-US" sz="1700" dirty="0"/>
          </a:p>
        </p:txBody>
      </p:sp>
      <p:sp>
        <p:nvSpPr>
          <p:cNvPr id="24" name="Text 21"/>
          <p:cNvSpPr txBox="1"/>
          <p:nvPr/>
        </p:nvSpPr>
        <p:spPr>
          <a:xfrm>
            <a:off x="1371600" y="3822192"/>
            <a:ext cx="4315968" cy="493776"/>
          </a:xfrm>
          <a:prstGeom prst="rect">
            <a:avLst/>
          </a:prstGeom>
          <a:noFill/>
          <a:ln/>
        </p:spPr>
        <p:txBody>
          <a:bodyPr wrap="square" lIns="0" tIns="0" rIns="0" bIns="0" rtlCol="0" anchor="t">
            <a:normAutofit/>
          </a:bodyPr>
          <a:lstStyle/>
          <a:p>
            <a:pPr marL="0" indent="0" algn="l">
              <a:buNone/>
            </a:pPr>
            <a:r>
              <a:rPr lang="en-US" sz="1280" dirty="0">
                <a:solidFill>
                  <a:srgbClr val="5B6B80"/>
                </a:solidFill>
                <a:latin typeface="Arial" pitchFamily="34" charset="0"/>
                <a:ea typeface="Arial" pitchFamily="34" charset="-122"/>
                <a:cs typeface="Arial" pitchFamily="34" charset="-120"/>
              </a:rPr>
              <a:t>Cho phép đối chiếu mẫu về mô hình, công thức và giá trị hiển thị; không đại diện cho toàn bộ học liệu.</a:t>
            </a:r>
            <a:endParaRPr lang="en-US" sz="1280" dirty="0"/>
          </a:p>
        </p:txBody>
      </p:sp>
      <p:sp>
        <p:nvSpPr>
          <p:cNvPr id="25" name="Shape 22"/>
          <p:cNvSpPr/>
          <p:nvPr/>
        </p:nvSpPr>
        <p:spPr>
          <a:xfrm>
            <a:off x="6254496" y="3273552"/>
            <a:ext cx="5321808" cy="1133856"/>
          </a:xfrm>
          <a:prstGeom prst="roundRect">
            <a:avLst>
              <a:gd name="adj" fmla="val 3226"/>
            </a:avLst>
          </a:prstGeom>
          <a:solidFill>
            <a:srgbClr val="FFFFFF"/>
          </a:solidFill>
          <a:ln w="12700">
            <a:solidFill>
              <a:srgbClr val="D7DEE8"/>
            </a:solidFill>
            <a:prstDash val="solid"/>
          </a:ln>
        </p:spPr>
      </p:sp>
      <p:sp>
        <p:nvSpPr>
          <p:cNvPr id="26" name="Text 23"/>
          <p:cNvSpPr txBox="1"/>
          <p:nvPr/>
        </p:nvSpPr>
        <p:spPr>
          <a:xfrm>
            <a:off x="6419088" y="3438144"/>
            <a:ext cx="411480" cy="256032"/>
          </a:xfrm>
          <a:prstGeom prst="rect">
            <a:avLst/>
          </a:prstGeom>
          <a:noFill/>
          <a:ln/>
        </p:spPr>
        <p:txBody>
          <a:bodyPr wrap="square" lIns="0" tIns="0" rIns="0" bIns="0" rtlCol="0" anchor="t">
            <a:normAutofit/>
          </a:bodyPr>
          <a:lstStyle/>
          <a:p>
            <a:pPr marL="0" indent="0" algn="ctr">
              <a:buNone/>
            </a:pPr>
            <a:r>
              <a:rPr lang="en-US" sz="1500" b="1" dirty="0">
                <a:solidFill>
                  <a:srgbClr val="C9963A"/>
                </a:solidFill>
                <a:latin typeface="Arial" pitchFamily="34" charset="0"/>
                <a:ea typeface="Arial" pitchFamily="34" charset="-122"/>
                <a:cs typeface="Arial" pitchFamily="34" charset="-120"/>
              </a:rPr>
              <a:t>04</a:t>
            </a:r>
            <a:endParaRPr lang="en-US" sz="1500" dirty="0"/>
          </a:p>
        </p:txBody>
      </p:sp>
      <p:sp>
        <p:nvSpPr>
          <p:cNvPr id="27" name="Text 24"/>
          <p:cNvSpPr txBox="1"/>
          <p:nvPr/>
        </p:nvSpPr>
        <p:spPr>
          <a:xfrm>
            <a:off x="6967728" y="3383280"/>
            <a:ext cx="4315968" cy="384048"/>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Hội đồng được đề nghị làm gì?</a:t>
            </a:r>
            <a:endParaRPr lang="en-US" sz="1700" dirty="0"/>
          </a:p>
        </p:txBody>
      </p:sp>
      <p:sp>
        <p:nvSpPr>
          <p:cNvPr id="28" name="Text 25"/>
          <p:cNvSpPr txBox="1"/>
          <p:nvPr/>
        </p:nvSpPr>
        <p:spPr>
          <a:xfrm>
            <a:off x="6967728" y="3822192"/>
            <a:ext cx="4315968" cy="493776"/>
          </a:xfrm>
          <a:prstGeom prst="rect">
            <a:avLst/>
          </a:prstGeom>
          <a:noFill/>
          <a:ln/>
        </p:spPr>
        <p:txBody>
          <a:bodyPr wrap="square" lIns="0" tIns="0" rIns="0" bIns="0" rtlCol="0" anchor="t">
            <a:normAutofit/>
          </a:bodyPr>
          <a:lstStyle/>
          <a:p>
            <a:pPr marL="0" indent="0" algn="l">
              <a:buNone/>
            </a:pPr>
            <a:r>
              <a:rPr lang="en-US" sz="1400" dirty="0">
                <a:solidFill>
                  <a:srgbClr val="5B6B80"/>
                </a:solidFill>
                <a:latin typeface="Arial" pitchFamily="34" charset="0"/>
                <a:ea typeface="Arial" pitchFamily="34" charset="-122"/>
                <a:cs typeface="Arial" pitchFamily="34" charset="-120"/>
              </a:rPr>
              <a:t>Ghi nhận việc đã xây dựng hiện vật và cho ý kiến để nhóm tác giả hoàn thiện.</a:t>
            </a:r>
            <a:endParaRPr lang="en-US" sz="1400" dirty="0"/>
          </a:p>
        </p:txBody>
      </p:sp>
      <p:sp>
        <p:nvSpPr>
          <p:cNvPr id="29" name="Shape 26"/>
          <p:cNvSpPr/>
          <p:nvPr/>
        </p:nvSpPr>
        <p:spPr>
          <a:xfrm>
            <a:off x="658368" y="4553712"/>
            <a:ext cx="5321808" cy="1133856"/>
          </a:xfrm>
          <a:prstGeom prst="roundRect">
            <a:avLst>
              <a:gd name="adj" fmla="val 3226"/>
            </a:avLst>
          </a:prstGeom>
          <a:solidFill>
            <a:srgbClr val="FFFFFF"/>
          </a:solidFill>
          <a:ln w="12700">
            <a:solidFill>
              <a:srgbClr val="D7DEE8"/>
            </a:solidFill>
            <a:prstDash val="solid"/>
          </a:ln>
        </p:spPr>
      </p:sp>
      <p:sp>
        <p:nvSpPr>
          <p:cNvPr id="30" name="Text 27"/>
          <p:cNvSpPr txBox="1"/>
          <p:nvPr/>
        </p:nvSpPr>
        <p:spPr>
          <a:xfrm>
            <a:off x="822960" y="4718304"/>
            <a:ext cx="411480" cy="256032"/>
          </a:xfrm>
          <a:prstGeom prst="rect">
            <a:avLst/>
          </a:prstGeom>
          <a:noFill/>
          <a:ln/>
        </p:spPr>
        <p:txBody>
          <a:bodyPr wrap="square" lIns="0" tIns="0" rIns="0" bIns="0" rtlCol="0" anchor="t">
            <a:normAutofit/>
          </a:bodyPr>
          <a:lstStyle/>
          <a:p>
            <a:pPr marL="0" indent="0" algn="ctr">
              <a:buNone/>
            </a:pPr>
            <a:r>
              <a:rPr lang="en-US" sz="1500" b="1" dirty="0">
                <a:solidFill>
                  <a:srgbClr val="C9963A"/>
                </a:solidFill>
                <a:latin typeface="Arial" pitchFamily="34" charset="0"/>
                <a:ea typeface="Arial" pitchFamily="34" charset="-122"/>
                <a:cs typeface="Arial" pitchFamily="34" charset="-120"/>
              </a:rPr>
              <a:t>05</a:t>
            </a:r>
            <a:endParaRPr lang="en-US" sz="1500" dirty="0"/>
          </a:p>
        </p:txBody>
      </p:sp>
      <p:sp>
        <p:nvSpPr>
          <p:cNvPr id="31" name="Text 28"/>
          <p:cNvSpPr txBox="1"/>
          <p:nvPr/>
        </p:nvSpPr>
        <p:spPr>
          <a:xfrm>
            <a:off x="1371600" y="4663440"/>
            <a:ext cx="4315968" cy="384048"/>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Báo cáo này có đề nghị phát hành không?</a:t>
            </a:r>
            <a:endParaRPr lang="en-US" sz="1700" dirty="0"/>
          </a:p>
        </p:txBody>
      </p:sp>
      <p:sp>
        <p:nvSpPr>
          <p:cNvPr id="32" name="Text 29"/>
          <p:cNvSpPr txBox="1"/>
          <p:nvPr/>
        </p:nvSpPr>
        <p:spPr>
          <a:xfrm>
            <a:off x="1371600" y="5102352"/>
            <a:ext cx="4315968" cy="493776"/>
          </a:xfrm>
          <a:prstGeom prst="rect">
            <a:avLst/>
          </a:prstGeom>
          <a:noFill/>
          <a:ln/>
        </p:spPr>
        <p:txBody>
          <a:bodyPr wrap="square" lIns="0" tIns="0" rIns="0" bIns="0" rtlCol="0" anchor="t">
            <a:normAutofit/>
          </a:bodyPr>
          <a:lstStyle/>
          <a:p>
            <a:pPr marL="0" indent="0" algn="l">
              <a:buNone/>
            </a:pPr>
            <a:r>
              <a:rPr lang="en-US" sz="1400" dirty="0">
                <a:solidFill>
                  <a:srgbClr val="5B6B80"/>
                </a:solidFill>
                <a:latin typeface="Arial" pitchFamily="34" charset="0"/>
                <a:ea typeface="Arial" pitchFamily="34" charset="-122"/>
                <a:cs typeface="Arial" pitchFamily="34" charset="-120"/>
              </a:rPr>
              <a:t>Không. Trạng thái phát hành được trình bày riêng tại Slide 17–18.</a:t>
            </a:r>
            <a:endParaRPr lang="en-US" sz="1400" dirty="0"/>
          </a:p>
        </p:txBody>
      </p:sp>
      <p:sp>
        <p:nvSpPr>
          <p:cNvPr id="33" name="Shape 30"/>
          <p:cNvSpPr/>
          <p:nvPr/>
        </p:nvSpPr>
        <p:spPr>
          <a:xfrm>
            <a:off x="6254496" y="4553712"/>
            <a:ext cx="5321808" cy="1133856"/>
          </a:xfrm>
          <a:prstGeom prst="roundRect">
            <a:avLst>
              <a:gd name="adj" fmla="val 3226"/>
            </a:avLst>
          </a:prstGeom>
          <a:solidFill>
            <a:srgbClr val="FFFFFF"/>
          </a:solidFill>
          <a:ln w="12700">
            <a:solidFill>
              <a:srgbClr val="D7DEE8"/>
            </a:solidFill>
            <a:prstDash val="solid"/>
          </a:ln>
        </p:spPr>
      </p:sp>
      <p:sp>
        <p:nvSpPr>
          <p:cNvPr id="34" name="Text 31"/>
          <p:cNvSpPr txBox="1"/>
          <p:nvPr/>
        </p:nvSpPr>
        <p:spPr>
          <a:xfrm>
            <a:off x="6419088" y="4718304"/>
            <a:ext cx="411480" cy="256032"/>
          </a:xfrm>
          <a:prstGeom prst="rect">
            <a:avLst/>
          </a:prstGeom>
          <a:noFill/>
          <a:ln/>
        </p:spPr>
        <p:txBody>
          <a:bodyPr wrap="square" lIns="0" tIns="0" rIns="0" bIns="0" rtlCol="0" anchor="t">
            <a:normAutofit/>
          </a:bodyPr>
          <a:lstStyle/>
          <a:p>
            <a:pPr marL="0" indent="0" algn="ctr">
              <a:buNone/>
            </a:pPr>
            <a:r>
              <a:rPr lang="en-US" sz="1500" b="1" dirty="0">
                <a:solidFill>
                  <a:srgbClr val="C9963A"/>
                </a:solidFill>
                <a:latin typeface="Arial" pitchFamily="34" charset="0"/>
                <a:ea typeface="Arial" pitchFamily="34" charset="-122"/>
                <a:cs typeface="Arial" pitchFamily="34" charset="-120"/>
              </a:rPr>
              <a:t>06</a:t>
            </a:r>
            <a:endParaRPr lang="en-US" sz="1500" dirty="0"/>
          </a:p>
        </p:txBody>
      </p:sp>
      <p:sp>
        <p:nvSpPr>
          <p:cNvPr id="35" name="Text 32"/>
          <p:cNvSpPr txBox="1"/>
          <p:nvPr/>
        </p:nvSpPr>
        <p:spPr>
          <a:xfrm>
            <a:off x="6967728" y="4663440"/>
            <a:ext cx="4315968" cy="384048"/>
          </a:xfrm>
          <a:prstGeom prst="rect">
            <a:avLst/>
          </a:prstGeom>
          <a:noFill/>
          <a:ln/>
        </p:spPr>
        <p:txBody>
          <a:bodyPr wrap="square" lIns="0" tIns="0" rIns="0" bIns="0" rtlCol="0" anchor="t">
            <a:normAutofit/>
          </a:bodyPr>
          <a:lstStyle/>
          <a:p>
            <a:pPr marL="0" indent="0" algn="l">
              <a:buNone/>
            </a:pPr>
            <a:r>
              <a:rPr lang="en-US" sz="1700" b="1" dirty="0">
                <a:solidFill>
                  <a:srgbClr val="07182F"/>
                </a:solidFill>
                <a:latin typeface="Arial" pitchFamily="34" charset="0"/>
                <a:ea typeface="Arial" pitchFamily="34" charset="-122"/>
                <a:cs typeface="Arial" pitchFamily="34" charset="-120"/>
              </a:rPr>
              <a:t>Khi nào có thể cập nhật kết luận?</a:t>
            </a:r>
            <a:endParaRPr lang="en-US" sz="1700" dirty="0"/>
          </a:p>
        </p:txBody>
      </p:sp>
      <p:sp>
        <p:nvSpPr>
          <p:cNvPr id="36" name="Text 33"/>
          <p:cNvSpPr txBox="1"/>
          <p:nvPr/>
        </p:nvSpPr>
        <p:spPr>
          <a:xfrm>
            <a:off x="6967728" y="5102352"/>
            <a:ext cx="4315968" cy="493776"/>
          </a:xfrm>
          <a:prstGeom prst="rect">
            <a:avLst/>
          </a:prstGeom>
          <a:noFill/>
          <a:ln/>
        </p:spPr>
        <p:txBody>
          <a:bodyPr wrap="square" lIns="0" tIns="0" rIns="0" bIns="0" rtlCol="0" anchor="t">
            <a:normAutofit/>
          </a:bodyPr>
          <a:lstStyle/>
          <a:p>
            <a:pPr marL="0" indent="0" algn="l">
              <a:buNone/>
            </a:pPr>
            <a:r>
              <a:rPr lang="en-US" sz="1150" dirty="0">
                <a:solidFill>
                  <a:srgbClr val="5B6B80"/>
                </a:solidFill>
                <a:latin typeface="Arial" pitchFamily="34" charset="0"/>
                <a:ea typeface="Arial" pitchFamily="34" charset="-122"/>
                <a:cs typeface="Arial" pitchFamily="34" charset="-120"/>
              </a:rPr>
              <a:t>Học thuật: chỉ khi có bằng chứng được ủy quyền. Phát hành: chỉ sau khi chạy lại đủ 24 điều kiện, không còn “không đạt”, “chưa thể thực hiện” hoặc “chưa chạy”.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5330</Words>
  <Application>Microsoft Office PowerPoint</Application>
  <PresentationFormat>Widescreen</PresentationFormat>
  <Paragraphs>498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Georgia</vt:lpstr>
      <vt:lpstr>Office Theme</vt:lpstr>
      <vt:lpstr>PowerPoint Presentation</vt:lpstr>
      <vt:lpstr>Nhu cầu dạy–học mà sản phẩm hướng tới</vt:lpstr>
      <vt:lpstr>Kết quả tổng thể: học liệu số cho ba mạch kiến thức</vt:lpstr>
      <vt:lpstr>Vòng học hỗ trợ tự học</vt:lpstr>
      <vt:lpstr>Trải nghiệm hiện vật</vt:lpstr>
      <vt:lpstr>Ca đối chiếu khoa học 1 · Trọng tâm diện tích</vt:lpstr>
      <vt:lpstr>Ca đối chiếu khoa học 2 · Gia tốc Coriolis</vt:lpstr>
      <vt:lpstr>Ca đối chiếu khoa học 3 · Va chạm thẳng một chiều</vt:lpstr>
      <vt:lpstr>Minh họa thao tác · Mô men của lực</vt:lpstr>
      <vt:lpstr>Căn cứ Hội đồng có thể kiểm tra</vt:lpstr>
      <vt:lpstr>Kết quả đã có và giới hạn còn lại</vt:lpstr>
      <vt:lpstr>Bốn nội dung xin ý kiến góp ý</vt:lpstr>
      <vt:lpstr>Đề nghị ghi nhận việc xây dựng hiện vật</vt:lpstr>
      <vt:lpstr>Phụ lục · Bốn chuẩn đầu ra dự kiến</vt:lpstr>
      <vt:lpstr>Phụ lục · Phạm vi của ba ca đối chiếu khoa học</vt:lpstr>
      <vt:lpstr>Phụ lục · Tình trạng hồ sơ học thuật</vt:lpstr>
      <vt:lpstr>Phụ lục · Trạng thái kỹ thuật và phát hành</vt:lpstr>
      <vt:lpstr>Phụ lục · Chín lần dừng kiểm tra và bốn nội dung bị chặn</vt:lpstr>
      <vt:lpstr>Phụ lục · Hỏi đáp ngắn theo dữ liệu hiện hành</vt:lpstr>
    </vt:vector>
  </TitlesOfParts>
  <Company>Dự án Giáo trình điện tử Cơ học lý thuyết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kết quả xây dựng Giáo trình điện tử Cơ học lý thuyết</dc:title>
  <dc:subject>Báo cáo kết quả xây dựng học liệu số phục vụ Hội đồng</dc:subject>
  <dc:creator>Nhóm tác giả biên soạn Giáo trình điện tử Cơ học lý thuyết</dc:creator>
  <cp:lastModifiedBy>Administrator</cp:lastModifiedBy>
  <cp:revision>1</cp:revision>
  <dcterms:created xsi:type="dcterms:W3CDTF">2000-01-01T00:00:00Z</dcterms:created>
  <dcterms:modified xsi:type="dcterms:W3CDTF">2000-01-01T00:00:00Z</dcterms:modified>
</cp:coreProperties>
</file>