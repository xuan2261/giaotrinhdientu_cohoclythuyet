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125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BF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GIÁO TRÌNH ĐIỆN TỬ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2377440"/>
            <a:ext cx="65836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8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 học liệu số chạy không cần mạng, có mô phỏng, kiểm thử chất lượng và bằng chứng phát hành.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3310128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383280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trình bày trước hội đồng</a:t>
            </a:r>
            <a:endParaRPr lang="en-US" sz="1050" dirty="0"/>
          </a:p>
        </p:txBody>
      </p:sp>
      <p:pic>
        <p:nvPicPr>
          <p:cNvPr id="9" name="Image 0" descr="/mnt/data/user-apyrU19uSWh8Ibh6Ms5jtA8H/cb894eaa1dc44a8ea272f1ca7eaae134/mnt/data/extracted_assets/old_V13/old_V13_image-1-1_3421a32a27.png"/>
          <p:cNvPicPr>
            <a:picLocks noChangeAspect="1"/>
          </p:cNvPicPr>
          <p:nvPr/>
        </p:nvPicPr>
        <p:blipFill>
          <a:blip r:embed="rId3"/>
          <a:srcRect l="169474" t="24359" r="-169474" b="-24359"/>
          <a:stretch/>
        </p:blipFill>
        <p:spPr>
          <a:xfrm>
            <a:off x="7360920" y="868680"/>
            <a:ext cx="4343400" cy="3566160"/>
          </a:xfrm>
          <a:prstGeom prst="rect">
            <a:avLst/>
          </a:prstGeom>
        </p:spPr>
      </p:pic>
      <p:pic>
        <p:nvPicPr>
          <p:cNvPr id="11" name="Image 1" descr="/mnt/data/qr_exis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4846320"/>
            <a:ext cx="118872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104120" y="499262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mã để xem giáo trình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13232" y="623620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B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Tệp PowerPoint dựng lại bằng cấu trúc đơn giản, không dùng liên kết ẩn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giáo trình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mã để mở giáo trình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điện thoại để truy cập nhanh trong phần trình bày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554480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pic>
        <p:nvPicPr>
          <p:cNvPr id="9" name="Image 0" descr="/mnt/data/qr_exi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20240"/>
            <a:ext cx="3611880" cy="3611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55046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quét lớn để dùng trên màn chiếu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17920" y="155448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EEF6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2121408"/>
            <a:ext cx="42976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trực tiếp trên trình duyệt.</a:t>
            </a:r>
            <a:endParaRPr lang="en-US" sz="2200" dirty="0"/>
          </a:p>
          <a:p>
            <a:r>
              <a:rPr lang="en-US" sz="2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Phù hợp khi báo cáo có minh họa trực tiếp.</a:t>
            </a:r>
            <a:endParaRPr lang="en-US" sz="2200" dirty="0"/>
          </a:p>
          <a:p>
            <a:r>
              <a:rPr lang="en-US" sz="2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dùng bản chạy không cần mạng nếu không có Internet.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4754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Gợi ý: kiểm tra mã quét trước giờ báo cáo trên chính màn chiếu.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điểm cần hội đồng nắm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sản phẩm học liệu số có thể kiểm chứng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3794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95528" y="2404872"/>
            <a:ext cx="3118104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không cần mạng và không cần máy chủ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34840" y="169164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83794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44568" y="2404872"/>
            <a:ext cx="3118104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mô phỏng hai chiều và ba chiều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83880" y="169164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83794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93608" y="2404872"/>
            <a:ext cx="3118104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quy trình kiểm thử, truy vết và gói phát hành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0120" y="4251960"/>
            <a:ext cx="104241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thận trọng: chưa phải nghiệm thu học thuật cuối cùng.</a:t>
            </a:r>
            <a:endParaRPr lang="en-US" sz="2200" dirty="0"/>
          </a:p>
          <a:p>
            <a:r>
              <a:rPr lang="en-US" sz="2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rà soát độc lập trước khi công bố áp dụng chính thức.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cần giáo trình điện tử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tài liệu tĩnh sang học liệu có tương tác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438912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giấy khó tích hợp mô phỏng.</a:t>
            </a:r>
            <a:endParaRPr lang="en-US" sz="2200" dirty="0"/>
          </a:p>
          <a:p>
            <a:r>
              <a:rPr lang="en-US" sz="2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học cần xem lại bài ở mọi nơi.</a:t>
            </a:r>
            <a:endParaRPr lang="en-US" sz="2200" dirty="0"/>
          </a:p>
          <a:p>
            <a:r>
              <a:rPr lang="en-US" sz="2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cần cập nhật nội dung có kiểm soát.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EEF6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65960"/>
            <a:ext cx="438912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nguồn nội dung chuẩn từ tệp Word.</a:t>
            </a:r>
            <a:endParaRPr lang="en-US" sz="2200" dirty="0"/>
          </a:p>
          <a:p>
            <a:r>
              <a:rPr lang="en-US" sz="2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bản web chạy cục bộ.</a:t>
            </a:r>
            <a:endParaRPr lang="en-US" sz="2200" dirty="0"/>
          </a:p>
          <a:p>
            <a:r>
              <a:rPr lang="en-US" sz="2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thay đổi bằng dữ liệu và kiểm thử.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của sản phẩm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trung vào khả năng dùng thật trong dạy và học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550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95528" y="2221992"/>
            <a:ext cx="330098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mở: trình duyệt, thiết bị lưu trữ, máy cá nhân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43400" y="1508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6550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53128" y="2221992"/>
            <a:ext cx="330098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học: hình, câu hỏi, ghi chú, tiến độ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01000" y="1508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16550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110728" y="2221992"/>
            <a:ext cx="330098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kiểm: có bằng chứng và gói phát hành</a:t>
            </a:r>
            <a:endParaRPr lang="en-US" sz="1350" dirty="0"/>
          </a:p>
        </p:txBody>
      </p:sp>
      <p:pic>
        <p:nvPicPr>
          <p:cNvPr id="17" name="Image 0" descr="/mnt/data/user-apyrU19uSWh8Ibh6Ms5jtA8H/cb894eaa1dc44a8ea272f1ca7eaae134/mnt/data/extracted_assets/old_V13/old_V13_image-6-1_afc18bd271.png"/>
          <p:cNvPicPr>
            <a:picLocks noChangeAspect="1"/>
          </p:cNvPicPr>
          <p:nvPr/>
        </p:nvPicPr>
        <p:blipFill>
          <a:blip r:embed="rId3"/>
          <a:srcRect l="13636" t="207500" r="-13636" b="-207500"/>
          <a:stretch/>
        </p:blipFill>
        <p:spPr>
          <a:xfrm>
            <a:off x="685800" y="3794760"/>
            <a:ext cx="5029200" cy="1828800"/>
          </a:xfrm>
          <a:prstGeom prst="rect">
            <a:avLst/>
          </a:prstGeom>
        </p:spPr>
      </p:pic>
      <p:pic>
        <p:nvPicPr>
          <p:cNvPr id="18" name="Image 1" descr="/mnt/data/user-apyrU19uSWh8Ibh6Ms5jtA8H/cb894eaa1dc44a8ea272f1ca7eaae134/mnt/data/extracted_assets/old_remake_formal/old_remake_formal_image-6-1_01487cb58a.png"/>
          <p:cNvPicPr>
            <a:picLocks noChangeAspect="1"/>
          </p:cNvPicPr>
          <p:nvPr/>
        </p:nvPicPr>
        <p:blipFill>
          <a:blip r:embed="rId4"/>
          <a:srcRect l="122727" t="207500" r="-122727" b="-207500"/>
          <a:stretch/>
        </p:blipFill>
        <p:spPr>
          <a:xfrm>
            <a:off x="6172200" y="3794760"/>
            <a:ext cx="5029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 triển khai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Những phần đã có và những phần chưa kết luận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</a:rPr>
              <a:t>Đã có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438912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học liệu dạng web.</a:t>
            </a:r>
            <a:endParaRPr lang="en-US" sz="1900" dirty="0"/>
          </a:p>
          <a:p>
            <a:r>
              <a:rPr lang="en-US" sz="1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phỏng hai chiều và ba chiều.</a:t>
            </a:r>
            <a:endParaRPr lang="en-US" sz="1900" dirty="0"/>
          </a:p>
          <a:p>
            <a:r>
              <a:rPr lang="en-US" sz="1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Trình đọc tài liệu gốc.</a:t>
            </a:r>
            <a:endParaRPr lang="en-US" sz="1900" dirty="0"/>
          </a:p>
          <a:p>
            <a:r>
              <a:rPr lang="en-US" sz="1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động có bản tĩnh dự phòng.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42318"/>
                </a:solidFill>
              </a:rPr>
              <a:t>Chưa kết luận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438912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nghiệm thu học thuật độc lập.</a:t>
            </a:r>
            <a:endParaRPr lang="en-US" sz="1900" dirty="0"/>
          </a:p>
          <a:p>
            <a:r>
              <a:rPr lang="en-US" sz="1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đánh giá tiếp cận thủ công.</a:t>
            </a:r>
            <a:endParaRPr lang="en-US" sz="1900" dirty="0"/>
          </a:p>
          <a:p>
            <a:r>
              <a:rPr lang="en-US" sz="1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kiểm thử nhập vào hệ quản lý học tập thực tế.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pháp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xây dựng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rõ nội dung, giao diện và kiểm chứng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2423160" cy="30632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93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00"/>
                </a:solidFill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Nội dung gốc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</a:rPr>
              <a:t>Từ tệp Word chuẩn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11880" y="1783080"/>
            <a:ext cx="2423160" cy="3063240"/>
          </a:xfrm>
          <a:prstGeom prst="roundRect">
            <a:avLst>
              <a:gd name="adj" fmla="val 3019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993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00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49040" y="2560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Tạo bản học liệu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49040" y="3154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</a:rPr>
              <a:t>Sinh trang, mục lục, tìm kiếm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46520" y="1783080"/>
            <a:ext cx="2423160" cy="30632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993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00"/>
                </a:solidFill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83680" y="2560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Bổ sung tương tác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83680" y="3154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</a:rPr>
              <a:t>Câu hỏi, mô phỏng, ảnh động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81160" y="1783080"/>
            <a:ext cx="2423160" cy="3063240"/>
          </a:xfrm>
          <a:prstGeom prst="roundRect">
            <a:avLst>
              <a:gd name="adj" fmla="val 3019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1993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00"/>
                </a:solidFill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418320" y="2560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Kiểm chứng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418320" y="3154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</a:rPr>
              <a:t>Tự động kiểm tra và lưu bằng chứng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hệ thống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lớp chính, dễ bảo trì và kiểm tra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5179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Nội dung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57600" y="1517904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02C"/>
                </a:solidFill>
              </a:rPr>
              <a:t>Chương, hình, công thức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219456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Bộ tải trang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57600" y="2295144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02C"/>
                </a:solidFill>
              </a:rPr>
              <a:t>Mục lục, tìm kiếm, công thức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297180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0723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Tương tác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57600" y="3072384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02C"/>
                </a:solidFill>
              </a:rPr>
              <a:t>Câu hỏi, ghi chú, tiến độ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400" y="374904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8496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Mô phỏng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657600" y="3849624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02C"/>
                </a:solidFill>
              </a:rPr>
              <a:t>Hai chiều, ba chiều, dự phòng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14400" y="452628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6268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Kiểm chứng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657600" y="4626864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02C"/>
                </a:solidFill>
              </a:rPr>
              <a:t>Kiểm thử, bằng chứng, gói phát hành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cập nhật nội dung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tài liệu gốc đến bản học liệu chạy được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2148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21488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5A8A"/>
                </a:solidFill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51560" y="29077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</a:rPr>
              <a:t>Tệp Word chuẩn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90672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00"/>
                </a:solidFill>
              </a:rPr>
              <a:t>&gt;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383280" y="1920240"/>
            <a:ext cx="2148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96512" y="21488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5A8A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11880" y="29077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</a:rPr>
              <a:t>Tách chương và hình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650992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00"/>
                </a:solidFill>
              </a:rPr>
              <a:t>&gt;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943600" y="1920240"/>
            <a:ext cx="2148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21488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5A8A"/>
                </a:solidFill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29077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</a:rPr>
              <a:t>Tạo dữ liệu tìm kiếm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11312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00"/>
                </a:solidFill>
              </a:rPr>
              <a:t>&gt;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503920" y="1920240"/>
            <a:ext cx="2148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7152" y="21488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5A8A"/>
                </a:solidFill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732520" y="29077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</a:rPr>
              <a:t>Đóng gói học liệu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" y="608076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C8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dữ liệu: mô tả quy trình trong tài liệu dự án.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Trải nghiệm học tập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học thao tác như một ứng dụng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chỉ đọc, mà còn tương tác và theo dõi tiến độ</a:t>
            </a:r>
            <a:endParaRPr lang="en-US" sz="1500" dirty="0"/>
          </a:p>
        </p:txBody>
      </p:sp>
      <p:pic>
        <p:nvPicPr>
          <p:cNvPr id="8" name="Image 0" descr="/mnt/data/user-apyrU19uSWh8Ibh6Ms5jtA8H/cb894eaa1dc44a8ea272f1ca7eaae134/mnt/data/extracted_assets/old_V13/old_V13_image-1-1_3421a32a27.png"/>
          <p:cNvPicPr>
            <a:picLocks noChangeAspect="1"/>
          </p:cNvPicPr>
          <p:nvPr/>
        </p:nvPicPr>
        <p:blipFill>
          <a:blip r:embed="rId3"/>
          <a:srcRect l="12295" t="36905" r="-12295" b="-36905"/>
          <a:stretch/>
        </p:blipFill>
        <p:spPr>
          <a:xfrm>
            <a:off x="685800" y="1417320"/>
            <a:ext cx="557784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1828800"/>
            <a:ext cx="448056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theo mục lục và đường dẫn bài học.</a:t>
            </a:r>
            <a:endParaRPr lang="en-US" sz="2100" dirty="0"/>
          </a:p>
          <a:p>
            <a:r>
              <a:rPr lang="en-US" sz="2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 nhanh trong nội dung.</a:t>
            </a:r>
            <a:endParaRPr lang="en-US" sz="2100" dirty="0"/>
          </a:p>
          <a:p>
            <a:r>
              <a:rPr lang="en-US" sz="2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tiến độ, ghi chú và câu trả lời trên máy người dùng.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liệu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học liệu rõ ràng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 đọc dễ, điều hướng nhanh</a:t>
            </a:r>
            <a:endParaRPr lang="en-US" sz="1500" dirty="0"/>
          </a:p>
        </p:txBody>
      </p:sp>
      <p:pic>
        <p:nvPicPr>
          <p:cNvPr id="8" name="Image 0" descr="/mnt/data/user-apyrU19uSWh8Ibh6Ms5jtA8H/cb894eaa1dc44a8ea272f1ca7eaae134/mnt/data/extracted_assets/old_V13/old_V13_image-6-1_afc18bd271.png"/>
          <p:cNvPicPr>
            <a:picLocks noChangeAspect="1"/>
          </p:cNvPicPr>
          <p:nvPr/>
        </p:nvPicPr>
        <p:blipFill>
          <a:blip r:embed="rId3"/>
          <a:srcRect l="9375" t="29897" r="-9375" b="-29897"/>
          <a:stretch/>
        </p:blipFill>
        <p:spPr>
          <a:xfrm>
            <a:off x="685800" y="1325880"/>
            <a:ext cx="7315200" cy="4434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325880"/>
            <a:ext cx="2834640" cy="4434840"/>
          </a:xfrm>
          <a:prstGeom prst="roundRect">
            <a:avLst>
              <a:gd name="adj" fmla="val 2581"/>
            </a:avLst>
          </a:prstGeom>
          <a:solidFill>
            <a:srgbClr val="EEF6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41080" y="1828800"/>
            <a:ext cx="228600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mục lục.</a:t>
            </a:r>
            <a:endParaRPr lang="en-US" sz="2000" dirty="0"/>
          </a:p>
          <a:p>
            <a:r>
              <a:rPr lang="en-US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công thức.</a:t>
            </a:r>
            <a:endParaRPr lang="en-US" sz="2000" dirty="0"/>
          </a:p>
          <a:p>
            <a:r>
              <a:rPr lang="en-US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hình minh họa.</a:t>
            </a:r>
            <a:endParaRPr lang="en-US" sz="2000" dirty="0"/>
          </a:p>
          <a:p>
            <a:r>
              <a:rPr lang="en-US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thanh tiến độ.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phỏng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phỏng hai chiều và ba chiều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Giúp người học quan sát hiện tượng cơ học</a:t>
            </a:r>
            <a:endParaRPr lang="en-US" sz="1500" dirty="0"/>
          </a:p>
        </p:txBody>
      </p:sp>
      <p:pic>
        <p:nvPicPr>
          <p:cNvPr id="8" name="Image 0" descr="/mnt/data/user-apyrU19uSWh8Ibh6Ms5jtA8H/cb894eaa1dc44a8ea272f1ca7eaae134/mnt/data/extracted_assets/old_V13/old_V13_image-9-1_a1a430379c.png"/>
          <p:cNvPicPr>
            <a:picLocks noChangeAspect="1"/>
          </p:cNvPicPr>
          <p:nvPr/>
        </p:nvPicPr>
        <p:blipFill>
          <a:blip r:embed="rId3"/>
          <a:srcRect l="13043" t="32955" r="-13043" b="-32955"/>
          <a:stretch/>
        </p:blipFill>
        <p:spPr>
          <a:xfrm>
            <a:off x="685800" y="1325880"/>
            <a:ext cx="5257800" cy="4023360"/>
          </a:xfrm>
          <a:prstGeom prst="rect">
            <a:avLst/>
          </a:prstGeom>
        </p:spPr>
      </p:pic>
      <p:pic>
        <p:nvPicPr>
          <p:cNvPr id="9" name="Image 1" descr="/mnt/data/user-apyrU19uSWh8Ibh6Ms5jtA8H/cb894eaa1dc44a8ea272f1ca7eaae134/mnt/data/extracted_assets/old_V13/old_V13_image-10-1_b4dcfebf4d.png"/>
          <p:cNvPicPr>
            <a:picLocks noChangeAspect="1"/>
          </p:cNvPicPr>
          <p:nvPr/>
        </p:nvPicPr>
        <p:blipFill>
          <a:blip r:embed="rId4"/>
          <a:srcRect l="119130" t="32955" r="-119130" b="-32955"/>
          <a:stretch/>
        </p:blipFill>
        <p:spPr>
          <a:xfrm>
            <a:off x="6263640" y="1325880"/>
            <a:ext cx="5257800" cy="4023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55321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Hai chiều: ổn định, dùng làm bản chính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46520" y="55321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Ba chiều: dùng cho minh họa nâng cao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động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động có phương án dự phòng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Trải nghiệm tốt nhưng vẫn an toàn khi thiết bị yếu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379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404872"/>
            <a:ext cx="2706624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cơ học có bản ảnh động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8379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tĩnh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27448" y="2404872"/>
            <a:ext cx="2706624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luôn sẵn sàng khi ảnh động lỗi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58200" y="16916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18379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567928" y="2404872"/>
            <a:ext cx="2706624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quay về bản tĩnh khi có lỗi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4343400"/>
            <a:ext cx="1014984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học có thể bật hoặc tắt ảnh động.</a:t>
            </a:r>
            <a:endParaRPr lang="en-US" sz="2100" dirty="0"/>
          </a:p>
          <a:p>
            <a:r>
              <a:rPr lang="en-US" sz="2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ưu tiên bản tĩnh khi thiết bị yêu cầu giảm chuyển động.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gốc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Trình đọc tài liệu gốc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bản tài liệu đầy đủ mà không rời bài học</a:t>
            </a:r>
            <a:endParaRPr lang="en-US" sz="1500" dirty="0"/>
          </a:p>
        </p:txBody>
      </p:sp>
      <p:pic>
        <p:nvPicPr>
          <p:cNvPr id="8" name="Image 0" descr="/mnt/data/user-apyrU19uSWh8Ibh6Ms5jtA8H/cb894eaa1dc44a8ea272f1ca7eaae134/mnt/data/extracted_assets/old_qr_final_v3/old_qr_final_v3_image-10-1_203c8ca19f.png"/>
          <p:cNvPicPr>
            <a:picLocks noChangeAspect="1"/>
          </p:cNvPicPr>
          <p:nvPr/>
        </p:nvPicPr>
        <p:blipFill>
          <a:blip r:embed="rId3"/>
          <a:srcRect l="10067" t="32979" r="-10067" b="-32979"/>
          <a:stretch/>
        </p:blipFill>
        <p:spPr>
          <a:xfrm>
            <a:off x="685800" y="1417320"/>
            <a:ext cx="6812280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909560" y="1417320"/>
            <a:ext cx="3337560" cy="4297680"/>
          </a:xfrm>
          <a:prstGeom prst="roundRect">
            <a:avLst>
              <a:gd name="adj" fmla="val 2192"/>
            </a:avLst>
          </a:prstGeom>
          <a:solidFill>
            <a:srgbClr val="EEF6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83880" y="1828800"/>
            <a:ext cx="274320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trong hộp thoại toàn màn hình.</a:t>
            </a:r>
            <a:endParaRPr lang="en-US" sz="1900" dirty="0"/>
          </a:p>
          <a:p>
            <a:r>
              <a:rPr lang="en-US" sz="1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chuyển trang, phóng to, vừa chiều rộng.</a:t>
            </a:r>
            <a:endParaRPr lang="en-US" sz="1900" dirty="0"/>
          </a:p>
          <a:p>
            <a:r>
              <a:rPr lang="en-US" sz="1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làm mất trạng thái học hiện tại.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cục bộ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học tập lưu trên máy người dùng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máy chủ để ghi tiến độ cơ bản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920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Giao diện sáng hoặc tối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0" y="16002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920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Cỡ chữ và độ rộng nội dung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21040" y="16002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1920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Tiến độ học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175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3375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Ghi chú cá nhân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0" y="30175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3375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Kết quả câu hỏi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21040" y="30175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33375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Lựa chọn ảnh động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 năng tiếp cận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cho nhiều cách sử dụng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kiểm tra chưa thay thế đánh giá thủ công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</a:rPr>
              <a:t>Đã có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411480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Mốc điều hướng rõ.</a:t>
            </a:r>
            <a:endParaRPr lang="en-US" sz="1800" dirty="0"/>
          </a:p>
          <a:p>
            <a:r>
              <a:rPr lang="en-US" sz="1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được bằng bàn phím.</a:t>
            </a:r>
            <a:endParaRPr lang="en-US" sz="1800" dirty="0"/>
          </a:p>
          <a:p>
            <a:r>
              <a:rPr lang="en-US" sz="1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chế độ giảm chuyển động.</a:t>
            </a:r>
            <a:endParaRPr lang="en-US" sz="1800" dirty="0"/>
          </a:p>
          <a:p>
            <a:r>
              <a:rPr lang="en-US" sz="1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tương phản tự động.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160020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42318"/>
                </a:solidFill>
              </a:rPr>
              <a:t>Cần bổ sung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20840" y="2468880"/>
            <a:ext cx="411480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thủ công độc lập.</a:t>
            </a:r>
            <a:endParaRPr lang="en-US" sz="2000" dirty="0"/>
          </a:p>
          <a:p>
            <a:r>
              <a:rPr lang="en-US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theo chuẩn tiếp cận chính thức.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chất lượng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Tám nhóm kiểm thử chất lượng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dựa vào nhận xét cảm tính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6916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Nội dung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51460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6974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Học thuật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52044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703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Mô phỏng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45262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091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Tiếp cận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46520" y="150876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16916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Ảnh và tư liệu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46520" y="251460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26974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Gói học tập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46520" y="352044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3703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Tài liệu gốc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46520" y="45262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2552" y="47091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Gói phát hành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577900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B677A"/>
                </a:solidFill>
              </a:rPr>
              <a:t>Mục tiêu: phát hiện lỗi trước khi đưa sản phẩm vào trình bày hoặc phát hành.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 soát học thuật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 soát học thuật cần độc lập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 bạch giữa bản kỹ thuật và bản nghiệm thu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105613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Yêu cầu đào tạo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66160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900"/>
                </a:solidFill>
              </a:rPr>
              <a:t>&gt;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3192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Kết quả học tập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09360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900"/>
                </a:solidFill>
              </a:rPr>
              <a:t>&gt;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Nội dung và bằng chứng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63240"/>
            <a:ext cx="96012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Hiện trạng: có dữ liệu rà soát và dấu vết kiểm tra.</a:t>
            </a:r>
            <a:endParaRPr lang="en-US" sz="2000" dirty="0"/>
          </a:p>
          <a:p>
            <a:r>
              <a:rPr lang="en-US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thận trọng: chưa phải nghiệm thu học thuật cuối cùng.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Gói phát hành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Gói phát hành có thể kiểm chứng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bản đóng gói, mã kiểm tra và tài liệu dẫn xuất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465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32688" y="2313432"/>
            <a:ext cx="279806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tệp trong gói ứng viên hiện tại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465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kiểm tra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81728" y="2313432"/>
            <a:ext cx="279806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chiếu toàn vẹn gói phát hành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21040" y="160020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7465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bị lưu trữ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430768" y="2313432"/>
            <a:ext cx="279806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chạy cục bộ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4343400"/>
            <a:ext cx="100584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Gói hiện tại vẫn là bản ứng viên.</a:t>
            </a:r>
            <a:endParaRPr lang="en-US" sz="2100" dirty="0"/>
          </a:p>
          <a:p>
            <a:r>
              <a:rPr lang="en-US" sz="2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hoàn tất các bước rà soát độc lập trước khi xem là bản cuối.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Bằng chứng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tuyên bố chính đều có nơi kiểm chứng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rủi ro báo cáo theo cảm tính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5361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</a:rPr>
              <a:t>Số mô phỏng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114800" y="153619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202C"/>
                </a:solidFill>
              </a:rPr>
              <a:t>Tệp khai báo tuyến học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22960" y="2176272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2951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</a:rPr>
              <a:t>Ảnh động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114800" y="2295144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202C"/>
                </a:solidFill>
              </a:rPr>
              <a:t>Tệp danh mục ảnh động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22960" y="2935224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0540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</a:rPr>
              <a:t>Gói phát hành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114800" y="3054096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202C"/>
                </a:solidFill>
              </a:rPr>
              <a:t>Danh mục gói và mã kiểm tra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22960" y="3694176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813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</a:rPr>
              <a:t>Rà soát học thuật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114800" y="381304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202C"/>
                </a:solidFill>
              </a:rPr>
              <a:t>Sổ theo dõi và trạng thái ký xác nhận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22960" y="4453128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572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</a:rPr>
              <a:t>Khả năng tiếp cận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114800" y="45720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202C"/>
                </a:solidFill>
              </a:rPr>
              <a:t>Kết quả kiểm tra tự động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với cách làm phổ biến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Lợi thế chính là chạy không cần mạng nhưng vẫn có tương tác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73352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Tiêu chí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3017520" y="150876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167335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Dự án này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5166360" y="150876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167335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Hệ quản lý học tập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680960" y="150876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4112" y="167335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Lớp học trực tuyến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10195560" y="15087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68712" y="167335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Giáo trình giấy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594360" y="210312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267712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A"/>
                </a:solidFill>
              </a:rPr>
              <a:t>Không cần mạng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017520" y="210312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226771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Có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166360" y="210312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226771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Không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80960" y="210312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54112" y="226771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Không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0195560" y="210312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68712" y="226771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Có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94360" y="269748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2862072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A"/>
                </a:solidFill>
              </a:rPr>
              <a:t>Có mô phỏng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017520" y="269748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90672" y="286207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Có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166360" y="269748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9512" y="286207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Tùy cấu hình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680960" y="269748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54112" y="286207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Không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0195560" y="269748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68712" y="286207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Không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94360" y="329184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" y="3456432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A"/>
                </a:solidFill>
              </a:rPr>
              <a:t>Có kiểm thử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3017520" y="329184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90672" y="345643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Có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5166360" y="329184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39512" y="345643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Một phần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7680960" y="329184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54112" y="345643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Một phần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10195560" y="329184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68712" y="345643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Không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594360" y="388620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" y="4050792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A"/>
                </a:solidFill>
              </a:rPr>
              <a:t>Không cần máy chủ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3017520" y="388620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90672" y="405079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Có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5166360" y="388620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39512" y="405079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Không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7680960" y="388620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54112" y="405079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Không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10195560" y="38862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268712" y="405079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</a:rPr>
              <a:t>Có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685800" y="51663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77A"/>
                </a:solidFill>
              </a:rPr>
              <a:t>Ghi chú: bảng nhằm chỉ ra hướng khác biệt, không thay thế đánh giá triển khai thực tế.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mạnh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mạnh nổi bật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Cân bằng giữa kỹ thuật, học thuật và người dùng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00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267712"/>
            <a:ext cx="3163824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cục bộ, kiến trúc rõ, có mô phỏng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34840" y="15544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00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thuật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44568" y="2267712"/>
            <a:ext cx="3163824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dấu vết yêu cầu, kết quả học tập và bằng chứng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92440" y="15544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700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dùng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02168" y="2267712"/>
            <a:ext cx="3163824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mở, dễ đọc, có phương án dự phòng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4343400"/>
            <a:ext cx="102412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đáng chú ý: sản phẩm không tự nhận đã nghiệm thu cuối cùng.</a:t>
            </a:r>
            <a:endParaRPr lang="en-US" sz="2100" dirty="0"/>
          </a:p>
          <a:p>
            <a:r>
              <a:rPr lang="en-US" sz="2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trình bày này phù hợp với báo cáo khoa học và kiểm chứng.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cần nói thẳng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thực giúp hội đồng đánh giá đúng mức độ sẵn sàng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10515600" cy="3017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nghiệm thu học thuật độc lập.</a:t>
            </a:r>
            <a:endParaRPr lang="en-US" sz="2300" dirty="0"/>
          </a:p>
          <a:p>
            <a:r>
              <a:rPr lang="en-US" sz="2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đánh giá tiếp cận thủ công.</a:t>
            </a:r>
            <a:endParaRPr lang="en-US" sz="2300" dirty="0"/>
          </a:p>
          <a:p>
            <a:r>
              <a:rPr lang="en-US" sz="2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bằng chứng nhập vào hệ quản lý học tập thực tế.</a:t>
            </a:r>
            <a:endParaRPr lang="en-US" sz="2300" dirty="0"/>
          </a:p>
          <a:p>
            <a:r>
              <a:rPr lang="en-US" sz="2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số mô phỏng ba chiều đang ở mức thí điểm.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68680" y="4983480"/>
            <a:ext cx="10469880" cy="502920"/>
          </a:xfrm>
          <a:prstGeom prst="rect">
            <a:avLst/>
          </a:prstGeom>
          <a:solidFill>
            <a:srgbClr val="FFF4E5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5129784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Khuyến nghị: giữ các điểm này trong báo cáo để tránh tuyên bố vượt quá bằng chứng.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 ro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 ro và cách giảm thiểu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trung vào rủi ro có ảnh hưởng đến sử dụng thật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10789920" cy="585216"/>
          </a:xfrm>
          <a:prstGeom prst="roundRect">
            <a:avLst>
              <a:gd name="adj" fmla="val 12500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6733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</a:rPr>
              <a:t>Tài liệu gốc thay đổi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434840" y="1673352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A202C"/>
                </a:solidFill>
              </a:rPr>
              <a:t>Dùng quy trình sinh lại và kiểm tra nội dung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350008"/>
            <a:ext cx="1078992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14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</a:rPr>
              <a:t>Trình duyệt yếu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434840" y="2514600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A202C"/>
                </a:solidFill>
              </a:rPr>
              <a:t>Dùng bản tĩnh hoặc mô phỏng hai chiều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77240" y="3191256"/>
            <a:ext cx="10789920" cy="585216"/>
          </a:xfrm>
          <a:prstGeom prst="roundRect">
            <a:avLst>
              <a:gd name="adj" fmla="val 12500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</a:rPr>
              <a:t>Nội dung lỗi thời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434840" y="3355848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A202C"/>
                </a:solidFill>
              </a:rPr>
              <a:t>Rà soát học thuật và khóa bằng chứng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77240" y="4032504"/>
            <a:ext cx="1078992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197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</a:rPr>
              <a:t>Gói quá lớn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434840" y="4197096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A202C"/>
                </a:solidFill>
              </a:rPr>
              <a:t>Tách tải, tối ưu ảnh và dữ liệu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 động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 động đến dạy và học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chỉ là một trang web trình chiếu nội dung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64592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922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viên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359152"/>
            <a:ext cx="3163824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lại bài, xem mô phỏng, tự kiểm tra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34840" y="164592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922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44568" y="2359152"/>
            <a:ext cx="3163824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 nội dung theo quy trình có kiểm soát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92440" y="164592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7922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Nhà trường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02168" y="2359152"/>
            <a:ext cx="3163824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mẫu triển khai cho các học phần khác</a:t>
            </a:r>
            <a:endParaRPr lang="en-US" sz="1350" dirty="0"/>
          </a:p>
        </p:txBody>
      </p:sp>
      <p:pic>
        <p:nvPicPr>
          <p:cNvPr id="17" name="Image 0" descr="/mnt/data/user-apyrU19uSWh8Ibh6Ms5jtA8H/cb894eaa1dc44a8ea272f1ca7eaae134/mnt/data/extracted_assets/old_V13/old_V13_image-1-1_3421a32a27.png"/>
          <p:cNvPicPr>
            <a:picLocks noChangeAspect="1"/>
          </p:cNvPicPr>
          <p:nvPr/>
        </p:nvPicPr>
        <p:blipFill>
          <a:blip r:embed="rId3"/>
          <a:srcRect l="20755" t="306452" r="-20755" b="-306452"/>
          <a:stretch/>
        </p:blipFill>
        <p:spPr>
          <a:xfrm>
            <a:off x="1005840" y="4343400"/>
            <a:ext cx="4846320" cy="1417320"/>
          </a:xfrm>
          <a:prstGeom prst="rect">
            <a:avLst/>
          </a:prstGeom>
        </p:spPr>
      </p:pic>
      <p:pic>
        <p:nvPicPr>
          <p:cNvPr id="18" name="Image 1" descr="/mnt/data/user-apyrU19uSWh8Ibh6Ms5jtA8H/cb894eaa1dc44a8ea272f1ca7eaae134/mnt/data/extracted_assets/old_V13/old_V13_image-6-1_afc18bd271.png"/>
          <p:cNvPicPr>
            <a:picLocks noChangeAspect="1"/>
          </p:cNvPicPr>
          <p:nvPr/>
        </p:nvPicPr>
        <p:blipFill>
          <a:blip r:embed="rId4"/>
          <a:srcRect l="131132" t="306452" r="-131132" b="-306452"/>
          <a:stretch/>
        </p:blipFill>
        <p:spPr>
          <a:xfrm>
            <a:off x="6355080" y="4343400"/>
            <a:ext cx="484632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đề xuất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 hoàn thiện chứng cứ trước khi mở rộng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7556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00"/>
                </a:solidFill>
              </a:rPr>
              <a:t>0 đến 3 tháng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49040" y="1737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A202C"/>
                </a:solidFill>
              </a:rPr>
              <a:t>Rà soát học thuật và khả năng tiếp cận độc lập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9900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00"/>
                </a:solidFill>
              </a:rPr>
              <a:t>3 đến 6 tháng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2971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A202C"/>
                </a:solidFill>
              </a:rPr>
              <a:t>Mở rộng mô phỏng và thử nhập vào hệ quản lý học tập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3977640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224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00"/>
                </a:solidFill>
              </a:rPr>
              <a:t>6 đến 12 tháng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9040" y="4206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A202C"/>
                </a:solidFill>
              </a:rPr>
              <a:t>Tối ưu gói, bổ sung tìm kiếm trong tài liệu gốc và nhân rộng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 thi về kỹ thuật, cần hoàn thiện chứng cứ học thuật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10058400" cy="3108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 có thể chạy không cần mạng và không cần máy chủ.</a:t>
            </a:r>
            <a:endParaRPr lang="en-US" sz="2400" dirty="0"/>
          </a:p>
          <a:p>
            <a:r>
              <a:rPr lang="en-US" sz="2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giá trị minh họa nhờ mô phỏng và ảnh động có dự phòng.</a:t>
            </a:r>
            <a:endParaRPr lang="en-US" sz="2400" dirty="0"/>
          </a:p>
          <a:p>
            <a:r>
              <a:rPr lang="en-US" sz="2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hoàn tất rà soát độc lập trước khi công bố bản nghiệm thu cuối cùng.</a:t>
            </a:r>
            <a:endParaRPr lang="en-US" sz="2400" dirty="0"/>
          </a:p>
          <a:p>
            <a:r>
              <a:rPr lang="en-US" sz="2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tiềm năng nhân rộng sang học phần khác.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5303520"/>
            <a:ext cx="1024128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544982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Đề xuất: tiếp tục đầu tư và nghiệm thu theo từng giai đoạn.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574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HỘI ĐỒNG ĐÃ LẮNG NGHE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BF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Trao đổi và góp 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166360" y="379476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/mnt/data/qr_exi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3950208"/>
            <a:ext cx="1517904" cy="15179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1920</Words>
  <Application>Microsoft Office PowerPoint</Application>
  <PresentationFormat>Widescreen</PresentationFormat>
  <Paragraphs>340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Cơ học lý thuyết</dc:title>
  <dc:subject>Báo cáo giáo trình điện tử Cơ học lý thuyết</dc:subject>
  <dc:creator>ChatGPT</dc:creator>
  <cp:lastModifiedBy>Bùi Thanh Xuân</cp:lastModifiedBy>
  <cp:revision>2</cp:revision>
  <dcterms:created xsi:type="dcterms:W3CDTF">2026-10-05T06:23:30Z</dcterms:created>
  <dcterms:modified xsi:type="dcterms:W3CDTF">2026-10-05T06:26:47Z</dcterms:modified>
</cp:coreProperties>
</file>